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9"/>
  </p:notesMasterIdLst>
  <p:sldIdLst>
    <p:sldId id="256" r:id="rId5"/>
    <p:sldId id="259" r:id="rId6"/>
    <p:sldId id="309" r:id="rId7"/>
    <p:sldId id="332" r:id="rId8"/>
    <p:sldId id="334" r:id="rId9"/>
    <p:sldId id="335" r:id="rId10"/>
    <p:sldId id="336" r:id="rId11"/>
    <p:sldId id="338" r:id="rId12"/>
    <p:sldId id="337" r:id="rId13"/>
    <p:sldId id="339" r:id="rId14"/>
    <p:sldId id="340" r:id="rId15"/>
    <p:sldId id="341" r:id="rId16"/>
    <p:sldId id="342" r:id="rId17"/>
    <p:sldId id="343" r:id="rId18"/>
    <p:sldId id="344" r:id="rId19"/>
    <p:sldId id="345" r:id="rId20"/>
    <p:sldId id="346" r:id="rId21"/>
    <p:sldId id="348" r:id="rId22"/>
    <p:sldId id="352" r:id="rId23"/>
    <p:sldId id="353" r:id="rId24"/>
    <p:sldId id="354" r:id="rId25"/>
    <p:sldId id="355" r:id="rId26"/>
    <p:sldId id="356" r:id="rId27"/>
    <p:sldId id="351" r:id="rId28"/>
    <p:sldId id="350" r:id="rId29"/>
    <p:sldId id="357" r:id="rId30"/>
    <p:sldId id="360" r:id="rId31"/>
    <p:sldId id="359" r:id="rId32"/>
    <p:sldId id="361" r:id="rId33"/>
    <p:sldId id="363" r:id="rId34"/>
    <p:sldId id="364" r:id="rId35"/>
    <p:sldId id="362" r:id="rId36"/>
    <p:sldId id="366" r:id="rId37"/>
    <p:sldId id="367"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B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77703" autoAdjust="0"/>
  </p:normalViewPr>
  <p:slideViewPr>
    <p:cSldViewPr snapToGrid="0" snapToObjects="1">
      <p:cViewPr varScale="1">
        <p:scale>
          <a:sx n="84" d="100"/>
          <a:sy n="84" d="100"/>
        </p:scale>
        <p:origin x="327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colorful2#5">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5">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5">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D56237-725C-44D3-9610-3E73DDFC0992}" type="doc">
      <dgm:prSet loTypeId="urn:microsoft.com/office/officeart/2005/8/layout/hierarchy1" loCatId="hierarchy" qsTypeId="urn:microsoft.com/office/officeart/2005/8/quickstyle/simple1#17" qsCatId="simple" csTypeId="urn:microsoft.com/office/officeart/2005/8/colors/colorful2#5" csCatId="colorful" phldr="1"/>
      <dgm:spPr/>
      <dgm:t>
        <a:bodyPr/>
        <a:lstStyle/>
        <a:p>
          <a:endParaRPr lang="en-US"/>
        </a:p>
      </dgm:t>
    </dgm:pt>
    <dgm:pt modelId="{914C411D-F70D-4CD5-918E-4392E1011CD9}">
      <dgm:prSet/>
      <dgm:spPr/>
      <dgm:t>
        <a:bodyPr/>
        <a:lstStyle/>
        <a:p>
          <a:r>
            <a:rPr lang="en-US"/>
            <a:t>Construct validity</a:t>
          </a:r>
        </a:p>
      </dgm:t>
    </dgm:pt>
    <dgm:pt modelId="{50ED5999-9677-433B-9C5F-879D2030996F}" type="parTrans" cxnId="{8D2F37CC-C2B7-4D83-B2F8-278BED1B2E5C}">
      <dgm:prSet/>
      <dgm:spPr/>
      <dgm:t>
        <a:bodyPr/>
        <a:lstStyle/>
        <a:p>
          <a:endParaRPr lang="en-US"/>
        </a:p>
      </dgm:t>
    </dgm:pt>
    <dgm:pt modelId="{EDA5CA7A-7CB7-41A4-9346-8D5837784479}" type="sibTrans" cxnId="{8D2F37CC-C2B7-4D83-B2F8-278BED1B2E5C}">
      <dgm:prSet/>
      <dgm:spPr/>
      <dgm:t>
        <a:bodyPr/>
        <a:lstStyle/>
        <a:p>
          <a:endParaRPr lang="en-US"/>
        </a:p>
      </dgm:t>
    </dgm:pt>
    <dgm:pt modelId="{121DCDF2-8E71-411F-89A6-ED07997824FA}">
      <dgm:prSet/>
      <dgm:spPr/>
      <dgm:t>
        <a:bodyPr/>
        <a:lstStyle/>
        <a:p>
          <a:r>
            <a:rPr lang="en-US" dirty="0"/>
            <a:t>Statistical validity</a:t>
          </a:r>
        </a:p>
      </dgm:t>
    </dgm:pt>
    <dgm:pt modelId="{9663B124-BF47-4C21-9E84-C53BF60A4381}" type="parTrans" cxnId="{1F72A479-CBD3-4C57-A98F-88A4F0E4DD46}">
      <dgm:prSet/>
      <dgm:spPr/>
      <dgm:t>
        <a:bodyPr/>
        <a:lstStyle/>
        <a:p>
          <a:endParaRPr lang="en-US"/>
        </a:p>
      </dgm:t>
    </dgm:pt>
    <dgm:pt modelId="{F760360E-651B-4439-98A1-07ABBD19D550}" type="sibTrans" cxnId="{1F72A479-CBD3-4C57-A98F-88A4F0E4DD46}">
      <dgm:prSet/>
      <dgm:spPr/>
      <dgm:t>
        <a:bodyPr/>
        <a:lstStyle/>
        <a:p>
          <a:endParaRPr lang="en-US"/>
        </a:p>
      </dgm:t>
    </dgm:pt>
    <dgm:pt modelId="{47F97D42-1804-467E-AF70-9C8E35B06A54}">
      <dgm:prSet/>
      <dgm:spPr/>
      <dgm:t>
        <a:bodyPr/>
        <a:lstStyle/>
        <a:p>
          <a:r>
            <a:rPr lang="en-US" dirty="0"/>
            <a:t>External validity</a:t>
          </a:r>
        </a:p>
      </dgm:t>
    </dgm:pt>
    <dgm:pt modelId="{B67996E6-5715-423E-A2BB-72975FA33D33}" type="sibTrans" cxnId="{F12C2698-38E1-462F-8AF3-AE03D007D147}">
      <dgm:prSet/>
      <dgm:spPr/>
      <dgm:t>
        <a:bodyPr/>
        <a:lstStyle/>
        <a:p>
          <a:endParaRPr lang="en-US"/>
        </a:p>
      </dgm:t>
    </dgm:pt>
    <dgm:pt modelId="{2BC2AE1B-6708-420E-9EDD-F4048C1CABA8}" type="parTrans" cxnId="{F12C2698-38E1-462F-8AF3-AE03D007D147}">
      <dgm:prSet/>
      <dgm:spPr/>
      <dgm:t>
        <a:bodyPr/>
        <a:lstStyle/>
        <a:p>
          <a:endParaRPr lang="en-US"/>
        </a:p>
      </dgm:t>
    </dgm:pt>
    <dgm:pt modelId="{3947004F-3C11-B64C-9D3A-807B67308209}" type="pres">
      <dgm:prSet presAssocID="{A9D56237-725C-44D3-9610-3E73DDFC0992}" presName="hierChild1" presStyleCnt="0">
        <dgm:presLayoutVars>
          <dgm:chPref val="1"/>
          <dgm:dir/>
          <dgm:animOne val="branch"/>
          <dgm:animLvl val="lvl"/>
          <dgm:resizeHandles/>
        </dgm:presLayoutVars>
      </dgm:prSet>
      <dgm:spPr/>
    </dgm:pt>
    <dgm:pt modelId="{380538C1-FB1E-C64A-B424-04362962688F}" type="pres">
      <dgm:prSet presAssocID="{914C411D-F70D-4CD5-918E-4392E1011CD9}" presName="hierRoot1" presStyleCnt="0"/>
      <dgm:spPr/>
    </dgm:pt>
    <dgm:pt modelId="{2B49521C-814B-7645-B7CF-E3CC02E4EDF3}" type="pres">
      <dgm:prSet presAssocID="{914C411D-F70D-4CD5-918E-4392E1011CD9}" presName="composite" presStyleCnt="0"/>
      <dgm:spPr/>
    </dgm:pt>
    <dgm:pt modelId="{DA015E12-24E4-1147-8929-96FDBEB5EC9B}" type="pres">
      <dgm:prSet presAssocID="{914C411D-F70D-4CD5-918E-4392E1011CD9}" presName="background" presStyleLbl="node0" presStyleIdx="0" presStyleCnt="3"/>
      <dgm:spPr/>
    </dgm:pt>
    <dgm:pt modelId="{CDBB5607-367E-024E-A22F-01A47C887373}" type="pres">
      <dgm:prSet presAssocID="{914C411D-F70D-4CD5-918E-4392E1011CD9}" presName="text" presStyleLbl="fgAcc0" presStyleIdx="0" presStyleCnt="3">
        <dgm:presLayoutVars>
          <dgm:chPref val="3"/>
        </dgm:presLayoutVars>
      </dgm:prSet>
      <dgm:spPr/>
    </dgm:pt>
    <dgm:pt modelId="{873F5C3C-C0D3-9940-B42C-BF1103357FFC}" type="pres">
      <dgm:prSet presAssocID="{914C411D-F70D-4CD5-918E-4392E1011CD9}" presName="hierChild2" presStyleCnt="0"/>
      <dgm:spPr/>
    </dgm:pt>
    <dgm:pt modelId="{F4A988F0-F6AE-BE42-BF0B-3924F831FB80}" type="pres">
      <dgm:prSet presAssocID="{47F97D42-1804-467E-AF70-9C8E35B06A54}" presName="hierRoot1" presStyleCnt="0"/>
      <dgm:spPr/>
    </dgm:pt>
    <dgm:pt modelId="{E31B4B7F-3DCF-7C4F-9A4E-5B5A85909E46}" type="pres">
      <dgm:prSet presAssocID="{47F97D42-1804-467E-AF70-9C8E35B06A54}" presName="composite" presStyleCnt="0"/>
      <dgm:spPr/>
    </dgm:pt>
    <dgm:pt modelId="{5E978B8D-2966-904A-A6C2-040D4B22B9C7}" type="pres">
      <dgm:prSet presAssocID="{47F97D42-1804-467E-AF70-9C8E35B06A54}" presName="background" presStyleLbl="node0" presStyleIdx="1" presStyleCnt="3"/>
      <dgm:spPr/>
    </dgm:pt>
    <dgm:pt modelId="{73F61775-C65E-3F49-8940-2FCAB5CADC44}" type="pres">
      <dgm:prSet presAssocID="{47F97D42-1804-467E-AF70-9C8E35B06A54}" presName="text" presStyleLbl="fgAcc0" presStyleIdx="1" presStyleCnt="3">
        <dgm:presLayoutVars>
          <dgm:chPref val="3"/>
        </dgm:presLayoutVars>
      </dgm:prSet>
      <dgm:spPr/>
    </dgm:pt>
    <dgm:pt modelId="{E766F417-265F-D147-AEE5-7C06B0A040A9}" type="pres">
      <dgm:prSet presAssocID="{47F97D42-1804-467E-AF70-9C8E35B06A54}" presName="hierChild2" presStyleCnt="0"/>
      <dgm:spPr/>
    </dgm:pt>
    <dgm:pt modelId="{2EC268B6-281F-3440-A454-9C2CB617DC60}" type="pres">
      <dgm:prSet presAssocID="{121DCDF2-8E71-411F-89A6-ED07997824FA}" presName="hierRoot1" presStyleCnt="0"/>
      <dgm:spPr/>
    </dgm:pt>
    <dgm:pt modelId="{F2E07E46-03B1-3B4A-9B2E-F9CAD0744BD6}" type="pres">
      <dgm:prSet presAssocID="{121DCDF2-8E71-411F-89A6-ED07997824FA}" presName="composite" presStyleCnt="0"/>
      <dgm:spPr/>
    </dgm:pt>
    <dgm:pt modelId="{3F756509-3CBE-0045-8BB1-B41E3DDDDAA8}" type="pres">
      <dgm:prSet presAssocID="{121DCDF2-8E71-411F-89A6-ED07997824FA}" presName="background" presStyleLbl="node0" presStyleIdx="2" presStyleCnt="3"/>
      <dgm:spPr/>
    </dgm:pt>
    <dgm:pt modelId="{556E9E98-C68B-574D-8091-DF0B81F16A3A}" type="pres">
      <dgm:prSet presAssocID="{121DCDF2-8E71-411F-89A6-ED07997824FA}" presName="text" presStyleLbl="fgAcc0" presStyleIdx="2" presStyleCnt="3">
        <dgm:presLayoutVars>
          <dgm:chPref val="3"/>
        </dgm:presLayoutVars>
      </dgm:prSet>
      <dgm:spPr/>
    </dgm:pt>
    <dgm:pt modelId="{A47CB264-3B58-8C4B-B751-D4076A6B55A1}" type="pres">
      <dgm:prSet presAssocID="{121DCDF2-8E71-411F-89A6-ED07997824FA}" presName="hierChild2" presStyleCnt="0"/>
      <dgm:spPr/>
    </dgm:pt>
  </dgm:ptLst>
  <dgm:cxnLst>
    <dgm:cxn modelId="{4B1FDB21-C711-B648-B51E-9F02ECF194D0}" type="presOf" srcId="{A9D56237-725C-44D3-9610-3E73DDFC0992}" destId="{3947004F-3C11-B64C-9D3A-807B67308209}" srcOrd="0" destOrd="0" presId="urn:microsoft.com/office/officeart/2005/8/layout/hierarchy1"/>
    <dgm:cxn modelId="{6263533C-830D-C846-8E4B-5D79B701DFD8}" type="presOf" srcId="{121DCDF2-8E71-411F-89A6-ED07997824FA}" destId="{556E9E98-C68B-574D-8091-DF0B81F16A3A}" srcOrd="0" destOrd="0" presId="urn:microsoft.com/office/officeart/2005/8/layout/hierarchy1"/>
    <dgm:cxn modelId="{1F72A479-CBD3-4C57-A98F-88A4F0E4DD46}" srcId="{A9D56237-725C-44D3-9610-3E73DDFC0992}" destId="{121DCDF2-8E71-411F-89A6-ED07997824FA}" srcOrd="2" destOrd="0" parTransId="{9663B124-BF47-4C21-9E84-C53BF60A4381}" sibTransId="{F760360E-651B-4439-98A1-07ABBD19D550}"/>
    <dgm:cxn modelId="{F12C2698-38E1-462F-8AF3-AE03D007D147}" srcId="{A9D56237-725C-44D3-9610-3E73DDFC0992}" destId="{47F97D42-1804-467E-AF70-9C8E35B06A54}" srcOrd="1" destOrd="0" parTransId="{2BC2AE1B-6708-420E-9EDD-F4048C1CABA8}" sibTransId="{B67996E6-5715-423E-A2BB-72975FA33D33}"/>
    <dgm:cxn modelId="{82B0B8C6-9B7A-B040-A1D7-488389A6C989}" type="presOf" srcId="{47F97D42-1804-467E-AF70-9C8E35B06A54}" destId="{73F61775-C65E-3F49-8940-2FCAB5CADC44}" srcOrd="0" destOrd="0" presId="urn:microsoft.com/office/officeart/2005/8/layout/hierarchy1"/>
    <dgm:cxn modelId="{8D2F37CC-C2B7-4D83-B2F8-278BED1B2E5C}" srcId="{A9D56237-725C-44D3-9610-3E73DDFC0992}" destId="{914C411D-F70D-4CD5-918E-4392E1011CD9}" srcOrd="0" destOrd="0" parTransId="{50ED5999-9677-433B-9C5F-879D2030996F}" sibTransId="{EDA5CA7A-7CB7-41A4-9346-8D5837784479}"/>
    <dgm:cxn modelId="{5AEA57F8-A580-2747-BE9A-7EED81C607C2}" type="presOf" srcId="{914C411D-F70D-4CD5-918E-4392E1011CD9}" destId="{CDBB5607-367E-024E-A22F-01A47C887373}" srcOrd="0" destOrd="0" presId="urn:microsoft.com/office/officeart/2005/8/layout/hierarchy1"/>
    <dgm:cxn modelId="{15A2DC97-3CB6-9944-A2D7-AB0BAE27BDBB}" type="presParOf" srcId="{3947004F-3C11-B64C-9D3A-807B67308209}" destId="{380538C1-FB1E-C64A-B424-04362962688F}" srcOrd="0" destOrd="0" presId="urn:microsoft.com/office/officeart/2005/8/layout/hierarchy1"/>
    <dgm:cxn modelId="{465869B8-65AD-9943-B49F-A3BAE75FF7A4}" type="presParOf" srcId="{380538C1-FB1E-C64A-B424-04362962688F}" destId="{2B49521C-814B-7645-B7CF-E3CC02E4EDF3}" srcOrd="0" destOrd="0" presId="urn:microsoft.com/office/officeart/2005/8/layout/hierarchy1"/>
    <dgm:cxn modelId="{57EE3FB4-6156-524A-86CD-C4032FD7F700}" type="presParOf" srcId="{2B49521C-814B-7645-B7CF-E3CC02E4EDF3}" destId="{DA015E12-24E4-1147-8929-96FDBEB5EC9B}" srcOrd="0" destOrd="0" presId="urn:microsoft.com/office/officeart/2005/8/layout/hierarchy1"/>
    <dgm:cxn modelId="{DAE865B4-0B4C-A241-8A8C-96668627C30A}" type="presParOf" srcId="{2B49521C-814B-7645-B7CF-E3CC02E4EDF3}" destId="{CDBB5607-367E-024E-A22F-01A47C887373}" srcOrd="1" destOrd="0" presId="urn:microsoft.com/office/officeart/2005/8/layout/hierarchy1"/>
    <dgm:cxn modelId="{56CAFB86-799B-5D47-BEEE-8BA9E0E972E7}" type="presParOf" srcId="{380538C1-FB1E-C64A-B424-04362962688F}" destId="{873F5C3C-C0D3-9940-B42C-BF1103357FFC}" srcOrd="1" destOrd="0" presId="urn:microsoft.com/office/officeart/2005/8/layout/hierarchy1"/>
    <dgm:cxn modelId="{B458AB92-64BC-AD47-94A6-E3E8F682967B}" type="presParOf" srcId="{3947004F-3C11-B64C-9D3A-807B67308209}" destId="{F4A988F0-F6AE-BE42-BF0B-3924F831FB80}" srcOrd="1" destOrd="0" presId="urn:microsoft.com/office/officeart/2005/8/layout/hierarchy1"/>
    <dgm:cxn modelId="{A4E27ABE-5FA1-5A45-BF0C-E4E7604D6C30}" type="presParOf" srcId="{F4A988F0-F6AE-BE42-BF0B-3924F831FB80}" destId="{E31B4B7F-3DCF-7C4F-9A4E-5B5A85909E46}" srcOrd="0" destOrd="0" presId="urn:microsoft.com/office/officeart/2005/8/layout/hierarchy1"/>
    <dgm:cxn modelId="{834079EB-A052-7A40-8D1F-1A9FB2595623}" type="presParOf" srcId="{E31B4B7F-3DCF-7C4F-9A4E-5B5A85909E46}" destId="{5E978B8D-2966-904A-A6C2-040D4B22B9C7}" srcOrd="0" destOrd="0" presId="urn:microsoft.com/office/officeart/2005/8/layout/hierarchy1"/>
    <dgm:cxn modelId="{B2BCB2FB-0B55-324C-8F9A-A6EA06435EE5}" type="presParOf" srcId="{E31B4B7F-3DCF-7C4F-9A4E-5B5A85909E46}" destId="{73F61775-C65E-3F49-8940-2FCAB5CADC44}" srcOrd="1" destOrd="0" presId="urn:microsoft.com/office/officeart/2005/8/layout/hierarchy1"/>
    <dgm:cxn modelId="{41A7B0F1-2D2D-5542-8112-729D885A33F4}" type="presParOf" srcId="{F4A988F0-F6AE-BE42-BF0B-3924F831FB80}" destId="{E766F417-265F-D147-AEE5-7C06B0A040A9}" srcOrd="1" destOrd="0" presId="urn:microsoft.com/office/officeart/2005/8/layout/hierarchy1"/>
    <dgm:cxn modelId="{E4BFDDA3-9714-024E-A7AE-7DC11214C571}" type="presParOf" srcId="{3947004F-3C11-B64C-9D3A-807B67308209}" destId="{2EC268B6-281F-3440-A454-9C2CB617DC60}" srcOrd="2" destOrd="0" presId="urn:microsoft.com/office/officeart/2005/8/layout/hierarchy1"/>
    <dgm:cxn modelId="{7390704A-97DB-7A46-9E8F-A4F14EA9871A}" type="presParOf" srcId="{2EC268B6-281F-3440-A454-9C2CB617DC60}" destId="{F2E07E46-03B1-3B4A-9B2E-F9CAD0744BD6}" srcOrd="0" destOrd="0" presId="urn:microsoft.com/office/officeart/2005/8/layout/hierarchy1"/>
    <dgm:cxn modelId="{508E413C-B96D-4C44-8EB2-0AAC6B266435}" type="presParOf" srcId="{F2E07E46-03B1-3B4A-9B2E-F9CAD0744BD6}" destId="{3F756509-3CBE-0045-8BB1-B41E3DDDDAA8}" srcOrd="0" destOrd="0" presId="urn:microsoft.com/office/officeart/2005/8/layout/hierarchy1"/>
    <dgm:cxn modelId="{445FAD49-D669-934F-B3F2-40782F0E0A40}" type="presParOf" srcId="{F2E07E46-03B1-3B4A-9B2E-F9CAD0744BD6}" destId="{556E9E98-C68B-574D-8091-DF0B81F16A3A}" srcOrd="1" destOrd="0" presId="urn:microsoft.com/office/officeart/2005/8/layout/hierarchy1"/>
    <dgm:cxn modelId="{1F9166B3-DDD0-1048-8E19-3BB15B557DEE}" type="presParOf" srcId="{2EC268B6-281F-3440-A454-9C2CB617DC60}" destId="{A47CB264-3B58-8C4B-B751-D4076A6B55A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D56237-725C-44D3-9610-3E73DDFC0992}" type="doc">
      <dgm:prSet loTypeId="urn:microsoft.com/office/officeart/2005/8/layout/hierarchy1" loCatId="hierarchy" qsTypeId="urn:microsoft.com/office/officeart/2005/8/quickstyle/simple1#17" qsCatId="simple" csTypeId="urn:microsoft.com/office/officeart/2005/8/colors/colorful2#5" csCatId="colorful" phldr="1"/>
      <dgm:spPr/>
      <dgm:t>
        <a:bodyPr/>
        <a:lstStyle/>
        <a:p>
          <a:endParaRPr lang="en-US"/>
        </a:p>
      </dgm:t>
    </dgm:pt>
    <dgm:pt modelId="{914C411D-F70D-4CD5-918E-4392E1011CD9}">
      <dgm:prSet/>
      <dgm:spPr>
        <a:ln>
          <a:solidFill>
            <a:schemeClr val="accent6">
              <a:lumMod val="75000"/>
            </a:schemeClr>
          </a:solidFill>
        </a:ln>
      </dgm:spPr>
      <dgm:t>
        <a:bodyPr/>
        <a:lstStyle/>
        <a:p>
          <a:r>
            <a:rPr lang="en-US" dirty="0"/>
            <a:t>Construct validity</a:t>
          </a:r>
        </a:p>
      </dgm:t>
    </dgm:pt>
    <dgm:pt modelId="{50ED5999-9677-433B-9C5F-879D2030996F}" type="parTrans" cxnId="{8D2F37CC-C2B7-4D83-B2F8-278BED1B2E5C}">
      <dgm:prSet/>
      <dgm:spPr/>
      <dgm:t>
        <a:bodyPr/>
        <a:lstStyle/>
        <a:p>
          <a:endParaRPr lang="en-US"/>
        </a:p>
      </dgm:t>
    </dgm:pt>
    <dgm:pt modelId="{EDA5CA7A-7CB7-41A4-9346-8D5837784479}" type="sibTrans" cxnId="{8D2F37CC-C2B7-4D83-B2F8-278BED1B2E5C}">
      <dgm:prSet/>
      <dgm:spPr/>
      <dgm:t>
        <a:bodyPr/>
        <a:lstStyle/>
        <a:p>
          <a:endParaRPr lang="en-US"/>
        </a:p>
      </dgm:t>
    </dgm:pt>
    <dgm:pt modelId="{121DCDF2-8E71-411F-89A6-ED07997824FA}">
      <dgm:prSet/>
      <dgm:spPr>
        <a:ln>
          <a:solidFill>
            <a:schemeClr val="accent6">
              <a:lumMod val="75000"/>
            </a:schemeClr>
          </a:solidFill>
        </a:ln>
      </dgm:spPr>
      <dgm:t>
        <a:bodyPr/>
        <a:lstStyle/>
        <a:p>
          <a:r>
            <a:rPr lang="en-US" dirty="0"/>
            <a:t>Statistical validity</a:t>
          </a:r>
        </a:p>
      </dgm:t>
    </dgm:pt>
    <dgm:pt modelId="{9663B124-BF47-4C21-9E84-C53BF60A4381}" type="parTrans" cxnId="{1F72A479-CBD3-4C57-A98F-88A4F0E4DD46}">
      <dgm:prSet/>
      <dgm:spPr/>
      <dgm:t>
        <a:bodyPr/>
        <a:lstStyle/>
        <a:p>
          <a:endParaRPr lang="en-US"/>
        </a:p>
      </dgm:t>
    </dgm:pt>
    <dgm:pt modelId="{F760360E-651B-4439-98A1-07ABBD19D550}" type="sibTrans" cxnId="{1F72A479-CBD3-4C57-A98F-88A4F0E4DD46}">
      <dgm:prSet/>
      <dgm:spPr/>
      <dgm:t>
        <a:bodyPr/>
        <a:lstStyle/>
        <a:p>
          <a:endParaRPr lang="en-US"/>
        </a:p>
      </dgm:t>
    </dgm:pt>
    <dgm:pt modelId="{47F97D42-1804-467E-AF70-9C8E35B06A54}">
      <dgm:prSet/>
      <dgm:spPr>
        <a:ln>
          <a:solidFill>
            <a:schemeClr val="accent6">
              <a:lumMod val="75000"/>
            </a:schemeClr>
          </a:solidFill>
        </a:ln>
      </dgm:spPr>
      <dgm:t>
        <a:bodyPr/>
        <a:lstStyle/>
        <a:p>
          <a:r>
            <a:rPr lang="en-US" dirty="0"/>
            <a:t>External validity</a:t>
          </a:r>
        </a:p>
      </dgm:t>
    </dgm:pt>
    <dgm:pt modelId="{B67996E6-5715-423E-A2BB-72975FA33D33}" type="sibTrans" cxnId="{F12C2698-38E1-462F-8AF3-AE03D007D147}">
      <dgm:prSet/>
      <dgm:spPr/>
      <dgm:t>
        <a:bodyPr/>
        <a:lstStyle/>
        <a:p>
          <a:endParaRPr lang="en-US"/>
        </a:p>
      </dgm:t>
    </dgm:pt>
    <dgm:pt modelId="{2BC2AE1B-6708-420E-9EDD-F4048C1CABA8}" type="parTrans" cxnId="{F12C2698-38E1-462F-8AF3-AE03D007D147}">
      <dgm:prSet/>
      <dgm:spPr/>
      <dgm:t>
        <a:bodyPr/>
        <a:lstStyle/>
        <a:p>
          <a:endParaRPr lang="en-US"/>
        </a:p>
      </dgm:t>
    </dgm:pt>
    <dgm:pt modelId="{3947004F-3C11-B64C-9D3A-807B67308209}" type="pres">
      <dgm:prSet presAssocID="{A9D56237-725C-44D3-9610-3E73DDFC0992}" presName="hierChild1" presStyleCnt="0">
        <dgm:presLayoutVars>
          <dgm:chPref val="1"/>
          <dgm:dir/>
          <dgm:animOne val="branch"/>
          <dgm:animLvl val="lvl"/>
          <dgm:resizeHandles/>
        </dgm:presLayoutVars>
      </dgm:prSet>
      <dgm:spPr/>
    </dgm:pt>
    <dgm:pt modelId="{380538C1-FB1E-C64A-B424-04362962688F}" type="pres">
      <dgm:prSet presAssocID="{914C411D-F70D-4CD5-918E-4392E1011CD9}" presName="hierRoot1" presStyleCnt="0"/>
      <dgm:spPr/>
    </dgm:pt>
    <dgm:pt modelId="{2B49521C-814B-7645-B7CF-E3CC02E4EDF3}" type="pres">
      <dgm:prSet presAssocID="{914C411D-F70D-4CD5-918E-4392E1011CD9}" presName="composite" presStyleCnt="0"/>
      <dgm:spPr/>
    </dgm:pt>
    <dgm:pt modelId="{DA015E12-24E4-1147-8929-96FDBEB5EC9B}" type="pres">
      <dgm:prSet presAssocID="{914C411D-F70D-4CD5-918E-4392E1011CD9}" presName="background" presStyleLbl="node0" presStyleIdx="0" presStyleCnt="3"/>
      <dgm:spPr>
        <a:solidFill>
          <a:schemeClr val="accent6">
            <a:lumMod val="60000"/>
            <a:lumOff val="40000"/>
          </a:schemeClr>
        </a:solidFill>
        <a:ln>
          <a:solidFill>
            <a:schemeClr val="accent6">
              <a:lumMod val="75000"/>
            </a:schemeClr>
          </a:solidFill>
        </a:ln>
      </dgm:spPr>
    </dgm:pt>
    <dgm:pt modelId="{CDBB5607-367E-024E-A22F-01A47C887373}" type="pres">
      <dgm:prSet presAssocID="{914C411D-F70D-4CD5-918E-4392E1011CD9}" presName="text" presStyleLbl="fgAcc0" presStyleIdx="0" presStyleCnt="3">
        <dgm:presLayoutVars>
          <dgm:chPref val="3"/>
        </dgm:presLayoutVars>
      </dgm:prSet>
      <dgm:spPr/>
    </dgm:pt>
    <dgm:pt modelId="{873F5C3C-C0D3-9940-B42C-BF1103357FFC}" type="pres">
      <dgm:prSet presAssocID="{914C411D-F70D-4CD5-918E-4392E1011CD9}" presName="hierChild2" presStyleCnt="0"/>
      <dgm:spPr/>
    </dgm:pt>
    <dgm:pt modelId="{F4A988F0-F6AE-BE42-BF0B-3924F831FB80}" type="pres">
      <dgm:prSet presAssocID="{47F97D42-1804-467E-AF70-9C8E35B06A54}" presName="hierRoot1" presStyleCnt="0"/>
      <dgm:spPr/>
    </dgm:pt>
    <dgm:pt modelId="{E31B4B7F-3DCF-7C4F-9A4E-5B5A85909E46}" type="pres">
      <dgm:prSet presAssocID="{47F97D42-1804-467E-AF70-9C8E35B06A54}" presName="composite" presStyleCnt="0"/>
      <dgm:spPr/>
    </dgm:pt>
    <dgm:pt modelId="{5E978B8D-2966-904A-A6C2-040D4B22B9C7}" type="pres">
      <dgm:prSet presAssocID="{47F97D42-1804-467E-AF70-9C8E35B06A54}" presName="background" presStyleLbl="node0" presStyleIdx="1" presStyleCnt="3"/>
      <dgm:spPr>
        <a:solidFill>
          <a:schemeClr val="accent6">
            <a:lumMod val="60000"/>
            <a:lumOff val="40000"/>
          </a:schemeClr>
        </a:solidFill>
        <a:ln>
          <a:solidFill>
            <a:schemeClr val="accent6">
              <a:lumMod val="75000"/>
            </a:schemeClr>
          </a:solidFill>
        </a:ln>
      </dgm:spPr>
    </dgm:pt>
    <dgm:pt modelId="{73F61775-C65E-3F49-8940-2FCAB5CADC44}" type="pres">
      <dgm:prSet presAssocID="{47F97D42-1804-467E-AF70-9C8E35B06A54}" presName="text" presStyleLbl="fgAcc0" presStyleIdx="1" presStyleCnt="3">
        <dgm:presLayoutVars>
          <dgm:chPref val="3"/>
        </dgm:presLayoutVars>
      </dgm:prSet>
      <dgm:spPr/>
    </dgm:pt>
    <dgm:pt modelId="{E766F417-265F-D147-AEE5-7C06B0A040A9}" type="pres">
      <dgm:prSet presAssocID="{47F97D42-1804-467E-AF70-9C8E35B06A54}" presName="hierChild2" presStyleCnt="0"/>
      <dgm:spPr/>
    </dgm:pt>
    <dgm:pt modelId="{2EC268B6-281F-3440-A454-9C2CB617DC60}" type="pres">
      <dgm:prSet presAssocID="{121DCDF2-8E71-411F-89A6-ED07997824FA}" presName="hierRoot1" presStyleCnt="0"/>
      <dgm:spPr/>
    </dgm:pt>
    <dgm:pt modelId="{F2E07E46-03B1-3B4A-9B2E-F9CAD0744BD6}" type="pres">
      <dgm:prSet presAssocID="{121DCDF2-8E71-411F-89A6-ED07997824FA}" presName="composite" presStyleCnt="0"/>
      <dgm:spPr/>
    </dgm:pt>
    <dgm:pt modelId="{3F756509-3CBE-0045-8BB1-B41E3DDDDAA8}" type="pres">
      <dgm:prSet presAssocID="{121DCDF2-8E71-411F-89A6-ED07997824FA}" presName="background" presStyleLbl="node0" presStyleIdx="2" presStyleCnt="3"/>
      <dgm:spPr>
        <a:solidFill>
          <a:schemeClr val="accent6">
            <a:lumMod val="60000"/>
            <a:lumOff val="40000"/>
          </a:schemeClr>
        </a:solidFill>
        <a:ln>
          <a:solidFill>
            <a:schemeClr val="accent6">
              <a:lumMod val="75000"/>
            </a:schemeClr>
          </a:solidFill>
        </a:ln>
      </dgm:spPr>
    </dgm:pt>
    <dgm:pt modelId="{556E9E98-C68B-574D-8091-DF0B81F16A3A}" type="pres">
      <dgm:prSet presAssocID="{121DCDF2-8E71-411F-89A6-ED07997824FA}" presName="text" presStyleLbl="fgAcc0" presStyleIdx="2" presStyleCnt="3">
        <dgm:presLayoutVars>
          <dgm:chPref val="3"/>
        </dgm:presLayoutVars>
      </dgm:prSet>
      <dgm:spPr/>
    </dgm:pt>
    <dgm:pt modelId="{A47CB264-3B58-8C4B-B751-D4076A6B55A1}" type="pres">
      <dgm:prSet presAssocID="{121DCDF2-8E71-411F-89A6-ED07997824FA}" presName="hierChild2" presStyleCnt="0"/>
      <dgm:spPr/>
    </dgm:pt>
  </dgm:ptLst>
  <dgm:cxnLst>
    <dgm:cxn modelId="{4B1FDB21-C711-B648-B51E-9F02ECF194D0}" type="presOf" srcId="{A9D56237-725C-44D3-9610-3E73DDFC0992}" destId="{3947004F-3C11-B64C-9D3A-807B67308209}" srcOrd="0" destOrd="0" presId="urn:microsoft.com/office/officeart/2005/8/layout/hierarchy1"/>
    <dgm:cxn modelId="{6263533C-830D-C846-8E4B-5D79B701DFD8}" type="presOf" srcId="{121DCDF2-8E71-411F-89A6-ED07997824FA}" destId="{556E9E98-C68B-574D-8091-DF0B81F16A3A}" srcOrd="0" destOrd="0" presId="urn:microsoft.com/office/officeart/2005/8/layout/hierarchy1"/>
    <dgm:cxn modelId="{1F72A479-CBD3-4C57-A98F-88A4F0E4DD46}" srcId="{A9D56237-725C-44D3-9610-3E73DDFC0992}" destId="{121DCDF2-8E71-411F-89A6-ED07997824FA}" srcOrd="2" destOrd="0" parTransId="{9663B124-BF47-4C21-9E84-C53BF60A4381}" sibTransId="{F760360E-651B-4439-98A1-07ABBD19D550}"/>
    <dgm:cxn modelId="{F12C2698-38E1-462F-8AF3-AE03D007D147}" srcId="{A9D56237-725C-44D3-9610-3E73DDFC0992}" destId="{47F97D42-1804-467E-AF70-9C8E35B06A54}" srcOrd="1" destOrd="0" parTransId="{2BC2AE1B-6708-420E-9EDD-F4048C1CABA8}" sibTransId="{B67996E6-5715-423E-A2BB-72975FA33D33}"/>
    <dgm:cxn modelId="{82B0B8C6-9B7A-B040-A1D7-488389A6C989}" type="presOf" srcId="{47F97D42-1804-467E-AF70-9C8E35B06A54}" destId="{73F61775-C65E-3F49-8940-2FCAB5CADC44}" srcOrd="0" destOrd="0" presId="urn:microsoft.com/office/officeart/2005/8/layout/hierarchy1"/>
    <dgm:cxn modelId="{8D2F37CC-C2B7-4D83-B2F8-278BED1B2E5C}" srcId="{A9D56237-725C-44D3-9610-3E73DDFC0992}" destId="{914C411D-F70D-4CD5-918E-4392E1011CD9}" srcOrd="0" destOrd="0" parTransId="{50ED5999-9677-433B-9C5F-879D2030996F}" sibTransId="{EDA5CA7A-7CB7-41A4-9346-8D5837784479}"/>
    <dgm:cxn modelId="{5AEA57F8-A580-2747-BE9A-7EED81C607C2}" type="presOf" srcId="{914C411D-F70D-4CD5-918E-4392E1011CD9}" destId="{CDBB5607-367E-024E-A22F-01A47C887373}" srcOrd="0" destOrd="0" presId="urn:microsoft.com/office/officeart/2005/8/layout/hierarchy1"/>
    <dgm:cxn modelId="{15A2DC97-3CB6-9944-A2D7-AB0BAE27BDBB}" type="presParOf" srcId="{3947004F-3C11-B64C-9D3A-807B67308209}" destId="{380538C1-FB1E-C64A-B424-04362962688F}" srcOrd="0" destOrd="0" presId="urn:microsoft.com/office/officeart/2005/8/layout/hierarchy1"/>
    <dgm:cxn modelId="{465869B8-65AD-9943-B49F-A3BAE75FF7A4}" type="presParOf" srcId="{380538C1-FB1E-C64A-B424-04362962688F}" destId="{2B49521C-814B-7645-B7CF-E3CC02E4EDF3}" srcOrd="0" destOrd="0" presId="urn:microsoft.com/office/officeart/2005/8/layout/hierarchy1"/>
    <dgm:cxn modelId="{57EE3FB4-6156-524A-86CD-C4032FD7F700}" type="presParOf" srcId="{2B49521C-814B-7645-B7CF-E3CC02E4EDF3}" destId="{DA015E12-24E4-1147-8929-96FDBEB5EC9B}" srcOrd="0" destOrd="0" presId="urn:microsoft.com/office/officeart/2005/8/layout/hierarchy1"/>
    <dgm:cxn modelId="{DAE865B4-0B4C-A241-8A8C-96668627C30A}" type="presParOf" srcId="{2B49521C-814B-7645-B7CF-E3CC02E4EDF3}" destId="{CDBB5607-367E-024E-A22F-01A47C887373}" srcOrd="1" destOrd="0" presId="urn:microsoft.com/office/officeart/2005/8/layout/hierarchy1"/>
    <dgm:cxn modelId="{56CAFB86-799B-5D47-BEEE-8BA9E0E972E7}" type="presParOf" srcId="{380538C1-FB1E-C64A-B424-04362962688F}" destId="{873F5C3C-C0D3-9940-B42C-BF1103357FFC}" srcOrd="1" destOrd="0" presId="urn:microsoft.com/office/officeart/2005/8/layout/hierarchy1"/>
    <dgm:cxn modelId="{B458AB92-64BC-AD47-94A6-E3E8F682967B}" type="presParOf" srcId="{3947004F-3C11-B64C-9D3A-807B67308209}" destId="{F4A988F0-F6AE-BE42-BF0B-3924F831FB80}" srcOrd="1" destOrd="0" presId="urn:microsoft.com/office/officeart/2005/8/layout/hierarchy1"/>
    <dgm:cxn modelId="{A4E27ABE-5FA1-5A45-BF0C-E4E7604D6C30}" type="presParOf" srcId="{F4A988F0-F6AE-BE42-BF0B-3924F831FB80}" destId="{E31B4B7F-3DCF-7C4F-9A4E-5B5A85909E46}" srcOrd="0" destOrd="0" presId="urn:microsoft.com/office/officeart/2005/8/layout/hierarchy1"/>
    <dgm:cxn modelId="{834079EB-A052-7A40-8D1F-1A9FB2595623}" type="presParOf" srcId="{E31B4B7F-3DCF-7C4F-9A4E-5B5A85909E46}" destId="{5E978B8D-2966-904A-A6C2-040D4B22B9C7}" srcOrd="0" destOrd="0" presId="urn:microsoft.com/office/officeart/2005/8/layout/hierarchy1"/>
    <dgm:cxn modelId="{B2BCB2FB-0B55-324C-8F9A-A6EA06435EE5}" type="presParOf" srcId="{E31B4B7F-3DCF-7C4F-9A4E-5B5A85909E46}" destId="{73F61775-C65E-3F49-8940-2FCAB5CADC44}" srcOrd="1" destOrd="0" presId="urn:microsoft.com/office/officeart/2005/8/layout/hierarchy1"/>
    <dgm:cxn modelId="{41A7B0F1-2D2D-5542-8112-729D885A33F4}" type="presParOf" srcId="{F4A988F0-F6AE-BE42-BF0B-3924F831FB80}" destId="{E766F417-265F-D147-AEE5-7C06B0A040A9}" srcOrd="1" destOrd="0" presId="urn:microsoft.com/office/officeart/2005/8/layout/hierarchy1"/>
    <dgm:cxn modelId="{E4BFDDA3-9714-024E-A7AE-7DC11214C571}" type="presParOf" srcId="{3947004F-3C11-B64C-9D3A-807B67308209}" destId="{2EC268B6-281F-3440-A454-9C2CB617DC60}" srcOrd="2" destOrd="0" presId="urn:microsoft.com/office/officeart/2005/8/layout/hierarchy1"/>
    <dgm:cxn modelId="{7390704A-97DB-7A46-9E8F-A4F14EA9871A}" type="presParOf" srcId="{2EC268B6-281F-3440-A454-9C2CB617DC60}" destId="{F2E07E46-03B1-3B4A-9B2E-F9CAD0744BD6}" srcOrd="0" destOrd="0" presId="urn:microsoft.com/office/officeart/2005/8/layout/hierarchy1"/>
    <dgm:cxn modelId="{508E413C-B96D-4C44-8EB2-0AAC6B266435}" type="presParOf" srcId="{F2E07E46-03B1-3B4A-9B2E-F9CAD0744BD6}" destId="{3F756509-3CBE-0045-8BB1-B41E3DDDDAA8}" srcOrd="0" destOrd="0" presId="urn:microsoft.com/office/officeart/2005/8/layout/hierarchy1"/>
    <dgm:cxn modelId="{445FAD49-D669-934F-B3F2-40782F0E0A40}" type="presParOf" srcId="{F2E07E46-03B1-3B4A-9B2E-F9CAD0744BD6}" destId="{556E9E98-C68B-574D-8091-DF0B81F16A3A}" srcOrd="1" destOrd="0" presId="urn:microsoft.com/office/officeart/2005/8/layout/hierarchy1"/>
    <dgm:cxn modelId="{1F9166B3-DDD0-1048-8E19-3BB15B557DEE}" type="presParOf" srcId="{2EC268B6-281F-3440-A454-9C2CB617DC60}" destId="{A47CB264-3B58-8C4B-B751-D4076A6B55A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9D56237-725C-44D3-9610-3E73DDFC0992}" type="doc">
      <dgm:prSet loTypeId="urn:microsoft.com/office/officeart/2005/8/layout/hierarchy1" loCatId="hierarchy" qsTypeId="urn:microsoft.com/office/officeart/2005/8/quickstyle/simple1#17" qsCatId="simple" csTypeId="urn:microsoft.com/office/officeart/2005/8/colors/colorful2#5" csCatId="colorful" phldr="1"/>
      <dgm:spPr/>
      <dgm:t>
        <a:bodyPr/>
        <a:lstStyle/>
        <a:p>
          <a:endParaRPr lang="en-US"/>
        </a:p>
      </dgm:t>
    </dgm:pt>
    <dgm:pt modelId="{914C411D-F70D-4CD5-918E-4392E1011CD9}">
      <dgm:prSet/>
      <dgm:spPr>
        <a:ln>
          <a:solidFill>
            <a:schemeClr val="accent2">
              <a:lumMod val="75000"/>
            </a:schemeClr>
          </a:solidFill>
        </a:ln>
      </dgm:spPr>
      <dgm:t>
        <a:bodyPr/>
        <a:lstStyle/>
        <a:p>
          <a:r>
            <a:rPr lang="en-US" dirty="0"/>
            <a:t>Internal validity</a:t>
          </a:r>
        </a:p>
      </dgm:t>
    </dgm:pt>
    <dgm:pt modelId="{50ED5999-9677-433B-9C5F-879D2030996F}" type="parTrans" cxnId="{8D2F37CC-C2B7-4D83-B2F8-278BED1B2E5C}">
      <dgm:prSet/>
      <dgm:spPr/>
      <dgm:t>
        <a:bodyPr/>
        <a:lstStyle/>
        <a:p>
          <a:endParaRPr lang="en-US"/>
        </a:p>
      </dgm:t>
    </dgm:pt>
    <dgm:pt modelId="{EDA5CA7A-7CB7-41A4-9346-8D5837784479}" type="sibTrans" cxnId="{8D2F37CC-C2B7-4D83-B2F8-278BED1B2E5C}">
      <dgm:prSet/>
      <dgm:spPr/>
      <dgm:t>
        <a:bodyPr/>
        <a:lstStyle/>
        <a:p>
          <a:endParaRPr lang="en-US"/>
        </a:p>
      </dgm:t>
    </dgm:pt>
    <dgm:pt modelId="{121DCDF2-8E71-411F-89A6-ED07997824FA}">
      <dgm:prSet/>
      <dgm:spPr>
        <a:ln>
          <a:solidFill>
            <a:schemeClr val="accent2">
              <a:lumMod val="75000"/>
            </a:schemeClr>
          </a:solidFill>
        </a:ln>
      </dgm:spPr>
      <dgm:t>
        <a:bodyPr/>
        <a:lstStyle/>
        <a:p>
          <a:r>
            <a:rPr lang="en-US" dirty="0"/>
            <a:t>Statistical validity</a:t>
          </a:r>
        </a:p>
      </dgm:t>
    </dgm:pt>
    <dgm:pt modelId="{9663B124-BF47-4C21-9E84-C53BF60A4381}" type="parTrans" cxnId="{1F72A479-CBD3-4C57-A98F-88A4F0E4DD46}">
      <dgm:prSet/>
      <dgm:spPr/>
      <dgm:t>
        <a:bodyPr/>
        <a:lstStyle/>
        <a:p>
          <a:endParaRPr lang="en-US"/>
        </a:p>
      </dgm:t>
    </dgm:pt>
    <dgm:pt modelId="{F760360E-651B-4439-98A1-07ABBD19D550}" type="sibTrans" cxnId="{1F72A479-CBD3-4C57-A98F-88A4F0E4DD46}">
      <dgm:prSet/>
      <dgm:spPr/>
      <dgm:t>
        <a:bodyPr/>
        <a:lstStyle/>
        <a:p>
          <a:endParaRPr lang="en-US"/>
        </a:p>
      </dgm:t>
    </dgm:pt>
    <dgm:pt modelId="{47F97D42-1804-467E-AF70-9C8E35B06A54}">
      <dgm:prSet/>
      <dgm:spPr>
        <a:ln>
          <a:solidFill>
            <a:schemeClr val="accent2">
              <a:lumMod val="75000"/>
            </a:schemeClr>
          </a:solidFill>
        </a:ln>
      </dgm:spPr>
      <dgm:t>
        <a:bodyPr/>
        <a:lstStyle/>
        <a:p>
          <a:r>
            <a:rPr lang="en-US" dirty="0"/>
            <a:t>External validity</a:t>
          </a:r>
        </a:p>
      </dgm:t>
    </dgm:pt>
    <dgm:pt modelId="{B67996E6-5715-423E-A2BB-72975FA33D33}" type="sibTrans" cxnId="{F12C2698-38E1-462F-8AF3-AE03D007D147}">
      <dgm:prSet/>
      <dgm:spPr/>
      <dgm:t>
        <a:bodyPr/>
        <a:lstStyle/>
        <a:p>
          <a:endParaRPr lang="en-US"/>
        </a:p>
      </dgm:t>
    </dgm:pt>
    <dgm:pt modelId="{2BC2AE1B-6708-420E-9EDD-F4048C1CABA8}" type="parTrans" cxnId="{F12C2698-38E1-462F-8AF3-AE03D007D147}">
      <dgm:prSet/>
      <dgm:spPr/>
      <dgm:t>
        <a:bodyPr/>
        <a:lstStyle/>
        <a:p>
          <a:endParaRPr lang="en-US"/>
        </a:p>
      </dgm:t>
    </dgm:pt>
    <dgm:pt modelId="{9DB658B9-3D3A-4A38-8FBC-E7AAD6EC05C0}">
      <dgm:prSet/>
      <dgm:spPr>
        <a:ln>
          <a:solidFill>
            <a:schemeClr val="accent2">
              <a:lumMod val="75000"/>
            </a:schemeClr>
          </a:solidFill>
        </a:ln>
      </dgm:spPr>
      <dgm:t>
        <a:bodyPr/>
        <a:lstStyle/>
        <a:p>
          <a:r>
            <a:rPr lang="en-US"/>
            <a:t>Construct validity</a:t>
          </a:r>
          <a:endParaRPr lang="en-US" dirty="0"/>
        </a:p>
      </dgm:t>
    </dgm:pt>
    <dgm:pt modelId="{F55CA082-756C-4733-BF3F-32DD64C7C691}" type="parTrans" cxnId="{2D81C291-B9E6-4B6E-B9EC-3C4E299DA1C6}">
      <dgm:prSet/>
      <dgm:spPr/>
      <dgm:t>
        <a:bodyPr/>
        <a:lstStyle/>
        <a:p>
          <a:endParaRPr lang="en-US"/>
        </a:p>
      </dgm:t>
    </dgm:pt>
    <dgm:pt modelId="{B14F230B-AC20-4F25-BE88-93EDAB3DDDE2}" type="sibTrans" cxnId="{2D81C291-B9E6-4B6E-B9EC-3C4E299DA1C6}">
      <dgm:prSet/>
      <dgm:spPr/>
      <dgm:t>
        <a:bodyPr/>
        <a:lstStyle/>
        <a:p>
          <a:endParaRPr lang="en-US"/>
        </a:p>
      </dgm:t>
    </dgm:pt>
    <dgm:pt modelId="{3947004F-3C11-B64C-9D3A-807B67308209}" type="pres">
      <dgm:prSet presAssocID="{A9D56237-725C-44D3-9610-3E73DDFC0992}" presName="hierChild1" presStyleCnt="0">
        <dgm:presLayoutVars>
          <dgm:chPref val="1"/>
          <dgm:dir/>
          <dgm:animOne val="branch"/>
          <dgm:animLvl val="lvl"/>
          <dgm:resizeHandles/>
        </dgm:presLayoutVars>
      </dgm:prSet>
      <dgm:spPr/>
    </dgm:pt>
    <dgm:pt modelId="{380538C1-FB1E-C64A-B424-04362962688F}" type="pres">
      <dgm:prSet presAssocID="{914C411D-F70D-4CD5-918E-4392E1011CD9}" presName="hierRoot1" presStyleCnt="0"/>
      <dgm:spPr/>
    </dgm:pt>
    <dgm:pt modelId="{2B49521C-814B-7645-B7CF-E3CC02E4EDF3}" type="pres">
      <dgm:prSet presAssocID="{914C411D-F70D-4CD5-918E-4392E1011CD9}" presName="composite" presStyleCnt="0"/>
      <dgm:spPr/>
    </dgm:pt>
    <dgm:pt modelId="{DA015E12-24E4-1147-8929-96FDBEB5EC9B}" type="pres">
      <dgm:prSet presAssocID="{914C411D-F70D-4CD5-918E-4392E1011CD9}" presName="background" presStyleLbl="node0" presStyleIdx="0" presStyleCnt="4"/>
      <dgm:spPr>
        <a:solidFill>
          <a:schemeClr val="accent2">
            <a:lumMod val="60000"/>
            <a:lumOff val="40000"/>
          </a:schemeClr>
        </a:solidFill>
        <a:ln>
          <a:solidFill>
            <a:schemeClr val="accent2">
              <a:lumMod val="75000"/>
            </a:schemeClr>
          </a:solidFill>
        </a:ln>
      </dgm:spPr>
    </dgm:pt>
    <dgm:pt modelId="{CDBB5607-367E-024E-A22F-01A47C887373}" type="pres">
      <dgm:prSet presAssocID="{914C411D-F70D-4CD5-918E-4392E1011CD9}" presName="text" presStyleLbl="fgAcc0" presStyleIdx="0" presStyleCnt="4">
        <dgm:presLayoutVars>
          <dgm:chPref val="3"/>
        </dgm:presLayoutVars>
      </dgm:prSet>
      <dgm:spPr/>
    </dgm:pt>
    <dgm:pt modelId="{873F5C3C-C0D3-9940-B42C-BF1103357FFC}" type="pres">
      <dgm:prSet presAssocID="{914C411D-F70D-4CD5-918E-4392E1011CD9}" presName="hierChild2" presStyleCnt="0"/>
      <dgm:spPr/>
    </dgm:pt>
    <dgm:pt modelId="{1E2CE3DE-4EB9-41B3-8B47-F7A10B9FD0B1}" type="pres">
      <dgm:prSet presAssocID="{9DB658B9-3D3A-4A38-8FBC-E7AAD6EC05C0}" presName="hierRoot1" presStyleCnt="0"/>
      <dgm:spPr/>
    </dgm:pt>
    <dgm:pt modelId="{C623D154-F7A9-4A9A-A1FE-3FA72D1A3AFC}" type="pres">
      <dgm:prSet presAssocID="{9DB658B9-3D3A-4A38-8FBC-E7AAD6EC05C0}" presName="composite" presStyleCnt="0"/>
      <dgm:spPr/>
    </dgm:pt>
    <dgm:pt modelId="{625C5934-A083-4F82-AAA3-2F60204C7E76}" type="pres">
      <dgm:prSet presAssocID="{9DB658B9-3D3A-4A38-8FBC-E7AAD6EC05C0}" presName="background" presStyleLbl="node0" presStyleIdx="1" presStyleCnt="4"/>
      <dgm:spPr>
        <a:solidFill>
          <a:schemeClr val="accent2">
            <a:lumMod val="60000"/>
            <a:lumOff val="40000"/>
          </a:schemeClr>
        </a:solidFill>
        <a:ln>
          <a:solidFill>
            <a:schemeClr val="accent2">
              <a:lumMod val="75000"/>
            </a:schemeClr>
          </a:solidFill>
        </a:ln>
      </dgm:spPr>
    </dgm:pt>
    <dgm:pt modelId="{C176C99C-9102-48D2-97E9-F49F5604B2F1}" type="pres">
      <dgm:prSet presAssocID="{9DB658B9-3D3A-4A38-8FBC-E7AAD6EC05C0}" presName="text" presStyleLbl="fgAcc0" presStyleIdx="1" presStyleCnt="4">
        <dgm:presLayoutVars>
          <dgm:chPref val="3"/>
        </dgm:presLayoutVars>
      </dgm:prSet>
      <dgm:spPr/>
    </dgm:pt>
    <dgm:pt modelId="{1049A2D2-16C6-46AF-B00E-70B91826875E}" type="pres">
      <dgm:prSet presAssocID="{9DB658B9-3D3A-4A38-8FBC-E7AAD6EC05C0}" presName="hierChild2" presStyleCnt="0"/>
      <dgm:spPr/>
    </dgm:pt>
    <dgm:pt modelId="{F4A988F0-F6AE-BE42-BF0B-3924F831FB80}" type="pres">
      <dgm:prSet presAssocID="{47F97D42-1804-467E-AF70-9C8E35B06A54}" presName="hierRoot1" presStyleCnt="0"/>
      <dgm:spPr/>
    </dgm:pt>
    <dgm:pt modelId="{E31B4B7F-3DCF-7C4F-9A4E-5B5A85909E46}" type="pres">
      <dgm:prSet presAssocID="{47F97D42-1804-467E-AF70-9C8E35B06A54}" presName="composite" presStyleCnt="0"/>
      <dgm:spPr/>
    </dgm:pt>
    <dgm:pt modelId="{5E978B8D-2966-904A-A6C2-040D4B22B9C7}" type="pres">
      <dgm:prSet presAssocID="{47F97D42-1804-467E-AF70-9C8E35B06A54}" presName="background" presStyleLbl="node0" presStyleIdx="2" presStyleCnt="4"/>
      <dgm:spPr>
        <a:solidFill>
          <a:schemeClr val="accent2">
            <a:lumMod val="60000"/>
            <a:lumOff val="40000"/>
          </a:schemeClr>
        </a:solidFill>
        <a:ln>
          <a:solidFill>
            <a:schemeClr val="accent2">
              <a:lumMod val="75000"/>
            </a:schemeClr>
          </a:solidFill>
        </a:ln>
      </dgm:spPr>
    </dgm:pt>
    <dgm:pt modelId="{73F61775-C65E-3F49-8940-2FCAB5CADC44}" type="pres">
      <dgm:prSet presAssocID="{47F97D42-1804-467E-AF70-9C8E35B06A54}" presName="text" presStyleLbl="fgAcc0" presStyleIdx="2" presStyleCnt="4">
        <dgm:presLayoutVars>
          <dgm:chPref val="3"/>
        </dgm:presLayoutVars>
      </dgm:prSet>
      <dgm:spPr/>
    </dgm:pt>
    <dgm:pt modelId="{E766F417-265F-D147-AEE5-7C06B0A040A9}" type="pres">
      <dgm:prSet presAssocID="{47F97D42-1804-467E-AF70-9C8E35B06A54}" presName="hierChild2" presStyleCnt="0"/>
      <dgm:spPr/>
    </dgm:pt>
    <dgm:pt modelId="{2EC268B6-281F-3440-A454-9C2CB617DC60}" type="pres">
      <dgm:prSet presAssocID="{121DCDF2-8E71-411F-89A6-ED07997824FA}" presName="hierRoot1" presStyleCnt="0"/>
      <dgm:spPr/>
    </dgm:pt>
    <dgm:pt modelId="{F2E07E46-03B1-3B4A-9B2E-F9CAD0744BD6}" type="pres">
      <dgm:prSet presAssocID="{121DCDF2-8E71-411F-89A6-ED07997824FA}" presName="composite" presStyleCnt="0"/>
      <dgm:spPr/>
    </dgm:pt>
    <dgm:pt modelId="{3F756509-3CBE-0045-8BB1-B41E3DDDDAA8}" type="pres">
      <dgm:prSet presAssocID="{121DCDF2-8E71-411F-89A6-ED07997824FA}" presName="background" presStyleLbl="node0" presStyleIdx="3" presStyleCnt="4"/>
      <dgm:spPr>
        <a:solidFill>
          <a:schemeClr val="accent2">
            <a:lumMod val="60000"/>
            <a:lumOff val="40000"/>
          </a:schemeClr>
        </a:solidFill>
        <a:ln>
          <a:solidFill>
            <a:schemeClr val="accent2">
              <a:lumMod val="75000"/>
            </a:schemeClr>
          </a:solidFill>
        </a:ln>
      </dgm:spPr>
    </dgm:pt>
    <dgm:pt modelId="{556E9E98-C68B-574D-8091-DF0B81F16A3A}" type="pres">
      <dgm:prSet presAssocID="{121DCDF2-8E71-411F-89A6-ED07997824FA}" presName="text" presStyleLbl="fgAcc0" presStyleIdx="3" presStyleCnt="4">
        <dgm:presLayoutVars>
          <dgm:chPref val="3"/>
        </dgm:presLayoutVars>
      </dgm:prSet>
      <dgm:spPr/>
    </dgm:pt>
    <dgm:pt modelId="{A47CB264-3B58-8C4B-B751-D4076A6B55A1}" type="pres">
      <dgm:prSet presAssocID="{121DCDF2-8E71-411F-89A6-ED07997824FA}" presName="hierChild2" presStyleCnt="0"/>
      <dgm:spPr/>
    </dgm:pt>
  </dgm:ptLst>
  <dgm:cxnLst>
    <dgm:cxn modelId="{4B1FDB21-C711-B648-B51E-9F02ECF194D0}" type="presOf" srcId="{A9D56237-725C-44D3-9610-3E73DDFC0992}" destId="{3947004F-3C11-B64C-9D3A-807B67308209}" srcOrd="0" destOrd="0" presId="urn:microsoft.com/office/officeart/2005/8/layout/hierarchy1"/>
    <dgm:cxn modelId="{44DCA52F-4DFA-46B9-8696-86A011866383}" type="presOf" srcId="{9DB658B9-3D3A-4A38-8FBC-E7AAD6EC05C0}" destId="{C176C99C-9102-48D2-97E9-F49F5604B2F1}" srcOrd="0" destOrd="0" presId="urn:microsoft.com/office/officeart/2005/8/layout/hierarchy1"/>
    <dgm:cxn modelId="{6263533C-830D-C846-8E4B-5D79B701DFD8}" type="presOf" srcId="{121DCDF2-8E71-411F-89A6-ED07997824FA}" destId="{556E9E98-C68B-574D-8091-DF0B81F16A3A}" srcOrd="0" destOrd="0" presId="urn:microsoft.com/office/officeart/2005/8/layout/hierarchy1"/>
    <dgm:cxn modelId="{1F72A479-CBD3-4C57-A98F-88A4F0E4DD46}" srcId="{A9D56237-725C-44D3-9610-3E73DDFC0992}" destId="{121DCDF2-8E71-411F-89A6-ED07997824FA}" srcOrd="3" destOrd="0" parTransId="{9663B124-BF47-4C21-9E84-C53BF60A4381}" sibTransId="{F760360E-651B-4439-98A1-07ABBD19D550}"/>
    <dgm:cxn modelId="{2D81C291-B9E6-4B6E-B9EC-3C4E299DA1C6}" srcId="{A9D56237-725C-44D3-9610-3E73DDFC0992}" destId="{9DB658B9-3D3A-4A38-8FBC-E7AAD6EC05C0}" srcOrd="1" destOrd="0" parTransId="{F55CA082-756C-4733-BF3F-32DD64C7C691}" sibTransId="{B14F230B-AC20-4F25-BE88-93EDAB3DDDE2}"/>
    <dgm:cxn modelId="{F12C2698-38E1-462F-8AF3-AE03D007D147}" srcId="{A9D56237-725C-44D3-9610-3E73DDFC0992}" destId="{47F97D42-1804-467E-AF70-9C8E35B06A54}" srcOrd="2" destOrd="0" parTransId="{2BC2AE1B-6708-420E-9EDD-F4048C1CABA8}" sibTransId="{B67996E6-5715-423E-A2BB-72975FA33D33}"/>
    <dgm:cxn modelId="{82B0B8C6-9B7A-B040-A1D7-488389A6C989}" type="presOf" srcId="{47F97D42-1804-467E-AF70-9C8E35B06A54}" destId="{73F61775-C65E-3F49-8940-2FCAB5CADC44}" srcOrd="0" destOrd="0" presId="urn:microsoft.com/office/officeart/2005/8/layout/hierarchy1"/>
    <dgm:cxn modelId="{8D2F37CC-C2B7-4D83-B2F8-278BED1B2E5C}" srcId="{A9D56237-725C-44D3-9610-3E73DDFC0992}" destId="{914C411D-F70D-4CD5-918E-4392E1011CD9}" srcOrd="0" destOrd="0" parTransId="{50ED5999-9677-433B-9C5F-879D2030996F}" sibTransId="{EDA5CA7A-7CB7-41A4-9346-8D5837784479}"/>
    <dgm:cxn modelId="{5AEA57F8-A580-2747-BE9A-7EED81C607C2}" type="presOf" srcId="{914C411D-F70D-4CD5-918E-4392E1011CD9}" destId="{CDBB5607-367E-024E-A22F-01A47C887373}" srcOrd="0" destOrd="0" presId="urn:microsoft.com/office/officeart/2005/8/layout/hierarchy1"/>
    <dgm:cxn modelId="{15A2DC97-3CB6-9944-A2D7-AB0BAE27BDBB}" type="presParOf" srcId="{3947004F-3C11-B64C-9D3A-807B67308209}" destId="{380538C1-FB1E-C64A-B424-04362962688F}" srcOrd="0" destOrd="0" presId="urn:microsoft.com/office/officeart/2005/8/layout/hierarchy1"/>
    <dgm:cxn modelId="{465869B8-65AD-9943-B49F-A3BAE75FF7A4}" type="presParOf" srcId="{380538C1-FB1E-C64A-B424-04362962688F}" destId="{2B49521C-814B-7645-B7CF-E3CC02E4EDF3}" srcOrd="0" destOrd="0" presId="urn:microsoft.com/office/officeart/2005/8/layout/hierarchy1"/>
    <dgm:cxn modelId="{57EE3FB4-6156-524A-86CD-C4032FD7F700}" type="presParOf" srcId="{2B49521C-814B-7645-B7CF-E3CC02E4EDF3}" destId="{DA015E12-24E4-1147-8929-96FDBEB5EC9B}" srcOrd="0" destOrd="0" presId="urn:microsoft.com/office/officeart/2005/8/layout/hierarchy1"/>
    <dgm:cxn modelId="{DAE865B4-0B4C-A241-8A8C-96668627C30A}" type="presParOf" srcId="{2B49521C-814B-7645-B7CF-E3CC02E4EDF3}" destId="{CDBB5607-367E-024E-A22F-01A47C887373}" srcOrd="1" destOrd="0" presId="urn:microsoft.com/office/officeart/2005/8/layout/hierarchy1"/>
    <dgm:cxn modelId="{56CAFB86-799B-5D47-BEEE-8BA9E0E972E7}" type="presParOf" srcId="{380538C1-FB1E-C64A-B424-04362962688F}" destId="{873F5C3C-C0D3-9940-B42C-BF1103357FFC}" srcOrd="1" destOrd="0" presId="urn:microsoft.com/office/officeart/2005/8/layout/hierarchy1"/>
    <dgm:cxn modelId="{A02F80A7-4315-48E6-8916-B9E7C42CB4F4}" type="presParOf" srcId="{3947004F-3C11-B64C-9D3A-807B67308209}" destId="{1E2CE3DE-4EB9-41B3-8B47-F7A10B9FD0B1}" srcOrd="1" destOrd="0" presId="urn:microsoft.com/office/officeart/2005/8/layout/hierarchy1"/>
    <dgm:cxn modelId="{9E9A2C6C-1720-4B90-95BB-ED81FCAC9F1E}" type="presParOf" srcId="{1E2CE3DE-4EB9-41B3-8B47-F7A10B9FD0B1}" destId="{C623D154-F7A9-4A9A-A1FE-3FA72D1A3AFC}" srcOrd="0" destOrd="0" presId="urn:microsoft.com/office/officeart/2005/8/layout/hierarchy1"/>
    <dgm:cxn modelId="{2C9BC432-DA51-4FAE-88C1-9D0C612D00DD}" type="presParOf" srcId="{C623D154-F7A9-4A9A-A1FE-3FA72D1A3AFC}" destId="{625C5934-A083-4F82-AAA3-2F60204C7E76}" srcOrd="0" destOrd="0" presId="urn:microsoft.com/office/officeart/2005/8/layout/hierarchy1"/>
    <dgm:cxn modelId="{2B9023B1-E465-4357-805B-5AA8C483C521}" type="presParOf" srcId="{C623D154-F7A9-4A9A-A1FE-3FA72D1A3AFC}" destId="{C176C99C-9102-48D2-97E9-F49F5604B2F1}" srcOrd="1" destOrd="0" presId="urn:microsoft.com/office/officeart/2005/8/layout/hierarchy1"/>
    <dgm:cxn modelId="{B5D05330-36E3-4EE7-9456-7F66E088C169}" type="presParOf" srcId="{1E2CE3DE-4EB9-41B3-8B47-F7A10B9FD0B1}" destId="{1049A2D2-16C6-46AF-B00E-70B91826875E}" srcOrd="1" destOrd="0" presId="urn:microsoft.com/office/officeart/2005/8/layout/hierarchy1"/>
    <dgm:cxn modelId="{B458AB92-64BC-AD47-94A6-E3E8F682967B}" type="presParOf" srcId="{3947004F-3C11-B64C-9D3A-807B67308209}" destId="{F4A988F0-F6AE-BE42-BF0B-3924F831FB80}" srcOrd="2" destOrd="0" presId="urn:microsoft.com/office/officeart/2005/8/layout/hierarchy1"/>
    <dgm:cxn modelId="{A4E27ABE-5FA1-5A45-BF0C-E4E7604D6C30}" type="presParOf" srcId="{F4A988F0-F6AE-BE42-BF0B-3924F831FB80}" destId="{E31B4B7F-3DCF-7C4F-9A4E-5B5A85909E46}" srcOrd="0" destOrd="0" presId="urn:microsoft.com/office/officeart/2005/8/layout/hierarchy1"/>
    <dgm:cxn modelId="{834079EB-A052-7A40-8D1F-1A9FB2595623}" type="presParOf" srcId="{E31B4B7F-3DCF-7C4F-9A4E-5B5A85909E46}" destId="{5E978B8D-2966-904A-A6C2-040D4B22B9C7}" srcOrd="0" destOrd="0" presId="urn:microsoft.com/office/officeart/2005/8/layout/hierarchy1"/>
    <dgm:cxn modelId="{B2BCB2FB-0B55-324C-8F9A-A6EA06435EE5}" type="presParOf" srcId="{E31B4B7F-3DCF-7C4F-9A4E-5B5A85909E46}" destId="{73F61775-C65E-3F49-8940-2FCAB5CADC44}" srcOrd="1" destOrd="0" presId="urn:microsoft.com/office/officeart/2005/8/layout/hierarchy1"/>
    <dgm:cxn modelId="{41A7B0F1-2D2D-5542-8112-729D885A33F4}" type="presParOf" srcId="{F4A988F0-F6AE-BE42-BF0B-3924F831FB80}" destId="{E766F417-265F-D147-AEE5-7C06B0A040A9}" srcOrd="1" destOrd="0" presId="urn:microsoft.com/office/officeart/2005/8/layout/hierarchy1"/>
    <dgm:cxn modelId="{E4BFDDA3-9714-024E-A7AE-7DC11214C571}" type="presParOf" srcId="{3947004F-3C11-B64C-9D3A-807B67308209}" destId="{2EC268B6-281F-3440-A454-9C2CB617DC60}" srcOrd="3" destOrd="0" presId="urn:microsoft.com/office/officeart/2005/8/layout/hierarchy1"/>
    <dgm:cxn modelId="{7390704A-97DB-7A46-9E8F-A4F14EA9871A}" type="presParOf" srcId="{2EC268B6-281F-3440-A454-9C2CB617DC60}" destId="{F2E07E46-03B1-3B4A-9B2E-F9CAD0744BD6}" srcOrd="0" destOrd="0" presId="urn:microsoft.com/office/officeart/2005/8/layout/hierarchy1"/>
    <dgm:cxn modelId="{508E413C-B96D-4C44-8EB2-0AAC6B266435}" type="presParOf" srcId="{F2E07E46-03B1-3B4A-9B2E-F9CAD0744BD6}" destId="{3F756509-3CBE-0045-8BB1-B41E3DDDDAA8}" srcOrd="0" destOrd="0" presId="urn:microsoft.com/office/officeart/2005/8/layout/hierarchy1"/>
    <dgm:cxn modelId="{445FAD49-D669-934F-B3F2-40782F0E0A40}" type="presParOf" srcId="{F2E07E46-03B1-3B4A-9B2E-F9CAD0744BD6}" destId="{556E9E98-C68B-574D-8091-DF0B81F16A3A}" srcOrd="1" destOrd="0" presId="urn:microsoft.com/office/officeart/2005/8/layout/hierarchy1"/>
    <dgm:cxn modelId="{1F9166B3-DDD0-1048-8E19-3BB15B557DEE}" type="presParOf" srcId="{2EC268B6-281F-3440-A454-9C2CB617DC60}" destId="{A47CB264-3B58-8C4B-B751-D4076A6B55A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015E12-24E4-1147-8929-96FDBEB5EC9B}">
      <dsp:nvSpPr>
        <dsp:cNvPr id="0" name=""/>
        <dsp:cNvSpPr/>
      </dsp:nvSpPr>
      <dsp:spPr>
        <a:xfrm>
          <a:off x="0" y="736997"/>
          <a:ext cx="2862857" cy="18179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BB5607-367E-024E-A22F-01A47C887373}">
      <dsp:nvSpPr>
        <dsp:cNvPr id="0" name=""/>
        <dsp:cNvSpPr/>
      </dsp:nvSpPr>
      <dsp:spPr>
        <a:xfrm>
          <a:off x="318095" y="1039187"/>
          <a:ext cx="2862857" cy="18179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a:t>Construct validity</a:t>
          </a:r>
        </a:p>
      </dsp:txBody>
      <dsp:txXfrm>
        <a:off x="371340" y="1092432"/>
        <a:ext cx="2756367" cy="1711424"/>
      </dsp:txXfrm>
    </dsp:sp>
    <dsp:sp modelId="{5E978B8D-2966-904A-A6C2-040D4B22B9C7}">
      <dsp:nvSpPr>
        <dsp:cNvPr id="0" name=""/>
        <dsp:cNvSpPr/>
      </dsp:nvSpPr>
      <dsp:spPr>
        <a:xfrm>
          <a:off x="3499048" y="736997"/>
          <a:ext cx="2862857" cy="18179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F61775-C65E-3F49-8940-2FCAB5CADC44}">
      <dsp:nvSpPr>
        <dsp:cNvPr id="0" name=""/>
        <dsp:cNvSpPr/>
      </dsp:nvSpPr>
      <dsp:spPr>
        <a:xfrm>
          <a:off x="3817143" y="1039187"/>
          <a:ext cx="2862857" cy="18179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External validity</a:t>
          </a:r>
        </a:p>
      </dsp:txBody>
      <dsp:txXfrm>
        <a:off x="3870388" y="1092432"/>
        <a:ext cx="2756367" cy="1711424"/>
      </dsp:txXfrm>
    </dsp:sp>
    <dsp:sp modelId="{3F756509-3CBE-0045-8BB1-B41E3DDDDAA8}">
      <dsp:nvSpPr>
        <dsp:cNvPr id="0" name=""/>
        <dsp:cNvSpPr/>
      </dsp:nvSpPr>
      <dsp:spPr>
        <a:xfrm>
          <a:off x="6998096" y="736997"/>
          <a:ext cx="2862857" cy="18179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6E9E98-C68B-574D-8091-DF0B81F16A3A}">
      <dsp:nvSpPr>
        <dsp:cNvPr id="0" name=""/>
        <dsp:cNvSpPr/>
      </dsp:nvSpPr>
      <dsp:spPr>
        <a:xfrm>
          <a:off x="7316192" y="1039187"/>
          <a:ext cx="2862857" cy="18179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Statistical validity</a:t>
          </a:r>
        </a:p>
      </dsp:txBody>
      <dsp:txXfrm>
        <a:off x="7369437" y="1092432"/>
        <a:ext cx="2756367" cy="17114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015E12-24E4-1147-8929-96FDBEB5EC9B}">
      <dsp:nvSpPr>
        <dsp:cNvPr id="0" name=""/>
        <dsp:cNvSpPr/>
      </dsp:nvSpPr>
      <dsp:spPr>
        <a:xfrm>
          <a:off x="0" y="736997"/>
          <a:ext cx="2862857" cy="1817914"/>
        </a:xfrm>
        <a:prstGeom prst="roundRect">
          <a:avLst>
            <a:gd name="adj" fmla="val 10000"/>
          </a:avLst>
        </a:prstGeom>
        <a:solidFill>
          <a:schemeClr val="accent6">
            <a:lumMod val="60000"/>
            <a:lumOff val="40000"/>
          </a:schemeClr>
        </a:solidFill>
        <a:ln w="12700" cap="flat" cmpd="sng" algn="ctr">
          <a:solidFill>
            <a:schemeClr val="accent6">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BB5607-367E-024E-A22F-01A47C887373}">
      <dsp:nvSpPr>
        <dsp:cNvPr id="0" name=""/>
        <dsp:cNvSpPr/>
      </dsp:nvSpPr>
      <dsp:spPr>
        <a:xfrm>
          <a:off x="318095" y="1039187"/>
          <a:ext cx="2862857" cy="1817914"/>
        </a:xfrm>
        <a:prstGeom prst="roundRect">
          <a:avLst>
            <a:gd name="adj" fmla="val 10000"/>
          </a:avLst>
        </a:prstGeom>
        <a:solidFill>
          <a:schemeClr val="lt1">
            <a:alpha val="90000"/>
            <a:hueOff val="0"/>
            <a:satOff val="0"/>
            <a:lumOff val="0"/>
            <a:alphaOff val="0"/>
          </a:schemeClr>
        </a:solidFill>
        <a:ln w="12700" cap="flat" cmpd="sng" algn="ctr">
          <a:solidFill>
            <a:schemeClr val="accent6">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Construct validity</a:t>
          </a:r>
        </a:p>
      </dsp:txBody>
      <dsp:txXfrm>
        <a:off x="371340" y="1092432"/>
        <a:ext cx="2756367" cy="1711424"/>
      </dsp:txXfrm>
    </dsp:sp>
    <dsp:sp modelId="{5E978B8D-2966-904A-A6C2-040D4B22B9C7}">
      <dsp:nvSpPr>
        <dsp:cNvPr id="0" name=""/>
        <dsp:cNvSpPr/>
      </dsp:nvSpPr>
      <dsp:spPr>
        <a:xfrm>
          <a:off x="3499048" y="736997"/>
          <a:ext cx="2862857" cy="1817914"/>
        </a:xfrm>
        <a:prstGeom prst="roundRect">
          <a:avLst>
            <a:gd name="adj" fmla="val 10000"/>
          </a:avLst>
        </a:prstGeom>
        <a:solidFill>
          <a:schemeClr val="accent6">
            <a:lumMod val="60000"/>
            <a:lumOff val="40000"/>
          </a:schemeClr>
        </a:solidFill>
        <a:ln w="12700" cap="flat" cmpd="sng" algn="ctr">
          <a:solidFill>
            <a:schemeClr val="accent6">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F61775-C65E-3F49-8940-2FCAB5CADC44}">
      <dsp:nvSpPr>
        <dsp:cNvPr id="0" name=""/>
        <dsp:cNvSpPr/>
      </dsp:nvSpPr>
      <dsp:spPr>
        <a:xfrm>
          <a:off x="3817143" y="1039187"/>
          <a:ext cx="2862857" cy="1817914"/>
        </a:xfrm>
        <a:prstGeom prst="roundRect">
          <a:avLst>
            <a:gd name="adj" fmla="val 10000"/>
          </a:avLst>
        </a:prstGeom>
        <a:solidFill>
          <a:schemeClr val="lt1">
            <a:alpha val="90000"/>
            <a:hueOff val="0"/>
            <a:satOff val="0"/>
            <a:lumOff val="0"/>
            <a:alphaOff val="0"/>
          </a:schemeClr>
        </a:solidFill>
        <a:ln w="12700" cap="flat" cmpd="sng" algn="ctr">
          <a:solidFill>
            <a:schemeClr val="accent6">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External validity</a:t>
          </a:r>
        </a:p>
      </dsp:txBody>
      <dsp:txXfrm>
        <a:off x="3870388" y="1092432"/>
        <a:ext cx="2756367" cy="1711424"/>
      </dsp:txXfrm>
    </dsp:sp>
    <dsp:sp modelId="{3F756509-3CBE-0045-8BB1-B41E3DDDDAA8}">
      <dsp:nvSpPr>
        <dsp:cNvPr id="0" name=""/>
        <dsp:cNvSpPr/>
      </dsp:nvSpPr>
      <dsp:spPr>
        <a:xfrm>
          <a:off x="6998096" y="736997"/>
          <a:ext cx="2862857" cy="1817914"/>
        </a:xfrm>
        <a:prstGeom prst="roundRect">
          <a:avLst>
            <a:gd name="adj" fmla="val 10000"/>
          </a:avLst>
        </a:prstGeom>
        <a:solidFill>
          <a:schemeClr val="accent6">
            <a:lumMod val="60000"/>
            <a:lumOff val="40000"/>
          </a:schemeClr>
        </a:solidFill>
        <a:ln w="12700" cap="flat" cmpd="sng" algn="ctr">
          <a:solidFill>
            <a:schemeClr val="accent6">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6E9E98-C68B-574D-8091-DF0B81F16A3A}">
      <dsp:nvSpPr>
        <dsp:cNvPr id="0" name=""/>
        <dsp:cNvSpPr/>
      </dsp:nvSpPr>
      <dsp:spPr>
        <a:xfrm>
          <a:off x="7316192" y="1039187"/>
          <a:ext cx="2862857" cy="1817914"/>
        </a:xfrm>
        <a:prstGeom prst="roundRect">
          <a:avLst>
            <a:gd name="adj" fmla="val 10000"/>
          </a:avLst>
        </a:prstGeom>
        <a:solidFill>
          <a:schemeClr val="lt1">
            <a:alpha val="90000"/>
            <a:hueOff val="0"/>
            <a:satOff val="0"/>
            <a:lumOff val="0"/>
            <a:alphaOff val="0"/>
          </a:schemeClr>
        </a:solidFill>
        <a:ln w="12700" cap="flat" cmpd="sng" algn="ctr">
          <a:solidFill>
            <a:schemeClr val="accent6">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Statistical validity</a:t>
          </a:r>
        </a:p>
      </dsp:txBody>
      <dsp:txXfrm>
        <a:off x="7369437" y="1092432"/>
        <a:ext cx="2756367" cy="17114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015E12-24E4-1147-8929-96FDBEB5EC9B}">
      <dsp:nvSpPr>
        <dsp:cNvPr id="0" name=""/>
        <dsp:cNvSpPr/>
      </dsp:nvSpPr>
      <dsp:spPr>
        <a:xfrm>
          <a:off x="2982" y="1008635"/>
          <a:ext cx="2129250" cy="1352074"/>
        </a:xfrm>
        <a:prstGeom prst="roundRect">
          <a:avLst>
            <a:gd name="adj" fmla="val 10000"/>
          </a:avLst>
        </a:prstGeom>
        <a:solidFill>
          <a:schemeClr val="accent2">
            <a:lumMod val="60000"/>
            <a:lumOff val="40000"/>
          </a:schemeClr>
        </a:solidFill>
        <a:ln w="12700" cap="flat" cmpd="sng" algn="ctr">
          <a:solidFill>
            <a:schemeClr val="accent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BB5607-367E-024E-A22F-01A47C887373}">
      <dsp:nvSpPr>
        <dsp:cNvPr id="0" name=""/>
        <dsp:cNvSpPr/>
      </dsp:nvSpPr>
      <dsp:spPr>
        <a:xfrm>
          <a:off x="239565" y="1233390"/>
          <a:ext cx="2129250" cy="1352074"/>
        </a:xfrm>
        <a:prstGeom prst="roundRect">
          <a:avLst>
            <a:gd name="adj" fmla="val 10000"/>
          </a:avLst>
        </a:prstGeom>
        <a:solidFill>
          <a:schemeClr val="lt1">
            <a:alpha val="90000"/>
            <a:hueOff val="0"/>
            <a:satOff val="0"/>
            <a:lumOff val="0"/>
            <a:alphaOff val="0"/>
          </a:schemeClr>
        </a:solidFill>
        <a:ln w="12700" cap="flat" cmpd="sng" algn="ctr">
          <a:solidFill>
            <a:schemeClr val="accent2">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Internal validity</a:t>
          </a:r>
        </a:p>
      </dsp:txBody>
      <dsp:txXfrm>
        <a:off x="279166" y="1272991"/>
        <a:ext cx="2050048" cy="1272872"/>
      </dsp:txXfrm>
    </dsp:sp>
    <dsp:sp modelId="{625C5934-A083-4F82-AAA3-2F60204C7E76}">
      <dsp:nvSpPr>
        <dsp:cNvPr id="0" name=""/>
        <dsp:cNvSpPr/>
      </dsp:nvSpPr>
      <dsp:spPr>
        <a:xfrm>
          <a:off x="2605399" y="1008635"/>
          <a:ext cx="2129250" cy="1352074"/>
        </a:xfrm>
        <a:prstGeom prst="roundRect">
          <a:avLst>
            <a:gd name="adj" fmla="val 10000"/>
          </a:avLst>
        </a:prstGeom>
        <a:solidFill>
          <a:schemeClr val="accent2">
            <a:lumMod val="60000"/>
            <a:lumOff val="40000"/>
          </a:schemeClr>
        </a:solidFill>
        <a:ln w="12700" cap="flat" cmpd="sng" algn="ctr">
          <a:solidFill>
            <a:schemeClr val="accent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76C99C-9102-48D2-97E9-F49F5604B2F1}">
      <dsp:nvSpPr>
        <dsp:cNvPr id="0" name=""/>
        <dsp:cNvSpPr/>
      </dsp:nvSpPr>
      <dsp:spPr>
        <a:xfrm>
          <a:off x="2841982" y="1233390"/>
          <a:ext cx="2129250" cy="1352074"/>
        </a:xfrm>
        <a:prstGeom prst="roundRect">
          <a:avLst>
            <a:gd name="adj" fmla="val 10000"/>
          </a:avLst>
        </a:prstGeom>
        <a:solidFill>
          <a:schemeClr val="lt1">
            <a:alpha val="90000"/>
            <a:hueOff val="0"/>
            <a:satOff val="0"/>
            <a:lumOff val="0"/>
            <a:alphaOff val="0"/>
          </a:schemeClr>
        </a:solidFill>
        <a:ln w="12700" cap="flat" cmpd="sng" algn="ctr">
          <a:solidFill>
            <a:schemeClr val="accent2">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Construct validity</a:t>
          </a:r>
          <a:endParaRPr lang="en-US" sz="3200" kern="1200" dirty="0"/>
        </a:p>
      </dsp:txBody>
      <dsp:txXfrm>
        <a:off x="2881583" y="1272991"/>
        <a:ext cx="2050048" cy="1272872"/>
      </dsp:txXfrm>
    </dsp:sp>
    <dsp:sp modelId="{5E978B8D-2966-904A-A6C2-040D4B22B9C7}">
      <dsp:nvSpPr>
        <dsp:cNvPr id="0" name=""/>
        <dsp:cNvSpPr/>
      </dsp:nvSpPr>
      <dsp:spPr>
        <a:xfrm>
          <a:off x="5207816" y="1008635"/>
          <a:ext cx="2129250" cy="1352074"/>
        </a:xfrm>
        <a:prstGeom prst="roundRect">
          <a:avLst>
            <a:gd name="adj" fmla="val 10000"/>
          </a:avLst>
        </a:prstGeom>
        <a:solidFill>
          <a:schemeClr val="accent2">
            <a:lumMod val="60000"/>
            <a:lumOff val="40000"/>
          </a:schemeClr>
        </a:solidFill>
        <a:ln w="12700" cap="flat" cmpd="sng" algn="ctr">
          <a:solidFill>
            <a:schemeClr val="accent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F61775-C65E-3F49-8940-2FCAB5CADC44}">
      <dsp:nvSpPr>
        <dsp:cNvPr id="0" name=""/>
        <dsp:cNvSpPr/>
      </dsp:nvSpPr>
      <dsp:spPr>
        <a:xfrm>
          <a:off x="5444400" y="1233390"/>
          <a:ext cx="2129250" cy="1352074"/>
        </a:xfrm>
        <a:prstGeom prst="roundRect">
          <a:avLst>
            <a:gd name="adj" fmla="val 10000"/>
          </a:avLst>
        </a:prstGeom>
        <a:solidFill>
          <a:schemeClr val="lt1">
            <a:alpha val="90000"/>
            <a:hueOff val="0"/>
            <a:satOff val="0"/>
            <a:lumOff val="0"/>
            <a:alphaOff val="0"/>
          </a:schemeClr>
        </a:solidFill>
        <a:ln w="12700" cap="flat" cmpd="sng" algn="ctr">
          <a:solidFill>
            <a:schemeClr val="accent2">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External validity</a:t>
          </a:r>
        </a:p>
      </dsp:txBody>
      <dsp:txXfrm>
        <a:off x="5484001" y="1272991"/>
        <a:ext cx="2050048" cy="1272872"/>
      </dsp:txXfrm>
    </dsp:sp>
    <dsp:sp modelId="{3F756509-3CBE-0045-8BB1-B41E3DDDDAA8}">
      <dsp:nvSpPr>
        <dsp:cNvPr id="0" name=""/>
        <dsp:cNvSpPr/>
      </dsp:nvSpPr>
      <dsp:spPr>
        <a:xfrm>
          <a:off x="7810233" y="1008635"/>
          <a:ext cx="2129250" cy="1352074"/>
        </a:xfrm>
        <a:prstGeom prst="roundRect">
          <a:avLst>
            <a:gd name="adj" fmla="val 10000"/>
          </a:avLst>
        </a:prstGeom>
        <a:solidFill>
          <a:schemeClr val="accent2">
            <a:lumMod val="60000"/>
            <a:lumOff val="40000"/>
          </a:schemeClr>
        </a:solidFill>
        <a:ln w="12700" cap="flat" cmpd="sng" algn="ctr">
          <a:solidFill>
            <a:schemeClr val="accent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6E9E98-C68B-574D-8091-DF0B81F16A3A}">
      <dsp:nvSpPr>
        <dsp:cNvPr id="0" name=""/>
        <dsp:cNvSpPr/>
      </dsp:nvSpPr>
      <dsp:spPr>
        <a:xfrm>
          <a:off x="8046817" y="1233390"/>
          <a:ext cx="2129250" cy="1352074"/>
        </a:xfrm>
        <a:prstGeom prst="roundRect">
          <a:avLst>
            <a:gd name="adj" fmla="val 10000"/>
          </a:avLst>
        </a:prstGeom>
        <a:solidFill>
          <a:schemeClr val="lt1">
            <a:alpha val="90000"/>
            <a:hueOff val="0"/>
            <a:satOff val="0"/>
            <a:lumOff val="0"/>
            <a:alphaOff val="0"/>
          </a:schemeClr>
        </a:solidFill>
        <a:ln w="12700" cap="flat" cmpd="sng" algn="ctr">
          <a:solidFill>
            <a:schemeClr val="accent2">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Statistical validity</a:t>
          </a:r>
        </a:p>
      </dsp:txBody>
      <dsp:txXfrm>
        <a:off x="8086418" y="1272991"/>
        <a:ext cx="2050048" cy="127287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480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258053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964102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602852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405461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b="1" dirty="0"/>
          </a:p>
        </p:txBody>
      </p:sp>
    </p:spTree>
    <p:extLst>
      <p:ext uri="{BB962C8B-B14F-4D97-AF65-F5344CB8AC3E}">
        <p14:creationId xmlns:p14="http://schemas.microsoft.com/office/powerpoint/2010/main" val="4145641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473923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934941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665937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57901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986265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052151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2EAB7-0FC2-FE5A-AFAB-698FD4B46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00F54-880A-FBA4-F3B6-BFFB6813C3A8}"/>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623E90B-AFD2-CF4F-455B-2A032034FE44}"/>
              </a:ext>
            </a:extLst>
          </p:cNvPr>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212721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AB5F3-7FAF-1BAB-3E40-2A9D1F2DD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8FBB9-7393-830B-560A-B44EAEF3202D}"/>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46CE798-E862-D2D0-EE2C-F5EB7200C735}"/>
              </a:ext>
            </a:extLst>
          </p:cNvPr>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1723341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0655946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777839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902380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12823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2984409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A604F-C0D1-4817-6841-384AE8C89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F2492-B368-97E4-6599-606026ABE7A5}"/>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A7C136C-D8AD-CD71-C2FB-4AADB07FE4DE}"/>
              </a:ext>
            </a:extLst>
          </p:cNvPr>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398302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7146887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9597818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5409908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1436745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1554554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171450" indent="-171450">
              <a:spcBef>
                <a:spcPts val="307"/>
              </a:spcBef>
              <a:buFont typeface="Arial" panose="020B0604020202020204" pitchFamily="34" charset="0"/>
              <a:buChar char="•"/>
            </a:pPr>
            <a:endParaRPr lang="en-US" sz="1200" dirty="0"/>
          </a:p>
        </p:txBody>
      </p:sp>
    </p:spTree>
    <p:extLst>
      <p:ext uri="{BB962C8B-B14F-4D97-AF65-F5344CB8AC3E}">
        <p14:creationId xmlns:p14="http://schemas.microsoft.com/office/powerpoint/2010/main" val="6275834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D7AE-08EC-6351-AB48-3B95E493E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0017B-E993-70B5-7979-D2F9663467AC}"/>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7BF434E-344B-B068-5A47-EBDCA6377A40}"/>
              </a:ext>
            </a:extLst>
          </p:cNvPr>
          <p:cNvSpPr>
            <a:spLocks noGrp="1"/>
          </p:cNvSpPr>
          <p:nvPr>
            <p:ph type="body" idx="1"/>
          </p:nvPr>
        </p:nvSpPr>
        <p:spPr>
          <a:xfrm>
            <a:off x="685800" y="5867400"/>
            <a:ext cx="5486400" cy="4800600"/>
          </a:xfrm>
          <a:prstGeom prst="rect">
            <a:avLst/>
          </a:prstGeom>
        </p:spPr>
        <p:txBody>
          <a:bodyPr/>
          <a:lstStyle/>
          <a:p>
            <a:pPr marL="171450" indent="-171450">
              <a:buFont typeface="Arial" panose="020B0604020202020204" pitchFamily="34" charset="0"/>
              <a:buChar char="•"/>
            </a:pPr>
            <a:endParaRPr lang="en-US" sz="1200" dirty="0"/>
          </a:p>
        </p:txBody>
      </p:sp>
    </p:spTree>
    <p:extLst>
      <p:ext uri="{BB962C8B-B14F-4D97-AF65-F5344CB8AC3E}">
        <p14:creationId xmlns:p14="http://schemas.microsoft.com/office/powerpoint/2010/main" val="26559612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9246D-3C15-6446-872C-C97A76691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41072-6371-7DF1-F148-49AD2D6642CA}"/>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A1E1232-0294-3278-F395-9C6F592B9F11}"/>
              </a:ext>
            </a:extLst>
          </p:cNvPr>
          <p:cNvSpPr>
            <a:spLocks noGrp="1"/>
          </p:cNvSpPr>
          <p:nvPr>
            <p:ph type="body" idx="1"/>
          </p:nvPr>
        </p:nvSpPr>
        <p:spPr>
          <a:xfrm>
            <a:off x="685800" y="5867400"/>
            <a:ext cx="5486400" cy="4800600"/>
          </a:xfrm>
          <a:prstGeom prst="rect">
            <a:avLst/>
          </a:prstGeom>
        </p:spPr>
        <p:txBody>
          <a:bodyPr/>
          <a:lstStyle/>
          <a:p>
            <a:pPr marL="171450" indent="-171450" defTabSz="935888">
              <a:buFont typeface="Arial" panose="020B0604020202020204" pitchFamily="34" charset="0"/>
              <a:buChar char="•"/>
              <a:defRPr/>
            </a:pPr>
            <a:endParaRPr lang="en-US" dirty="0"/>
          </a:p>
        </p:txBody>
      </p:sp>
    </p:spTree>
    <p:extLst>
      <p:ext uri="{BB962C8B-B14F-4D97-AF65-F5344CB8AC3E}">
        <p14:creationId xmlns:p14="http://schemas.microsoft.com/office/powerpoint/2010/main" val="20612408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9990686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9862076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8760190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9334076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676242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7873088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701330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M_Title">
    <p:bg>
      <p:bgPr>
        <a:solidFill>
          <a:srgbClr val="F8FBFE"/>
        </a:solidFill>
        <a:effectLst/>
      </p:bgPr>
    </p:bg>
    <p:spTree>
      <p:nvGrpSpPr>
        <p:cNvPr id="1" name=""/>
        <p:cNvGrpSpPr/>
        <p:nvPr/>
      </p:nvGrpSpPr>
      <p:grpSpPr>
        <a:xfrm>
          <a:off x="0" y="0"/>
          <a:ext cx="0" cy="0"/>
          <a:chOff x="0" y="0"/>
          <a:chExt cx="0" cy="0"/>
        </a:xfrm>
      </p:grpSpPr>
      <p:pic>
        <p:nvPicPr>
          <p:cNvPr id="9" name="Picture 8" descr="Canvas Banner.png (1983×793)">
            <a:extLst>
              <a:ext uri="{FF2B5EF4-FFF2-40B4-BE49-F238E27FC236}">
                <a16:creationId xmlns:a16="http://schemas.microsoft.com/office/drawing/2014/main" id="{CF1D1F45-544E-1E4A-0F49-6BDEB9C7CCFF}"/>
              </a:ext>
            </a:extLst>
          </p:cNvPr>
          <p:cNvPicPr>
            <a:picLocks noChangeAspect="1"/>
          </p:cNvPicPr>
          <p:nvPr userDrawn="1"/>
        </p:nvPicPr>
        <p:blipFill>
          <a:blip r:embed="rId2">
            <a:alphaModFix amt="51000"/>
          </a:blip>
          <a:srcRect l="29448"/>
          <a:stretch>
            <a:fillRect/>
          </a:stretch>
        </p:blipFill>
        <p:spPr>
          <a:xfrm>
            <a:off x="0" y="-26329"/>
            <a:ext cx="12192000" cy="6910657"/>
          </a:xfrm>
          <a:prstGeom prst="rect">
            <a:avLst/>
          </a:prstGeom>
        </p:spPr>
      </p:pic>
      <p:sp>
        <p:nvSpPr>
          <p:cNvPr id="3" name="Shape 1"/>
          <p:cNvSpPr/>
          <p:nvPr/>
        </p:nvSpPr>
        <p:spPr>
          <a:xfrm>
            <a:off x="320040" y="320040"/>
            <a:ext cx="2834640" cy="914400"/>
          </a:xfrm>
          <a:prstGeom prst="rect">
            <a:avLst/>
          </a:prstGeom>
          <a:solidFill>
            <a:srgbClr val="D9E6F2">
              <a:alpha val="82000"/>
            </a:srgbClr>
          </a:solidFill>
          <a:ln w="12700">
            <a:solidFill>
              <a:srgbClr val="D9E6F2">
                <a:alpha val="0"/>
              </a:srgbClr>
            </a:solidFill>
            <a:prstDash val="solid"/>
          </a:ln>
        </p:spPr>
        <p:txBody>
          <a:bodyPr/>
          <a:lstStyle/>
          <a:p>
            <a:endParaRPr lang="en-US"/>
          </a:p>
        </p:txBody>
      </p:sp>
      <p:sp>
        <p:nvSpPr>
          <p:cNvPr id="4" name="Shape 2"/>
          <p:cNvSpPr/>
          <p:nvPr/>
        </p:nvSpPr>
        <p:spPr>
          <a:xfrm>
            <a:off x="9098280" y="5440680"/>
            <a:ext cx="2651760" cy="960120"/>
          </a:xfrm>
          <a:prstGeom prst="rect">
            <a:avLst/>
          </a:prstGeom>
          <a:solidFill>
            <a:srgbClr val="C9DAEA">
              <a:alpha val="72000"/>
            </a:srgbClr>
          </a:solidFill>
          <a:ln w="12700">
            <a:solidFill>
              <a:srgbClr val="C9DAEA">
                <a:alpha val="0"/>
              </a:srgbClr>
            </a:solidFill>
            <a:prstDash val="solid"/>
          </a:ln>
        </p:spPr>
        <p:txBody>
          <a:bodyPr/>
          <a:lstStyle/>
          <a:p>
            <a:endParaRPr lang="en-US"/>
          </a:p>
        </p:txBody>
      </p:sp>
      <p:sp>
        <p:nvSpPr>
          <p:cNvPr id="5" name="Shape 3"/>
          <p:cNvSpPr/>
          <p:nvPr/>
        </p:nvSpPr>
        <p:spPr>
          <a:xfrm>
            <a:off x="594360" y="5989320"/>
            <a:ext cx="3840480" cy="0"/>
          </a:xfrm>
          <a:prstGeom prst="line">
            <a:avLst/>
          </a:prstGeom>
          <a:noFill/>
          <a:ln w="15240">
            <a:solidFill>
              <a:srgbClr val="B79A67">
                <a:alpha val="80000"/>
              </a:srgbClr>
            </a:solidFill>
            <a:prstDash val="solid"/>
          </a:ln>
        </p:spPr>
        <p:txBody>
          <a:bodyPr/>
          <a:lstStyle/>
          <a:p>
            <a:endParaRPr lang="en-US"/>
          </a:p>
        </p:txBody>
      </p:sp>
      <p:sp>
        <p:nvSpPr>
          <p:cNvPr id="8" name="Text 4"/>
          <p:cNvSpPr/>
          <p:nvPr/>
        </p:nvSpPr>
        <p:spPr>
          <a:xfrm>
            <a:off x="822960" y="6172200"/>
            <a:ext cx="2926080" cy="228600"/>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F86770DB-7284-A1F7-43CD-35A95A644A30}"/>
              </a:ext>
            </a:extLst>
          </p:cNvPr>
          <p:cNvSpPr>
            <a:spLocks noGrp="1"/>
          </p:cNvSpPr>
          <p:nvPr>
            <p:ph type="title"/>
          </p:nvPr>
        </p:nvSpPr>
        <p:spPr>
          <a:xfrm>
            <a:off x="2046191" y="863353"/>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C4C6ACB4-35EC-85AB-E81B-5923C3447E22}"/>
              </a:ext>
            </a:extLst>
          </p:cNvPr>
          <p:cNvSpPr>
            <a:spLocks noGrp="1"/>
          </p:cNvSpPr>
          <p:nvPr>
            <p:ph sz="quarter" idx="10" hasCustomPrompt="1"/>
          </p:nvPr>
        </p:nvSpPr>
        <p:spPr>
          <a:xfrm>
            <a:off x="2286000" y="317817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M_Conten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2743"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ext Placeholder 11">
            <a:extLst>
              <a:ext uri="{FF2B5EF4-FFF2-40B4-BE49-F238E27FC236}">
                <a16:creationId xmlns:a16="http://schemas.microsoft.com/office/drawing/2014/main" id="{DAD61541-17FC-087B-60E7-BDBB1FA62185}"/>
              </a:ext>
            </a:extLst>
          </p:cNvPr>
          <p:cNvSpPr>
            <a:spLocks noGrp="1"/>
          </p:cNvSpPr>
          <p:nvPr>
            <p:ph type="body" sz="quarter" idx="108"/>
          </p:nvPr>
        </p:nvSpPr>
        <p:spPr>
          <a:xfrm>
            <a:off x="496388" y="1252729"/>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a:extLst>
              <a:ext uri="{FF2B5EF4-FFF2-40B4-BE49-F238E27FC236}">
                <a16:creationId xmlns:a16="http://schemas.microsoft.com/office/drawing/2014/main" id="{711B608B-7FB0-CE35-BE98-D665E1D5F79A}"/>
              </a:ext>
            </a:extLst>
          </p:cNvPr>
          <p:cNvSpPr>
            <a:spLocks noGrp="1"/>
          </p:cNvSpPr>
          <p:nvPr>
            <p:ph type="title"/>
          </p:nvPr>
        </p:nvSpPr>
        <p:spPr>
          <a:xfrm>
            <a:off x="838200" y="365126"/>
            <a:ext cx="10515600" cy="801824"/>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M_Section">
    <p:bg>
      <p:bgPr>
        <a:solidFill>
          <a:srgbClr val="F8FBFE"/>
        </a:solidFill>
        <a:effectLst/>
      </p:bgPr>
    </p:bg>
    <p:spTree>
      <p:nvGrpSpPr>
        <p:cNvPr id="1" name=""/>
        <p:cNvGrpSpPr/>
        <p:nvPr/>
      </p:nvGrpSpPr>
      <p:grpSpPr>
        <a:xfrm>
          <a:off x="0" y="0"/>
          <a:ext cx="0" cy="0"/>
          <a:chOff x="0" y="0"/>
          <a:chExt cx="0" cy="0"/>
        </a:xfrm>
      </p:grpSpPr>
      <p:pic>
        <p:nvPicPr>
          <p:cNvPr id="11" name="Picture 10" descr="Canvas Banner.png (1983×793)">
            <a:extLst>
              <a:ext uri="{FF2B5EF4-FFF2-40B4-BE49-F238E27FC236}">
                <a16:creationId xmlns:a16="http://schemas.microsoft.com/office/drawing/2014/main" id="{3412E6C6-0632-85B7-5BFE-F876EAE3A5F6}"/>
              </a:ext>
            </a:extLst>
          </p:cNvPr>
          <p:cNvPicPr>
            <a:picLocks noChangeAspect="1"/>
          </p:cNvPicPr>
          <p:nvPr userDrawn="1"/>
        </p:nvPicPr>
        <p:blipFill>
          <a:blip r:embed="rId2">
            <a:alphaModFix amt="62000"/>
          </a:blip>
          <a:srcRect t="14218" r="39015"/>
          <a:stretch>
            <a:fillRect/>
          </a:stretch>
        </p:blipFill>
        <p:spPr>
          <a:xfrm>
            <a:off x="305" y="-4467"/>
            <a:ext cx="12191695" cy="6858000"/>
          </a:xfrm>
          <a:prstGeom prst="rect">
            <a:avLst/>
          </a:prstGeom>
        </p:spPr>
      </p:pic>
      <p:sp>
        <p:nvSpPr>
          <p:cNvPr id="3" name="Shape 1"/>
          <p:cNvSpPr/>
          <p:nvPr/>
        </p:nvSpPr>
        <p:spPr>
          <a:xfrm>
            <a:off x="2407920" y="338329"/>
            <a:ext cx="3688080" cy="2464202"/>
          </a:xfrm>
          <a:prstGeom prst="rect">
            <a:avLst/>
          </a:prstGeom>
          <a:solidFill>
            <a:srgbClr val="DCE9F4">
              <a:alpha val="92000"/>
            </a:srgbClr>
          </a:solidFill>
          <a:ln w="12700">
            <a:solidFill>
              <a:srgbClr val="DCE9F4">
                <a:alpha val="0"/>
              </a:srgbClr>
            </a:solidFill>
            <a:prstDash val="solid"/>
          </a:ln>
        </p:spPr>
        <p:txBody>
          <a:bodyPr/>
          <a:lstStyle/>
          <a:p>
            <a:endParaRPr lang="en-US"/>
          </a:p>
        </p:txBody>
      </p:sp>
      <p:sp>
        <p:nvSpPr>
          <p:cNvPr id="5" name="Shape 3"/>
          <p:cNvSpPr/>
          <p:nvPr/>
        </p:nvSpPr>
        <p:spPr>
          <a:xfrm>
            <a:off x="8092440" y="566928"/>
            <a:ext cx="3429000" cy="1051560"/>
          </a:xfrm>
          <a:prstGeom prst="rect">
            <a:avLst/>
          </a:prstGeom>
          <a:solidFill>
            <a:srgbClr val="AFC8E0">
              <a:alpha val="65000"/>
            </a:srgbClr>
          </a:solidFill>
          <a:ln w="12700">
            <a:solidFill>
              <a:srgbClr val="AFC8E0">
                <a:alpha val="0"/>
              </a:srgbClr>
            </a:solidFill>
            <a:prstDash val="solid"/>
          </a:ln>
        </p:spPr>
        <p:txBody>
          <a:bodyPr/>
          <a:lstStyle/>
          <a:p>
            <a:endParaRPr lang="en-US"/>
          </a:p>
        </p:txBody>
      </p:sp>
      <p:sp>
        <p:nvSpPr>
          <p:cNvPr id="6" name="Shape 4"/>
          <p:cNvSpPr/>
          <p:nvPr/>
        </p:nvSpPr>
        <p:spPr>
          <a:xfrm>
            <a:off x="8823960" y="4526280"/>
            <a:ext cx="2423160" cy="1353312"/>
          </a:xfrm>
          <a:prstGeom prst="rect">
            <a:avLst/>
          </a:prstGeom>
          <a:solidFill>
            <a:srgbClr val="8EADD0">
              <a:alpha val="52000"/>
            </a:srgbClr>
          </a:solidFill>
          <a:ln w="12700">
            <a:solidFill>
              <a:srgbClr val="8EADD0">
                <a:alpha val="0"/>
              </a:srgbClr>
            </a:solidFill>
            <a:prstDash val="solid"/>
          </a:ln>
        </p:spPr>
        <p:txBody>
          <a:bodyPr/>
          <a:lstStyle/>
          <a:p>
            <a:endParaRPr lang="en-US"/>
          </a:p>
        </p:txBody>
      </p:sp>
      <p:sp>
        <p:nvSpPr>
          <p:cNvPr id="7" name="Shape 5"/>
          <p:cNvSpPr/>
          <p:nvPr/>
        </p:nvSpPr>
        <p:spPr>
          <a:xfrm>
            <a:off x="777240" y="5102352"/>
            <a:ext cx="9784080" cy="0"/>
          </a:xfrm>
          <a:prstGeom prst="line">
            <a:avLst/>
          </a:prstGeom>
          <a:noFill/>
          <a:ln w="15240">
            <a:solidFill>
              <a:srgbClr val="B79A67">
                <a:alpha val="70000"/>
              </a:srgbClr>
            </a:solidFill>
            <a:prstDash val="solid"/>
          </a:ln>
        </p:spPr>
        <p:txBody>
          <a:bodyPr/>
          <a:lstStyle/>
          <a:p>
            <a:endParaRPr lang="en-US"/>
          </a:p>
        </p:txBody>
      </p:sp>
      <p:sp>
        <p:nvSpPr>
          <p:cNvPr id="10" name="Text 6"/>
          <p:cNvSpPr/>
          <p:nvPr/>
        </p:nvSpPr>
        <p:spPr>
          <a:xfrm>
            <a:off x="822960" y="6327648"/>
            <a:ext cx="2743200" cy="201168"/>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7789266B-3939-095B-B9C7-1439EBFB47E8}"/>
              </a:ext>
            </a:extLst>
          </p:cNvPr>
          <p:cNvSpPr>
            <a:spLocks noGrp="1"/>
          </p:cNvSpPr>
          <p:nvPr>
            <p:ph type="title" hasCustomPrompt="1"/>
          </p:nvPr>
        </p:nvSpPr>
        <p:spPr>
          <a:xfrm>
            <a:off x="914077" y="759150"/>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dirty="0"/>
              <a:t>Click to edit Section title</a:t>
            </a:r>
          </a:p>
        </p:txBody>
      </p:sp>
      <p:sp>
        <p:nvSpPr>
          <p:cNvPr id="4" name="Content Placeholder 10">
            <a:extLst>
              <a:ext uri="{FF2B5EF4-FFF2-40B4-BE49-F238E27FC236}">
                <a16:creationId xmlns:a16="http://schemas.microsoft.com/office/drawing/2014/main" id="{9F245541-793E-CEF5-B4ED-364FBC3BCECE}"/>
              </a:ext>
            </a:extLst>
          </p:cNvPr>
          <p:cNvSpPr>
            <a:spLocks noGrp="1"/>
          </p:cNvSpPr>
          <p:nvPr>
            <p:ph sz="quarter" idx="10" hasCustomPrompt="1"/>
          </p:nvPr>
        </p:nvSpPr>
        <p:spPr>
          <a:xfrm>
            <a:off x="4689792" y="349839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M_TwoColumn">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Shape 6"/>
          <p:cNvSpPr/>
          <p:nvPr/>
        </p:nvSpPr>
        <p:spPr>
          <a:xfrm>
            <a:off x="6080760" y="1600200"/>
            <a:ext cx="0" cy="4160520"/>
          </a:xfrm>
          <a:prstGeom prst="line">
            <a:avLst/>
          </a:prstGeom>
          <a:noFill/>
          <a:ln w="12700">
            <a:solidFill>
              <a:srgbClr val="C1D4E6"/>
            </a:solidFill>
            <a:prstDash val="solid"/>
          </a:ln>
        </p:spPr>
        <p:txBody>
          <a:bodyPr/>
          <a:lstStyle/>
          <a:p>
            <a:endParaRPr lang="en-US"/>
          </a:p>
        </p:txBody>
      </p:sp>
      <p:sp>
        <p:nvSpPr>
          <p:cNvPr id="12" name="Text 7"/>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4" name="Text Placeholder 13">
            <a:extLst>
              <a:ext uri="{FF2B5EF4-FFF2-40B4-BE49-F238E27FC236}">
                <a16:creationId xmlns:a16="http://schemas.microsoft.com/office/drawing/2014/main" id="{35572D28-5674-68F1-D0DD-039C6D2A219C}"/>
              </a:ext>
            </a:extLst>
          </p:cNvPr>
          <p:cNvSpPr>
            <a:spLocks noGrp="1"/>
          </p:cNvSpPr>
          <p:nvPr>
            <p:ph type="body" sz="quarter" idx="106"/>
          </p:nvPr>
        </p:nvSpPr>
        <p:spPr>
          <a:xfrm>
            <a:off x="658369" y="1600200"/>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a:extLst>
              <a:ext uri="{FF2B5EF4-FFF2-40B4-BE49-F238E27FC236}">
                <a16:creationId xmlns:a16="http://schemas.microsoft.com/office/drawing/2014/main" id="{410FB711-34F9-3DC6-8A30-BF6163D2415B}"/>
              </a:ext>
            </a:extLst>
          </p:cNvPr>
          <p:cNvSpPr>
            <a:spLocks noGrp="1"/>
          </p:cNvSpPr>
          <p:nvPr>
            <p:ph type="body" sz="quarter" idx="107"/>
          </p:nvPr>
        </p:nvSpPr>
        <p:spPr>
          <a:xfrm>
            <a:off x="6191251" y="16013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itle 15">
            <a:extLst>
              <a:ext uri="{FF2B5EF4-FFF2-40B4-BE49-F238E27FC236}">
                <a16:creationId xmlns:a16="http://schemas.microsoft.com/office/drawing/2014/main" id="{0F5CC367-37BB-9924-6D35-6E9961E654F2}"/>
              </a:ext>
            </a:extLst>
          </p:cNvPr>
          <p:cNvSpPr>
            <a:spLocks noGrp="1"/>
          </p:cNvSpPr>
          <p:nvPr>
            <p:ph type="title"/>
          </p:nvPr>
        </p:nvSpPr>
        <p:spPr>
          <a:xfrm>
            <a:off x="658369" y="329184"/>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M_ImageTex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1"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itle 15">
            <a:extLst>
              <a:ext uri="{FF2B5EF4-FFF2-40B4-BE49-F238E27FC236}">
                <a16:creationId xmlns:a16="http://schemas.microsoft.com/office/drawing/2014/main" id="{C11B853E-E4F2-75CB-89D7-214A00F03365}"/>
              </a:ext>
            </a:extLst>
          </p:cNvPr>
          <p:cNvSpPr>
            <a:spLocks noGrp="1"/>
          </p:cNvSpPr>
          <p:nvPr>
            <p:ph type="title"/>
          </p:nvPr>
        </p:nvSpPr>
        <p:spPr>
          <a:xfrm>
            <a:off x="658368" y="364018"/>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658368" y="143763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Online Image Placeholder 14">
            <a:extLst>
              <a:ext uri="{FF2B5EF4-FFF2-40B4-BE49-F238E27FC236}">
                <a16:creationId xmlns:a16="http://schemas.microsoft.com/office/drawing/2014/main" id="{3D7082FD-BAF6-29B8-3332-2A2E51DF4F49}"/>
              </a:ext>
            </a:extLst>
          </p:cNvPr>
          <p:cNvSpPr>
            <a:spLocks noGrp="1"/>
          </p:cNvSpPr>
          <p:nvPr>
            <p:ph type="clipArt" sz="quarter" idx="107"/>
          </p:nvPr>
        </p:nvSpPr>
        <p:spPr>
          <a:xfrm>
            <a:off x="6191252" y="1437639"/>
            <a:ext cx="5342382" cy="4655186"/>
          </a:xfrm>
          <a:prstGeom prst="rect">
            <a:avLst/>
          </a:prstGeom>
        </p:spPr>
        <p:txBody>
          <a:bodyPr/>
          <a:lstStyle/>
          <a:p>
            <a:r>
              <a:rPr lang="en-US"/>
              <a:t>Click icon to add online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2" name="Title 15">
            <a:extLst>
              <a:ext uri="{FF2B5EF4-FFF2-40B4-BE49-F238E27FC236}">
                <a16:creationId xmlns:a16="http://schemas.microsoft.com/office/drawing/2014/main" id="{C11B853E-E4F2-75CB-89D7-214A00F03365}"/>
              </a:ext>
            </a:extLst>
          </p:cNvPr>
          <p:cNvSpPr>
            <a:spLocks noGrp="1"/>
          </p:cNvSpPr>
          <p:nvPr>
            <p:ph type="title" hasCustomPrompt="1"/>
          </p:nvPr>
        </p:nvSpPr>
        <p:spPr>
          <a:xfrm>
            <a:off x="2132245" y="721303"/>
            <a:ext cx="3393232" cy="732155"/>
          </a:xfrm>
          <a:prstGeom prst="rect">
            <a:avLst/>
          </a:prstGeom>
        </p:spPr>
        <p:txBody>
          <a:bodyPr/>
          <a:lstStyle>
            <a:lvl1pPr>
              <a:defRPr sz="3600">
                <a:latin typeface="Britannic Bold" panose="020B0903060703020204" pitchFamily="34" charset="0"/>
              </a:defRPr>
            </a:lvl1pPr>
          </a:lstStyle>
          <a:p>
            <a:r>
              <a:rPr lang="en-US" dirty="0"/>
              <a:t>Agenda</a:t>
            </a:r>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5904738" y="15427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46F1788F-9A5A-4012-A54A-A045B7E887CF}"/>
              </a:ext>
            </a:extLst>
          </p:cNvPr>
          <p:cNvPicPr>
            <a:picLocks noChangeAspect="1"/>
          </p:cNvPicPr>
          <p:nvPr userDrawn="1"/>
        </p:nvPicPr>
        <p:blipFill>
          <a:blip r:embed="rId2">
            <a:alphaModFix amt="66000"/>
          </a:blip>
          <a:stretch>
            <a:fillRect/>
          </a:stretch>
        </p:blipFill>
        <p:spPr>
          <a:xfrm>
            <a:off x="-35168" y="1087381"/>
            <a:ext cx="8850923" cy="5900615"/>
          </a:xfrm>
          <a:prstGeom prst="rect">
            <a:avLst/>
          </a:prstGeom>
        </p:spPr>
      </p:pic>
    </p:spTree>
    <p:extLst>
      <p:ext uri="{BB962C8B-B14F-4D97-AF65-F5344CB8AC3E}">
        <p14:creationId xmlns:p14="http://schemas.microsoft.com/office/powerpoint/2010/main" val="42737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M_Activity">
    <p:bg>
      <p:bgPr>
        <a:solidFill>
          <a:srgbClr val="F8FB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E"/>
          </a:solidFill>
          <a:ln w="12700">
            <a:solidFill>
              <a:srgbClr val="F8FBFE"/>
            </a:solidFill>
            <a:prstDash val="solid"/>
          </a:ln>
        </p:spPr>
        <p:txBody>
          <a:bodyPr/>
          <a:lstStyle/>
          <a:p>
            <a:endParaRPr lang="en-US"/>
          </a:p>
        </p:txBody>
      </p:sp>
      <p:sp>
        <p:nvSpPr>
          <p:cNvPr id="3" name="Shape 1"/>
          <p:cNvSpPr/>
          <p:nvPr/>
        </p:nvSpPr>
        <p:spPr>
          <a:xfrm>
            <a:off x="0" y="0"/>
            <a:ext cx="12191695" cy="1234440"/>
          </a:xfrm>
          <a:prstGeom prst="rect">
            <a:avLst/>
          </a:prstGeom>
          <a:solidFill>
            <a:srgbClr val="D7E6F2"/>
          </a:solidFill>
          <a:ln w="12700">
            <a:solidFill>
              <a:srgbClr val="D7E6F2"/>
            </a:solidFill>
            <a:prstDash val="solid"/>
          </a:ln>
        </p:spPr>
        <p:txBody>
          <a:bodyPr/>
          <a:lstStyle/>
          <a:p>
            <a:endParaRPr lang="en-US" dirty="0"/>
          </a:p>
        </p:txBody>
      </p:sp>
      <p:sp>
        <p:nvSpPr>
          <p:cNvPr id="4" name="Shape 2"/>
          <p:cNvSpPr/>
          <p:nvPr/>
        </p:nvSpPr>
        <p:spPr>
          <a:xfrm>
            <a:off x="9966960" y="164592"/>
            <a:ext cx="1691640" cy="713232"/>
          </a:xfrm>
          <a:prstGeom prst="rect">
            <a:avLst/>
          </a:prstGeom>
          <a:solidFill>
            <a:srgbClr val="B8D0E5">
              <a:alpha val="82000"/>
            </a:srgbClr>
          </a:solidFill>
          <a:ln w="12700">
            <a:solidFill>
              <a:srgbClr val="B8D0E5">
                <a:alpha val="0"/>
              </a:srgbClr>
            </a:solidFill>
            <a:prstDash val="solid"/>
          </a:ln>
        </p:spPr>
        <p:txBody>
          <a:bodyPr/>
          <a:lstStyle/>
          <a:p>
            <a:endParaRPr lang="en-US"/>
          </a:p>
        </p:txBody>
      </p:sp>
      <p:sp>
        <p:nvSpPr>
          <p:cNvPr id="5" name="Shape 3"/>
          <p:cNvSpPr/>
          <p:nvPr/>
        </p:nvSpPr>
        <p:spPr>
          <a:xfrm>
            <a:off x="9646920" y="1005840"/>
            <a:ext cx="1828800" cy="0"/>
          </a:xfrm>
          <a:prstGeom prst="line">
            <a:avLst/>
          </a:prstGeom>
          <a:noFill/>
          <a:ln w="13970">
            <a:solidFill>
              <a:srgbClr val="B79A67">
                <a:alpha val="75000"/>
              </a:srgbClr>
            </a:solidFill>
            <a:prstDash val="solid"/>
          </a:ln>
        </p:spPr>
        <p:txBody>
          <a:bodyPr/>
          <a:lstStyle/>
          <a:p>
            <a:endParaRPr lang="en-US"/>
          </a:p>
        </p:txBody>
      </p:sp>
      <p:sp>
        <p:nvSpPr>
          <p:cNvPr id="8" name="Text 4"/>
          <p:cNvSpPr/>
          <p:nvPr/>
        </p:nvSpPr>
        <p:spPr>
          <a:xfrm>
            <a:off x="713232"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9" name="Title 15">
            <a:extLst>
              <a:ext uri="{FF2B5EF4-FFF2-40B4-BE49-F238E27FC236}">
                <a16:creationId xmlns:a16="http://schemas.microsoft.com/office/drawing/2014/main" id="{466CA2B8-6B15-974C-DB19-EBBA9B4635BE}"/>
              </a:ext>
            </a:extLst>
          </p:cNvPr>
          <p:cNvSpPr>
            <a:spLocks noGrp="1"/>
          </p:cNvSpPr>
          <p:nvPr>
            <p:ph type="title"/>
          </p:nvPr>
        </p:nvSpPr>
        <p:spPr>
          <a:xfrm>
            <a:off x="533400" y="281287"/>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346F889F-5D26-430A-A54D-726297CBF349}"/>
              </a:ext>
            </a:extLst>
          </p:cNvPr>
          <p:cNvSpPr>
            <a:spLocks noGrp="1"/>
          </p:cNvSpPr>
          <p:nvPr>
            <p:ph type="body" sz="quarter" idx="108"/>
          </p:nvPr>
        </p:nvSpPr>
        <p:spPr>
          <a:xfrm>
            <a:off x="386725" y="1396855"/>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M_Blank">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7" name="Text 5"/>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5" r:id="rId8"/>
    <p:sldLayoutId id="2147483656"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D10E-15BC-6992-8E4E-5EFA55454732}"/>
              </a:ext>
            </a:extLst>
          </p:cNvPr>
          <p:cNvSpPr>
            <a:spLocks noGrp="1"/>
          </p:cNvSpPr>
          <p:nvPr>
            <p:ph type="title"/>
          </p:nvPr>
        </p:nvSpPr>
        <p:spPr/>
        <p:txBody>
          <a:bodyPr/>
          <a:lstStyle/>
          <a:p>
            <a:r>
              <a:rPr lang="en-US" dirty="0"/>
              <a:t>Chapter 3</a:t>
            </a:r>
          </a:p>
        </p:txBody>
      </p:sp>
      <p:sp>
        <p:nvSpPr>
          <p:cNvPr id="3" name="Content Placeholder 2">
            <a:extLst>
              <a:ext uri="{FF2B5EF4-FFF2-40B4-BE49-F238E27FC236}">
                <a16:creationId xmlns:a16="http://schemas.microsoft.com/office/drawing/2014/main" id="{34EC1EDE-B354-C748-0304-543114C1ED73}"/>
              </a:ext>
            </a:extLst>
          </p:cNvPr>
          <p:cNvSpPr>
            <a:spLocks noGrp="1"/>
          </p:cNvSpPr>
          <p:nvPr>
            <p:ph sz="quarter" idx="10"/>
          </p:nvPr>
        </p:nvSpPr>
        <p:spPr/>
        <p:txBody>
          <a:bodyPr/>
          <a:lstStyle/>
          <a:p>
            <a:r>
              <a:rPr lang="en-US" dirty="0"/>
              <a:t>Three Claims, Four Validities</a:t>
            </a:r>
          </a:p>
        </p:txBody>
      </p:sp>
    </p:spTree>
    <p:extLst>
      <p:ext uri="{BB962C8B-B14F-4D97-AF65-F5344CB8AC3E}">
        <p14:creationId xmlns:p14="http://schemas.microsoft.com/office/powerpoint/2010/main" val="28858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84739C-B3B3-D952-B689-AE00151FCBB0}"/>
              </a:ext>
            </a:extLst>
          </p:cNvPr>
          <p:cNvSpPr>
            <a:spLocks noGrp="1"/>
          </p:cNvSpPr>
          <p:nvPr>
            <p:ph type="title"/>
          </p:nvPr>
        </p:nvSpPr>
        <p:spPr/>
        <p:txBody>
          <a:bodyPr/>
          <a:lstStyle/>
          <a:p>
            <a:r>
              <a:rPr lang="en-US" dirty="0"/>
              <a:t>Agenda</a:t>
            </a:r>
          </a:p>
        </p:txBody>
      </p:sp>
      <p:sp>
        <p:nvSpPr>
          <p:cNvPr id="5" name="Text Placeholder 4">
            <a:extLst>
              <a:ext uri="{FF2B5EF4-FFF2-40B4-BE49-F238E27FC236}">
                <a16:creationId xmlns:a16="http://schemas.microsoft.com/office/drawing/2014/main" id="{C0F6BAC2-1345-E959-24F0-DA7E6920FE27}"/>
              </a:ext>
            </a:extLst>
          </p:cNvPr>
          <p:cNvSpPr>
            <a:spLocks noGrp="1"/>
          </p:cNvSpPr>
          <p:nvPr>
            <p:ph type="body" sz="quarter" idx="106"/>
          </p:nvPr>
        </p:nvSpPr>
        <p:spPr>
          <a:xfrm>
            <a:off x="3143892" y="1542779"/>
            <a:ext cx="8307879" cy="4654550"/>
          </a:xfrm>
        </p:spPr>
        <p:txBody>
          <a:bodyPr/>
          <a:lstStyle/>
          <a:p>
            <a:r>
              <a:rPr lang="en-US" dirty="0"/>
              <a:t>Variables</a:t>
            </a:r>
          </a:p>
          <a:p>
            <a:r>
              <a:rPr lang="en-US" dirty="0"/>
              <a:t>Three Claims</a:t>
            </a:r>
          </a:p>
          <a:p>
            <a:r>
              <a:rPr lang="en-US" dirty="0"/>
              <a:t>Four Types of Validity</a:t>
            </a:r>
          </a:p>
          <a:p>
            <a:r>
              <a:rPr lang="en-US" dirty="0"/>
              <a:t>Interrogating the Three Claims Using the Four Big Validities</a:t>
            </a:r>
          </a:p>
          <a:p>
            <a:r>
              <a:rPr lang="en-US" dirty="0"/>
              <a:t>Research Activity 3</a:t>
            </a:r>
          </a:p>
          <a:p>
            <a:r>
              <a:rPr lang="en-US" dirty="0"/>
              <a:t>Next time on PSY 270… </a:t>
            </a:r>
          </a:p>
          <a:p>
            <a:endParaRPr lang="en-US" dirty="0"/>
          </a:p>
          <a:p>
            <a:endParaRPr lang="en-US" dirty="0"/>
          </a:p>
        </p:txBody>
      </p:sp>
    </p:spTree>
    <p:extLst>
      <p:ext uri="{BB962C8B-B14F-4D97-AF65-F5344CB8AC3E}">
        <p14:creationId xmlns:p14="http://schemas.microsoft.com/office/powerpoint/2010/main" val="190842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4CE20E-280F-E1CB-E555-00E71A226F0F}"/>
              </a:ext>
            </a:extLst>
          </p:cNvPr>
          <p:cNvSpPr>
            <a:spLocks noGrp="1"/>
          </p:cNvSpPr>
          <p:nvPr>
            <p:ph type="title"/>
          </p:nvPr>
        </p:nvSpPr>
        <p:spPr/>
        <p:txBody>
          <a:bodyPr/>
          <a:lstStyle/>
          <a:p>
            <a:r>
              <a:rPr lang="en-US" dirty="0"/>
              <a:t>Variables</a:t>
            </a:r>
          </a:p>
        </p:txBody>
      </p:sp>
      <p:sp>
        <p:nvSpPr>
          <p:cNvPr id="2" name="Content Placeholder 1">
            <a:extLst>
              <a:ext uri="{FF2B5EF4-FFF2-40B4-BE49-F238E27FC236}">
                <a16:creationId xmlns:a16="http://schemas.microsoft.com/office/drawing/2014/main" id="{2D21EA8C-4BCE-8C6F-39C3-F58F7065828C}"/>
              </a:ext>
            </a:extLst>
          </p:cNvPr>
          <p:cNvSpPr>
            <a:spLocks noGrp="1"/>
          </p:cNvSpPr>
          <p:nvPr>
            <p:ph sz="quarter" idx="10"/>
          </p:nvPr>
        </p:nvSpPr>
        <p:spPr/>
        <p:txBody>
          <a:bodyPr/>
          <a:lstStyle/>
          <a:p>
            <a:pPr marL="457200" indent="-457200" algn="l">
              <a:buFont typeface="Arial" panose="020B0604020202020204" pitchFamily="34" charset="0"/>
              <a:buChar char="•"/>
            </a:pPr>
            <a:r>
              <a:rPr lang="en-US" dirty="0"/>
              <a:t>Types of variables</a:t>
            </a:r>
          </a:p>
          <a:p>
            <a:pPr marL="457200" indent="-457200" algn="l">
              <a:buFont typeface="Arial" panose="020B0604020202020204" pitchFamily="34" charset="0"/>
              <a:buChar char="•"/>
            </a:pPr>
            <a:r>
              <a:rPr lang="en-US" dirty="0"/>
              <a:t>Defining variables</a:t>
            </a:r>
          </a:p>
        </p:txBody>
      </p:sp>
    </p:spTree>
    <p:extLst>
      <p:ext uri="{BB962C8B-B14F-4D97-AF65-F5344CB8AC3E}">
        <p14:creationId xmlns:p14="http://schemas.microsoft.com/office/powerpoint/2010/main" val="2579795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3D68D7-4935-07FB-5C4F-A7A8AA033A1B}"/>
              </a:ext>
            </a:extLst>
          </p:cNvPr>
          <p:cNvSpPr>
            <a:spLocks noGrp="1"/>
          </p:cNvSpPr>
          <p:nvPr>
            <p:ph type="body" sz="quarter" idx="108"/>
          </p:nvPr>
        </p:nvSpPr>
        <p:spPr>
          <a:xfrm>
            <a:off x="496388" y="1252729"/>
            <a:ext cx="11418243" cy="1647225"/>
          </a:xfrm>
        </p:spPr>
        <p:txBody>
          <a:bodyPr/>
          <a:lstStyle/>
          <a:p>
            <a:r>
              <a:rPr lang="en-US" b="1" dirty="0"/>
              <a:t>Variable</a:t>
            </a:r>
            <a:r>
              <a:rPr lang="en-US" dirty="0"/>
              <a:t> – something that changes or varies, so it can have 2+ values or levels</a:t>
            </a:r>
          </a:p>
          <a:p>
            <a:pPr lvl="1"/>
            <a:r>
              <a:rPr lang="en-US" b="1" dirty="0"/>
              <a:t>Level</a:t>
            </a:r>
            <a:r>
              <a:rPr lang="en-US" dirty="0"/>
              <a:t> – Different options within a variable</a:t>
            </a:r>
          </a:p>
          <a:p>
            <a:r>
              <a:rPr lang="en-US" b="1" dirty="0"/>
              <a:t>Constant</a:t>
            </a:r>
            <a:r>
              <a:rPr lang="en-US" dirty="0"/>
              <a:t> – something within the experiment that stays the same</a:t>
            </a:r>
          </a:p>
        </p:txBody>
      </p:sp>
      <p:sp>
        <p:nvSpPr>
          <p:cNvPr id="3" name="Title 2">
            <a:extLst>
              <a:ext uri="{FF2B5EF4-FFF2-40B4-BE49-F238E27FC236}">
                <a16:creationId xmlns:a16="http://schemas.microsoft.com/office/drawing/2014/main" id="{9D597669-2153-7FE5-0074-0600AA7E8410}"/>
              </a:ext>
            </a:extLst>
          </p:cNvPr>
          <p:cNvSpPr>
            <a:spLocks noGrp="1"/>
          </p:cNvSpPr>
          <p:nvPr>
            <p:ph type="title"/>
          </p:nvPr>
        </p:nvSpPr>
        <p:spPr/>
        <p:txBody>
          <a:bodyPr/>
          <a:lstStyle/>
          <a:p>
            <a:r>
              <a:rPr lang="en-US" dirty="0"/>
              <a:t>Variables</a:t>
            </a:r>
          </a:p>
        </p:txBody>
      </p:sp>
      <p:sp>
        <p:nvSpPr>
          <p:cNvPr id="4" name="Text Placeholder 1">
            <a:extLst>
              <a:ext uri="{FF2B5EF4-FFF2-40B4-BE49-F238E27FC236}">
                <a16:creationId xmlns:a16="http://schemas.microsoft.com/office/drawing/2014/main" id="{E887831F-3EA1-3EDA-57DC-A3A74FBFDEB9}"/>
              </a:ext>
            </a:extLst>
          </p:cNvPr>
          <p:cNvSpPr txBox="1">
            <a:spLocks/>
          </p:cNvSpPr>
          <p:nvPr/>
        </p:nvSpPr>
        <p:spPr>
          <a:xfrm>
            <a:off x="496388" y="2985733"/>
            <a:ext cx="11418243" cy="1345907"/>
          </a:xfrm>
          <a:prstGeom prst="rect">
            <a:avLst/>
          </a:prstGeom>
        </p:spPr>
        <p:txBody>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a:p>
            <a:r>
              <a:rPr lang="en-US" dirty="0"/>
              <a:t>Practice 1: Asking college students whether their preferred pet is a cat, dog, or fish</a:t>
            </a:r>
          </a:p>
        </p:txBody>
      </p:sp>
      <p:sp>
        <p:nvSpPr>
          <p:cNvPr id="6" name="Text Placeholder 1">
            <a:extLst>
              <a:ext uri="{FF2B5EF4-FFF2-40B4-BE49-F238E27FC236}">
                <a16:creationId xmlns:a16="http://schemas.microsoft.com/office/drawing/2014/main" id="{B00D2E74-1852-D8AA-6A0E-184B2A5153B6}"/>
              </a:ext>
            </a:extLst>
          </p:cNvPr>
          <p:cNvSpPr txBox="1">
            <a:spLocks/>
          </p:cNvSpPr>
          <p:nvPr/>
        </p:nvSpPr>
        <p:spPr>
          <a:xfrm>
            <a:off x="496387" y="4069950"/>
            <a:ext cx="11418243" cy="1345907"/>
          </a:xfrm>
          <a:prstGeom prst="rect">
            <a:avLst/>
          </a:prstGeom>
        </p:spPr>
        <p:txBody>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a:p>
            <a:r>
              <a:rPr lang="en-US" dirty="0"/>
              <a:t>Practice 2: Timing how long athletes take to run 100 meters</a:t>
            </a:r>
          </a:p>
        </p:txBody>
      </p:sp>
    </p:spTree>
    <p:extLst>
      <p:ext uri="{BB962C8B-B14F-4D97-AF65-F5344CB8AC3E}">
        <p14:creationId xmlns:p14="http://schemas.microsoft.com/office/powerpoint/2010/main" val="912091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FE2316-C07B-A68E-F973-4A50A43BECF1}"/>
              </a:ext>
            </a:extLst>
          </p:cNvPr>
          <p:cNvSpPr>
            <a:spLocks noGrp="1"/>
          </p:cNvSpPr>
          <p:nvPr>
            <p:ph type="body" sz="quarter" idx="108"/>
          </p:nvPr>
        </p:nvSpPr>
        <p:spPr>
          <a:xfrm>
            <a:off x="496388" y="1252729"/>
            <a:ext cx="11418243" cy="2021694"/>
          </a:xfrm>
        </p:spPr>
        <p:txBody>
          <a:bodyPr/>
          <a:lstStyle/>
          <a:p>
            <a:r>
              <a:rPr lang="en-US" b="1" dirty="0"/>
              <a:t>Measured variable</a:t>
            </a:r>
            <a:r>
              <a:rPr lang="en-US" dirty="0"/>
              <a:t> – the variable observed and recorded</a:t>
            </a:r>
          </a:p>
          <a:p>
            <a:pPr lvl="1"/>
            <a:r>
              <a:rPr lang="en-US" dirty="0"/>
              <a:t>Also called the dependent variable</a:t>
            </a:r>
          </a:p>
          <a:p>
            <a:r>
              <a:rPr lang="en-US" b="1" dirty="0"/>
              <a:t>Manipulated variable</a:t>
            </a:r>
            <a:r>
              <a:rPr lang="en-US" dirty="0"/>
              <a:t> – the variable the experimenter controls</a:t>
            </a:r>
          </a:p>
          <a:p>
            <a:pPr lvl="1"/>
            <a:r>
              <a:rPr lang="en-US" dirty="0"/>
              <a:t>Also called the independent variable</a:t>
            </a:r>
          </a:p>
        </p:txBody>
      </p:sp>
      <p:sp>
        <p:nvSpPr>
          <p:cNvPr id="3" name="Title 2">
            <a:extLst>
              <a:ext uri="{FF2B5EF4-FFF2-40B4-BE49-F238E27FC236}">
                <a16:creationId xmlns:a16="http://schemas.microsoft.com/office/drawing/2014/main" id="{C0A95451-06E4-CCA7-9691-8E691E8E28D6}"/>
              </a:ext>
            </a:extLst>
          </p:cNvPr>
          <p:cNvSpPr>
            <a:spLocks noGrp="1"/>
          </p:cNvSpPr>
          <p:nvPr>
            <p:ph type="title"/>
          </p:nvPr>
        </p:nvSpPr>
        <p:spPr/>
        <p:txBody>
          <a:bodyPr/>
          <a:lstStyle/>
          <a:p>
            <a:r>
              <a:rPr lang="en-US" dirty="0"/>
              <a:t>Variables</a:t>
            </a:r>
          </a:p>
        </p:txBody>
      </p:sp>
      <p:sp>
        <p:nvSpPr>
          <p:cNvPr id="4" name="Text Placeholder 1">
            <a:extLst>
              <a:ext uri="{FF2B5EF4-FFF2-40B4-BE49-F238E27FC236}">
                <a16:creationId xmlns:a16="http://schemas.microsoft.com/office/drawing/2014/main" id="{CA20BB68-1383-E5CC-09BC-FB9DC2188668}"/>
              </a:ext>
            </a:extLst>
          </p:cNvPr>
          <p:cNvSpPr txBox="1">
            <a:spLocks/>
          </p:cNvSpPr>
          <p:nvPr/>
        </p:nvSpPr>
        <p:spPr>
          <a:xfrm>
            <a:off x="496388" y="2989213"/>
            <a:ext cx="11418243" cy="1345907"/>
          </a:xfrm>
          <a:prstGeom prst="rect">
            <a:avLst/>
          </a:prstGeom>
        </p:spPr>
        <p:txBody>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a:p>
            <a:r>
              <a:rPr lang="en-US" dirty="0"/>
              <a:t>Practice: Evaluating whether students’ grades are better when they work on assignments independently or in groups</a:t>
            </a:r>
          </a:p>
        </p:txBody>
      </p:sp>
    </p:spTree>
    <p:extLst>
      <p:ext uri="{BB962C8B-B14F-4D97-AF65-F5344CB8AC3E}">
        <p14:creationId xmlns:p14="http://schemas.microsoft.com/office/powerpoint/2010/main" val="4270187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2B3862-1A07-C52B-43DC-DE53DBDB6A3C}"/>
              </a:ext>
            </a:extLst>
          </p:cNvPr>
          <p:cNvSpPr>
            <a:spLocks noGrp="1"/>
          </p:cNvSpPr>
          <p:nvPr>
            <p:ph type="body" sz="quarter" idx="108"/>
          </p:nvPr>
        </p:nvSpPr>
        <p:spPr/>
        <p:txBody>
          <a:bodyPr/>
          <a:lstStyle/>
          <a:p>
            <a:r>
              <a:rPr lang="en-US" b="1" dirty="0"/>
              <a:t>Construct</a:t>
            </a:r>
            <a:r>
              <a:rPr lang="en-US" dirty="0"/>
              <a:t> – the concept/ topic</a:t>
            </a:r>
          </a:p>
          <a:p>
            <a:pPr lvl="1"/>
            <a:r>
              <a:rPr lang="en-US" dirty="0"/>
              <a:t>Ex: depression</a:t>
            </a:r>
          </a:p>
          <a:p>
            <a:r>
              <a:rPr lang="en-US" b="1" dirty="0"/>
              <a:t>Conceptual definition</a:t>
            </a:r>
            <a:r>
              <a:rPr lang="en-US" dirty="0"/>
              <a:t> – the theoretical definition of the construct</a:t>
            </a:r>
          </a:p>
          <a:p>
            <a:pPr lvl="1"/>
            <a:r>
              <a:rPr lang="en-US" dirty="0"/>
              <a:t>Ex: a feeling of sadness, lethargy, or emptiness</a:t>
            </a:r>
          </a:p>
          <a:p>
            <a:r>
              <a:rPr lang="en-US" b="1" dirty="0"/>
              <a:t>Operational definition</a:t>
            </a:r>
            <a:r>
              <a:rPr lang="en-US" dirty="0"/>
              <a:t> – how the construct is measured/ manipulated in a particular study</a:t>
            </a:r>
          </a:p>
          <a:p>
            <a:pPr lvl="1"/>
            <a:r>
              <a:rPr lang="en-US" dirty="0"/>
              <a:t>Ex: A study uses the Depression Anxiety Stress Scale, and defines levels of depression as:</a:t>
            </a:r>
            <a:br>
              <a:rPr lang="en-US" dirty="0"/>
            </a:br>
            <a:r>
              <a:rPr lang="en-US" dirty="0"/>
              <a:t>Normal: score of 0-9</a:t>
            </a:r>
            <a:br>
              <a:rPr lang="en-US" dirty="0"/>
            </a:br>
            <a:r>
              <a:rPr lang="en-US" dirty="0"/>
              <a:t>Mild depression: score of 10-13</a:t>
            </a:r>
            <a:br>
              <a:rPr lang="en-US" dirty="0"/>
            </a:br>
            <a:r>
              <a:rPr lang="en-US" dirty="0"/>
              <a:t>Moderate depression: score of 14-20</a:t>
            </a:r>
            <a:br>
              <a:rPr lang="en-US" dirty="0"/>
            </a:br>
            <a:r>
              <a:rPr lang="en-US" dirty="0"/>
              <a:t>Severe depression: score of 21-27</a:t>
            </a:r>
            <a:br>
              <a:rPr lang="en-US" dirty="0"/>
            </a:br>
            <a:r>
              <a:rPr lang="en-US" dirty="0"/>
              <a:t>Extremely severe depression: score of 28+</a:t>
            </a:r>
          </a:p>
        </p:txBody>
      </p:sp>
      <p:sp>
        <p:nvSpPr>
          <p:cNvPr id="3" name="Title 2">
            <a:extLst>
              <a:ext uri="{FF2B5EF4-FFF2-40B4-BE49-F238E27FC236}">
                <a16:creationId xmlns:a16="http://schemas.microsoft.com/office/drawing/2014/main" id="{74B80749-20A6-7DBD-A4DA-9F7EFA7081C2}"/>
              </a:ext>
            </a:extLst>
          </p:cNvPr>
          <p:cNvSpPr>
            <a:spLocks noGrp="1"/>
          </p:cNvSpPr>
          <p:nvPr>
            <p:ph type="title"/>
          </p:nvPr>
        </p:nvSpPr>
        <p:spPr/>
        <p:txBody>
          <a:bodyPr/>
          <a:lstStyle/>
          <a:p>
            <a:r>
              <a:rPr lang="en-US" dirty="0"/>
              <a:t>Defining Variables</a:t>
            </a:r>
          </a:p>
        </p:txBody>
      </p:sp>
    </p:spTree>
    <p:extLst>
      <p:ext uri="{BB962C8B-B14F-4D97-AF65-F5344CB8AC3E}">
        <p14:creationId xmlns:p14="http://schemas.microsoft.com/office/powerpoint/2010/main" val="2656545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748F21-54CB-E57A-B9CA-8F82376B0FC2}"/>
              </a:ext>
            </a:extLst>
          </p:cNvPr>
          <p:cNvSpPr>
            <a:spLocks noGrp="1"/>
          </p:cNvSpPr>
          <p:nvPr>
            <p:ph type="title"/>
          </p:nvPr>
        </p:nvSpPr>
        <p:spPr/>
        <p:txBody>
          <a:bodyPr/>
          <a:lstStyle/>
          <a:p>
            <a:r>
              <a:rPr lang="en-US" dirty="0"/>
              <a:t>Defining Variables</a:t>
            </a:r>
          </a:p>
        </p:txBody>
      </p:sp>
      <p:pic>
        <p:nvPicPr>
          <p:cNvPr id="5" name="Picture 4" descr="A chart labeled, school achievement, which has three branches. The top is labeled conceptual variable. The three branches are operational variables. The first branch is a self-report questionnaire asking, what grades do you get. The second is of a woman looking on a computer screen, which is labeled as checking records, and the third is of a teacher checking students' papers, labeled teachers' observations.">
            <a:extLst>
              <a:ext uri="{FF2B5EF4-FFF2-40B4-BE49-F238E27FC236}">
                <a16:creationId xmlns:a16="http://schemas.microsoft.com/office/drawing/2014/main" id="{0E56FAB9-977E-4ADD-EA69-48C63FA19FB3}"/>
              </a:ext>
            </a:extLst>
          </p:cNvPr>
          <p:cNvPicPr>
            <a:picLocks noChangeAspect="1"/>
          </p:cNvPicPr>
          <p:nvPr/>
        </p:nvPicPr>
        <p:blipFill>
          <a:blip r:embed="rId3"/>
          <a:srcRect/>
          <a:stretch/>
        </p:blipFill>
        <p:spPr>
          <a:xfrm>
            <a:off x="974581" y="1501939"/>
            <a:ext cx="10473244" cy="4480221"/>
          </a:xfrm>
          <a:prstGeom prst="rect">
            <a:avLst/>
          </a:prstGeom>
        </p:spPr>
      </p:pic>
    </p:spTree>
    <p:extLst>
      <p:ext uri="{BB962C8B-B14F-4D97-AF65-F5344CB8AC3E}">
        <p14:creationId xmlns:p14="http://schemas.microsoft.com/office/powerpoint/2010/main" val="1071811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29063F-8FB3-BDE8-8B93-84FC84D17AFE}"/>
              </a:ext>
            </a:extLst>
          </p:cNvPr>
          <p:cNvSpPr>
            <a:spLocks noGrp="1"/>
          </p:cNvSpPr>
          <p:nvPr>
            <p:ph type="title"/>
          </p:nvPr>
        </p:nvSpPr>
        <p:spPr/>
        <p:txBody>
          <a:bodyPr/>
          <a:lstStyle/>
          <a:p>
            <a:r>
              <a:rPr lang="en-US" dirty="0"/>
              <a:t>Three Claims</a:t>
            </a:r>
          </a:p>
        </p:txBody>
      </p:sp>
      <p:sp>
        <p:nvSpPr>
          <p:cNvPr id="5" name="Content Placeholder 4">
            <a:extLst>
              <a:ext uri="{FF2B5EF4-FFF2-40B4-BE49-F238E27FC236}">
                <a16:creationId xmlns:a16="http://schemas.microsoft.com/office/drawing/2014/main" id="{7B4C91E2-A56B-AC0C-E146-96CCE04708CF}"/>
              </a:ext>
            </a:extLst>
          </p:cNvPr>
          <p:cNvSpPr>
            <a:spLocks noGrp="1"/>
          </p:cNvSpPr>
          <p:nvPr>
            <p:ph sz="quarter" idx="10"/>
          </p:nvPr>
        </p:nvSpPr>
        <p:spPr/>
        <p:txBody>
          <a:bodyPr/>
          <a:lstStyle/>
          <a:p>
            <a:pPr marL="457200" indent="-457200" algn="l">
              <a:buFont typeface="Arial" panose="020B0604020202020204" pitchFamily="34" charset="0"/>
              <a:buChar char="•"/>
            </a:pPr>
            <a:r>
              <a:rPr lang="en-US" dirty="0"/>
              <a:t>Frequency claims</a:t>
            </a:r>
          </a:p>
          <a:p>
            <a:pPr marL="457200" indent="-457200" algn="l">
              <a:buFont typeface="Arial" panose="020B0604020202020204" pitchFamily="34" charset="0"/>
              <a:buChar char="•"/>
            </a:pPr>
            <a:r>
              <a:rPr lang="en-US" dirty="0"/>
              <a:t>Association claims</a:t>
            </a:r>
          </a:p>
          <a:p>
            <a:pPr marL="457200" indent="-457200" algn="l">
              <a:buFont typeface="Arial" panose="020B0604020202020204" pitchFamily="34" charset="0"/>
              <a:buChar char="•"/>
            </a:pPr>
            <a:r>
              <a:rPr lang="en-US" dirty="0"/>
              <a:t>Causal claims</a:t>
            </a:r>
          </a:p>
        </p:txBody>
      </p:sp>
    </p:spTree>
    <p:extLst>
      <p:ext uri="{BB962C8B-B14F-4D97-AF65-F5344CB8AC3E}">
        <p14:creationId xmlns:p14="http://schemas.microsoft.com/office/powerpoint/2010/main" val="987845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932BD1-8B56-564B-6996-82D8E3DC508A}"/>
              </a:ext>
            </a:extLst>
          </p:cNvPr>
          <p:cNvSpPr>
            <a:spLocks noGrp="1"/>
          </p:cNvSpPr>
          <p:nvPr>
            <p:ph type="body" sz="quarter" idx="108"/>
          </p:nvPr>
        </p:nvSpPr>
        <p:spPr/>
        <p:txBody>
          <a:bodyPr/>
          <a:lstStyle/>
          <a:p>
            <a:r>
              <a:rPr lang="en-US" dirty="0"/>
              <a:t>A </a:t>
            </a:r>
            <a:r>
              <a:rPr lang="en-US" b="1" dirty="0"/>
              <a:t>frequency claim</a:t>
            </a:r>
            <a:r>
              <a:rPr lang="en-US" dirty="0"/>
              <a:t> describes a particular level or degree of a single variable.</a:t>
            </a:r>
          </a:p>
          <a:p>
            <a:r>
              <a:rPr lang="en-US" dirty="0"/>
              <a:t>Frequency claims involve only one measured variable. </a:t>
            </a:r>
          </a:p>
          <a:p>
            <a:r>
              <a:rPr lang="en-US" dirty="0"/>
              <a:t>For example… </a:t>
            </a:r>
          </a:p>
          <a:p>
            <a:pPr lvl="1"/>
            <a:r>
              <a:rPr lang="en-US" dirty="0"/>
              <a:t>21% of Canadian adolescents ages 15–17 reported vaping in the last month</a:t>
            </a:r>
          </a:p>
          <a:p>
            <a:pPr lvl="1"/>
            <a:r>
              <a:rPr lang="en-US" dirty="0"/>
              <a:t>The global average life expectancy is 73 years</a:t>
            </a:r>
          </a:p>
          <a:p>
            <a:pPr lvl="1"/>
            <a:r>
              <a:rPr lang="en-US" dirty="0"/>
              <a:t>9 out of 10 dentists say Sensodyne is the best toothpaste</a:t>
            </a:r>
          </a:p>
          <a:p>
            <a:pPr lvl="1"/>
            <a:r>
              <a:rPr lang="en-US" dirty="0"/>
              <a:t>50 out of 50 students say Dr. S is the coolest professor EVER</a:t>
            </a:r>
          </a:p>
          <a:p>
            <a:endParaRPr lang="en-US" dirty="0"/>
          </a:p>
        </p:txBody>
      </p:sp>
      <p:sp>
        <p:nvSpPr>
          <p:cNvPr id="3" name="Title 2">
            <a:extLst>
              <a:ext uri="{FF2B5EF4-FFF2-40B4-BE49-F238E27FC236}">
                <a16:creationId xmlns:a16="http://schemas.microsoft.com/office/drawing/2014/main" id="{4776F7CF-1456-251C-7AB1-2C0C421A761A}"/>
              </a:ext>
            </a:extLst>
          </p:cNvPr>
          <p:cNvSpPr>
            <a:spLocks noGrp="1"/>
          </p:cNvSpPr>
          <p:nvPr>
            <p:ph type="title"/>
          </p:nvPr>
        </p:nvSpPr>
        <p:spPr/>
        <p:txBody>
          <a:bodyPr/>
          <a:lstStyle/>
          <a:p>
            <a:r>
              <a:rPr lang="en-US" dirty="0"/>
              <a:t>Frequency Claims</a:t>
            </a:r>
          </a:p>
        </p:txBody>
      </p:sp>
    </p:spTree>
    <p:extLst>
      <p:ext uri="{BB962C8B-B14F-4D97-AF65-F5344CB8AC3E}">
        <p14:creationId xmlns:p14="http://schemas.microsoft.com/office/powerpoint/2010/main" val="2640867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E54E60-E21E-030D-DBD7-56C9DE6C6C36}"/>
              </a:ext>
            </a:extLst>
          </p:cNvPr>
          <p:cNvSpPr>
            <a:spLocks noGrp="1"/>
          </p:cNvSpPr>
          <p:nvPr>
            <p:ph type="body" sz="quarter" idx="108"/>
          </p:nvPr>
        </p:nvSpPr>
        <p:spPr/>
        <p:txBody>
          <a:bodyPr/>
          <a:lstStyle/>
          <a:p>
            <a:r>
              <a:rPr lang="en-US" dirty="0"/>
              <a:t>An </a:t>
            </a:r>
            <a:r>
              <a:rPr lang="en-US" b="1" dirty="0"/>
              <a:t>association claim</a:t>
            </a:r>
            <a:r>
              <a:rPr lang="en-US" dirty="0"/>
              <a:t> argues that one level of a variable is likely to be associated with a particular level of another variable.</a:t>
            </a:r>
          </a:p>
          <a:p>
            <a:r>
              <a:rPr lang="en-US" dirty="0"/>
              <a:t>Association claims are supported by studies that have at least two measured variables.</a:t>
            </a:r>
          </a:p>
          <a:p>
            <a:r>
              <a:rPr lang="en-US" dirty="0"/>
              <a:t>Variables that are associated are said to covary (when changes in one variable are related to changes in a second variable)</a:t>
            </a:r>
          </a:p>
          <a:p>
            <a:pPr lvl="1"/>
            <a:r>
              <a:rPr lang="en-US" b="1" dirty="0"/>
              <a:t>Covariance</a:t>
            </a:r>
            <a:r>
              <a:rPr lang="en-US" dirty="0"/>
              <a:t> – tells you the direction of the relationship</a:t>
            </a:r>
          </a:p>
          <a:p>
            <a:pPr lvl="1"/>
            <a:r>
              <a:rPr lang="en-US" b="1" dirty="0"/>
              <a:t>Correlation</a:t>
            </a:r>
            <a:r>
              <a:rPr lang="en-US" dirty="0"/>
              <a:t> – tells you the direction and strength of the relationship</a:t>
            </a:r>
          </a:p>
          <a:p>
            <a:pPr lvl="1"/>
            <a:r>
              <a:rPr lang="en-US" dirty="0"/>
              <a:t>Can be positive, negative, or zero</a:t>
            </a:r>
          </a:p>
          <a:p>
            <a:pPr marL="0" indent="0">
              <a:buNone/>
            </a:pPr>
            <a:endParaRPr lang="en-US" dirty="0"/>
          </a:p>
          <a:p>
            <a:endParaRPr lang="en-US" dirty="0"/>
          </a:p>
        </p:txBody>
      </p:sp>
      <p:sp>
        <p:nvSpPr>
          <p:cNvPr id="3" name="Title 2">
            <a:extLst>
              <a:ext uri="{FF2B5EF4-FFF2-40B4-BE49-F238E27FC236}">
                <a16:creationId xmlns:a16="http://schemas.microsoft.com/office/drawing/2014/main" id="{96CC3A24-5479-B107-98B2-A391FB830964}"/>
              </a:ext>
            </a:extLst>
          </p:cNvPr>
          <p:cNvSpPr>
            <a:spLocks noGrp="1"/>
          </p:cNvSpPr>
          <p:nvPr>
            <p:ph type="title"/>
          </p:nvPr>
        </p:nvSpPr>
        <p:spPr/>
        <p:txBody>
          <a:bodyPr/>
          <a:lstStyle/>
          <a:p>
            <a:r>
              <a:rPr lang="en-US" dirty="0"/>
              <a:t>Association Claim</a:t>
            </a:r>
          </a:p>
        </p:txBody>
      </p:sp>
    </p:spTree>
    <p:extLst>
      <p:ext uri="{BB962C8B-B14F-4D97-AF65-F5344CB8AC3E}">
        <p14:creationId xmlns:p14="http://schemas.microsoft.com/office/powerpoint/2010/main" val="4220580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498390-C656-320A-A059-66C587869371}"/>
              </a:ext>
            </a:extLst>
          </p:cNvPr>
          <p:cNvSpPr>
            <a:spLocks noGrp="1"/>
          </p:cNvSpPr>
          <p:nvPr>
            <p:ph type="body" sz="quarter" idx="108"/>
          </p:nvPr>
        </p:nvSpPr>
        <p:spPr>
          <a:xfrm>
            <a:off x="496388" y="1252729"/>
            <a:ext cx="3640183" cy="4974332"/>
          </a:xfrm>
        </p:spPr>
        <p:txBody>
          <a:bodyPr/>
          <a:lstStyle/>
          <a:p>
            <a:r>
              <a:rPr lang="en-US" dirty="0"/>
              <a:t>What type of association?</a:t>
            </a:r>
          </a:p>
        </p:txBody>
      </p:sp>
      <p:sp>
        <p:nvSpPr>
          <p:cNvPr id="3" name="Title 2">
            <a:extLst>
              <a:ext uri="{FF2B5EF4-FFF2-40B4-BE49-F238E27FC236}">
                <a16:creationId xmlns:a16="http://schemas.microsoft.com/office/drawing/2014/main" id="{B946C4BF-E954-E5FC-C9C9-125DB9D7B0BA}"/>
              </a:ext>
            </a:extLst>
          </p:cNvPr>
          <p:cNvSpPr>
            <a:spLocks noGrp="1"/>
          </p:cNvSpPr>
          <p:nvPr>
            <p:ph type="title"/>
          </p:nvPr>
        </p:nvSpPr>
        <p:spPr/>
        <p:txBody>
          <a:bodyPr/>
          <a:lstStyle/>
          <a:p>
            <a:r>
              <a:rPr lang="en-US" dirty="0"/>
              <a:t>Books Read and Vocabulary Scores</a:t>
            </a:r>
          </a:p>
        </p:txBody>
      </p:sp>
      <p:pic>
        <p:nvPicPr>
          <p:cNvPr id="7" name="Picture 6" descr="Scatterplot showing a positive correlation between books read per month and vocabulary test scores. As the number of books read per month increases, vocabulary test scores tend to increase. Blue data points cluster around an upward-sloping green trend line.">
            <a:extLst>
              <a:ext uri="{FF2B5EF4-FFF2-40B4-BE49-F238E27FC236}">
                <a16:creationId xmlns:a16="http://schemas.microsoft.com/office/drawing/2014/main" id="{33874616-4444-792A-D6ED-1AC18C043022}"/>
              </a:ext>
            </a:extLst>
          </p:cNvPr>
          <p:cNvPicPr>
            <a:picLocks noChangeAspect="1"/>
          </p:cNvPicPr>
          <p:nvPr/>
        </p:nvPicPr>
        <p:blipFill>
          <a:blip r:embed="rId3"/>
          <a:stretch>
            <a:fillRect/>
          </a:stretch>
        </p:blipFill>
        <p:spPr>
          <a:xfrm>
            <a:off x="4835397" y="1337198"/>
            <a:ext cx="5502130" cy="4889863"/>
          </a:xfrm>
          <a:prstGeom prst="rect">
            <a:avLst/>
          </a:prstGeom>
        </p:spPr>
      </p:pic>
    </p:spTree>
    <p:extLst>
      <p:ext uri="{BB962C8B-B14F-4D97-AF65-F5344CB8AC3E}">
        <p14:creationId xmlns:p14="http://schemas.microsoft.com/office/powerpoint/2010/main" val="2941952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18D52-4328-3D86-F9C4-E525F825824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84FE000-2FA5-BA29-DF2F-2E5E2085ADAF}"/>
              </a:ext>
            </a:extLst>
          </p:cNvPr>
          <p:cNvSpPr>
            <a:spLocks noGrp="1"/>
          </p:cNvSpPr>
          <p:nvPr>
            <p:ph type="body" sz="quarter" idx="108"/>
          </p:nvPr>
        </p:nvSpPr>
        <p:spPr>
          <a:xfrm>
            <a:off x="496388" y="1252729"/>
            <a:ext cx="3640183" cy="4974332"/>
          </a:xfrm>
        </p:spPr>
        <p:txBody>
          <a:bodyPr/>
          <a:lstStyle/>
          <a:p>
            <a:r>
              <a:rPr lang="en-US" dirty="0"/>
              <a:t>What type of association?</a:t>
            </a:r>
          </a:p>
        </p:txBody>
      </p:sp>
      <p:sp>
        <p:nvSpPr>
          <p:cNvPr id="3" name="Title 2">
            <a:extLst>
              <a:ext uri="{FF2B5EF4-FFF2-40B4-BE49-F238E27FC236}">
                <a16:creationId xmlns:a16="http://schemas.microsoft.com/office/drawing/2014/main" id="{67776843-C388-1A92-B5D2-568A8ACADB9D}"/>
              </a:ext>
            </a:extLst>
          </p:cNvPr>
          <p:cNvSpPr>
            <a:spLocks noGrp="1"/>
          </p:cNvSpPr>
          <p:nvPr>
            <p:ph type="title"/>
          </p:nvPr>
        </p:nvSpPr>
        <p:spPr/>
        <p:txBody>
          <a:bodyPr/>
          <a:lstStyle/>
          <a:p>
            <a:r>
              <a:rPr lang="en-US" dirty="0"/>
              <a:t>Caffeine Consumption &amp; Hours of Sleep</a:t>
            </a:r>
          </a:p>
        </p:txBody>
      </p:sp>
      <p:pic>
        <p:nvPicPr>
          <p:cNvPr id="6" name="Picture 5" descr="Scatterplot showing a negative correlation between daily caffeine consumption and hours of sleep per night. As caffeine consumption increases, hours of sleep tend to decrease. Blue data points cluster around a downward-sloping green trend line.">
            <a:extLst>
              <a:ext uri="{FF2B5EF4-FFF2-40B4-BE49-F238E27FC236}">
                <a16:creationId xmlns:a16="http://schemas.microsoft.com/office/drawing/2014/main" id="{DC5DDCF1-A880-6F36-52BC-20A921FD5D84}"/>
              </a:ext>
            </a:extLst>
          </p:cNvPr>
          <p:cNvPicPr>
            <a:picLocks noChangeAspect="1"/>
          </p:cNvPicPr>
          <p:nvPr/>
        </p:nvPicPr>
        <p:blipFill>
          <a:blip r:embed="rId3"/>
          <a:stretch>
            <a:fillRect/>
          </a:stretch>
        </p:blipFill>
        <p:spPr>
          <a:xfrm>
            <a:off x="4037744" y="1166950"/>
            <a:ext cx="6098280" cy="5424259"/>
          </a:xfrm>
          <a:prstGeom prst="rect">
            <a:avLst/>
          </a:prstGeom>
        </p:spPr>
      </p:pic>
    </p:spTree>
    <p:extLst>
      <p:ext uri="{BB962C8B-B14F-4D97-AF65-F5344CB8AC3E}">
        <p14:creationId xmlns:p14="http://schemas.microsoft.com/office/powerpoint/2010/main" val="4183425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03AF5-2A47-1BEB-EF08-03AF2F252D8E}"/>
            </a:ext>
          </a:extLst>
        </p:cNvPr>
        <p:cNvGrpSpPr/>
        <p:nvPr/>
      </p:nvGrpSpPr>
      <p:grpSpPr>
        <a:xfrm>
          <a:off x="0" y="0"/>
          <a:ext cx="0" cy="0"/>
          <a:chOff x="0" y="0"/>
          <a:chExt cx="0" cy="0"/>
        </a:xfrm>
      </p:grpSpPr>
      <p:sp>
        <p:nvSpPr>
          <p:cNvPr id="2" name="Text Placeholder 1" descr="Scatterplot showing zero correlation between number of siblings and hours spent doing chores per week. The blue data points are randomly scattered with no upward or downward pattern, and the green trend line is nearly flat, indicating no relationship between the two variables.">
            <a:extLst>
              <a:ext uri="{FF2B5EF4-FFF2-40B4-BE49-F238E27FC236}">
                <a16:creationId xmlns:a16="http://schemas.microsoft.com/office/drawing/2014/main" id="{7F5F79A3-2EEA-397C-B18C-4E40402BAD18}"/>
              </a:ext>
            </a:extLst>
          </p:cNvPr>
          <p:cNvSpPr>
            <a:spLocks noGrp="1"/>
          </p:cNvSpPr>
          <p:nvPr>
            <p:ph type="body" sz="quarter" idx="108"/>
          </p:nvPr>
        </p:nvSpPr>
        <p:spPr>
          <a:xfrm>
            <a:off x="496388" y="1252729"/>
            <a:ext cx="3640183" cy="4974332"/>
          </a:xfrm>
        </p:spPr>
        <p:txBody>
          <a:bodyPr/>
          <a:lstStyle/>
          <a:p>
            <a:r>
              <a:rPr lang="en-US" dirty="0"/>
              <a:t>What type of association?</a:t>
            </a:r>
          </a:p>
        </p:txBody>
      </p:sp>
      <p:sp>
        <p:nvSpPr>
          <p:cNvPr id="3" name="Title 2">
            <a:extLst>
              <a:ext uri="{FF2B5EF4-FFF2-40B4-BE49-F238E27FC236}">
                <a16:creationId xmlns:a16="http://schemas.microsoft.com/office/drawing/2014/main" id="{859D195A-3EB4-39E7-27EE-80154719C5E0}"/>
              </a:ext>
            </a:extLst>
          </p:cNvPr>
          <p:cNvSpPr>
            <a:spLocks noGrp="1"/>
          </p:cNvSpPr>
          <p:nvPr>
            <p:ph type="title"/>
          </p:nvPr>
        </p:nvSpPr>
        <p:spPr/>
        <p:txBody>
          <a:bodyPr/>
          <a:lstStyle/>
          <a:p>
            <a:r>
              <a:rPr lang="en-US" dirty="0"/>
              <a:t>Siblings and Chores</a:t>
            </a:r>
          </a:p>
        </p:txBody>
      </p:sp>
      <p:pic>
        <p:nvPicPr>
          <p:cNvPr id="8" name="Picture 7">
            <a:extLst>
              <a:ext uri="{FF2B5EF4-FFF2-40B4-BE49-F238E27FC236}">
                <a16:creationId xmlns:a16="http://schemas.microsoft.com/office/drawing/2014/main" id="{1DF3402F-A5B7-2A58-59FE-65743661030F}"/>
              </a:ext>
            </a:extLst>
          </p:cNvPr>
          <p:cNvPicPr>
            <a:picLocks noChangeAspect="1"/>
          </p:cNvPicPr>
          <p:nvPr/>
        </p:nvPicPr>
        <p:blipFill>
          <a:blip r:embed="rId3"/>
          <a:stretch>
            <a:fillRect/>
          </a:stretch>
        </p:blipFill>
        <p:spPr>
          <a:xfrm>
            <a:off x="4137434" y="1330110"/>
            <a:ext cx="5832173" cy="5162764"/>
          </a:xfrm>
          <a:prstGeom prst="rect">
            <a:avLst/>
          </a:prstGeom>
        </p:spPr>
      </p:pic>
    </p:spTree>
    <p:extLst>
      <p:ext uri="{BB962C8B-B14F-4D97-AF65-F5344CB8AC3E}">
        <p14:creationId xmlns:p14="http://schemas.microsoft.com/office/powerpoint/2010/main" val="1881633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16B42B-AD8B-4BCA-C606-1C4E66369E53}"/>
              </a:ext>
            </a:extLst>
          </p:cNvPr>
          <p:cNvSpPr>
            <a:spLocks noGrp="1"/>
          </p:cNvSpPr>
          <p:nvPr>
            <p:ph type="body" sz="quarter" idx="108"/>
          </p:nvPr>
        </p:nvSpPr>
        <p:spPr/>
        <p:txBody>
          <a:bodyPr/>
          <a:lstStyle/>
          <a:p>
            <a:r>
              <a:rPr lang="en-US" dirty="0"/>
              <a:t>Some association claims are useful because they help us make predictions.</a:t>
            </a:r>
          </a:p>
          <a:p>
            <a:pPr lvl="1"/>
            <a:r>
              <a:rPr lang="en-US" dirty="0"/>
              <a:t>Note: This is still just a guess</a:t>
            </a:r>
          </a:p>
          <a:p>
            <a:r>
              <a:rPr lang="en-US" dirty="0"/>
              <a:t>The stronger the association between the two variables, the more accurate the prediction will be.</a:t>
            </a:r>
          </a:p>
          <a:p>
            <a:r>
              <a:rPr lang="en-US" dirty="0"/>
              <a:t>Both positive and negative associations can help us make predictions, but zero associations cannot.</a:t>
            </a:r>
          </a:p>
          <a:p>
            <a:endParaRPr lang="en-US" dirty="0"/>
          </a:p>
        </p:txBody>
      </p:sp>
      <p:sp>
        <p:nvSpPr>
          <p:cNvPr id="3" name="Title 2">
            <a:extLst>
              <a:ext uri="{FF2B5EF4-FFF2-40B4-BE49-F238E27FC236}">
                <a16:creationId xmlns:a16="http://schemas.microsoft.com/office/drawing/2014/main" id="{BF4F576C-2117-66A2-DA3F-5719DC54B5EC}"/>
              </a:ext>
            </a:extLst>
          </p:cNvPr>
          <p:cNvSpPr>
            <a:spLocks noGrp="1"/>
          </p:cNvSpPr>
          <p:nvPr>
            <p:ph type="title"/>
          </p:nvPr>
        </p:nvSpPr>
        <p:spPr/>
        <p:txBody>
          <a:bodyPr/>
          <a:lstStyle/>
          <a:p>
            <a:r>
              <a:rPr lang="en-US" dirty="0"/>
              <a:t>Making Predictions Based on Associations</a:t>
            </a:r>
          </a:p>
        </p:txBody>
      </p:sp>
    </p:spTree>
    <p:extLst>
      <p:ext uri="{BB962C8B-B14F-4D97-AF65-F5344CB8AC3E}">
        <p14:creationId xmlns:p14="http://schemas.microsoft.com/office/powerpoint/2010/main" val="4000125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F2423D-E1B5-4837-7EF5-0E893B30E009}"/>
              </a:ext>
            </a:extLst>
          </p:cNvPr>
          <p:cNvSpPr>
            <a:spLocks noGrp="1"/>
          </p:cNvSpPr>
          <p:nvPr>
            <p:ph type="body" sz="quarter" idx="108"/>
          </p:nvPr>
        </p:nvSpPr>
        <p:spPr/>
        <p:txBody>
          <a:bodyPr/>
          <a:lstStyle/>
          <a:p>
            <a:r>
              <a:rPr lang="en-US" dirty="0"/>
              <a:t>A </a:t>
            </a:r>
            <a:r>
              <a:rPr lang="en-US" b="1" dirty="0"/>
              <a:t>causal claim</a:t>
            </a:r>
            <a:r>
              <a:rPr lang="en-US" dirty="0"/>
              <a:t> argues that one variable causes changes in the level of another variable.</a:t>
            </a:r>
          </a:p>
          <a:p>
            <a:r>
              <a:rPr lang="en-US" dirty="0"/>
              <a:t>Causal claims are supported by experiments (studies that have a manipulated variable and a measured variable.)</a:t>
            </a:r>
          </a:p>
          <a:p>
            <a:r>
              <a:rPr lang="en-US" dirty="0"/>
              <a:t>Criteria for a causal claim:</a:t>
            </a:r>
          </a:p>
          <a:p>
            <a:pPr marL="914400" lvl="1" indent="-457200">
              <a:buAutoNum type="arabicPeriod"/>
            </a:pPr>
            <a:r>
              <a:rPr lang="en-US" dirty="0"/>
              <a:t>Covariance - the two variables MUST be related </a:t>
            </a:r>
          </a:p>
          <a:p>
            <a:pPr marL="914400" lvl="1" indent="-457200">
              <a:buAutoNum type="arabicPeriod"/>
            </a:pPr>
            <a:r>
              <a:rPr lang="en-US" dirty="0"/>
              <a:t>Temporal precedence – the causal variable must come BEFORE the outcome variable</a:t>
            </a:r>
          </a:p>
          <a:p>
            <a:pPr marL="914400" lvl="1" indent="-457200">
              <a:buAutoNum type="arabicPeriod"/>
            </a:pPr>
            <a:r>
              <a:rPr lang="en-US" dirty="0"/>
              <a:t>Internal validity – the study must rule out all other possible outcomes </a:t>
            </a:r>
          </a:p>
          <a:p>
            <a:endParaRPr lang="en-US" dirty="0"/>
          </a:p>
        </p:txBody>
      </p:sp>
      <p:sp>
        <p:nvSpPr>
          <p:cNvPr id="3" name="Title 2">
            <a:extLst>
              <a:ext uri="{FF2B5EF4-FFF2-40B4-BE49-F238E27FC236}">
                <a16:creationId xmlns:a16="http://schemas.microsoft.com/office/drawing/2014/main" id="{D98607B8-64DD-FE9A-E255-4D696BFB47C7}"/>
              </a:ext>
            </a:extLst>
          </p:cNvPr>
          <p:cNvSpPr>
            <a:spLocks noGrp="1"/>
          </p:cNvSpPr>
          <p:nvPr>
            <p:ph type="title"/>
          </p:nvPr>
        </p:nvSpPr>
        <p:spPr/>
        <p:txBody>
          <a:bodyPr/>
          <a:lstStyle/>
          <a:p>
            <a:r>
              <a:rPr lang="en-US" dirty="0"/>
              <a:t>Causal Claims</a:t>
            </a:r>
          </a:p>
        </p:txBody>
      </p:sp>
    </p:spTree>
    <p:extLst>
      <p:ext uri="{BB962C8B-B14F-4D97-AF65-F5344CB8AC3E}">
        <p14:creationId xmlns:p14="http://schemas.microsoft.com/office/powerpoint/2010/main" val="200993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E82D3C-C705-D7D2-01C1-50B7C040C2B5}"/>
              </a:ext>
            </a:extLst>
          </p:cNvPr>
          <p:cNvSpPr>
            <a:spLocks noGrp="1"/>
          </p:cNvSpPr>
          <p:nvPr>
            <p:ph type="body" sz="quarter" idx="108"/>
          </p:nvPr>
        </p:nvSpPr>
        <p:spPr/>
        <p:txBody>
          <a:bodyPr/>
          <a:lstStyle/>
          <a:p>
            <a:r>
              <a:rPr lang="en-US" dirty="0"/>
              <a:t>Baby’s superpowered scent can affect parents’ moods, researchers find </a:t>
            </a:r>
          </a:p>
          <a:p>
            <a:r>
              <a:rPr lang="en-US" dirty="0"/>
              <a:t>Talking to strangers might make you happier</a:t>
            </a:r>
          </a:p>
          <a:p>
            <a:r>
              <a:rPr lang="en-US" dirty="0"/>
              <a:t>Logic’s song 1-800-273-8255 may have led to hundreds of fewer suicides</a:t>
            </a:r>
          </a:p>
          <a:p>
            <a:r>
              <a:rPr lang="en-US" dirty="0"/>
              <a:t>Pretending to be Batman helps kids stay on task</a:t>
            </a:r>
          </a:p>
          <a:p>
            <a:r>
              <a:rPr lang="en-US" dirty="0"/>
              <a:t>To appear more intimidating, just tilt your head down, study suggests</a:t>
            </a:r>
          </a:p>
          <a:p>
            <a:r>
              <a:rPr lang="en-US" dirty="0"/>
              <a:t>Family meals curb teen eating disorders</a:t>
            </a:r>
          </a:p>
          <a:p>
            <a:endParaRPr lang="en-US" dirty="0"/>
          </a:p>
        </p:txBody>
      </p:sp>
      <p:sp>
        <p:nvSpPr>
          <p:cNvPr id="3" name="Title 2">
            <a:extLst>
              <a:ext uri="{FF2B5EF4-FFF2-40B4-BE49-F238E27FC236}">
                <a16:creationId xmlns:a16="http://schemas.microsoft.com/office/drawing/2014/main" id="{2B008CFF-D759-0C79-8C45-A5E3BC264108}"/>
              </a:ext>
            </a:extLst>
          </p:cNvPr>
          <p:cNvSpPr>
            <a:spLocks noGrp="1"/>
          </p:cNvSpPr>
          <p:nvPr>
            <p:ph type="title"/>
          </p:nvPr>
        </p:nvSpPr>
        <p:spPr/>
        <p:txBody>
          <a:bodyPr/>
          <a:lstStyle/>
          <a:p>
            <a:r>
              <a:rPr lang="en-US" dirty="0"/>
              <a:t>Causal Claim Examples</a:t>
            </a:r>
          </a:p>
        </p:txBody>
      </p:sp>
    </p:spTree>
    <p:extLst>
      <p:ext uri="{BB962C8B-B14F-4D97-AF65-F5344CB8AC3E}">
        <p14:creationId xmlns:p14="http://schemas.microsoft.com/office/powerpoint/2010/main" val="3555833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105C42-F890-E29F-5D6B-C26AF78BF843}"/>
              </a:ext>
            </a:extLst>
          </p:cNvPr>
          <p:cNvSpPr>
            <a:spLocks noGrp="1"/>
          </p:cNvSpPr>
          <p:nvPr>
            <p:ph type="title"/>
          </p:nvPr>
        </p:nvSpPr>
        <p:spPr>
          <a:xfrm>
            <a:off x="211476" y="2627176"/>
            <a:ext cx="4432443" cy="1821534"/>
          </a:xfrm>
        </p:spPr>
        <p:txBody>
          <a:bodyPr/>
          <a:lstStyle/>
          <a:p>
            <a:r>
              <a:rPr lang="en-US" dirty="0"/>
              <a:t>Watch Your Language!</a:t>
            </a:r>
          </a:p>
        </p:txBody>
      </p:sp>
      <p:pic>
        <p:nvPicPr>
          <p:cNvPr id="5" name="Picture 4" descr="A table titled, Verb Phrases That Distinguish Association and Causal Claims. Detailed table information is available in the accessible content.">
            <a:extLst>
              <a:ext uri="{FF2B5EF4-FFF2-40B4-BE49-F238E27FC236}">
                <a16:creationId xmlns:a16="http://schemas.microsoft.com/office/drawing/2014/main" id="{57D46FEA-56B7-EE69-F17A-11266826E5D9}"/>
              </a:ext>
            </a:extLst>
          </p:cNvPr>
          <p:cNvPicPr>
            <a:picLocks noChangeAspect="1"/>
          </p:cNvPicPr>
          <p:nvPr/>
        </p:nvPicPr>
        <p:blipFill>
          <a:blip r:embed="rId3"/>
          <a:stretch>
            <a:fillRect/>
          </a:stretch>
        </p:blipFill>
        <p:spPr>
          <a:xfrm>
            <a:off x="4857104" y="329023"/>
            <a:ext cx="5683783" cy="6061503"/>
          </a:xfrm>
          <a:prstGeom prst="rect">
            <a:avLst/>
          </a:prstGeom>
        </p:spPr>
      </p:pic>
    </p:spTree>
    <p:extLst>
      <p:ext uri="{BB962C8B-B14F-4D97-AF65-F5344CB8AC3E}">
        <p14:creationId xmlns:p14="http://schemas.microsoft.com/office/powerpoint/2010/main" val="3239426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EF4184-E0E9-911E-8456-9F2FAEC727C2}"/>
              </a:ext>
            </a:extLst>
          </p:cNvPr>
          <p:cNvSpPr>
            <a:spLocks noGrp="1"/>
          </p:cNvSpPr>
          <p:nvPr>
            <p:ph type="body" sz="quarter" idx="108"/>
          </p:nvPr>
        </p:nvSpPr>
        <p:spPr/>
        <p:txBody>
          <a:bodyPr/>
          <a:lstStyle/>
          <a:p>
            <a:r>
              <a:rPr lang="en-US" dirty="0"/>
              <a:t>Not all claims we read about in the popular press are based on research. </a:t>
            </a:r>
          </a:p>
          <a:p>
            <a:r>
              <a:rPr lang="en-US" dirty="0"/>
              <a:t>Some claims are based on experience, intuition, or authority.</a:t>
            </a:r>
          </a:p>
          <a:p>
            <a:r>
              <a:rPr lang="en-US" dirty="0"/>
              <a:t>Examples:</a:t>
            </a:r>
          </a:p>
          <a:p>
            <a:pPr lvl="1"/>
            <a:r>
              <a:rPr lang="en-US" dirty="0"/>
              <a:t>Paranoia, voices, sleeplessness: What my psychotic break felt like for some teens, as masks come off, anxiety sets in</a:t>
            </a:r>
          </a:p>
          <a:p>
            <a:pPr lvl="1"/>
            <a:r>
              <a:rPr lang="en-US" dirty="0"/>
              <a:t>Octopuses caught on camera throwing junk at each other during underwater fights</a:t>
            </a:r>
          </a:p>
          <a:p>
            <a:pPr lvl="1"/>
            <a:r>
              <a:rPr lang="en-US" dirty="0"/>
              <a:t>For some with ADHD, the low rumble of brown noise quiets the brain</a:t>
            </a:r>
          </a:p>
          <a:p>
            <a:endParaRPr lang="en-US" dirty="0"/>
          </a:p>
          <a:p>
            <a:r>
              <a:rPr lang="en-US" dirty="0"/>
              <a:t>We see these A LOT in journalism</a:t>
            </a:r>
          </a:p>
        </p:txBody>
      </p:sp>
      <p:sp>
        <p:nvSpPr>
          <p:cNvPr id="3" name="Title 2">
            <a:extLst>
              <a:ext uri="{FF2B5EF4-FFF2-40B4-BE49-F238E27FC236}">
                <a16:creationId xmlns:a16="http://schemas.microsoft.com/office/drawing/2014/main" id="{97D4CF11-C007-2816-D673-DDE56D1E2C16}"/>
              </a:ext>
            </a:extLst>
          </p:cNvPr>
          <p:cNvSpPr>
            <a:spLocks noGrp="1"/>
          </p:cNvSpPr>
          <p:nvPr>
            <p:ph type="title"/>
          </p:nvPr>
        </p:nvSpPr>
        <p:spPr/>
        <p:txBody>
          <a:bodyPr/>
          <a:lstStyle/>
          <a:p>
            <a:r>
              <a:rPr lang="en-US" dirty="0"/>
              <a:t>Not All Claims Are Based on Research</a:t>
            </a:r>
          </a:p>
        </p:txBody>
      </p:sp>
    </p:spTree>
    <p:extLst>
      <p:ext uri="{BB962C8B-B14F-4D97-AF65-F5344CB8AC3E}">
        <p14:creationId xmlns:p14="http://schemas.microsoft.com/office/powerpoint/2010/main" val="2254685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37F67-5FDE-2E8A-45E1-E3037957CA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E64B71-5FB6-0619-CAB1-56A9FDD4A16F}"/>
              </a:ext>
            </a:extLst>
          </p:cNvPr>
          <p:cNvSpPr>
            <a:spLocks noGrp="1"/>
          </p:cNvSpPr>
          <p:nvPr>
            <p:ph type="title"/>
          </p:nvPr>
        </p:nvSpPr>
        <p:spPr>
          <a:xfrm>
            <a:off x="914077" y="759150"/>
            <a:ext cx="5869901" cy="2138162"/>
          </a:xfrm>
        </p:spPr>
        <p:txBody>
          <a:bodyPr/>
          <a:lstStyle/>
          <a:p>
            <a:r>
              <a:rPr lang="en-US" dirty="0"/>
              <a:t>Four Types of Validity</a:t>
            </a:r>
          </a:p>
        </p:txBody>
      </p:sp>
      <p:sp>
        <p:nvSpPr>
          <p:cNvPr id="5" name="Content Placeholder 4">
            <a:extLst>
              <a:ext uri="{FF2B5EF4-FFF2-40B4-BE49-F238E27FC236}">
                <a16:creationId xmlns:a16="http://schemas.microsoft.com/office/drawing/2014/main" id="{47A7CCAB-2DAE-8B5A-929F-35C7B09CFE13}"/>
              </a:ext>
            </a:extLst>
          </p:cNvPr>
          <p:cNvSpPr>
            <a:spLocks noGrp="1"/>
          </p:cNvSpPr>
          <p:nvPr>
            <p:ph sz="quarter" idx="10"/>
          </p:nvPr>
        </p:nvSpPr>
        <p:spPr>
          <a:xfrm>
            <a:off x="4689792" y="3498395"/>
            <a:ext cx="6378575" cy="2285956"/>
          </a:xfrm>
        </p:spPr>
        <p:txBody>
          <a:bodyPr/>
          <a:lstStyle/>
          <a:p>
            <a:pPr marL="457200" indent="-457200" algn="l">
              <a:buFont typeface="Arial" panose="020B0604020202020204" pitchFamily="34" charset="0"/>
              <a:buChar char="•"/>
            </a:pPr>
            <a:r>
              <a:rPr lang="en-US" dirty="0"/>
              <a:t>Construct Validity</a:t>
            </a:r>
          </a:p>
          <a:p>
            <a:pPr marL="457200" indent="-457200" algn="l">
              <a:buFont typeface="Arial" panose="020B0604020202020204" pitchFamily="34" charset="0"/>
              <a:buChar char="•"/>
            </a:pPr>
            <a:r>
              <a:rPr lang="en-US" dirty="0"/>
              <a:t>Statistical Validity</a:t>
            </a:r>
          </a:p>
          <a:p>
            <a:pPr marL="457200" indent="-457200" algn="l">
              <a:buFont typeface="Arial" panose="020B0604020202020204" pitchFamily="34" charset="0"/>
              <a:buChar char="•"/>
            </a:pPr>
            <a:r>
              <a:rPr lang="en-US" dirty="0"/>
              <a:t>Internal Validity</a:t>
            </a:r>
          </a:p>
          <a:p>
            <a:pPr marL="457200" indent="-457200" algn="l">
              <a:buFont typeface="Arial" panose="020B0604020202020204" pitchFamily="34" charset="0"/>
              <a:buChar char="•"/>
            </a:pPr>
            <a:r>
              <a:rPr lang="en-US" dirty="0"/>
              <a:t>External Validity</a:t>
            </a:r>
          </a:p>
        </p:txBody>
      </p:sp>
    </p:spTree>
    <p:extLst>
      <p:ext uri="{BB962C8B-B14F-4D97-AF65-F5344CB8AC3E}">
        <p14:creationId xmlns:p14="http://schemas.microsoft.com/office/powerpoint/2010/main" val="719158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93908C-756C-F280-2B83-E2575DE7B79B}"/>
              </a:ext>
            </a:extLst>
          </p:cNvPr>
          <p:cNvSpPr>
            <a:spLocks noGrp="1"/>
          </p:cNvSpPr>
          <p:nvPr>
            <p:ph type="body" sz="quarter" idx="108"/>
          </p:nvPr>
        </p:nvSpPr>
        <p:spPr>
          <a:xfrm>
            <a:off x="496388" y="1243173"/>
            <a:ext cx="11418243" cy="4860598"/>
          </a:xfrm>
        </p:spPr>
        <p:txBody>
          <a:bodyPr/>
          <a:lstStyle/>
          <a:p>
            <a:r>
              <a:rPr lang="en-US" b="1" dirty="0"/>
              <a:t>Validity</a:t>
            </a:r>
            <a:r>
              <a:rPr lang="en-US" dirty="0"/>
              <a:t> – the appropriateness of a conclusion or decision</a:t>
            </a:r>
          </a:p>
          <a:p>
            <a:r>
              <a:rPr lang="en-US" b="1" dirty="0"/>
              <a:t>Construct validity </a:t>
            </a:r>
            <a:r>
              <a:rPr lang="en-US" dirty="0"/>
              <a:t>– how well the variables in a study are measured or manipulated</a:t>
            </a:r>
          </a:p>
          <a:p>
            <a:pPr lvl="1"/>
            <a:r>
              <a:rPr lang="en-US" dirty="0"/>
              <a:t>Do operational variables = conceptual variables</a:t>
            </a:r>
          </a:p>
          <a:p>
            <a:r>
              <a:rPr lang="en-US" dirty="0"/>
              <a:t>Ex: Does the Depression Anxiety Stress Scale actually represent stress?</a:t>
            </a:r>
          </a:p>
        </p:txBody>
      </p:sp>
      <p:sp>
        <p:nvSpPr>
          <p:cNvPr id="3" name="Title 2">
            <a:extLst>
              <a:ext uri="{FF2B5EF4-FFF2-40B4-BE49-F238E27FC236}">
                <a16:creationId xmlns:a16="http://schemas.microsoft.com/office/drawing/2014/main" id="{C7ADBD38-FC58-2758-7C91-A914DD0C7130}"/>
              </a:ext>
            </a:extLst>
          </p:cNvPr>
          <p:cNvSpPr>
            <a:spLocks noGrp="1"/>
          </p:cNvSpPr>
          <p:nvPr>
            <p:ph type="title"/>
          </p:nvPr>
        </p:nvSpPr>
        <p:spPr/>
        <p:txBody>
          <a:bodyPr/>
          <a:lstStyle/>
          <a:p>
            <a:r>
              <a:rPr lang="en-US" dirty="0"/>
              <a:t>Construct Validity</a:t>
            </a:r>
          </a:p>
        </p:txBody>
      </p:sp>
    </p:spTree>
    <p:extLst>
      <p:ext uri="{BB962C8B-B14F-4D97-AF65-F5344CB8AC3E}">
        <p14:creationId xmlns:p14="http://schemas.microsoft.com/office/powerpoint/2010/main" val="2244881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FAC596-A400-3DE3-EF75-1FAA150B6478}"/>
              </a:ext>
            </a:extLst>
          </p:cNvPr>
          <p:cNvSpPr>
            <a:spLocks noGrp="1"/>
          </p:cNvSpPr>
          <p:nvPr>
            <p:ph type="body" sz="quarter" idx="108"/>
          </p:nvPr>
        </p:nvSpPr>
        <p:spPr/>
        <p:txBody>
          <a:bodyPr/>
          <a:lstStyle/>
          <a:p>
            <a:r>
              <a:rPr lang="en-US" b="1" dirty="0"/>
              <a:t>Statistical validity </a:t>
            </a:r>
            <a:r>
              <a:rPr lang="en-US" dirty="0"/>
              <a:t>– how well the numbers support the claim</a:t>
            </a:r>
          </a:p>
          <a:p>
            <a:r>
              <a:rPr lang="en-US" dirty="0"/>
              <a:t>Is the value correct? Is it precise?</a:t>
            </a:r>
          </a:p>
          <a:p>
            <a:pPr lvl="1"/>
            <a:r>
              <a:rPr lang="en-US" b="1" dirty="0"/>
              <a:t>Point estimate</a:t>
            </a:r>
            <a:r>
              <a:rPr lang="en-US" dirty="0"/>
              <a:t> – the single value representing a person or group (ex: response time or class average)</a:t>
            </a:r>
          </a:p>
          <a:p>
            <a:r>
              <a:rPr lang="en-US" dirty="0"/>
              <a:t>What we look for:</a:t>
            </a:r>
          </a:p>
          <a:p>
            <a:pPr lvl="1"/>
            <a:r>
              <a:rPr lang="en-US" dirty="0"/>
              <a:t>Strength of effect</a:t>
            </a:r>
          </a:p>
          <a:p>
            <a:pPr lvl="1"/>
            <a:r>
              <a:rPr lang="en-US" dirty="0"/>
              <a:t>Statistical significance</a:t>
            </a:r>
          </a:p>
          <a:p>
            <a:pPr lvl="1"/>
            <a:r>
              <a:rPr lang="en-US" dirty="0"/>
              <a:t>Preciseness of estimate (confidence intervals, margins of error, etc.)</a:t>
            </a:r>
          </a:p>
          <a:p>
            <a:pPr lvl="1"/>
            <a:r>
              <a:rPr lang="en-US" dirty="0"/>
              <a:t>Replication </a:t>
            </a:r>
          </a:p>
        </p:txBody>
      </p:sp>
      <p:sp>
        <p:nvSpPr>
          <p:cNvPr id="3" name="Title 2">
            <a:extLst>
              <a:ext uri="{FF2B5EF4-FFF2-40B4-BE49-F238E27FC236}">
                <a16:creationId xmlns:a16="http://schemas.microsoft.com/office/drawing/2014/main" id="{AE9978D4-7E0E-97BC-B68A-ADAA49942ADE}"/>
              </a:ext>
            </a:extLst>
          </p:cNvPr>
          <p:cNvSpPr>
            <a:spLocks noGrp="1"/>
          </p:cNvSpPr>
          <p:nvPr>
            <p:ph type="title"/>
          </p:nvPr>
        </p:nvSpPr>
        <p:spPr/>
        <p:txBody>
          <a:bodyPr/>
          <a:lstStyle/>
          <a:p>
            <a:r>
              <a:rPr lang="en-US" dirty="0"/>
              <a:t>Statistical Validity</a:t>
            </a:r>
          </a:p>
        </p:txBody>
      </p:sp>
    </p:spTree>
    <p:extLst>
      <p:ext uri="{BB962C8B-B14F-4D97-AF65-F5344CB8AC3E}">
        <p14:creationId xmlns:p14="http://schemas.microsoft.com/office/powerpoint/2010/main" val="3398107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98EB92-D50A-B8C4-F6C8-93E1B96A568C}"/>
              </a:ext>
            </a:extLst>
          </p:cNvPr>
          <p:cNvSpPr>
            <a:spLocks noGrp="1"/>
          </p:cNvSpPr>
          <p:nvPr>
            <p:ph type="body" sz="quarter" idx="108"/>
          </p:nvPr>
        </p:nvSpPr>
        <p:spPr/>
        <p:txBody>
          <a:bodyPr/>
          <a:lstStyle/>
          <a:p>
            <a:r>
              <a:rPr lang="en-US" b="1" dirty="0"/>
              <a:t>Internal validity</a:t>
            </a:r>
            <a:r>
              <a:rPr lang="en-US" dirty="0"/>
              <a:t> – the extent to which the researcher is confident that one variable caused the second variable </a:t>
            </a:r>
          </a:p>
          <a:p>
            <a:pPr lvl="1"/>
            <a:r>
              <a:rPr lang="en-US" dirty="0"/>
              <a:t>Note: this means you need at least two variables</a:t>
            </a:r>
          </a:p>
          <a:p>
            <a:r>
              <a:rPr lang="en-US" dirty="0"/>
              <a:t>You must make sure that no other variable could have impacted the outcome</a:t>
            </a:r>
          </a:p>
          <a:p>
            <a:r>
              <a:rPr lang="en-US" dirty="0"/>
              <a:t>Ex: Did month of the year cause ice cream consumption, or was another variable the cause of the ice cream consumption? </a:t>
            </a:r>
          </a:p>
        </p:txBody>
      </p:sp>
      <p:sp>
        <p:nvSpPr>
          <p:cNvPr id="3" name="Title 2">
            <a:extLst>
              <a:ext uri="{FF2B5EF4-FFF2-40B4-BE49-F238E27FC236}">
                <a16:creationId xmlns:a16="http://schemas.microsoft.com/office/drawing/2014/main" id="{C32E588D-D337-A6CF-3602-D774A93BB74E}"/>
              </a:ext>
            </a:extLst>
          </p:cNvPr>
          <p:cNvSpPr>
            <a:spLocks noGrp="1"/>
          </p:cNvSpPr>
          <p:nvPr>
            <p:ph type="title"/>
          </p:nvPr>
        </p:nvSpPr>
        <p:spPr/>
        <p:txBody>
          <a:bodyPr/>
          <a:lstStyle/>
          <a:p>
            <a:r>
              <a:rPr lang="en-US" dirty="0"/>
              <a:t>Internal Validity</a:t>
            </a:r>
          </a:p>
        </p:txBody>
      </p:sp>
    </p:spTree>
    <p:extLst>
      <p:ext uri="{BB962C8B-B14F-4D97-AF65-F5344CB8AC3E}">
        <p14:creationId xmlns:p14="http://schemas.microsoft.com/office/powerpoint/2010/main" val="34275147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4E122E-4B8E-08F2-269B-E32ED334950C}"/>
              </a:ext>
            </a:extLst>
          </p:cNvPr>
          <p:cNvSpPr>
            <a:spLocks noGrp="1"/>
          </p:cNvSpPr>
          <p:nvPr>
            <p:ph type="body" sz="quarter" idx="108"/>
          </p:nvPr>
        </p:nvSpPr>
        <p:spPr/>
        <p:txBody>
          <a:bodyPr/>
          <a:lstStyle/>
          <a:p>
            <a:r>
              <a:rPr lang="en-US" b="1" dirty="0"/>
              <a:t>External validity</a:t>
            </a:r>
            <a:r>
              <a:rPr lang="en-US" dirty="0"/>
              <a:t> – the extent to which the results can generalize to a different or larger population</a:t>
            </a:r>
          </a:p>
          <a:p>
            <a:r>
              <a:rPr lang="en-US" dirty="0"/>
              <a:t>Ex: can the months -&gt; ice cream consumption generalize to Australia?</a:t>
            </a:r>
          </a:p>
        </p:txBody>
      </p:sp>
      <p:sp>
        <p:nvSpPr>
          <p:cNvPr id="3" name="Title 2">
            <a:extLst>
              <a:ext uri="{FF2B5EF4-FFF2-40B4-BE49-F238E27FC236}">
                <a16:creationId xmlns:a16="http://schemas.microsoft.com/office/drawing/2014/main" id="{5562D313-A614-0994-13AA-39EAC367ECBA}"/>
              </a:ext>
            </a:extLst>
          </p:cNvPr>
          <p:cNvSpPr>
            <a:spLocks noGrp="1"/>
          </p:cNvSpPr>
          <p:nvPr>
            <p:ph type="title"/>
          </p:nvPr>
        </p:nvSpPr>
        <p:spPr/>
        <p:txBody>
          <a:bodyPr/>
          <a:lstStyle/>
          <a:p>
            <a:r>
              <a:rPr lang="en-US" dirty="0"/>
              <a:t>External Validity</a:t>
            </a:r>
          </a:p>
        </p:txBody>
      </p:sp>
    </p:spTree>
    <p:extLst>
      <p:ext uri="{BB962C8B-B14F-4D97-AF65-F5344CB8AC3E}">
        <p14:creationId xmlns:p14="http://schemas.microsoft.com/office/powerpoint/2010/main" val="1921025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55A1A4-3B1F-1C20-0C6A-47F756387894}"/>
              </a:ext>
            </a:extLst>
          </p:cNvPr>
          <p:cNvSpPr>
            <a:spLocks noGrp="1"/>
          </p:cNvSpPr>
          <p:nvPr>
            <p:ph type="title"/>
          </p:nvPr>
        </p:nvSpPr>
        <p:spPr>
          <a:xfrm>
            <a:off x="914077" y="759150"/>
            <a:ext cx="5869901" cy="2138162"/>
          </a:xfrm>
        </p:spPr>
        <p:txBody>
          <a:bodyPr/>
          <a:lstStyle/>
          <a:p>
            <a:r>
              <a:rPr lang="en-US" dirty="0"/>
              <a:t>Interrogating the Three Claims Using the Four Big Validities</a:t>
            </a:r>
          </a:p>
        </p:txBody>
      </p:sp>
      <p:sp>
        <p:nvSpPr>
          <p:cNvPr id="5" name="Content Placeholder 4">
            <a:extLst>
              <a:ext uri="{FF2B5EF4-FFF2-40B4-BE49-F238E27FC236}">
                <a16:creationId xmlns:a16="http://schemas.microsoft.com/office/drawing/2014/main" id="{138B1597-106A-04C2-D4F3-56AF47715976}"/>
              </a:ext>
            </a:extLst>
          </p:cNvPr>
          <p:cNvSpPr>
            <a:spLocks noGrp="1"/>
          </p:cNvSpPr>
          <p:nvPr>
            <p:ph sz="quarter" idx="10"/>
          </p:nvPr>
        </p:nvSpPr>
        <p:spPr>
          <a:xfrm>
            <a:off x="4689792" y="3498395"/>
            <a:ext cx="6378575" cy="2285956"/>
          </a:xfrm>
        </p:spPr>
        <p:txBody>
          <a:bodyPr/>
          <a:lstStyle/>
          <a:p>
            <a:pPr marL="457200" indent="-457200" algn="l">
              <a:buFont typeface="Arial" panose="020B0604020202020204" pitchFamily="34" charset="0"/>
              <a:buChar char="•"/>
            </a:pPr>
            <a:r>
              <a:rPr lang="en-US" dirty="0"/>
              <a:t>Interrogating frequency claims</a:t>
            </a:r>
          </a:p>
          <a:p>
            <a:pPr marL="457200" indent="-457200" algn="l">
              <a:buFont typeface="Arial" panose="020B0604020202020204" pitchFamily="34" charset="0"/>
              <a:buChar char="•"/>
            </a:pPr>
            <a:r>
              <a:rPr lang="en-US" dirty="0"/>
              <a:t>Interrogating association claims</a:t>
            </a:r>
          </a:p>
          <a:p>
            <a:pPr marL="457200" indent="-457200" algn="l">
              <a:buFont typeface="Arial" panose="020B0604020202020204" pitchFamily="34" charset="0"/>
              <a:buChar char="•"/>
            </a:pPr>
            <a:r>
              <a:rPr lang="en-US" dirty="0"/>
              <a:t>Interrogating causal claims</a:t>
            </a:r>
          </a:p>
          <a:p>
            <a:pPr marL="457200" indent="-457200" algn="l">
              <a:buFont typeface="Arial" panose="020B0604020202020204" pitchFamily="34" charset="0"/>
              <a:buChar char="•"/>
            </a:pPr>
            <a:r>
              <a:rPr lang="en-US" dirty="0"/>
              <a:t>Prioritizing validities </a:t>
            </a:r>
          </a:p>
        </p:txBody>
      </p:sp>
    </p:spTree>
    <p:extLst>
      <p:ext uri="{BB962C8B-B14F-4D97-AF65-F5344CB8AC3E}">
        <p14:creationId xmlns:p14="http://schemas.microsoft.com/office/powerpoint/2010/main" val="1602886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49E91F-2EEC-AC40-558B-AA4F0616EEDD}"/>
              </a:ext>
            </a:extLst>
          </p:cNvPr>
          <p:cNvSpPr>
            <a:spLocks noGrp="1"/>
          </p:cNvSpPr>
          <p:nvPr>
            <p:ph type="title"/>
          </p:nvPr>
        </p:nvSpPr>
        <p:spPr/>
        <p:txBody>
          <a:bodyPr/>
          <a:lstStyle/>
          <a:p>
            <a:r>
              <a:rPr lang="en-US" dirty="0"/>
              <a:t>Interrogating Frequency Claims</a:t>
            </a:r>
          </a:p>
        </p:txBody>
      </p:sp>
      <p:graphicFrame>
        <p:nvGraphicFramePr>
          <p:cNvPr id="4" name="Content Placeholder 2">
            <a:extLst>
              <a:ext uri="{FF2B5EF4-FFF2-40B4-BE49-F238E27FC236}">
                <a16:creationId xmlns:a16="http://schemas.microsoft.com/office/drawing/2014/main" id="{D26A8AB6-B99F-B3DE-4BB7-D9E52F41A30E}"/>
              </a:ext>
            </a:extLst>
          </p:cNvPr>
          <p:cNvGraphicFramePr>
            <a:graphicFrameLocks noGrp="1"/>
          </p:cNvGraphicFramePr>
          <p:nvPr>
            <p:ph idx="1"/>
            <p:extLst>
              <p:ext uri="{D42A27DB-BD31-4B8C-83A1-F6EECF244321}">
                <p14:modId xmlns:p14="http://schemas.microsoft.com/office/powerpoint/2010/main" val="3337341227"/>
              </p:ext>
            </p:extLst>
          </p:nvPr>
        </p:nvGraphicFramePr>
        <p:xfrm>
          <a:off x="1250950" y="1905856"/>
          <a:ext cx="10179050" cy="3594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712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2CAE0-B38F-3435-1D87-CB21BCAC463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BE38BE-B2A1-4793-0428-E833604AE204}"/>
              </a:ext>
            </a:extLst>
          </p:cNvPr>
          <p:cNvSpPr>
            <a:spLocks noGrp="1"/>
          </p:cNvSpPr>
          <p:nvPr>
            <p:ph type="title"/>
          </p:nvPr>
        </p:nvSpPr>
        <p:spPr/>
        <p:txBody>
          <a:bodyPr/>
          <a:lstStyle/>
          <a:p>
            <a:r>
              <a:rPr lang="en-US" dirty="0"/>
              <a:t>Interrogating Association Claims</a:t>
            </a:r>
          </a:p>
        </p:txBody>
      </p:sp>
      <p:graphicFrame>
        <p:nvGraphicFramePr>
          <p:cNvPr id="4" name="Content Placeholder 2">
            <a:extLst>
              <a:ext uri="{FF2B5EF4-FFF2-40B4-BE49-F238E27FC236}">
                <a16:creationId xmlns:a16="http://schemas.microsoft.com/office/drawing/2014/main" id="{85154DAC-C191-2AEF-2B14-BF4A64F87ED7}"/>
              </a:ext>
            </a:extLst>
          </p:cNvPr>
          <p:cNvGraphicFramePr>
            <a:graphicFrameLocks noGrp="1"/>
          </p:cNvGraphicFramePr>
          <p:nvPr>
            <p:ph idx="1"/>
            <p:extLst>
              <p:ext uri="{D42A27DB-BD31-4B8C-83A1-F6EECF244321}">
                <p14:modId xmlns:p14="http://schemas.microsoft.com/office/powerpoint/2010/main" val="4182035313"/>
              </p:ext>
            </p:extLst>
          </p:nvPr>
        </p:nvGraphicFramePr>
        <p:xfrm>
          <a:off x="1250950" y="1905856"/>
          <a:ext cx="10179050" cy="3594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80239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29EC0-D16B-DE43-4B06-B0C1957CCC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D7FEE14-3479-890B-5ED6-E1F9870EAA54}"/>
              </a:ext>
            </a:extLst>
          </p:cNvPr>
          <p:cNvSpPr>
            <a:spLocks noGrp="1"/>
          </p:cNvSpPr>
          <p:nvPr>
            <p:ph type="title"/>
          </p:nvPr>
        </p:nvSpPr>
        <p:spPr/>
        <p:txBody>
          <a:bodyPr/>
          <a:lstStyle/>
          <a:p>
            <a:r>
              <a:rPr lang="en-US" dirty="0"/>
              <a:t>Interrogating Causal Claims</a:t>
            </a:r>
          </a:p>
        </p:txBody>
      </p:sp>
      <p:graphicFrame>
        <p:nvGraphicFramePr>
          <p:cNvPr id="4" name="Content Placeholder 2">
            <a:extLst>
              <a:ext uri="{FF2B5EF4-FFF2-40B4-BE49-F238E27FC236}">
                <a16:creationId xmlns:a16="http://schemas.microsoft.com/office/drawing/2014/main" id="{DFB0B05C-82E4-785C-533C-0177AA588F8E}"/>
              </a:ext>
            </a:extLst>
          </p:cNvPr>
          <p:cNvGraphicFramePr>
            <a:graphicFrameLocks noGrp="1"/>
          </p:cNvGraphicFramePr>
          <p:nvPr>
            <p:ph idx="1"/>
            <p:extLst>
              <p:ext uri="{D42A27DB-BD31-4B8C-83A1-F6EECF244321}">
                <p14:modId xmlns:p14="http://schemas.microsoft.com/office/powerpoint/2010/main" val="285302815"/>
              </p:ext>
            </p:extLst>
          </p:nvPr>
        </p:nvGraphicFramePr>
        <p:xfrm>
          <a:off x="1250950" y="1905856"/>
          <a:ext cx="10179050" cy="3594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48120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BEE034-B1CC-93C4-7798-57761DEE6D64}"/>
              </a:ext>
            </a:extLst>
          </p:cNvPr>
          <p:cNvSpPr>
            <a:spLocks noGrp="1"/>
          </p:cNvSpPr>
          <p:nvPr>
            <p:ph type="title"/>
          </p:nvPr>
        </p:nvSpPr>
        <p:spPr/>
        <p:txBody>
          <a:bodyPr/>
          <a:lstStyle/>
          <a:p>
            <a:r>
              <a:rPr lang="en-US" dirty="0"/>
              <a:t>Causal Criteria</a:t>
            </a:r>
          </a:p>
        </p:txBody>
      </p:sp>
      <p:pic>
        <p:nvPicPr>
          <p:cNvPr id="7" name="Picture 6" descr="A table titled, Three Criteria for Establishing Causation Between Variable A and Variable B. Detailed table information is available in the accessible content.">
            <a:extLst>
              <a:ext uri="{FF2B5EF4-FFF2-40B4-BE49-F238E27FC236}">
                <a16:creationId xmlns:a16="http://schemas.microsoft.com/office/drawing/2014/main" id="{B3610DCB-B266-D653-DD7C-0B2924417503}"/>
              </a:ext>
            </a:extLst>
          </p:cNvPr>
          <p:cNvPicPr>
            <a:picLocks noChangeAspect="1"/>
          </p:cNvPicPr>
          <p:nvPr/>
        </p:nvPicPr>
        <p:blipFill>
          <a:blip r:embed="rId3"/>
          <a:stretch>
            <a:fillRect/>
          </a:stretch>
        </p:blipFill>
        <p:spPr>
          <a:xfrm>
            <a:off x="3107371" y="1300513"/>
            <a:ext cx="6396225" cy="4908281"/>
          </a:xfrm>
          <a:prstGeom prst="rect">
            <a:avLst/>
          </a:prstGeom>
        </p:spPr>
      </p:pic>
    </p:spTree>
    <p:extLst>
      <p:ext uri="{BB962C8B-B14F-4D97-AF65-F5344CB8AC3E}">
        <p14:creationId xmlns:p14="http://schemas.microsoft.com/office/powerpoint/2010/main" val="4840017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07224C9-6A75-A296-5E64-44269D5EB6F0}"/>
              </a:ext>
            </a:extLst>
          </p:cNvPr>
          <p:cNvSpPr>
            <a:spLocks noGrp="1"/>
          </p:cNvSpPr>
          <p:nvPr>
            <p:ph type="body" sz="quarter" idx="108"/>
          </p:nvPr>
        </p:nvSpPr>
        <p:spPr/>
        <p:txBody>
          <a:bodyPr/>
          <a:lstStyle/>
          <a:p>
            <a:r>
              <a:rPr lang="en-US" dirty="0"/>
              <a:t>In order to support a causal claim, a researcher needs to conduct an </a:t>
            </a:r>
            <a:r>
              <a:rPr lang="en-US" b="1" i="1" dirty="0"/>
              <a:t>experiment</a:t>
            </a:r>
            <a:r>
              <a:rPr lang="en-US" dirty="0"/>
              <a:t> in which one variable is manipulated and the other is measured.</a:t>
            </a:r>
          </a:p>
          <a:p>
            <a:r>
              <a:rPr lang="en-US" dirty="0"/>
              <a:t>Example experiment: does music improve cognitive ability?</a:t>
            </a:r>
          </a:p>
          <a:p>
            <a:r>
              <a:rPr lang="en-US" b="1" dirty="0"/>
              <a:t>Independent variable</a:t>
            </a:r>
            <a:r>
              <a:rPr lang="en-US" dirty="0"/>
              <a:t> – manipulated or variable (cause) in an experiment </a:t>
            </a:r>
          </a:p>
          <a:p>
            <a:pPr lvl="1"/>
            <a:r>
              <a:rPr lang="en-US" dirty="0"/>
              <a:t>Ex: type of lessons; four levels: keyboard, voice, drama, no lessons</a:t>
            </a:r>
          </a:p>
          <a:p>
            <a:r>
              <a:rPr lang="en-US" b="1" dirty="0"/>
              <a:t>Dependent variable</a:t>
            </a:r>
            <a:r>
              <a:rPr lang="en-US" dirty="0"/>
              <a:t> – measured variable (effect) in an experiment </a:t>
            </a:r>
          </a:p>
          <a:p>
            <a:pPr lvl="1"/>
            <a:r>
              <a:rPr lang="en-US" dirty="0"/>
              <a:t>Ex: IQ</a:t>
            </a:r>
          </a:p>
          <a:p>
            <a:r>
              <a:rPr lang="en-US" b="1" dirty="0"/>
              <a:t>Random assignment</a:t>
            </a:r>
            <a:r>
              <a:rPr lang="en-US" dirty="0"/>
              <a:t> – a method of assigning participants to levels of the independent variable such that each group is as similar as possible</a:t>
            </a:r>
          </a:p>
          <a:p>
            <a:pPr lvl="1"/>
            <a:r>
              <a:rPr lang="en-US" dirty="0"/>
              <a:t>Example methods: random number generator, flipping a coin, rolling a die</a:t>
            </a:r>
          </a:p>
          <a:p>
            <a:pPr lvl="1"/>
            <a:r>
              <a:rPr lang="en-US" dirty="0"/>
              <a:t>increases internal validity by controlling for potential alternative explanations </a:t>
            </a:r>
          </a:p>
          <a:p>
            <a:endParaRPr lang="en-US" dirty="0"/>
          </a:p>
        </p:txBody>
      </p:sp>
      <p:sp>
        <p:nvSpPr>
          <p:cNvPr id="3" name="Title 2">
            <a:extLst>
              <a:ext uri="{FF2B5EF4-FFF2-40B4-BE49-F238E27FC236}">
                <a16:creationId xmlns:a16="http://schemas.microsoft.com/office/drawing/2014/main" id="{EBC1B633-62F4-ACE5-D6A6-EA0F4BBFCE10}"/>
              </a:ext>
            </a:extLst>
          </p:cNvPr>
          <p:cNvSpPr>
            <a:spLocks noGrp="1"/>
          </p:cNvSpPr>
          <p:nvPr>
            <p:ph type="title"/>
          </p:nvPr>
        </p:nvSpPr>
        <p:spPr/>
        <p:txBody>
          <a:bodyPr/>
          <a:lstStyle/>
          <a:p>
            <a:r>
              <a:rPr lang="en-US" dirty="0"/>
              <a:t>Experiments Support Causal Claims</a:t>
            </a:r>
          </a:p>
        </p:txBody>
      </p:sp>
    </p:spTree>
    <p:extLst>
      <p:ext uri="{BB962C8B-B14F-4D97-AF65-F5344CB8AC3E}">
        <p14:creationId xmlns:p14="http://schemas.microsoft.com/office/powerpoint/2010/main" val="35298356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D400C3-094B-10EB-8394-96B08484716E}"/>
              </a:ext>
            </a:extLst>
          </p:cNvPr>
          <p:cNvSpPr>
            <a:spLocks noGrp="1"/>
          </p:cNvSpPr>
          <p:nvPr>
            <p:ph type="title"/>
          </p:nvPr>
        </p:nvSpPr>
        <p:spPr/>
        <p:txBody>
          <a:bodyPr/>
          <a:lstStyle/>
          <a:p>
            <a:r>
              <a:rPr lang="en-US" dirty="0"/>
              <a:t>Warning!</a:t>
            </a:r>
          </a:p>
        </p:txBody>
      </p:sp>
      <p:sp>
        <p:nvSpPr>
          <p:cNvPr id="5" name="Content Placeholder 4">
            <a:extLst>
              <a:ext uri="{FF2B5EF4-FFF2-40B4-BE49-F238E27FC236}">
                <a16:creationId xmlns:a16="http://schemas.microsoft.com/office/drawing/2014/main" id="{39BBD3DA-97E6-5636-8FDD-DE19ED136775}"/>
              </a:ext>
            </a:extLst>
          </p:cNvPr>
          <p:cNvSpPr>
            <a:spLocks noGrp="1"/>
          </p:cNvSpPr>
          <p:nvPr>
            <p:ph sz="quarter" idx="10"/>
          </p:nvPr>
        </p:nvSpPr>
        <p:spPr/>
        <p:txBody>
          <a:bodyPr/>
          <a:lstStyle/>
          <a:p>
            <a:r>
              <a:rPr lang="en-US" dirty="0"/>
              <a:t>Not all studies support causal claims! </a:t>
            </a:r>
            <a:br>
              <a:rPr lang="en-US" dirty="0"/>
            </a:br>
            <a:r>
              <a:rPr lang="en-US" dirty="0"/>
              <a:t>(This is an area journalism can go awry)</a:t>
            </a:r>
          </a:p>
        </p:txBody>
      </p:sp>
    </p:spTree>
    <p:extLst>
      <p:ext uri="{BB962C8B-B14F-4D97-AF65-F5344CB8AC3E}">
        <p14:creationId xmlns:p14="http://schemas.microsoft.com/office/powerpoint/2010/main" val="159438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DDC5781-0723-2885-8EC7-BD53B510D5D3}"/>
              </a:ext>
            </a:extLst>
          </p:cNvPr>
          <p:cNvSpPr>
            <a:spLocks noGrp="1"/>
          </p:cNvSpPr>
          <p:nvPr>
            <p:ph type="body" sz="quarter" idx="108"/>
          </p:nvPr>
        </p:nvSpPr>
        <p:spPr/>
        <p:txBody>
          <a:bodyPr/>
          <a:lstStyle/>
          <a:p>
            <a:r>
              <a:rPr lang="en-US" dirty="0"/>
              <a:t>Study Measures:</a:t>
            </a:r>
          </a:p>
          <a:p>
            <a:pPr lvl="1"/>
            <a:r>
              <a:rPr lang="en-US" dirty="0"/>
              <a:t>Number of meals had as a family</a:t>
            </a:r>
          </a:p>
          <a:p>
            <a:pPr lvl="1"/>
            <a:r>
              <a:rPr lang="en-US" dirty="0"/>
              <a:t>If the teen girl had an eating disorder or not</a:t>
            </a:r>
          </a:p>
          <a:p>
            <a:endParaRPr lang="en-US" dirty="0"/>
          </a:p>
          <a:p>
            <a:r>
              <a:rPr lang="en-US" dirty="0"/>
              <a:t>Results:</a:t>
            </a:r>
          </a:p>
          <a:p>
            <a:pPr lvl="1"/>
            <a:r>
              <a:rPr lang="en-US" dirty="0"/>
              <a:t>Of the teen girls who ate with their families more often (&gt;5 times/ week), 17% had eating disorders </a:t>
            </a:r>
          </a:p>
          <a:p>
            <a:pPr lvl="1"/>
            <a:r>
              <a:rPr lang="en-US" dirty="0"/>
              <a:t>Of the teen girls who ate with their families less often (&lt;5 times/ week), 26% had eating disorders</a:t>
            </a:r>
          </a:p>
          <a:p>
            <a:endParaRPr lang="en-US" dirty="0"/>
          </a:p>
          <a:p>
            <a:endParaRPr lang="en-US" dirty="0"/>
          </a:p>
          <a:p>
            <a:endParaRPr lang="en-US" dirty="0"/>
          </a:p>
        </p:txBody>
      </p:sp>
      <p:sp>
        <p:nvSpPr>
          <p:cNvPr id="4" name="Title 3">
            <a:extLst>
              <a:ext uri="{FF2B5EF4-FFF2-40B4-BE49-F238E27FC236}">
                <a16:creationId xmlns:a16="http://schemas.microsoft.com/office/drawing/2014/main" id="{03F66948-70FF-22EB-6102-75B506DC73AD}"/>
              </a:ext>
            </a:extLst>
          </p:cNvPr>
          <p:cNvSpPr>
            <a:spLocks noGrp="1"/>
          </p:cNvSpPr>
          <p:nvPr>
            <p:ph type="title"/>
          </p:nvPr>
        </p:nvSpPr>
        <p:spPr/>
        <p:txBody>
          <a:bodyPr/>
          <a:lstStyle/>
          <a:p>
            <a:r>
              <a:rPr lang="en-US" dirty="0"/>
              <a:t>Scenario</a:t>
            </a:r>
          </a:p>
        </p:txBody>
      </p:sp>
    </p:spTree>
    <p:extLst>
      <p:ext uri="{BB962C8B-B14F-4D97-AF65-F5344CB8AC3E}">
        <p14:creationId xmlns:p14="http://schemas.microsoft.com/office/powerpoint/2010/main" val="37744693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D87051-ABC5-AECA-37FD-6FA0B8F0F9E5}"/>
              </a:ext>
            </a:extLst>
          </p:cNvPr>
          <p:cNvSpPr>
            <a:spLocks noGrp="1"/>
          </p:cNvSpPr>
          <p:nvPr>
            <p:ph type="body" sz="quarter" idx="108"/>
          </p:nvPr>
        </p:nvSpPr>
        <p:spPr/>
        <p:txBody>
          <a:bodyPr/>
          <a:lstStyle/>
          <a:p>
            <a:r>
              <a:rPr lang="en-US" dirty="0"/>
              <a:t>Ex: Do family meals really curb eating disorders in teen girls?</a:t>
            </a:r>
          </a:p>
          <a:p>
            <a:endParaRPr lang="en-US" dirty="0"/>
          </a:p>
          <a:p>
            <a:r>
              <a:rPr lang="en-US" dirty="0"/>
              <a:t>Covariance criteria met?</a:t>
            </a:r>
          </a:p>
          <a:p>
            <a:endParaRPr lang="en-US" dirty="0"/>
          </a:p>
          <a:p>
            <a:endParaRPr lang="en-US" dirty="0"/>
          </a:p>
          <a:p>
            <a:r>
              <a:rPr lang="en-US" dirty="0"/>
              <a:t>Temporal precedence met?</a:t>
            </a:r>
          </a:p>
          <a:p>
            <a:endParaRPr lang="en-US" dirty="0"/>
          </a:p>
          <a:p>
            <a:endParaRPr lang="en-US" dirty="0"/>
          </a:p>
          <a:p>
            <a:r>
              <a:rPr lang="en-US" dirty="0"/>
              <a:t>Internal validity?</a:t>
            </a:r>
          </a:p>
        </p:txBody>
      </p:sp>
      <p:sp>
        <p:nvSpPr>
          <p:cNvPr id="3" name="Title 2">
            <a:extLst>
              <a:ext uri="{FF2B5EF4-FFF2-40B4-BE49-F238E27FC236}">
                <a16:creationId xmlns:a16="http://schemas.microsoft.com/office/drawing/2014/main" id="{C9B1A799-F745-95B3-F49C-19E51FC8EAA0}"/>
              </a:ext>
            </a:extLst>
          </p:cNvPr>
          <p:cNvSpPr>
            <a:spLocks noGrp="1"/>
          </p:cNvSpPr>
          <p:nvPr>
            <p:ph type="title"/>
          </p:nvPr>
        </p:nvSpPr>
        <p:spPr/>
        <p:txBody>
          <a:bodyPr/>
          <a:lstStyle/>
          <a:p>
            <a:r>
              <a:rPr lang="en-US" dirty="0"/>
              <a:t>Causal Claim Mistakes</a:t>
            </a:r>
          </a:p>
        </p:txBody>
      </p:sp>
      <p:sp>
        <p:nvSpPr>
          <p:cNvPr id="4" name="Text Placeholder 1">
            <a:extLst>
              <a:ext uri="{FF2B5EF4-FFF2-40B4-BE49-F238E27FC236}">
                <a16:creationId xmlns:a16="http://schemas.microsoft.com/office/drawing/2014/main" id="{BC6F9ACC-E792-4C4A-2BFD-DA35B671BA6C}"/>
              </a:ext>
            </a:extLst>
          </p:cNvPr>
          <p:cNvSpPr txBox="1">
            <a:spLocks/>
          </p:cNvSpPr>
          <p:nvPr/>
        </p:nvSpPr>
        <p:spPr>
          <a:xfrm>
            <a:off x="1244687" y="2539225"/>
            <a:ext cx="9570411" cy="774190"/>
          </a:xfrm>
          <a:prstGeom prst="rect">
            <a:avLst/>
          </a:prstGeom>
        </p:spPr>
        <p:txBody>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Yes, there is an association between family meals and eating disorders. </a:t>
            </a:r>
          </a:p>
        </p:txBody>
      </p:sp>
      <p:sp>
        <p:nvSpPr>
          <p:cNvPr id="6" name="Text Placeholder 1">
            <a:extLst>
              <a:ext uri="{FF2B5EF4-FFF2-40B4-BE49-F238E27FC236}">
                <a16:creationId xmlns:a16="http://schemas.microsoft.com/office/drawing/2014/main" id="{68B0D361-A943-6FC3-9916-5718C9943113}"/>
              </a:ext>
            </a:extLst>
          </p:cNvPr>
          <p:cNvSpPr txBox="1">
            <a:spLocks/>
          </p:cNvSpPr>
          <p:nvPr/>
        </p:nvSpPr>
        <p:spPr>
          <a:xfrm>
            <a:off x="1244688" y="3838082"/>
            <a:ext cx="9570411" cy="774190"/>
          </a:xfrm>
          <a:prstGeom prst="rect">
            <a:avLst/>
          </a:prstGeom>
        </p:spPr>
        <p:txBody>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Did the family meals increase </a:t>
            </a:r>
            <a:r>
              <a:rPr lang="en-US" i="1" dirty="0"/>
              <a:t>before</a:t>
            </a:r>
            <a:r>
              <a:rPr lang="en-US" dirty="0"/>
              <a:t> the eating disorders decreased? It’s not clear. </a:t>
            </a:r>
          </a:p>
        </p:txBody>
      </p:sp>
      <p:sp>
        <p:nvSpPr>
          <p:cNvPr id="8" name="Text Placeholder 1">
            <a:extLst>
              <a:ext uri="{FF2B5EF4-FFF2-40B4-BE49-F238E27FC236}">
                <a16:creationId xmlns:a16="http://schemas.microsoft.com/office/drawing/2014/main" id="{23B05F37-7501-B30F-4712-4BA10477B0D3}"/>
              </a:ext>
            </a:extLst>
          </p:cNvPr>
          <p:cNvSpPr txBox="1">
            <a:spLocks/>
          </p:cNvSpPr>
          <p:nvPr/>
        </p:nvSpPr>
        <p:spPr>
          <a:xfrm>
            <a:off x="1244686" y="5154950"/>
            <a:ext cx="9570411" cy="774190"/>
          </a:xfrm>
          <a:prstGeom prst="rect">
            <a:avLst/>
          </a:prstGeom>
        </p:spPr>
        <p:txBody>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No. We can’t rule out third-variable explanations without an experiment.  </a:t>
            </a:r>
          </a:p>
        </p:txBody>
      </p:sp>
    </p:spTree>
    <p:extLst>
      <p:ext uri="{BB962C8B-B14F-4D97-AF65-F5344CB8AC3E}">
        <p14:creationId xmlns:p14="http://schemas.microsoft.com/office/powerpoint/2010/main" val="2955503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DFC9FCD-BAF2-01B4-F150-A85136DF2E67}"/>
              </a:ext>
            </a:extLst>
          </p:cNvPr>
          <p:cNvSpPr>
            <a:spLocks noGrp="1"/>
          </p:cNvSpPr>
          <p:nvPr>
            <p:ph type="body" sz="quarter" idx="108"/>
          </p:nvPr>
        </p:nvSpPr>
        <p:spPr/>
        <p:txBody>
          <a:bodyPr/>
          <a:lstStyle/>
          <a:p>
            <a:r>
              <a:rPr lang="en-US" dirty="0"/>
              <a:t>We have been emphasizing internal validity because it is only important when interrogating causal claims. However, we still need to consider the three other types of validity:</a:t>
            </a:r>
          </a:p>
          <a:p>
            <a:pPr lvl="1"/>
            <a:r>
              <a:rPr lang="en-US" dirty="0"/>
              <a:t>Construct validity</a:t>
            </a:r>
          </a:p>
          <a:p>
            <a:pPr lvl="1"/>
            <a:r>
              <a:rPr lang="en-US" dirty="0"/>
              <a:t>External validity</a:t>
            </a:r>
          </a:p>
          <a:p>
            <a:pPr lvl="1"/>
            <a:r>
              <a:rPr lang="en-US" dirty="0"/>
              <a:t>Statistical validity</a:t>
            </a:r>
          </a:p>
          <a:p>
            <a:endParaRPr lang="en-US" dirty="0"/>
          </a:p>
        </p:txBody>
      </p:sp>
      <p:sp>
        <p:nvSpPr>
          <p:cNvPr id="4" name="Title 3">
            <a:extLst>
              <a:ext uri="{FF2B5EF4-FFF2-40B4-BE49-F238E27FC236}">
                <a16:creationId xmlns:a16="http://schemas.microsoft.com/office/drawing/2014/main" id="{390236FC-6D7A-F49F-DB5C-BA4FC83C7466}"/>
              </a:ext>
            </a:extLst>
          </p:cNvPr>
          <p:cNvSpPr>
            <a:spLocks noGrp="1"/>
          </p:cNvSpPr>
          <p:nvPr>
            <p:ph type="title"/>
          </p:nvPr>
        </p:nvSpPr>
        <p:spPr/>
        <p:txBody>
          <a:bodyPr/>
          <a:lstStyle/>
          <a:p>
            <a:r>
              <a:rPr lang="en-US" dirty="0"/>
              <a:t>Interrogating Causal Claims</a:t>
            </a:r>
          </a:p>
        </p:txBody>
      </p:sp>
    </p:spTree>
    <p:extLst>
      <p:ext uri="{BB962C8B-B14F-4D97-AF65-F5344CB8AC3E}">
        <p14:creationId xmlns:p14="http://schemas.microsoft.com/office/powerpoint/2010/main" val="3924308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D011B1-841E-F8F5-039B-0840AC78437E}"/>
              </a:ext>
            </a:extLst>
          </p:cNvPr>
          <p:cNvSpPr>
            <a:spLocks noGrp="1"/>
          </p:cNvSpPr>
          <p:nvPr>
            <p:ph type="body" sz="quarter" idx="108"/>
          </p:nvPr>
        </p:nvSpPr>
        <p:spPr/>
        <p:txBody>
          <a:bodyPr/>
          <a:lstStyle/>
          <a:p>
            <a:r>
              <a:rPr lang="en-US" dirty="0"/>
              <a:t>Which of the four validities is most important? </a:t>
            </a:r>
          </a:p>
          <a:p>
            <a:r>
              <a:rPr lang="en-US" dirty="0"/>
              <a:t>It depends on the study and the claims made</a:t>
            </a:r>
          </a:p>
          <a:p>
            <a:pPr lvl="1"/>
            <a:r>
              <a:rPr lang="en-US" dirty="0"/>
              <a:t>Example: Internal validity is typically a top priority when making causal claims but not when making frequency or association claims. </a:t>
            </a:r>
          </a:p>
          <a:p>
            <a:endParaRPr lang="en-US" dirty="0"/>
          </a:p>
        </p:txBody>
      </p:sp>
      <p:sp>
        <p:nvSpPr>
          <p:cNvPr id="3" name="Title 2">
            <a:extLst>
              <a:ext uri="{FF2B5EF4-FFF2-40B4-BE49-F238E27FC236}">
                <a16:creationId xmlns:a16="http://schemas.microsoft.com/office/drawing/2014/main" id="{04E94F08-F613-4BC4-F5BA-BCEA3F514466}"/>
              </a:ext>
            </a:extLst>
          </p:cNvPr>
          <p:cNvSpPr>
            <a:spLocks noGrp="1"/>
          </p:cNvSpPr>
          <p:nvPr>
            <p:ph type="title"/>
          </p:nvPr>
        </p:nvSpPr>
        <p:spPr/>
        <p:txBody>
          <a:bodyPr/>
          <a:lstStyle/>
          <a:p>
            <a:r>
              <a:rPr lang="en-US" dirty="0"/>
              <a:t>Prioritizing Validities</a:t>
            </a:r>
          </a:p>
        </p:txBody>
      </p:sp>
    </p:spTree>
    <p:extLst>
      <p:ext uri="{BB962C8B-B14F-4D97-AF65-F5344CB8AC3E}">
        <p14:creationId xmlns:p14="http://schemas.microsoft.com/office/powerpoint/2010/main" val="619495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earch Methods PowerPoint Template" id="{686830E0-B0B3-4EA3-80EF-56D80DF1C852}" vid="{A74170DD-4976-48CF-B0A5-4C379B0B47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a7cd2ac-fcc1-473f-afe1-3dcd267d5ab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245B5271EE2142B482725BAA8B1869" ma:contentTypeVersion="10" ma:contentTypeDescription="Create a new document." ma:contentTypeScope="" ma:versionID="f1cfe03f77ad3ae8d1e620901e874987">
  <xsd:schema xmlns:xsd="http://www.w3.org/2001/XMLSchema" xmlns:xs="http://www.w3.org/2001/XMLSchema" xmlns:p="http://schemas.microsoft.com/office/2006/metadata/properties" xmlns:ns3="aa7cd2ac-fcc1-473f-afe1-3dcd267d5ab1" targetNamespace="http://schemas.microsoft.com/office/2006/metadata/properties" ma:root="true" ma:fieldsID="e14f2987a2decab48755e31a12e153b6" ns3:_="">
    <xsd:import namespace="aa7cd2ac-fcc1-473f-afe1-3dcd267d5ab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cd2ac-fcc1-473f-afe1-3dcd267d5ab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606FE1-1CE5-4690-93E4-B98A3E3FB743}">
  <ds:schemaRefs>
    <ds:schemaRef ds:uri="http://schemas.microsoft.com/sharepoint/v3/contenttype/forms"/>
  </ds:schemaRefs>
</ds:datastoreItem>
</file>

<file path=customXml/itemProps2.xml><?xml version="1.0" encoding="utf-8"?>
<ds:datastoreItem xmlns:ds="http://schemas.openxmlformats.org/officeDocument/2006/customXml" ds:itemID="{F2B576E7-7FD4-410C-B7E5-05F5AABCB4D9}">
  <ds:schemaRefs>
    <ds:schemaRef ds:uri="http://purl.org/dc/elements/1.1/"/>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terms/"/>
    <ds:schemaRef ds:uri="aa7cd2ac-fcc1-473f-afe1-3dcd267d5ab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DA1EECEA-41B6-4122-BFA0-9250238934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cd2ac-fcc1-473f-afe1-3dcd267d5a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Research Methods PowerPoint Template</Template>
  <TotalTime>736</TotalTime>
  <Words>1373</Words>
  <Application>Microsoft Office PowerPoint</Application>
  <PresentationFormat>Widescreen</PresentationFormat>
  <Paragraphs>178</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Aptos</vt:lpstr>
      <vt:lpstr>Aptos Display</vt:lpstr>
      <vt:lpstr>Arial</vt:lpstr>
      <vt:lpstr>Britannic Bold</vt:lpstr>
      <vt:lpstr>Office Theme</vt:lpstr>
      <vt:lpstr>Chapter 3</vt:lpstr>
      <vt:lpstr>Agenda</vt:lpstr>
      <vt:lpstr>Variables</vt:lpstr>
      <vt:lpstr>Variables</vt:lpstr>
      <vt:lpstr>Variables</vt:lpstr>
      <vt:lpstr>Defining Variables</vt:lpstr>
      <vt:lpstr>Defining Variables</vt:lpstr>
      <vt:lpstr>Three Claims</vt:lpstr>
      <vt:lpstr>Frequency Claims</vt:lpstr>
      <vt:lpstr>Association Claim</vt:lpstr>
      <vt:lpstr>Books Read and Vocabulary Scores</vt:lpstr>
      <vt:lpstr>Caffeine Consumption &amp; Hours of Sleep</vt:lpstr>
      <vt:lpstr>Siblings and Chores</vt:lpstr>
      <vt:lpstr>Making Predictions Based on Associations</vt:lpstr>
      <vt:lpstr>Causal Claims</vt:lpstr>
      <vt:lpstr>Causal Claim Examples</vt:lpstr>
      <vt:lpstr>Watch Your Language!</vt:lpstr>
      <vt:lpstr>Not All Claims Are Based on Research</vt:lpstr>
      <vt:lpstr>Four Types of Validity</vt:lpstr>
      <vt:lpstr>Construct Validity</vt:lpstr>
      <vt:lpstr>Statistical Validity</vt:lpstr>
      <vt:lpstr>Internal Validity</vt:lpstr>
      <vt:lpstr>External Validity</vt:lpstr>
      <vt:lpstr>Interrogating the Three Claims Using the Four Big Validities</vt:lpstr>
      <vt:lpstr>Interrogating Frequency Claims</vt:lpstr>
      <vt:lpstr>Interrogating Association Claims</vt:lpstr>
      <vt:lpstr>Interrogating Causal Claims</vt:lpstr>
      <vt:lpstr>Causal Criteria</vt:lpstr>
      <vt:lpstr>Experiments Support Causal Claims</vt:lpstr>
      <vt:lpstr>Warning!</vt:lpstr>
      <vt:lpstr>Scenario</vt:lpstr>
      <vt:lpstr>Causal Claim Mistakes</vt:lpstr>
      <vt:lpstr>Interrogating Causal Claims</vt:lpstr>
      <vt:lpstr>Prioritizing Validities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Research Methods teaching template</dc:subject>
  <dc:creator>Bryanna Scheuler</dc:creator>
  <cp:lastModifiedBy>Bryanna Scheuler</cp:lastModifiedBy>
  <cp:revision>11</cp:revision>
  <dcterms:created xsi:type="dcterms:W3CDTF">2026-08-20T19:50:46Z</dcterms:created>
  <dcterms:modified xsi:type="dcterms:W3CDTF">2026-09-04T02:10:02Z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0x01010058245B5271EE2142B482725BAA8B1869</vt:lpwstr>
  </property>
</Properties>
</file>