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307" r:id="rId6"/>
    <p:sldId id="259" r:id="rId7"/>
    <p:sldId id="309" r:id="rId8"/>
    <p:sldId id="382" r:id="rId9"/>
    <p:sldId id="383" r:id="rId10"/>
    <p:sldId id="384" r:id="rId11"/>
    <p:sldId id="385" r:id="rId12"/>
    <p:sldId id="387" r:id="rId13"/>
    <p:sldId id="386" r:id="rId14"/>
    <p:sldId id="388" r:id="rId15"/>
    <p:sldId id="389" r:id="rId16"/>
    <p:sldId id="390" r:id="rId17"/>
    <p:sldId id="391" r:id="rId18"/>
    <p:sldId id="394" r:id="rId19"/>
    <p:sldId id="395" r:id="rId20"/>
    <p:sldId id="396" r:id="rId21"/>
    <p:sldId id="398" r:id="rId22"/>
    <p:sldId id="397" r:id="rId23"/>
    <p:sldId id="399" r:id="rId24"/>
    <p:sldId id="400" r:id="rId25"/>
    <p:sldId id="401" r:id="rId26"/>
    <p:sldId id="402" r:id="rId27"/>
    <p:sldId id="403" r:id="rId28"/>
    <p:sldId id="393" r:id="rId29"/>
    <p:sldId id="281" r:id="rId30"/>
    <p:sldId id="282" r:id="rId31"/>
    <p:sldId id="283" r:id="rId32"/>
    <p:sldId id="404" r:id="rId33"/>
    <p:sldId id="405" r:id="rId34"/>
    <p:sldId id="261"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64780" autoAdjust="0"/>
  </p:normalViewPr>
  <p:slideViewPr>
    <p:cSldViewPr snapToGrid="0" snapToObjects="1">
      <p:cViewPr varScale="1">
        <p:scale>
          <a:sx n="70" d="100"/>
          <a:sy n="70" d="100"/>
        </p:scale>
        <p:origin x="3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927739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975360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88101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63990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839950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440843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51167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542813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430248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02935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523259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931672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266050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2142130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19191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151111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048465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5753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524434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8737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2318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123208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99254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5543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0419967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03" name="Google Shape;203;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04" name="Google Shape;204;p70: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13291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13" name="Google Shape;213;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14" name="Google Shape;214;p71: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47397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23" name="Google Shape;223;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224" name="Google Shape;224;p72:notes"/>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13360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514350" lvl="0" indent="-285750" algn="l" rtl="0">
              <a:lnSpc>
                <a:spcPct val="100000"/>
              </a:lnSpc>
              <a:spcBef>
                <a:spcPts val="0"/>
              </a:spcBef>
              <a:spcAft>
                <a:spcPts val="0"/>
              </a:spcAft>
              <a:buSzPts val="1400"/>
              <a:buFont typeface="Arial"/>
              <a:buChar char="•"/>
            </a:pPr>
            <a:endParaRPr lang="en-US" dirty="0"/>
          </a:p>
        </p:txBody>
      </p:sp>
    </p:spTree>
    <p:extLst>
      <p:ext uri="{BB962C8B-B14F-4D97-AF65-F5344CB8AC3E}">
        <p14:creationId xmlns:p14="http://schemas.microsoft.com/office/powerpoint/2010/main" val="3180011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211008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0120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32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64618B05-C18C-4A3D-9DA2-FBF373BE54C4}"/>
              </a:ext>
            </a:extLst>
          </p:cNvPr>
          <p:cNvSpPr>
            <a:spLocks noGrp="1"/>
          </p:cNvSpPr>
          <p:nvPr>
            <p:ph type="body" sz="quarter" idx="12"/>
          </p:nvPr>
        </p:nvSpPr>
        <p:spPr>
          <a:xfrm>
            <a:off x="3987800" y="6673850"/>
            <a:ext cx="7315200" cy="160338"/>
          </a:xfrm>
        </p:spPr>
        <p:txBody>
          <a:bodyPr>
            <a:noAutofit/>
          </a:bodyPr>
          <a:lstStyle>
            <a:lvl1pPr algn="r">
              <a:defRPr sz="800"/>
            </a:lvl1pPr>
          </a:lstStyle>
          <a:p>
            <a:pPr lvl="0"/>
            <a:r>
              <a:rPr lang="en-US"/>
              <a:t>Click to edit Master text styles</a:t>
            </a:r>
          </a:p>
        </p:txBody>
      </p:sp>
      <p:sp>
        <p:nvSpPr>
          <p:cNvPr id="10" name="Text Placeholder 9">
            <a:extLst>
              <a:ext uri="{FF2B5EF4-FFF2-40B4-BE49-F238E27FC236}">
                <a16:creationId xmlns:a16="http://schemas.microsoft.com/office/drawing/2014/main" id="{7B7177C8-4702-4D0B-A3DF-D9A2B23B19AB}"/>
              </a:ext>
            </a:extLst>
          </p:cNvPr>
          <p:cNvSpPr>
            <a:spLocks noGrp="1"/>
          </p:cNvSpPr>
          <p:nvPr>
            <p:ph type="body" sz="quarter" idx="13"/>
          </p:nvPr>
        </p:nvSpPr>
        <p:spPr>
          <a:xfrm>
            <a:off x="3927475" y="6348414"/>
            <a:ext cx="4337051" cy="193675"/>
          </a:xfrm>
        </p:spPr>
        <p:txBody>
          <a:bodyPr anchor="ctr">
            <a:noAutofit/>
          </a:bodyPr>
          <a:lstStyle>
            <a:lvl1pPr algn="ctr">
              <a:defRPr sz="900"/>
            </a:lvl1pPr>
          </a:lstStyle>
          <a:p>
            <a:pPr lvl="0"/>
            <a:r>
              <a:rPr lang="en-US"/>
              <a:t>Click to edit Master text styles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16F4155F-77C3-4412-81E5-2AD0BD7DA5C1}" type="slidenum">
              <a:rPr lang="en-US" smtClean="0"/>
              <a:t>‹#›</a:t>
            </a:fld>
            <a:endParaRPr lang="en-US"/>
          </a:p>
        </p:txBody>
      </p:sp>
    </p:spTree>
    <p:extLst>
      <p:ext uri="{BB962C8B-B14F-4D97-AF65-F5344CB8AC3E}">
        <p14:creationId xmlns:p14="http://schemas.microsoft.com/office/powerpoint/2010/main" val="182150586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521D7EE-3C93-41FB-A39B-E7EF2453623E}" type="datetimeFigureOut">
              <a:rPr lang="en-US" smtClean="0"/>
              <a:t>9/24/2026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6F4155F-77C3-4412-81E5-2AD0BD7DA5C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033758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1568449" y="915988"/>
            <a:ext cx="9065683" cy="13033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1568449" y="2490788"/>
            <a:ext cx="9065683" cy="3444875"/>
          </a:xfrm>
          <a:prstGeom prst="rect">
            <a:avLst/>
          </a:prstGeom>
          <a:noFill/>
          <a:ln>
            <a:noFill/>
          </a:ln>
        </p:spPr>
        <p:txBody>
          <a:bodyPr spcFirstLastPara="1" wrap="square" lIns="91425" tIns="45700" rIns="91425" bIns="45700" anchor="t" anchorCtr="0">
            <a:no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2" name="Google Shape;42;p30"/>
          <p:cNvSpPr txBox="1">
            <a:spLocks noGrp="1"/>
          </p:cNvSpPr>
          <p:nvPr>
            <p:ph type="dt" idx="10"/>
          </p:nvPr>
        </p:nvSpPr>
        <p:spPr>
          <a:xfrm>
            <a:off x="8475133" y="5961062"/>
            <a:ext cx="1532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latin typeface="Garamond"/>
                <a:ea typeface="Garamond"/>
                <a:cs typeface="Garamond"/>
                <a:sym typeface="Garamo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1568449" y="5961062"/>
            <a:ext cx="68072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10107084" y="5961062"/>
            <a:ext cx="527049"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12774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 id="2147483660" r:id="rId10"/>
    <p:sldLayoutId id="2147483662" r:id="rId11"/>
    <p:sldLayoutId id="2147483663"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5</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Identifying Good Measurement</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CEFCDD-7672-8590-7B7B-38DF8E75ED5B}"/>
              </a:ext>
            </a:extLst>
          </p:cNvPr>
          <p:cNvSpPr>
            <a:spLocks noGrp="1"/>
          </p:cNvSpPr>
          <p:nvPr>
            <p:ph type="title"/>
          </p:nvPr>
        </p:nvSpPr>
        <p:spPr/>
        <p:txBody>
          <a:bodyPr/>
          <a:lstStyle/>
          <a:p>
            <a:r>
              <a:rPr lang="en-US" dirty="0"/>
              <a:t>Reminders</a:t>
            </a:r>
          </a:p>
        </p:txBody>
      </p:sp>
      <p:sp>
        <p:nvSpPr>
          <p:cNvPr id="5" name="Text Placeholder 4">
            <a:extLst>
              <a:ext uri="{FF2B5EF4-FFF2-40B4-BE49-F238E27FC236}">
                <a16:creationId xmlns:a16="http://schemas.microsoft.com/office/drawing/2014/main" id="{BE98EC41-D184-D865-D790-B7042169F5C2}"/>
              </a:ext>
            </a:extLst>
          </p:cNvPr>
          <p:cNvSpPr>
            <a:spLocks noGrp="1"/>
          </p:cNvSpPr>
          <p:nvPr>
            <p:ph type="body" sz="quarter" idx="106"/>
          </p:nvPr>
        </p:nvSpPr>
        <p:spPr>
          <a:xfrm>
            <a:off x="5525477" y="1542779"/>
            <a:ext cx="5721643" cy="4654550"/>
          </a:xfrm>
        </p:spPr>
        <p:txBody>
          <a:bodyPr/>
          <a:lstStyle/>
          <a:p>
            <a:r>
              <a:rPr lang="en-US" dirty="0"/>
              <a:t>Chapter 5 Assignments due September 30</a:t>
            </a:r>
            <a:r>
              <a:rPr lang="en-US" baseline="30000" dirty="0"/>
              <a:t>th</a:t>
            </a:r>
            <a:r>
              <a:rPr lang="en-US" dirty="0"/>
              <a:t> at 11:59 pm</a:t>
            </a:r>
          </a:p>
          <a:p>
            <a:pPr lvl="1"/>
            <a:r>
              <a:rPr lang="en-US" dirty="0" err="1"/>
              <a:t>Ebook</a:t>
            </a:r>
            <a:r>
              <a:rPr lang="en-US" dirty="0"/>
              <a:t>: Chapter 5</a:t>
            </a:r>
          </a:p>
          <a:p>
            <a:pPr lvl="1"/>
            <a:r>
              <a:rPr lang="en-US" dirty="0"/>
              <a:t>InQuizitive: Chapter 5</a:t>
            </a:r>
          </a:p>
          <a:p>
            <a:pPr lvl="1"/>
            <a:endParaRPr lang="en-US" dirty="0"/>
          </a:p>
        </p:txBody>
      </p:sp>
    </p:spTree>
    <p:extLst>
      <p:ext uri="{BB962C8B-B14F-4D97-AF65-F5344CB8AC3E}">
        <p14:creationId xmlns:p14="http://schemas.microsoft.com/office/powerpoint/2010/main" val="103522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155474" y="1542779"/>
            <a:ext cx="6296297" cy="4654550"/>
          </a:xfrm>
        </p:spPr>
        <p:txBody>
          <a:bodyPr/>
          <a:lstStyle/>
          <a:p>
            <a:r>
              <a:rPr lang="en-US" dirty="0"/>
              <a:t>Ways to Measure Variables</a:t>
            </a:r>
          </a:p>
          <a:p>
            <a:r>
              <a:rPr lang="en-US" dirty="0"/>
              <a:t>Reliability</a:t>
            </a:r>
          </a:p>
          <a:p>
            <a:r>
              <a:rPr lang="en-US" dirty="0"/>
              <a:t>Validity</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p:txBody>
          <a:bodyPr/>
          <a:lstStyle/>
          <a:p>
            <a:r>
              <a:rPr lang="en-US" dirty="0"/>
              <a:t>Ways to Measure Variables</a:t>
            </a:r>
          </a:p>
        </p:txBody>
      </p:sp>
      <p:sp>
        <p:nvSpPr>
          <p:cNvPr id="2" name="Content Placeholder 1">
            <a:extLst>
              <a:ext uri="{FF2B5EF4-FFF2-40B4-BE49-F238E27FC236}">
                <a16:creationId xmlns:a16="http://schemas.microsoft.com/office/drawing/2014/main" id="{2D21EA8C-4BCE-8C6F-39C3-F58F7065828C}"/>
              </a:ext>
            </a:extLst>
          </p:cNvPr>
          <p:cNvSpPr>
            <a:spLocks noGrp="1"/>
          </p:cNvSpPr>
          <p:nvPr>
            <p:ph sz="quarter" idx="10"/>
          </p:nvPr>
        </p:nvSpPr>
        <p:spPr/>
        <p:txBody>
          <a:bodyPr/>
          <a:lstStyle/>
          <a:p>
            <a:pPr marL="457200" indent="-457200" algn="l">
              <a:buFont typeface="Arial" panose="020B0604020202020204" pitchFamily="34" charset="0"/>
              <a:buChar char="•"/>
            </a:pPr>
            <a:r>
              <a:rPr lang="en-US" dirty="0"/>
              <a:t>Conceptual and Operational Definitions</a:t>
            </a:r>
          </a:p>
          <a:p>
            <a:pPr marL="457200" indent="-457200" algn="l">
              <a:buFont typeface="Arial" panose="020B0604020202020204" pitchFamily="34" charset="0"/>
              <a:buChar char="•"/>
            </a:pPr>
            <a:r>
              <a:rPr lang="en-US" dirty="0"/>
              <a:t>Common Types of Measurement</a:t>
            </a:r>
          </a:p>
          <a:p>
            <a:pPr marL="457200" indent="-457200" algn="l">
              <a:buFont typeface="Arial" panose="020B0604020202020204" pitchFamily="34" charset="0"/>
              <a:buChar char="•"/>
            </a:pPr>
            <a:r>
              <a:rPr lang="en-US" dirty="0"/>
              <a:t>Scales of Measurement</a:t>
            </a:r>
          </a:p>
        </p:txBody>
      </p:sp>
    </p:spTree>
    <p:extLst>
      <p:ext uri="{BB962C8B-B14F-4D97-AF65-F5344CB8AC3E}">
        <p14:creationId xmlns:p14="http://schemas.microsoft.com/office/powerpoint/2010/main" val="257979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EC34A6-C69E-A8F9-DDE5-E62299AE89A9}"/>
              </a:ext>
            </a:extLst>
          </p:cNvPr>
          <p:cNvSpPr>
            <a:spLocks noGrp="1"/>
          </p:cNvSpPr>
          <p:nvPr>
            <p:ph type="title"/>
          </p:nvPr>
        </p:nvSpPr>
        <p:spPr>
          <a:xfrm>
            <a:off x="838200" y="365126"/>
            <a:ext cx="10099766" cy="801824"/>
          </a:xfrm>
        </p:spPr>
        <p:txBody>
          <a:bodyPr/>
          <a:lstStyle/>
          <a:p>
            <a:r>
              <a:rPr lang="en-US" dirty="0"/>
              <a:t>Conceptual and Operational Definitions Review</a:t>
            </a:r>
          </a:p>
        </p:txBody>
      </p:sp>
      <p:pic>
        <p:nvPicPr>
          <p:cNvPr id="6" name="Picture 5" descr="A table titled, Variables and Operational Definitions. Detailed table information is available in the accessible content.">
            <a:extLst>
              <a:ext uri="{FF2B5EF4-FFF2-40B4-BE49-F238E27FC236}">
                <a16:creationId xmlns:a16="http://schemas.microsoft.com/office/drawing/2014/main" id="{1EDD60D0-80FD-A28E-954B-6B8F3BA6FF64}"/>
              </a:ext>
            </a:extLst>
          </p:cNvPr>
          <p:cNvPicPr>
            <a:picLocks noChangeAspect="1"/>
          </p:cNvPicPr>
          <p:nvPr/>
        </p:nvPicPr>
        <p:blipFill>
          <a:blip r:embed="rId3"/>
          <a:stretch>
            <a:fillRect/>
          </a:stretch>
        </p:blipFill>
        <p:spPr>
          <a:xfrm>
            <a:off x="1795909" y="1488927"/>
            <a:ext cx="8600182" cy="4601098"/>
          </a:xfrm>
          <a:prstGeom prst="rect">
            <a:avLst/>
          </a:prstGeom>
          <a:noFill/>
        </p:spPr>
      </p:pic>
    </p:spTree>
    <p:extLst>
      <p:ext uri="{BB962C8B-B14F-4D97-AF65-F5344CB8AC3E}">
        <p14:creationId xmlns:p14="http://schemas.microsoft.com/office/powerpoint/2010/main" val="298997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966D54-92BC-C4EF-9AA9-EFB7445FDE6C}"/>
              </a:ext>
            </a:extLst>
          </p:cNvPr>
          <p:cNvSpPr>
            <a:spLocks noGrp="1"/>
          </p:cNvSpPr>
          <p:nvPr>
            <p:ph type="body" sz="quarter" idx="108"/>
          </p:nvPr>
        </p:nvSpPr>
        <p:spPr/>
        <p:txBody>
          <a:bodyPr/>
          <a:lstStyle/>
          <a:p>
            <a:pPr marL="457200" indent="-457200">
              <a:buAutoNum type="arabicPeriod"/>
            </a:pPr>
            <a:r>
              <a:rPr lang="en-US" dirty="0"/>
              <a:t>Self-report measures</a:t>
            </a:r>
          </a:p>
          <a:p>
            <a:pPr marL="457200" indent="-457200">
              <a:buAutoNum type="arabicPeriod"/>
            </a:pPr>
            <a:r>
              <a:rPr lang="en-US" dirty="0"/>
              <a:t>Observational measures</a:t>
            </a:r>
          </a:p>
          <a:p>
            <a:pPr marL="457200" indent="-457200">
              <a:buAutoNum type="arabicPeriod"/>
            </a:pPr>
            <a:r>
              <a:rPr lang="en-US" dirty="0"/>
              <a:t>Physiological measures</a:t>
            </a:r>
          </a:p>
        </p:txBody>
      </p:sp>
      <p:sp>
        <p:nvSpPr>
          <p:cNvPr id="3" name="Title 2">
            <a:extLst>
              <a:ext uri="{FF2B5EF4-FFF2-40B4-BE49-F238E27FC236}">
                <a16:creationId xmlns:a16="http://schemas.microsoft.com/office/drawing/2014/main" id="{AFBB72C8-2219-C906-6624-B163A822C49E}"/>
              </a:ext>
            </a:extLst>
          </p:cNvPr>
          <p:cNvSpPr>
            <a:spLocks noGrp="1"/>
          </p:cNvSpPr>
          <p:nvPr>
            <p:ph type="title"/>
          </p:nvPr>
        </p:nvSpPr>
        <p:spPr/>
        <p:txBody>
          <a:bodyPr/>
          <a:lstStyle/>
          <a:p>
            <a:r>
              <a:rPr lang="en-US" dirty="0"/>
              <a:t>Three Common Types of Measures</a:t>
            </a:r>
          </a:p>
        </p:txBody>
      </p:sp>
      <p:pic>
        <p:nvPicPr>
          <p:cNvPr id="5" name="Image 0" descr="Eight f M R I images of the brain showing the contrast between win responses and loss responses while people played rock, paper and scissors. More regions are lit when a person wins than when a person loses.">
            <a:extLst>
              <a:ext uri="{FF2B5EF4-FFF2-40B4-BE49-F238E27FC236}">
                <a16:creationId xmlns:a16="http://schemas.microsoft.com/office/drawing/2014/main" id="{CDCB802A-D653-6E68-A695-E62BA20E64A4}"/>
              </a:ext>
            </a:extLst>
          </p:cNvPr>
          <p:cNvPicPr>
            <a:picLocks noChangeAspect="1"/>
          </p:cNvPicPr>
          <p:nvPr/>
        </p:nvPicPr>
        <p:blipFill>
          <a:blip r:embed="rId3"/>
          <a:stretch/>
        </p:blipFill>
        <p:spPr>
          <a:xfrm>
            <a:off x="5795171" y="1859280"/>
            <a:ext cx="5181984" cy="2565082"/>
          </a:xfrm>
          <a:prstGeom prst="rect">
            <a:avLst/>
          </a:prstGeom>
          <a:noFill/>
        </p:spPr>
      </p:pic>
    </p:spTree>
    <p:extLst>
      <p:ext uri="{BB962C8B-B14F-4D97-AF65-F5344CB8AC3E}">
        <p14:creationId xmlns:p14="http://schemas.microsoft.com/office/powerpoint/2010/main" val="2699283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1CDEE3-D971-0AC6-E96A-610D1F8FED22}"/>
              </a:ext>
            </a:extLst>
          </p:cNvPr>
          <p:cNvSpPr>
            <a:spLocks noGrp="1"/>
          </p:cNvSpPr>
          <p:nvPr>
            <p:ph type="title"/>
          </p:nvPr>
        </p:nvSpPr>
        <p:spPr/>
        <p:txBody>
          <a:bodyPr/>
          <a:lstStyle/>
          <a:p>
            <a:r>
              <a:rPr lang="en-US" dirty="0"/>
              <a:t>Talk It Out: </a:t>
            </a:r>
            <a:br>
              <a:rPr lang="en-US" dirty="0"/>
            </a:br>
            <a:r>
              <a:rPr lang="en-US" dirty="0"/>
              <a:t>Measuring Stress</a:t>
            </a:r>
          </a:p>
        </p:txBody>
      </p:sp>
      <p:sp>
        <p:nvSpPr>
          <p:cNvPr id="6" name="Content Placeholder 1">
            <a:extLst>
              <a:ext uri="{FF2B5EF4-FFF2-40B4-BE49-F238E27FC236}">
                <a16:creationId xmlns:a16="http://schemas.microsoft.com/office/drawing/2014/main" id="{0CCDAB08-7F1C-EE23-ED23-FF0869194233}"/>
              </a:ext>
            </a:extLst>
          </p:cNvPr>
          <p:cNvSpPr>
            <a:spLocks noGrp="1"/>
          </p:cNvSpPr>
          <p:nvPr>
            <p:ph sz="quarter" idx="10"/>
          </p:nvPr>
        </p:nvSpPr>
        <p:spPr>
          <a:xfrm>
            <a:off x="3100252" y="3498395"/>
            <a:ext cx="7968116" cy="2353765"/>
          </a:xfrm>
        </p:spPr>
        <p:txBody>
          <a:bodyPr/>
          <a:lstStyle/>
          <a:p>
            <a:pPr marL="457200" indent="-457200" algn="l">
              <a:buFont typeface="Arial" panose="020B0604020202020204" pitchFamily="34" charset="0"/>
              <a:buChar char="•"/>
            </a:pPr>
            <a:r>
              <a:rPr lang="en-US" dirty="0"/>
              <a:t>How could we conceptually define stress?</a:t>
            </a:r>
          </a:p>
          <a:p>
            <a:pPr marL="457200" indent="-457200" algn="l">
              <a:buFont typeface="Arial" panose="020B0604020202020204" pitchFamily="34" charset="0"/>
              <a:buChar char="•"/>
            </a:pPr>
            <a:r>
              <a:rPr lang="en-US" dirty="0"/>
              <a:t>What might a self-report measure look like?</a:t>
            </a:r>
          </a:p>
          <a:p>
            <a:pPr marL="457200" indent="-457200" algn="l">
              <a:buFont typeface="Arial" panose="020B0604020202020204" pitchFamily="34" charset="0"/>
              <a:buChar char="•"/>
            </a:pPr>
            <a:r>
              <a:rPr lang="en-US" dirty="0"/>
              <a:t>What might an observational measure look like?</a:t>
            </a:r>
          </a:p>
          <a:p>
            <a:pPr marL="457200" indent="-457200" algn="l">
              <a:buFont typeface="Arial" panose="020B0604020202020204" pitchFamily="34" charset="0"/>
              <a:buChar char="•"/>
            </a:pPr>
            <a:r>
              <a:rPr lang="en-US" dirty="0"/>
              <a:t>What might a physiological measure look like?</a:t>
            </a:r>
          </a:p>
        </p:txBody>
      </p:sp>
    </p:spTree>
    <p:extLst>
      <p:ext uri="{BB962C8B-B14F-4D97-AF65-F5344CB8AC3E}">
        <p14:creationId xmlns:p14="http://schemas.microsoft.com/office/powerpoint/2010/main" val="381612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22B9CC-EC97-991B-414A-7565079E3FE9}"/>
              </a:ext>
            </a:extLst>
          </p:cNvPr>
          <p:cNvSpPr>
            <a:spLocks noGrp="1"/>
          </p:cNvSpPr>
          <p:nvPr>
            <p:ph type="title"/>
          </p:nvPr>
        </p:nvSpPr>
        <p:spPr/>
        <p:txBody>
          <a:bodyPr/>
          <a:lstStyle/>
          <a:p>
            <a:r>
              <a:rPr lang="en-US" dirty="0"/>
              <a:t>Scales of Measurement</a:t>
            </a:r>
          </a:p>
        </p:txBody>
      </p:sp>
      <p:pic>
        <p:nvPicPr>
          <p:cNvPr id="7" name="Picture 6">
            <a:extLst>
              <a:ext uri="{FF2B5EF4-FFF2-40B4-BE49-F238E27FC236}">
                <a16:creationId xmlns:a16="http://schemas.microsoft.com/office/drawing/2014/main" id="{0221CD3E-BBA7-8C49-54DE-1A0B4A00004D}"/>
              </a:ext>
            </a:extLst>
          </p:cNvPr>
          <p:cNvPicPr>
            <a:picLocks noChangeAspect="1"/>
          </p:cNvPicPr>
          <p:nvPr/>
        </p:nvPicPr>
        <p:blipFill>
          <a:blip r:embed="rId3"/>
          <a:stretch>
            <a:fillRect/>
          </a:stretch>
        </p:blipFill>
        <p:spPr>
          <a:xfrm>
            <a:off x="838200" y="1670964"/>
            <a:ext cx="10089754" cy="4243184"/>
          </a:xfrm>
          <a:prstGeom prst="rect">
            <a:avLst/>
          </a:prstGeom>
        </p:spPr>
      </p:pic>
    </p:spTree>
    <p:extLst>
      <p:ext uri="{BB962C8B-B14F-4D97-AF65-F5344CB8AC3E}">
        <p14:creationId xmlns:p14="http://schemas.microsoft.com/office/powerpoint/2010/main" val="1726356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BFC1-5FB2-21A9-B26C-BF655847D0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068040-7A89-68AD-C359-1570C78FBE33}"/>
              </a:ext>
            </a:extLst>
          </p:cNvPr>
          <p:cNvSpPr>
            <a:spLocks noGrp="1"/>
          </p:cNvSpPr>
          <p:nvPr>
            <p:ph type="title"/>
          </p:nvPr>
        </p:nvSpPr>
        <p:spPr/>
        <p:txBody>
          <a:bodyPr/>
          <a:lstStyle/>
          <a:p>
            <a:r>
              <a:rPr lang="en-US" dirty="0"/>
              <a:t>Reliability</a:t>
            </a:r>
          </a:p>
        </p:txBody>
      </p:sp>
      <p:sp>
        <p:nvSpPr>
          <p:cNvPr id="2" name="Content Placeholder 1">
            <a:extLst>
              <a:ext uri="{FF2B5EF4-FFF2-40B4-BE49-F238E27FC236}">
                <a16:creationId xmlns:a16="http://schemas.microsoft.com/office/drawing/2014/main" id="{DBCEB0EE-DB66-6090-4703-D737BD3A8B57}"/>
              </a:ext>
            </a:extLst>
          </p:cNvPr>
          <p:cNvSpPr>
            <a:spLocks noGrp="1"/>
          </p:cNvSpPr>
          <p:nvPr>
            <p:ph sz="quarter" idx="10"/>
          </p:nvPr>
        </p:nvSpPr>
        <p:spPr>
          <a:xfrm>
            <a:off x="6654188" y="3215166"/>
            <a:ext cx="4502314" cy="2282275"/>
          </a:xfrm>
        </p:spPr>
        <p:txBody>
          <a:bodyPr/>
          <a:lstStyle/>
          <a:p>
            <a:pPr marL="457200" indent="-457200" algn="l">
              <a:buFont typeface="Arial" panose="020B0604020202020204" pitchFamily="34" charset="0"/>
              <a:buChar char="•"/>
            </a:pPr>
            <a:r>
              <a:rPr lang="en-US" dirty="0"/>
              <a:t>Reliability vs validity</a:t>
            </a:r>
          </a:p>
          <a:p>
            <a:pPr marL="457200" indent="-457200" algn="l">
              <a:buFont typeface="Arial" panose="020B0604020202020204" pitchFamily="34" charset="0"/>
              <a:buChar char="•"/>
            </a:pPr>
            <a:r>
              <a:rPr lang="en-US" dirty="0"/>
              <a:t>Test-retest reliability</a:t>
            </a:r>
          </a:p>
          <a:p>
            <a:pPr marL="457200" indent="-457200" algn="l">
              <a:buFont typeface="Arial" panose="020B0604020202020204" pitchFamily="34" charset="0"/>
              <a:buChar char="•"/>
            </a:pPr>
            <a:r>
              <a:rPr lang="en-US" dirty="0"/>
              <a:t>Interrater reliability</a:t>
            </a:r>
          </a:p>
          <a:p>
            <a:pPr marL="457200" indent="-457200" algn="l">
              <a:buFont typeface="Arial" panose="020B0604020202020204" pitchFamily="34" charset="0"/>
              <a:buChar char="•"/>
            </a:pPr>
            <a:r>
              <a:rPr lang="en-US" dirty="0"/>
              <a:t>Internal reliability</a:t>
            </a:r>
          </a:p>
        </p:txBody>
      </p:sp>
    </p:spTree>
    <p:extLst>
      <p:ext uri="{BB962C8B-B14F-4D97-AF65-F5344CB8AC3E}">
        <p14:creationId xmlns:p14="http://schemas.microsoft.com/office/powerpoint/2010/main" val="4223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2E5CB2-62A4-9125-2607-E70C161C575F}"/>
              </a:ext>
            </a:extLst>
          </p:cNvPr>
          <p:cNvSpPr>
            <a:spLocks noGrp="1"/>
          </p:cNvSpPr>
          <p:nvPr>
            <p:ph type="body" sz="quarter" idx="108"/>
          </p:nvPr>
        </p:nvSpPr>
        <p:spPr/>
        <p:txBody>
          <a:bodyPr/>
          <a:lstStyle/>
          <a:p>
            <a:r>
              <a:rPr lang="en-US" b="1" dirty="0"/>
              <a:t>Reliability</a:t>
            </a:r>
            <a:r>
              <a:rPr lang="en-US" dirty="0"/>
              <a:t> – how consistent the results of a measure are</a:t>
            </a:r>
          </a:p>
          <a:p>
            <a:r>
              <a:rPr lang="en-US" b="1" dirty="0"/>
              <a:t>Validity</a:t>
            </a:r>
            <a:r>
              <a:rPr lang="en-US" dirty="0"/>
              <a:t> – whether it’s actually measuring the construct it’s supposed to measure</a:t>
            </a:r>
          </a:p>
          <a:p>
            <a:endParaRPr lang="en-US" dirty="0"/>
          </a:p>
        </p:txBody>
      </p:sp>
      <p:sp>
        <p:nvSpPr>
          <p:cNvPr id="3" name="Title 2">
            <a:extLst>
              <a:ext uri="{FF2B5EF4-FFF2-40B4-BE49-F238E27FC236}">
                <a16:creationId xmlns:a16="http://schemas.microsoft.com/office/drawing/2014/main" id="{2A71DD0F-5671-A10B-289F-86F57F02F1FB}"/>
              </a:ext>
            </a:extLst>
          </p:cNvPr>
          <p:cNvSpPr>
            <a:spLocks noGrp="1"/>
          </p:cNvSpPr>
          <p:nvPr>
            <p:ph type="title"/>
          </p:nvPr>
        </p:nvSpPr>
        <p:spPr/>
        <p:txBody>
          <a:bodyPr/>
          <a:lstStyle/>
          <a:p>
            <a:r>
              <a:rPr lang="en-US" dirty="0"/>
              <a:t>Reliability vs. Validity</a:t>
            </a:r>
          </a:p>
        </p:txBody>
      </p:sp>
      <p:pic>
        <p:nvPicPr>
          <p:cNvPr id="5" name="Picture 2" descr="This figure shows possible combinations of validity and reliability. Each 'target' contains a bullseye, which represents the real value of the measured property. A measure is reliable if repeated measures (×) fall within the same small area on the target. A measure is valid if repeated measures are clustered around the bulls-eye. A measure is more accurate the closer the x's are to the bulls-eye. a Shows an unreliable and also invalid measure. b Shows an unreliable but valid measure. c Shows a reliable but invalid measure. d Shows a measure that is both valid and reliable. Unreliable measures are either not valid (a) or inaccurate (b). However, reliable measures are not always valid (C)">
            <a:extLst>
              <a:ext uri="{FF2B5EF4-FFF2-40B4-BE49-F238E27FC236}">
                <a16:creationId xmlns:a16="http://schemas.microsoft.com/office/drawing/2014/main" id="{5555697A-1720-E0B3-817F-64D4AD0B1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5888" y="2635970"/>
            <a:ext cx="5379242" cy="3676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45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F25389-A2EE-257A-BE9F-1B802ECD2171}"/>
              </a:ext>
            </a:extLst>
          </p:cNvPr>
          <p:cNvSpPr>
            <a:spLocks noGrp="1"/>
          </p:cNvSpPr>
          <p:nvPr>
            <p:ph type="body" sz="quarter" idx="108"/>
          </p:nvPr>
        </p:nvSpPr>
        <p:spPr/>
        <p:txBody>
          <a:bodyPr/>
          <a:lstStyle/>
          <a:p>
            <a:r>
              <a:rPr lang="en-US" b="1" dirty="0"/>
              <a:t>Test-retest reliability</a:t>
            </a:r>
            <a:r>
              <a:rPr lang="en-US" dirty="0"/>
              <a:t> – consistent scores every time the measure is used (temporal stability)</a:t>
            </a:r>
          </a:p>
          <a:p>
            <a:r>
              <a:rPr lang="en-US" dirty="0"/>
              <a:t>Typically assessed with scatterplots and the correlation coefficient (</a:t>
            </a:r>
            <a:r>
              <a:rPr lang="en-US" i="1" dirty="0"/>
              <a:t>r</a:t>
            </a:r>
            <a:r>
              <a:rPr lang="en-US" dirty="0"/>
              <a:t>)</a:t>
            </a:r>
          </a:p>
          <a:p>
            <a:r>
              <a:rPr lang="en-US" dirty="0"/>
              <a:t>A reliable test will have a strong correlation between a participant’s value at Time 1 and at Time 2</a:t>
            </a:r>
          </a:p>
          <a:p>
            <a:r>
              <a:rPr lang="en-US" dirty="0"/>
              <a:t>Most common measure for correlation: Pearson’s </a:t>
            </a:r>
            <a:r>
              <a:rPr lang="en-US" i="1" dirty="0"/>
              <a:t>r</a:t>
            </a:r>
            <a:endParaRPr lang="en-US" dirty="0"/>
          </a:p>
          <a:p>
            <a:pPr lvl="1"/>
            <a:r>
              <a:rPr lang="en-US" dirty="0"/>
              <a:t>The sign (+/-) tells you the direction of the relationship (positive, negative, or zero)</a:t>
            </a:r>
          </a:p>
          <a:p>
            <a:pPr lvl="1"/>
            <a:r>
              <a:rPr lang="en-US" dirty="0"/>
              <a:t>The absolute value tells you the strength of the relationship. The general rule of thumb:</a:t>
            </a:r>
          </a:p>
          <a:p>
            <a:pPr lvl="2"/>
            <a:r>
              <a:rPr lang="en-US" dirty="0"/>
              <a:t>0.1 - 0.29= small (weak) correlation</a:t>
            </a:r>
          </a:p>
          <a:p>
            <a:pPr lvl="2"/>
            <a:r>
              <a:rPr lang="en-US" dirty="0"/>
              <a:t>0.3 – 0.49 = medium (moderate) correlation</a:t>
            </a:r>
          </a:p>
          <a:p>
            <a:pPr lvl="2"/>
            <a:r>
              <a:rPr lang="en-US" dirty="0"/>
              <a:t>Greater than 0.5 = large (strong) correlation</a:t>
            </a:r>
          </a:p>
          <a:p>
            <a:pPr lvl="1"/>
            <a:endParaRPr lang="en-US" dirty="0"/>
          </a:p>
          <a:p>
            <a:endParaRPr lang="en-US" dirty="0"/>
          </a:p>
        </p:txBody>
      </p:sp>
      <p:sp>
        <p:nvSpPr>
          <p:cNvPr id="3" name="Title 2">
            <a:extLst>
              <a:ext uri="{FF2B5EF4-FFF2-40B4-BE49-F238E27FC236}">
                <a16:creationId xmlns:a16="http://schemas.microsoft.com/office/drawing/2014/main" id="{322C9228-4C20-7BC5-2949-FE283919520C}"/>
              </a:ext>
            </a:extLst>
          </p:cNvPr>
          <p:cNvSpPr>
            <a:spLocks noGrp="1"/>
          </p:cNvSpPr>
          <p:nvPr>
            <p:ph type="title"/>
          </p:nvPr>
        </p:nvSpPr>
        <p:spPr/>
        <p:txBody>
          <a:bodyPr/>
          <a:lstStyle/>
          <a:p>
            <a:r>
              <a:rPr lang="en-US" dirty="0"/>
              <a:t>Test-Retest Reliability</a:t>
            </a:r>
          </a:p>
        </p:txBody>
      </p:sp>
    </p:spTree>
    <p:extLst>
      <p:ext uri="{BB962C8B-B14F-4D97-AF65-F5344CB8AC3E}">
        <p14:creationId xmlns:p14="http://schemas.microsoft.com/office/powerpoint/2010/main" val="882697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8ACD2-F5AF-CDED-0A9C-F6D0ED23AAAA}"/>
              </a:ext>
            </a:extLst>
          </p:cNvPr>
          <p:cNvSpPr>
            <a:spLocks noGrp="1"/>
          </p:cNvSpPr>
          <p:nvPr>
            <p:ph type="title"/>
          </p:nvPr>
        </p:nvSpPr>
        <p:spPr/>
        <p:txBody>
          <a:bodyPr/>
          <a:lstStyle/>
          <a:p>
            <a:r>
              <a:rPr lang="en-US" dirty="0"/>
              <a:t>Test-Retest Reliability</a:t>
            </a:r>
          </a:p>
        </p:txBody>
      </p:sp>
      <p:pic>
        <p:nvPicPr>
          <p:cNvPr id="5" name="Picture 4" descr="Two scatterplots. In the first, the x axis is Score on B F I extroversion scale at Time 1 and the y axis is Score on B F I extroversion scale at Time 2, two months later. The pattern of points is in a consistent positive slope. In the second scatterplot, the x axis is Allergy symptom severity at Time 1 (April) and the y axis is Allergy symptom severity at Time 2 (August). The pattern of points shows no significant correlation.">
            <a:extLst>
              <a:ext uri="{FF2B5EF4-FFF2-40B4-BE49-F238E27FC236}">
                <a16:creationId xmlns:a16="http://schemas.microsoft.com/office/drawing/2014/main" id="{3C03C191-2481-5FDA-D898-5DC057695BAE}"/>
              </a:ext>
            </a:extLst>
          </p:cNvPr>
          <p:cNvPicPr>
            <a:picLocks noChangeAspect="1"/>
          </p:cNvPicPr>
          <p:nvPr/>
        </p:nvPicPr>
        <p:blipFill>
          <a:blip r:embed="rId3"/>
          <a:stretch>
            <a:fillRect/>
          </a:stretch>
        </p:blipFill>
        <p:spPr>
          <a:xfrm>
            <a:off x="1281821" y="1755649"/>
            <a:ext cx="8965095" cy="4123944"/>
          </a:xfrm>
          <a:prstGeom prst="rect">
            <a:avLst/>
          </a:prstGeom>
          <a:noFill/>
        </p:spPr>
      </p:pic>
    </p:spTree>
    <p:extLst>
      <p:ext uri="{BB962C8B-B14F-4D97-AF65-F5344CB8AC3E}">
        <p14:creationId xmlns:p14="http://schemas.microsoft.com/office/powerpoint/2010/main" val="242263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F35D01-14EF-F21A-9992-0210AC57A066}"/>
              </a:ext>
            </a:extLst>
          </p:cNvPr>
          <p:cNvSpPr>
            <a:spLocks noGrp="1"/>
          </p:cNvSpPr>
          <p:nvPr>
            <p:ph type="body" sz="quarter" idx="108"/>
          </p:nvPr>
        </p:nvSpPr>
        <p:spPr>
          <a:xfrm>
            <a:off x="496388" y="1252728"/>
            <a:ext cx="3361509" cy="3476025"/>
          </a:xfrm>
        </p:spPr>
        <p:txBody>
          <a:bodyPr/>
          <a:lstStyle/>
          <a:p>
            <a:r>
              <a:rPr lang="en-US" b="1" dirty="0"/>
              <a:t>Interrater reliability</a:t>
            </a:r>
            <a:r>
              <a:rPr lang="en-US" dirty="0"/>
              <a:t> – consistent scores across different raters </a:t>
            </a:r>
          </a:p>
          <a:p>
            <a:r>
              <a:rPr lang="en-US" dirty="0"/>
              <a:t>Important for any observational data that is assessed by an “expert”</a:t>
            </a:r>
          </a:p>
        </p:txBody>
      </p:sp>
      <p:sp>
        <p:nvSpPr>
          <p:cNvPr id="3" name="Title 2">
            <a:extLst>
              <a:ext uri="{FF2B5EF4-FFF2-40B4-BE49-F238E27FC236}">
                <a16:creationId xmlns:a16="http://schemas.microsoft.com/office/drawing/2014/main" id="{003DB55E-41AB-568C-0BC1-C746834C3F49}"/>
              </a:ext>
            </a:extLst>
          </p:cNvPr>
          <p:cNvSpPr>
            <a:spLocks noGrp="1"/>
          </p:cNvSpPr>
          <p:nvPr>
            <p:ph type="title"/>
          </p:nvPr>
        </p:nvSpPr>
        <p:spPr/>
        <p:txBody>
          <a:bodyPr/>
          <a:lstStyle/>
          <a:p>
            <a:r>
              <a:rPr lang="en-US" dirty="0"/>
              <a:t>Interrater Reliability</a:t>
            </a:r>
          </a:p>
        </p:txBody>
      </p:sp>
      <p:pic>
        <p:nvPicPr>
          <p:cNvPr id="5" name="Picture 4" descr="Two scatterplots. In the first, the x axis is Observer Mark's ratings from 0 to 10 and y axis is Observer Matt's ratings from 0 to 10. Jackie's Mark and Matt ratings are 2 and 3 respectively. Jay's Mark and Matt ratings are 9 and 9 respectively. The scatterplot has been fitted with a best fit line with minimal deviation. A label says: If the data show this pattern, it means Matt and Mark have good interrater reliability. Mark rated Jackie as one of the least happy children in the sample, and so did Matt. Mark rated Jay as one of the happiest children in the sample and so did Matt. In the second scatterplot, the x axis is Observer Mark's ratings from 0 to 10 and y axis is Observer Peter's ratings from 0 to 10. Jackie's Mark and Peter ratings are 2 and 7 respectively. Jay's Mark and Peter ratings are 9 and 6 respectively. The scatterplot has been fitted with a best fit line with large amount of deviation. A label says: If the data show this pattern, it means Mark and Peter have poor interrater reliability. For example, they disagree about Jackie - Mark rated Jackie as one of the least happy children in the sample, but Peter rated her as one of the happiest.">
            <a:extLst>
              <a:ext uri="{FF2B5EF4-FFF2-40B4-BE49-F238E27FC236}">
                <a16:creationId xmlns:a16="http://schemas.microsoft.com/office/drawing/2014/main" id="{CB0019B6-6F87-800D-A67C-63A217DC7442}"/>
              </a:ext>
            </a:extLst>
          </p:cNvPr>
          <p:cNvPicPr>
            <a:picLocks noChangeAspect="1"/>
          </p:cNvPicPr>
          <p:nvPr/>
        </p:nvPicPr>
        <p:blipFill>
          <a:blip r:embed="rId3"/>
          <a:stretch>
            <a:fillRect/>
          </a:stretch>
        </p:blipFill>
        <p:spPr>
          <a:xfrm>
            <a:off x="4186467" y="1088871"/>
            <a:ext cx="7611906" cy="5099976"/>
          </a:xfrm>
          <a:prstGeom prst="rect">
            <a:avLst/>
          </a:prstGeom>
          <a:noFill/>
        </p:spPr>
      </p:pic>
    </p:spTree>
    <p:extLst>
      <p:ext uri="{BB962C8B-B14F-4D97-AF65-F5344CB8AC3E}">
        <p14:creationId xmlns:p14="http://schemas.microsoft.com/office/powerpoint/2010/main" val="84623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3EFDCB-094A-16CE-E27F-AB84BAE79D40}"/>
              </a:ext>
            </a:extLst>
          </p:cNvPr>
          <p:cNvSpPr>
            <a:spLocks noGrp="1"/>
          </p:cNvSpPr>
          <p:nvPr>
            <p:ph type="body" sz="quarter" idx="108"/>
          </p:nvPr>
        </p:nvSpPr>
        <p:spPr/>
        <p:txBody>
          <a:bodyPr/>
          <a:lstStyle/>
          <a:p>
            <a:r>
              <a:rPr lang="en-US" b="1" dirty="0"/>
              <a:t>Internal reliability (internal consistency)</a:t>
            </a:r>
            <a:r>
              <a:rPr lang="en-US" dirty="0"/>
              <a:t> – pattern consistent across multiple items about the same concept</a:t>
            </a:r>
          </a:p>
          <a:p>
            <a:r>
              <a:rPr lang="en-US" b="1" dirty="0"/>
              <a:t>Average inter-item correlation </a:t>
            </a:r>
            <a:r>
              <a:rPr lang="en-US" dirty="0"/>
              <a:t>– average of all the correlations between the different items. </a:t>
            </a:r>
          </a:p>
          <a:p>
            <a:r>
              <a:rPr lang="en-US" b="1" dirty="0"/>
              <a:t>Cronbach’s alpha </a:t>
            </a:r>
            <a:r>
              <a:rPr lang="en-US" dirty="0"/>
              <a:t>(</a:t>
            </a:r>
            <a:r>
              <a:rPr lang="el-GR" dirty="0"/>
              <a:t>α</a:t>
            </a:r>
            <a:r>
              <a:rPr lang="en-US" dirty="0"/>
              <a:t>)</a:t>
            </a:r>
            <a:r>
              <a:rPr lang="en-US" b="1" dirty="0"/>
              <a:t> </a:t>
            </a:r>
            <a:r>
              <a:rPr lang="en-US" dirty="0"/>
              <a:t>– a function of the number of items and the AIC</a:t>
            </a:r>
          </a:p>
        </p:txBody>
      </p:sp>
      <p:sp>
        <p:nvSpPr>
          <p:cNvPr id="3" name="Title 2">
            <a:extLst>
              <a:ext uri="{FF2B5EF4-FFF2-40B4-BE49-F238E27FC236}">
                <a16:creationId xmlns:a16="http://schemas.microsoft.com/office/drawing/2014/main" id="{24EE9415-4D31-B107-81DE-2AD4697C0F3E}"/>
              </a:ext>
            </a:extLst>
          </p:cNvPr>
          <p:cNvSpPr>
            <a:spLocks noGrp="1"/>
          </p:cNvSpPr>
          <p:nvPr>
            <p:ph type="title"/>
          </p:nvPr>
        </p:nvSpPr>
        <p:spPr/>
        <p:txBody>
          <a:bodyPr/>
          <a:lstStyle/>
          <a:p>
            <a:r>
              <a:rPr lang="en-US" dirty="0"/>
              <a:t>Internal Reliability</a:t>
            </a:r>
          </a:p>
        </p:txBody>
      </p:sp>
      <p:pic>
        <p:nvPicPr>
          <p:cNvPr id="5" name="Picture 4" descr="A table with text on it&#10;&#10;Description automatically generated">
            <a:extLst>
              <a:ext uri="{FF2B5EF4-FFF2-40B4-BE49-F238E27FC236}">
                <a16:creationId xmlns:a16="http://schemas.microsoft.com/office/drawing/2014/main" id="{79C87C1D-ECBD-DF79-7CAD-A4E53406D395}"/>
              </a:ext>
            </a:extLst>
          </p:cNvPr>
          <p:cNvPicPr>
            <a:picLocks noChangeAspect="1"/>
          </p:cNvPicPr>
          <p:nvPr/>
        </p:nvPicPr>
        <p:blipFill>
          <a:blip r:embed="rId3"/>
          <a:stretch>
            <a:fillRect/>
          </a:stretch>
        </p:blipFill>
        <p:spPr>
          <a:xfrm>
            <a:off x="7082372" y="3700959"/>
            <a:ext cx="4359527" cy="2016280"/>
          </a:xfrm>
          <a:prstGeom prst="rect">
            <a:avLst/>
          </a:prstGeom>
        </p:spPr>
      </p:pic>
    </p:spTree>
    <p:extLst>
      <p:ext uri="{BB962C8B-B14F-4D97-AF65-F5344CB8AC3E}">
        <p14:creationId xmlns:p14="http://schemas.microsoft.com/office/powerpoint/2010/main" val="3279027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915E2D-F58A-4016-3FC8-F9042AA5345F}"/>
              </a:ext>
            </a:extLst>
          </p:cNvPr>
          <p:cNvSpPr>
            <a:spLocks noGrp="1"/>
          </p:cNvSpPr>
          <p:nvPr>
            <p:ph type="body" sz="quarter" idx="108"/>
          </p:nvPr>
        </p:nvSpPr>
        <p:spPr>
          <a:xfrm>
            <a:off x="496389" y="1252729"/>
            <a:ext cx="4159588" cy="4974332"/>
          </a:xfrm>
        </p:spPr>
        <p:txBody>
          <a:bodyPr/>
          <a:lstStyle/>
          <a:p>
            <a:r>
              <a:rPr lang="en-US" dirty="0"/>
              <a:t>Ideally, your items that share the same latent variables will be strongly related</a:t>
            </a:r>
          </a:p>
        </p:txBody>
      </p:sp>
      <p:sp>
        <p:nvSpPr>
          <p:cNvPr id="3" name="Title 2">
            <a:extLst>
              <a:ext uri="{FF2B5EF4-FFF2-40B4-BE49-F238E27FC236}">
                <a16:creationId xmlns:a16="http://schemas.microsoft.com/office/drawing/2014/main" id="{F18C7707-3C6B-9977-2386-6E11816A2A9F}"/>
              </a:ext>
            </a:extLst>
          </p:cNvPr>
          <p:cNvSpPr>
            <a:spLocks noGrp="1"/>
          </p:cNvSpPr>
          <p:nvPr>
            <p:ph type="title"/>
          </p:nvPr>
        </p:nvSpPr>
        <p:spPr/>
        <p:txBody>
          <a:bodyPr/>
          <a:lstStyle/>
          <a:p>
            <a:r>
              <a:rPr lang="en-US" dirty="0"/>
              <a:t>Internal Reliability Comparisons </a:t>
            </a:r>
          </a:p>
        </p:txBody>
      </p:sp>
      <p:pic>
        <p:nvPicPr>
          <p:cNvPr id="5" name="Picture 4" descr="A table titled, Internal Reliability. Detailed table information is available in the accessible content.">
            <a:extLst>
              <a:ext uri="{FF2B5EF4-FFF2-40B4-BE49-F238E27FC236}">
                <a16:creationId xmlns:a16="http://schemas.microsoft.com/office/drawing/2014/main" id="{54BA7B69-1A27-69B1-E86E-8F31F847652F}"/>
              </a:ext>
            </a:extLst>
          </p:cNvPr>
          <p:cNvPicPr>
            <a:picLocks noChangeAspect="1"/>
          </p:cNvPicPr>
          <p:nvPr/>
        </p:nvPicPr>
        <p:blipFill>
          <a:blip r:embed="rId3"/>
          <a:srcRect r="128" b="-2"/>
          <a:stretch>
            <a:fillRect/>
          </a:stretch>
        </p:blipFill>
        <p:spPr>
          <a:xfrm>
            <a:off x="4790045" y="1483568"/>
            <a:ext cx="6563755" cy="4124130"/>
          </a:xfrm>
          <a:prstGeom prst="rect">
            <a:avLst/>
          </a:prstGeom>
          <a:noFill/>
        </p:spPr>
      </p:pic>
    </p:spTree>
    <p:extLst>
      <p:ext uri="{BB962C8B-B14F-4D97-AF65-F5344CB8AC3E}">
        <p14:creationId xmlns:p14="http://schemas.microsoft.com/office/powerpoint/2010/main" val="25536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E9AAB1-A8E9-9BB1-9EFD-4E2EDC9B3C49}"/>
              </a:ext>
            </a:extLst>
          </p:cNvPr>
          <p:cNvSpPr>
            <a:spLocks noGrp="1"/>
          </p:cNvSpPr>
          <p:nvPr>
            <p:ph type="title"/>
          </p:nvPr>
        </p:nvSpPr>
        <p:spPr/>
        <p:txBody>
          <a:bodyPr/>
          <a:lstStyle/>
          <a:p>
            <a:r>
              <a:rPr lang="en-US" dirty="0"/>
              <a:t>Internal Reliability in Journal Articles</a:t>
            </a:r>
          </a:p>
        </p:txBody>
      </p:sp>
      <p:pic>
        <p:nvPicPr>
          <p:cNvPr id="5" name="Picture 4" descr="A table titled Estimates of Internal Consistency and Temporal Reliability for the Satisfaction with Life Scale. It has four columns and seven rows with column headers: sample, coefficient alpha, test-retest, and temporal interval. The first lists Authors of study using S W L scale. In the second column, Coefficient (Cronbach's) alpha above 0.80 means S W L scale has good internal reliability. In the third column, High correlation of r = 0.83 in the first study for retesting 2 weeks apart means scale has good test-retest reliability.">
            <a:extLst>
              <a:ext uri="{FF2B5EF4-FFF2-40B4-BE49-F238E27FC236}">
                <a16:creationId xmlns:a16="http://schemas.microsoft.com/office/drawing/2014/main" id="{465900C1-39FB-27FD-5E7D-F6B72F0BE9DF}"/>
              </a:ext>
            </a:extLst>
          </p:cNvPr>
          <p:cNvPicPr>
            <a:picLocks noChangeAspect="1"/>
          </p:cNvPicPr>
          <p:nvPr/>
        </p:nvPicPr>
        <p:blipFill>
          <a:blip r:embed="rId3"/>
          <a:stretch/>
        </p:blipFill>
        <p:spPr>
          <a:xfrm>
            <a:off x="1764861" y="1355473"/>
            <a:ext cx="7524502" cy="4383023"/>
          </a:xfrm>
          <a:prstGeom prst="rect">
            <a:avLst/>
          </a:prstGeom>
          <a:noFill/>
        </p:spPr>
      </p:pic>
    </p:spTree>
    <p:extLst>
      <p:ext uri="{BB962C8B-B14F-4D97-AF65-F5344CB8AC3E}">
        <p14:creationId xmlns:p14="http://schemas.microsoft.com/office/powerpoint/2010/main" val="34495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0968AC-A718-4E07-CABC-D5DA6D4BA8F4}"/>
              </a:ext>
            </a:extLst>
          </p:cNvPr>
          <p:cNvSpPr>
            <a:spLocks noGrp="1"/>
          </p:cNvSpPr>
          <p:nvPr>
            <p:ph type="title"/>
          </p:nvPr>
        </p:nvSpPr>
        <p:spPr/>
        <p:txBody>
          <a:bodyPr/>
          <a:lstStyle/>
          <a:p>
            <a:r>
              <a:rPr lang="en-US" dirty="0"/>
              <a:t>Overview of Reliability</a:t>
            </a:r>
          </a:p>
        </p:txBody>
      </p:sp>
      <p:pic>
        <p:nvPicPr>
          <p:cNvPr id="8" name="Picture 7" descr="A table titled, Summary of Reliability Concepts. Detailed table information is available in the accessible content.">
            <a:extLst>
              <a:ext uri="{FF2B5EF4-FFF2-40B4-BE49-F238E27FC236}">
                <a16:creationId xmlns:a16="http://schemas.microsoft.com/office/drawing/2014/main" id="{CC6D78BE-ED88-1A46-6AE8-12C2E236409B}"/>
              </a:ext>
            </a:extLst>
          </p:cNvPr>
          <p:cNvPicPr>
            <a:picLocks noChangeAspect="1"/>
          </p:cNvPicPr>
          <p:nvPr/>
        </p:nvPicPr>
        <p:blipFill>
          <a:blip r:embed="rId3"/>
          <a:stretch>
            <a:fillRect/>
          </a:stretch>
        </p:blipFill>
        <p:spPr>
          <a:xfrm>
            <a:off x="1251678" y="1566672"/>
            <a:ext cx="8642130" cy="4882803"/>
          </a:xfrm>
          <a:prstGeom prst="rect">
            <a:avLst/>
          </a:prstGeom>
          <a:noFill/>
        </p:spPr>
      </p:pic>
      <p:sp>
        <p:nvSpPr>
          <p:cNvPr id="9" name="Rectangle 8">
            <a:extLst>
              <a:ext uri="{FF2B5EF4-FFF2-40B4-BE49-F238E27FC236}">
                <a16:creationId xmlns:a16="http://schemas.microsoft.com/office/drawing/2014/main" id="{15755DFB-7113-2EC0-51FF-8D922B8363C9}"/>
              </a:ext>
            </a:extLst>
          </p:cNvPr>
          <p:cNvSpPr/>
          <p:nvPr/>
        </p:nvSpPr>
        <p:spPr>
          <a:xfrm>
            <a:off x="3630168" y="2779776"/>
            <a:ext cx="6199632" cy="1143000"/>
          </a:xfrm>
          <a:prstGeom prst="rect">
            <a:avLst/>
          </a:prstGeom>
          <a:solidFill>
            <a:srgbClr val="F8B323">
              <a:lumMod val="20000"/>
              <a:lumOff val="80000"/>
            </a:srgbClr>
          </a:solidFill>
          <a:ln w="12700" cap="flat" cmpd="sng" algn="in">
            <a:solidFill>
              <a:srgbClr val="2A1A00">
                <a:lumMod val="10000"/>
                <a:lumOff val="9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a typeface="+mn-ea"/>
              <a:cs typeface="+mn-cs"/>
            </a:endParaRPr>
          </a:p>
        </p:txBody>
      </p:sp>
      <p:sp>
        <p:nvSpPr>
          <p:cNvPr id="10" name="Rectangle 9">
            <a:extLst>
              <a:ext uri="{FF2B5EF4-FFF2-40B4-BE49-F238E27FC236}">
                <a16:creationId xmlns:a16="http://schemas.microsoft.com/office/drawing/2014/main" id="{F1729EB8-8019-D55F-8805-8824D7156732}"/>
              </a:ext>
            </a:extLst>
          </p:cNvPr>
          <p:cNvSpPr/>
          <p:nvPr/>
        </p:nvSpPr>
        <p:spPr>
          <a:xfrm>
            <a:off x="3630168" y="3995928"/>
            <a:ext cx="6199632" cy="832108"/>
          </a:xfrm>
          <a:prstGeom prst="rect">
            <a:avLst/>
          </a:prstGeom>
          <a:solidFill>
            <a:srgbClr val="F8B323">
              <a:lumMod val="20000"/>
              <a:lumOff val="80000"/>
            </a:srgbClr>
          </a:solidFill>
          <a:ln w="12700" cap="flat" cmpd="sng" algn="in">
            <a:solidFill>
              <a:srgbClr val="2A1A00">
                <a:lumMod val="10000"/>
                <a:lumOff val="9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a typeface="+mn-ea"/>
              <a:cs typeface="+mn-cs"/>
            </a:endParaRPr>
          </a:p>
        </p:txBody>
      </p:sp>
      <p:sp>
        <p:nvSpPr>
          <p:cNvPr id="11" name="Rectangle 10">
            <a:extLst>
              <a:ext uri="{FF2B5EF4-FFF2-40B4-BE49-F238E27FC236}">
                <a16:creationId xmlns:a16="http://schemas.microsoft.com/office/drawing/2014/main" id="{D25591A8-EC7B-94BE-2844-C3EA772973D8}"/>
              </a:ext>
            </a:extLst>
          </p:cNvPr>
          <p:cNvSpPr/>
          <p:nvPr/>
        </p:nvSpPr>
        <p:spPr>
          <a:xfrm>
            <a:off x="3630168" y="4968245"/>
            <a:ext cx="6199632" cy="1069849"/>
          </a:xfrm>
          <a:prstGeom prst="rect">
            <a:avLst/>
          </a:prstGeom>
          <a:solidFill>
            <a:srgbClr val="F8B323">
              <a:lumMod val="20000"/>
              <a:lumOff val="80000"/>
            </a:srgbClr>
          </a:solidFill>
          <a:ln w="12700" cap="flat" cmpd="sng" algn="in">
            <a:solidFill>
              <a:srgbClr val="2A1A00">
                <a:lumMod val="10000"/>
                <a:lumOff val="9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379439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411B942-4AA8-EE49-72CE-4ECE67606238}"/>
              </a:ext>
            </a:extLst>
          </p:cNvPr>
          <p:cNvSpPr>
            <a:spLocks noGrp="1"/>
          </p:cNvSpPr>
          <p:nvPr>
            <p:ph type="body" sz="quarter" idx="108"/>
          </p:nvPr>
        </p:nvSpPr>
        <p:spPr/>
        <p:txBody>
          <a:bodyPr/>
          <a:lstStyle/>
          <a:p>
            <a:r>
              <a:rPr lang="en-US" dirty="0"/>
              <a:t>Evaluating an Experiment:</a:t>
            </a:r>
          </a:p>
          <a:p>
            <a:pPr lvl="1"/>
            <a:r>
              <a:rPr lang="en-US" b="1" dirty="0"/>
              <a:t>Construct validity </a:t>
            </a:r>
            <a:r>
              <a:rPr lang="en-US" dirty="0"/>
              <a:t>– how well the variables in a study are measured or manipulated</a:t>
            </a:r>
          </a:p>
          <a:p>
            <a:pPr lvl="1"/>
            <a:r>
              <a:rPr lang="en-US" b="1" dirty="0"/>
              <a:t>Statistical validity </a:t>
            </a:r>
            <a:r>
              <a:rPr lang="en-US" dirty="0"/>
              <a:t>– how well the numbers support the claim</a:t>
            </a:r>
          </a:p>
          <a:p>
            <a:pPr lvl="1"/>
            <a:r>
              <a:rPr lang="en-US" b="1" dirty="0"/>
              <a:t>Internal validity</a:t>
            </a:r>
            <a:r>
              <a:rPr lang="en-US" dirty="0"/>
              <a:t> – the extent to which the researcher is confident that one variable caused the second variable </a:t>
            </a:r>
          </a:p>
          <a:p>
            <a:pPr lvl="1"/>
            <a:r>
              <a:rPr lang="en-US" b="1" dirty="0"/>
              <a:t>External validity</a:t>
            </a:r>
            <a:r>
              <a:rPr lang="en-US" dirty="0"/>
              <a:t> – the extent to which the results can generalize to a different or larger population</a:t>
            </a:r>
          </a:p>
          <a:p>
            <a:r>
              <a:rPr lang="en-US" dirty="0"/>
              <a:t>Evaluating a Measure:</a:t>
            </a:r>
          </a:p>
          <a:p>
            <a:pPr lvl="1"/>
            <a:r>
              <a:rPr lang="en-US" b="1" dirty="0"/>
              <a:t>Test-retest reliability</a:t>
            </a:r>
            <a:r>
              <a:rPr lang="en-US" dirty="0"/>
              <a:t> – consistent scores every time the measure is used (temporal stability)</a:t>
            </a:r>
          </a:p>
          <a:p>
            <a:pPr lvl="1"/>
            <a:r>
              <a:rPr lang="en-US" b="1" dirty="0"/>
              <a:t>Internal reliability (internal consistency)</a:t>
            </a:r>
            <a:r>
              <a:rPr lang="en-US" dirty="0"/>
              <a:t> – pattern consistent across multiple items about the same concept</a:t>
            </a:r>
          </a:p>
          <a:p>
            <a:pPr lvl="1"/>
            <a:r>
              <a:rPr lang="en-US" b="1" dirty="0"/>
              <a:t>Interrater reliability</a:t>
            </a:r>
            <a:r>
              <a:rPr lang="en-US" dirty="0"/>
              <a:t> – consistent scores across different raters </a:t>
            </a:r>
          </a:p>
          <a:p>
            <a:pPr lvl="1"/>
            <a:r>
              <a:rPr lang="en-US" dirty="0"/>
              <a:t>Now, let’s add ways to assess the validity of a measure…</a:t>
            </a:r>
          </a:p>
          <a:p>
            <a:endParaRPr lang="en-US" dirty="0"/>
          </a:p>
        </p:txBody>
      </p:sp>
      <p:sp>
        <p:nvSpPr>
          <p:cNvPr id="4" name="Title 3">
            <a:extLst>
              <a:ext uri="{FF2B5EF4-FFF2-40B4-BE49-F238E27FC236}">
                <a16:creationId xmlns:a16="http://schemas.microsoft.com/office/drawing/2014/main" id="{BB21CF5A-B0AC-B95B-4C27-0A834E20BF0D}"/>
              </a:ext>
            </a:extLst>
          </p:cNvPr>
          <p:cNvSpPr>
            <a:spLocks noGrp="1"/>
          </p:cNvSpPr>
          <p:nvPr>
            <p:ph type="title"/>
          </p:nvPr>
        </p:nvSpPr>
        <p:spPr/>
        <p:txBody>
          <a:bodyPr/>
          <a:lstStyle/>
          <a:p>
            <a:r>
              <a:rPr lang="en-US" dirty="0"/>
              <a:t>Let’s Review… </a:t>
            </a:r>
          </a:p>
        </p:txBody>
      </p:sp>
    </p:spTree>
    <p:extLst>
      <p:ext uri="{BB962C8B-B14F-4D97-AF65-F5344CB8AC3E}">
        <p14:creationId xmlns:p14="http://schemas.microsoft.com/office/powerpoint/2010/main" val="2494850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9D9D-A0F9-96EB-26EC-85F1A20859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487C7C-51A3-BAD7-A206-AEB23B55B81E}"/>
              </a:ext>
            </a:extLst>
          </p:cNvPr>
          <p:cNvSpPr>
            <a:spLocks noGrp="1"/>
          </p:cNvSpPr>
          <p:nvPr>
            <p:ph type="title"/>
          </p:nvPr>
        </p:nvSpPr>
        <p:spPr/>
        <p:txBody>
          <a:bodyPr/>
          <a:lstStyle/>
          <a:p>
            <a:r>
              <a:rPr lang="en-US" dirty="0"/>
              <a:t>Validity</a:t>
            </a:r>
          </a:p>
        </p:txBody>
      </p:sp>
      <p:sp>
        <p:nvSpPr>
          <p:cNvPr id="2" name="Content Placeholder 1">
            <a:extLst>
              <a:ext uri="{FF2B5EF4-FFF2-40B4-BE49-F238E27FC236}">
                <a16:creationId xmlns:a16="http://schemas.microsoft.com/office/drawing/2014/main" id="{0E0883E2-C2FD-813E-9D46-2DA392F11120}"/>
              </a:ext>
            </a:extLst>
          </p:cNvPr>
          <p:cNvSpPr>
            <a:spLocks noGrp="1"/>
          </p:cNvSpPr>
          <p:nvPr>
            <p:ph sz="quarter" idx="10"/>
          </p:nvPr>
        </p:nvSpPr>
        <p:spPr>
          <a:xfrm>
            <a:off x="6654188" y="3215166"/>
            <a:ext cx="4502314" cy="2635128"/>
          </a:xfrm>
        </p:spPr>
        <p:txBody>
          <a:bodyPr/>
          <a:lstStyle/>
          <a:p>
            <a:pPr marL="457200" indent="-457200" algn="l">
              <a:buFont typeface="Arial" panose="020B0604020202020204" pitchFamily="34" charset="0"/>
              <a:buChar char="•"/>
            </a:pPr>
            <a:r>
              <a:rPr lang="en-US" dirty="0"/>
              <a:t>Face validity</a:t>
            </a:r>
          </a:p>
          <a:p>
            <a:pPr marL="457200" indent="-457200" algn="l">
              <a:buFont typeface="Arial" panose="020B0604020202020204" pitchFamily="34" charset="0"/>
              <a:buChar char="•"/>
            </a:pPr>
            <a:r>
              <a:rPr lang="en-US" dirty="0"/>
              <a:t>Content validity</a:t>
            </a:r>
          </a:p>
          <a:p>
            <a:pPr marL="457200" indent="-457200" algn="l">
              <a:buFont typeface="Arial" panose="020B0604020202020204" pitchFamily="34" charset="0"/>
              <a:buChar char="•"/>
            </a:pPr>
            <a:r>
              <a:rPr lang="en-US" dirty="0"/>
              <a:t>Criterion validity</a:t>
            </a:r>
          </a:p>
          <a:p>
            <a:pPr marL="457200" indent="-457200" algn="l">
              <a:buFont typeface="Arial" panose="020B0604020202020204" pitchFamily="34" charset="0"/>
              <a:buChar char="•"/>
            </a:pPr>
            <a:r>
              <a:rPr lang="en-US" dirty="0"/>
              <a:t>Convergent validity</a:t>
            </a:r>
          </a:p>
          <a:p>
            <a:pPr marL="457200" indent="-457200" algn="l">
              <a:buFont typeface="Arial" panose="020B0604020202020204" pitchFamily="34" charset="0"/>
              <a:buChar char="•"/>
            </a:pPr>
            <a:r>
              <a:rPr lang="en-US" dirty="0"/>
              <a:t>Discriminant validity</a:t>
            </a:r>
          </a:p>
        </p:txBody>
      </p:sp>
    </p:spTree>
    <p:extLst>
      <p:ext uri="{BB962C8B-B14F-4D97-AF65-F5344CB8AC3E}">
        <p14:creationId xmlns:p14="http://schemas.microsoft.com/office/powerpoint/2010/main" val="1116733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4C2F07-8E4F-2C79-8572-04F0146219CC}"/>
              </a:ext>
            </a:extLst>
          </p:cNvPr>
          <p:cNvSpPr>
            <a:spLocks noGrp="1"/>
          </p:cNvSpPr>
          <p:nvPr>
            <p:ph type="body" sz="quarter" idx="108"/>
          </p:nvPr>
        </p:nvSpPr>
        <p:spPr/>
        <p:txBody>
          <a:bodyPr/>
          <a:lstStyle/>
          <a:p>
            <a:r>
              <a:rPr lang="en-US" dirty="0"/>
              <a:t>Both face validity and content validity are subjective ways to assess validity.</a:t>
            </a:r>
          </a:p>
          <a:p>
            <a:r>
              <a:rPr lang="en-US" b="1" dirty="0"/>
              <a:t>Face validity</a:t>
            </a:r>
            <a:r>
              <a:rPr lang="en-US" dirty="0"/>
              <a:t> – it looks like what you want to measure.</a:t>
            </a:r>
          </a:p>
          <a:p>
            <a:pPr lvl="1"/>
            <a:r>
              <a:rPr lang="en-US" dirty="0"/>
              <a:t>Ex: Is the item “In the last seven days, how often have you self-harmed?” a reasonable question to ask when we want to assess depression?</a:t>
            </a:r>
          </a:p>
          <a:p>
            <a:r>
              <a:rPr lang="en-US" b="1" dirty="0"/>
              <a:t>Content validity</a:t>
            </a:r>
            <a:r>
              <a:rPr lang="en-US" dirty="0"/>
              <a:t> – the measure contains all the parts that your theory says it should contain.</a:t>
            </a:r>
          </a:p>
          <a:p>
            <a:pPr lvl="1"/>
            <a:r>
              <a:rPr lang="en-US" dirty="0"/>
              <a:t>Ex: Is the item “In the last seven days, how often have you self-harmed?” capturing everything we need to measure depression?</a:t>
            </a:r>
          </a:p>
          <a:p>
            <a:endParaRPr lang="en-US" dirty="0"/>
          </a:p>
        </p:txBody>
      </p:sp>
      <p:sp>
        <p:nvSpPr>
          <p:cNvPr id="3" name="Title 2">
            <a:extLst>
              <a:ext uri="{FF2B5EF4-FFF2-40B4-BE49-F238E27FC236}">
                <a16:creationId xmlns:a16="http://schemas.microsoft.com/office/drawing/2014/main" id="{008B09E1-2C86-ADC9-A738-E3BC63A72748}"/>
              </a:ext>
            </a:extLst>
          </p:cNvPr>
          <p:cNvSpPr>
            <a:spLocks noGrp="1"/>
          </p:cNvSpPr>
          <p:nvPr>
            <p:ph type="title"/>
          </p:nvPr>
        </p:nvSpPr>
        <p:spPr/>
        <p:txBody>
          <a:bodyPr/>
          <a:lstStyle/>
          <a:p>
            <a:r>
              <a:rPr lang="en-US" dirty="0"/>
              <a:t>Face Validity and Content Validity</a:t>
            </a:r>
          </a:p>
        </p:txBody>
      </p:sp>
    </p:spTree>
    <p:extLst>
      <p:ext uri="{BB962C8B-B14F-4D97-AF65-F5344CB8AC3E}">
        <p14:creationId xmlns:p14="http://schemas.microsoft.com/office/powerpoint/2010/main" val="2788384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4848F9-F8F1-8367-2820-AEAC0A2A37D0}"/>
              </a:ext>
            </a:extLst>
          </p:cNvPr>
          <p:cNvSpPr>
            <a:spLocks noGrp="1"/>
          </p:cNvSpPr>
          <p:nvPr>
            <p:ph type="body" sz="quarter" idx="108"/>
          </p:nvPr>
        </p:nvSpPr>
        <p:spPr/>
        <p:txBody>
          <a:bodyPr/>
          <a:lstStyle/>
          <a:p>
            <a:r>
              <a:rPr lang="en-US" b="1" dirty="0"/>
              <a:t>Criterion validity</a:t>
            </a:r>
            <a:r>
              <a:rPr lang="en-US" dirty="0"/>
              <a:t> – whether the measure is related to a concrete outcome it should be related to</a:t>
            </a:r>
          </a:p>
          <a:p>
            <a:pPr lvl="1"/>
            <a:r>
              <a:rPr lang="en-US" dirty="0"/>
              <a:t>Commonly evaluated with correlation coefficients</a:t>
            </a:r>
          </a:p>
          <a:p>
            <a:pPr lvl="2"/>
            <a:r>
              <a:rPr lang="en-US" dirty="0"/>
              <a:t>Ex: Are high school SAT scores correlated with college GPAs?</a:t>
            </a:r>
          </a:p>
          <a:p>
            <a:pPr lvl="1"/>
            <a:r>
              <a:rPr lang="en-US" dirty="0"/>
              <a:t>Can also be assessed with the known-groups paradigm</a:t>
            </a:r>
          </a:p>
          <a:p>
            <a:pPr lvl="2"/>
            <a:r>
              <a:rPr lang="en-US" dirty="0"/>
              <a:t>Ex: Evaluating the Beck Depression Inventory between one group that’s been diagnosed as depressed and one who group that is not depressed</a:t>
            </a:r>
          </a:p>
        </p:txBody>
      </p:sp>
      <p:sp>
        <p:nvSpPr>
          <p:cNvPr id="3" name="Title 2">
            <a:extLst>
              <a:ext uri="{FF2B5EF4-FFF2-40B4-BE49-F238E27FC236}">
                <a16:creationId xmlns:a16="http://schemas.microsoft.com/office/drawing/2014/main" id="{DE1ED48F-CC81-8381-738E-2181AB7C6314}"/>
              </a:ext>
            </a:extLst>
          </p:cNvPr>
          <p:cNvSpPr>
            <a:spLocks noGrp="1"/>
          </p:cNvSpPr>
          <p:nvPr>
            <p:ph type="title"/>
          </p:nvPr>
        </p:nvSpPr>
        <p:spPr/>
        <p:txBody>
          <a:bodyPr/>
          <a:lstStyle/>
          <a:p>
            <a:r>
              <a:rPr lang="en-US" dirty="0"/>
              <a:t>Criterion Validity</a:t>
            </a:r>
          </a:p>
        </p:txBody>
      </p:sp>
      <p:pic>
        <p:nvPicPr>
          <p:cNvPr id="5" name="Picture 4" descr="A bar graph. The x axis is the Psychiatrists' judgement with Not Depressed and Depressed as values. The y axis is the  B D I score with values from 0 to 25. People who are not depressed had a B D I score of around 10. Depressed people had a B D I score of around 22.">
            <a:extLst>
              <a:ext uri="{FF2B5EF4-FFF2-40B4-BE49-F238E27FC236}">
                <a16:creationId xmlns:a16="http://schemas.microsoft.com/office/drawing/2014/main" id="{62AC1BF0-CC26-CDE4-6FFC-8474D630FE66}"/>
              </a:ext>
            </a:extLst>
          </p:cNvPr>
          <p:cNvPicPr>
            <a:picLocks noChangeAspect="1"/>
          </p:cNvPicPr>
          <p:nvPr/>
        </p:nvPicPr>
        <p:blipFill>
          <a:blip r:embed="rId3"/>
          <a:srcRect b="8141"/>
          <a:stretch/>
        </p:blipFill>
        <p:spPr>
          <a:xfrm>
            <a:off x="6371084" y="3508500"/>
            <a:ext cx="3977439" cy="2984374"/>
          </a:xfrm>
          <a:prstGeom prst="rect">
            <a:avLst/>
          </a:prstGeom>
        </p:spPr>
      </p:pic>
    </p:spTree>
    <p:extLst>
      <p:ext uri="{BB962C8B-B14F-4D97-AF65-F5344CB8AC3E}">
        <p14:creationId xmlns:p14="http://schemas.microsoft.com/office/powerpoint/2010/main" val="2792315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FD517C-72DA-7AC7-C669-F07A700AF0B2}"/>
              </a:ext>
            </a:extLst>
          </p:cNvPr>
          <p:cNvSpPr>
            <a:spLocks noGrp="1"/>
          </p:cNvSpPr>
          <p:nvPr>
            <p:ph type="body" sz="quarter" idx="108"/>
          </p:nvPr>
        </p:nvSpPr>
        <p:spPr/>
        <p:txBody>
          <a:bodyPr/>
          <a:lstStyle/>
          <a:p>
            <a:r>
              <a:rPr lang="en-US" b="1" dirty="0"/>
              <a:t>Convergent validity</a:t>
            </a:r>
            <a:r>
              <a:rPr lang="en-US" dirty="0"/>
              <a:t> – a measure should correlate strongly with other measures of the same construct</a:t>
            </a:r>
          </a:p>
          <a:p>
            <a:pPr lvl="1"/>
            <a:r>
              <a:rPr lang="en-US" dirty="0"/>
              <a:t>Ex: The Beck Depression Inventory should strongly correlate with the Depression subsection of the Depression Anxiety Stress Scale</a:t>
            </a:r>
          </a:p>
        </p:txBody>
      </p:sp>
      <p:sp>
        <p:nvSpPr>
          <p:cNvPr id="3" name="Title 2">
            <a:extLst>
              <a:ext uri="{FF2B5EF4-FFF2-40B4-BE49-F238E27FC236}">
                <a16:creationId xmlns:a16="http://schemas.microsoft.com/office/drawing/2014/main" id="{4ABB965D-DBF2-5313-B294-DCCBDEEE80CD}"/>
              </a:ext>
            </a:extLst>
          </p:cNvPr>
          <p:cNvSpPr>
            <a:spLocks noGrp="1"/>
          </p:cNvSpPr>
          <p:nvPr>
            <p:ph type="title"/>
          </p:nvPr>
        </p:nvSpPr>
        <p:spPr/>
        <p:txBody>
          <a:bodyPr/>
          <a:lstStyle/>
          <a:p>
            <a:r>
              <a:rPr lang="en-US" dirty="0"/>
              <a:t>Convergent Validity</a:t>
            </a:r>
          </a:p>
        </p:txBody>
      </p:sp>
    </p:spTree>
    <p:extLst>
      <p:ext uri="{BB962C8B-B14F-4D97-AF65-F5344CB8AC3E}">
        <p14:creationId xmlns:p14="http://schemas.microsoft.com/office/powerpoint/2010/main" val="1203756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0C97F9-6002-FD6C-00ED-4A4F99DDD184}"/>
              </a:ext>
            </a:extLst>
          </p:cNvPr>
          <p:cNvSpPr>
            <a:spLocks noGrp="1"/>
          </p:cNvSpPr>
          <p:nvPr>
            <p:ph type="body" sz="quarter" idx="108"/>
          </p:nvPr>
        </p:nvSpPr>
        <p:spPr/>
        <p:txBody>
          <a:bodyPr/>
          <a:lstStyle/>
          <a:p>
            <a:r>
              <a:rPr lang="en-US" dirty="0"/>
              <a:t>Discriminant validity (aka divergent validity) – a measure should correlate less strongly with measures of different constructs</a:t>
            </a:r>
          </a:p>
          <a:p>
            <a:pPr lvl="1"/>
            <a:r>
              <a:rPr lang="en-US" dirty="0"/>
              <a:t>Ex: The Beck Depression Inventory should NOT strongly correlate with the Anxiety subsection of the Depression Anxiety Stress Scale</a:t>
            </a:r>
          </a:p>
          <a:p>
            <a:pPr lvl="1"/>
            <a:endParaRPr lang="en-US" dirty="0"/>
          </a:p>
        </p:txBody>
      </p:sp>
      <p:sp>
        <p:nvSpPr>
          <p:cNvPr id="3" name="Title 2">
            <a:extLst>
              <a:ext uri="{FF2B5EF4-FFF2-40B4-BE49-F238E27FC236}">
                <a16:creationId xmlns:a16="http://schemas.microsoft.com/office/drawing/2014/main" id="{0DC4CFAF-477D-5F66-0209-A4168DD557F3}"/>
              </a:ext>
            </a:extLst>
          </p:cNvPr>
          <p:cNvSpPr>
            <a:spLocks noGrp="1"/>
          </p:cNvSpPr>
          <p:nvPr>
            <p:ph type="title"/>
          </p:nvPr>
        </p:nvSpPr>
        <p:spPr/>
        <p:txBody>
          <a:bodyPr/>
          <a:lstStyle/>
          <a:p>
            <a:r>
              <a:rPr lang="en-US" dirty="0"/>
              <a:t>Discriminant Validity</a:t>
            </a:r>
          </a:p>
        </p:txBody>
      </p:sp>
    </p:spTree>
    <p:extLst>
      <p:ext uri="{BB962C8B-B14F-4D97-AF65-F5344CB8AC3E}">
        <p14:creationId xmlns:p14="http://schemas.microsoft.com/office/powerpoint/2010/main" val="342376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F5C0E2-CEB2-596A-E7BC-9E5E76C9CCBA}"/>
              </a:ext>
            </a:extLst>
          </p:cNvPr>
          <p:cNvSpPr>
            <a:spLocks noGrp="1"/>
          </p:cNvSpPr>
          <p:nvPr>
            <p:ph type="body" sz="quarter" idx="108"/>
          </p:nvPr>
        </p:nvSpPr>
        <p:spPr/>
        <p:txBody>
          <a:bodyPr/>
          <a:lstStyle/>
          <a:p>
            <a:r>
              <a:rPr lang="en-US" dirty="0"/>
              <a:t>Some measures have multiple concepts that are being represented. </a:t>
            </a:r>
          </a:p>
          <a:p>
            <a:pPr lvl="1"/>
            <a:r>
              <a:rPr lang="en-US" dirty="0"/>
              <a:t>Ex: The Depression Anxiety Stress Scale has 3 separate concepts: depression, anxiety and stress</a:t>
            </a:r>
          </a:p>
          <a:p>
            <a:r>
              <a:rPr lang="en-US" dirty="0"/>
              <a:t>For these measures, you will want convergent validity AND discriminant validity within that one measure</a:t>
            </a:r>
          </a:p>
        </p:txBody>
      </p:sp>
      <p:sp>
        <p:nvSpPr>
          <p:cNvPr id="3" name="Title 2">
            <a:extLst>
              <a:ext uri="{FF2B5EF4-FFF2-40B4-BE49-F238E27FC236}">
                <a16:creationId xmlns:a16="http://schemas.microsoft.com/office/drawing/2014/main" id="{1D6AB161-0499-9C4F-D4FC-9F759E03927C}"/>
              </a:ext>
            </a:extLst>
          </p:cNvPr>
          <p:cNvSpPr>
            <a:spLocks noGrp="1"/>
          </p:cNvSpPr>
          <p:nvPr>
            <p:ph type="title"/>
          </p:nvPr>
        </p:nvSpPr>
        <p:spPr/>
        <p:txBody>
          <a:bodyPr/>
          <a:lstStyle/>
          <a:p>
            <a:r>
              <a:rPr lang="en-US" dirty="0"/>
              <a:t>Multidimensionality</a:t>
            </a:r>
          </a:p>
        </p:txBody>
      </p:sp>
    </p:spTree>
    <p:extLst>
      <p:ext uri="{BB962C8B-B14F-4D97-AF65-F5344CB8AC3E}">
        <p14:creationId xmlns:p14="http://schemas.microsoft.com/office/powerpoint/2010/main" val="760589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C24935-C92B-DFCD-24E0-2D546B14E5F7}"/>
              </a:ext>
            </a:extLst>
          </p:cNvPr>
          <p:cNvSpPr>
            <a:spLocks noGrp="1"/>
          </p:cNvSpPr>
          <p:nvPr>
            <p:ph type="body" sz="quarter" idx="108"/>
          </p:nvPr>
        </p:nvSpPr>
        <p:spPr/>
        <p:txBody>
          <a:bodyPr>
            <a:normAutofit lnSpcReduction="10000"/>
          </a:bodyPr>
          <a:lstStyle/>
          <a:p>
            <a:r>
              <a:rPr lang="en-US" dirty="0"/>
              <a:t>w1	I think it is better to be yourself than to be popular.</a:t>
            </a:r>
          </a:p>
          <a:p>
            <a:r>
              <a:rPr lang="en-US" dirty="0"/>
              <a:t>w2	I don’t know how I really feel inside.</a:t>
            </a:r>
          </a:p>
          <a:p>
            <a:r>
              <a:rPr lang="en-US" dirty="0"/>
              <a:t>w3	I am strongly influenced by the opinions of others.</a:t>
            </a:r>
          </a:p>
          <a:p>
            <a:r>
              <a:rPr lang="en-US" dirty="0"/>
              <a:t>w4	I usually do what other people tell me to do.</a:t>
            </a:r>
          </a:p>
          <a:p>
            <a:r>
              <a:rPr lang="en-US" dirty="0"/>
              <a:t>w5	I always feel I need to do what others expect me to do.</a:t>
            </a:r>
          </a:p>
          <a:p>
            <a:r>
              <a:rPr lang="en-US" dirty="0"/>
              <a:t>w6	Other people influence me greatly.</a:t>
            </a:r>
          </a:p>
          <a:p>
            <a:r>
              <a:rPr lang="en-US" dirty="0"/>
              <a:t>w7	I feel as if I don’t know myself very well.</a:t>
            </a:r>
          </a:p>
          <a:p>
            <a:r>
              <a:rPr lang="en-US" dirty="0"/>
              <a:t>w8	I always stand by what I believe in.</a:t>
            </a:r>
          </a:p>
          <a:p>
            <a:r>
              <a:rPr lang="en-US" dirty="0"/>
              <a:t>w9	I am true to myself in most situations.</a:t>
            </a:r>
          </a:p>
          <a:p>
            <a:r>
              <a:rPr lang="en-US" dirty="0"/>
              <a:t>w10	I feel out of touch with the 'real me’.</a:t>
            </a:r>
          </a:p>
          <a:p>
            <a:r>
              <a:rPr lang="en-US" dirty="0"/>
              <a:t>w11	I live in accordance with my values and beliefs.</a:t>
            </a:r>
          </a:p>
          <a:p>
            <a:r>
              <a:rPr lang="en-US" dirty="0"/>
              <a:t>w12	I feel alienated from myself.</a:t>
            </a:r>
          </a:p>
        </p:txBody>
      </p:sp>
      <p:sp>
        <p:nvSpPr>
          <p:cNvPr id="3" name="Title 2">
            <a:extLst>
              <a:ext uri="{FF2B5EF4-FFF2-40B4-BE49-F238E27FC236}">
                <a16:creationId xmlns:a16="http://schemas.microsoft.com/office/drawing/2014/main" id="{903C100C-0786-A156-9364-CF241A53C195}"/>
              </a:ext>
            </a:extLst>
          </p:cNvPr>
          <p:cNvSpPr>
            <a:spLocks noGrp="1"/>
          </p:cNvSpPr>
          <p:nvPr>
            <p:ph type="title"/>
          </p:nvPr>
        </p:nvSpPr>
        <p:spPr/>
        <p:txBody>
          <a:bodyPr/>
          <a:lstStyle/>
          <a:p>
            <a:r>
              <a:rPr lang="en-US" dirty="0"/>
              <a:t>Example: Authenticity Scale</a:t>
            </a:r>
          </a:p>
        </p:txBody>
      </p:sp>
      <p:sp>
        <p:nvSpPr>
          <p:cNvPr id="5" name="Google Shape;200;p69">
            <a:extLst>
              <a:ext uri="{FF2B5EF4-FFF2-40B4-BE49-F238E27FC236}">
                <a16:creationId xmlns:a16="http://schemas.microsoft.com/office/drawing/2014/main" id="{CF4104DF-6587-1FCB-2FBC-07E8F4C1A335}"/>
              </a:ext>
            </a:extLst>
          </p:cNvPr>
          <p:cNvSpPr txBox="1"/>
          <p:nvPr/>
        </p:nvSpPr>
        <p:spPr>
          <a:xfrm>
            <a:off x="10251502" y="6323563"/>
            <a:ext cx="17656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Garamond"/>
                <a:ea typeface="Garamond"/>
                <a:cs typeface="Garamond"/>
                <a:sym typeface="Garamond"/>
              </a:rPr>
              <a:t>(Wood et al., 2008)</a:t>
            </a:r>
            <a:endParaRPr dirty="0"/>
          </a:p>
        </p:txBody>
      </p:sp>
    </p:spTree>
    <p:extLst>
      <p:ext uri="{BB962C8B-B14F-4D97-AF65-F5344CB8AC3E}">
        <p14:creationId xmlns:p14="http://schemas.microsoft.com/office/powerpoint/2010/main" val="4069995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7" name="Google Shape;207;p70"/>
          <p:cNvSpPr txBox="1">
            <a:spLocks noGrp="1"/>
          </p:cNvSpPr>
          <p:nvPr>
            <p:ph type="body" sz="quarter" idx="108"/>
          </p:nvPr>
        </p:nvSpPr>
        <p:spPr>
          <a:prstGeom prst="rect">
            <a:avLst/>
          </a:prstGeom>
          <a:noFill/>
          <a:ln>
            <a:noFill/>
          </a:ln>
        </p:spPr>
        <p:txBody>
          <a:bodyPr spcFirstLastPara="1" wrap="square" lIns="91425" tIns="45700" rIns="91425" bIns="45700" anchor="t" anchorCtr="0">
            <a:normAutofit lnSpcReduction="10000"/>
          </a:bodyPr>
          <a:lstStyle/>
          <a:p>
            <a:pPr>
              <a:buSzPct val="123214"/>
            </a:pPr>
            <a:r>
              <a:rPr lang="en-US" b="1" dirty="0">
                <a:latin typeface="Times New Roman" panose="02020603050405020304" pitchFamily="18" charset="0"/>
                <a:cs typeface="Times New Roman" panose="02020603050405020304" pitchFamily="18" charset="0"/>
              </a:rPr>
              <a:t>w1</a:t>
            </a:r>
            <a:r>
              <a:rPr lang="en-US" dirty="0">
                <a:latin typeface="Times New Roman" panose="02020603050405020304" pitchFamily="18" charset="0"/>
                <a:cs typeface="Times New Roman" panose="02020603050405020304" pitchFamily="18" charset="0"/>
              </a:rPr>
              <a:t> I think it is better to be yourself than to be popular.</a:t>
            </a:r>
          </a:p>
          <a:p>
            <a:pPr>
              <a:buSzPct val="123214"/>
            </a:pPr>
            <a:r>
              <a:rPr lang="en-US" b="1" dirty="0">
                <a:latin typeface="Times New Roman" panose="02020603050405020304" pitchFamily="18" charset="0"/>
                <a:cs typeface="Times New Roman" panose="02020603050405020304" pitchFamily="18" charset="0"/>
              </a:rPr>
              <a:t>w8</a:t>
            </a:r>
            <a:r>
              <a:rPr lang="en-US" dirty="0">
                <a:latin typeface="Times New Roman" panose="02020603050405020304" pitchFamily="18" charset="0"/>
                <a:cs typeface="Times New Roman" panose="02020603050405020304" pitchFamily="18" charset="0"/>
              </a:rPr>
              <a:t> I always stand by what I believe in.</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w9</a:t>
            </a:r>
            <a:r>
              <a:rPr lang="en-US" dirty="0">
                <a:latin typeface="Times New Roman" panose="02020603050405020304" pitchFamily="18" charset="0"/>
                <a:cs typeface="Times New Roman" panose="02020603050405020304" pitchFamily="18" charset="0"/>
              </a:rPr>
              <a:t> I am true to myself in most situations.</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w11</a:t>
            </a:r>
            <a:r>
              <a:rPr lang="en-US" dirty="0">
                <a:latin typeface="Times New Roman" panose="02020603050405020304" pitchFamily="18" charset="0"/>
                <a:cs typeface="Times New Roman" panose="02020603050405020304" pitchFamily="18" charset="0"/>
              </a:rPr>
              <a:t> I live in accordance with my values and beliefs.</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w3</a:t>
            </a:r>
            <a:r>
              <a:rPr lang="en-US" dirty="0">
                <a:latin typeface="Times New Roman" panose="02020603050405020304" pitchFamily="18" charset="0"/>
                <a:cs typeface="Times New Roman" panose="02020603050405020304" pitchFamily="18" charset="0"/>
              </a:rPr>
              <a:t> I am strongly influenced by the opinions of others.</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w4</a:t>
            </a:r>
            <a:r>
              <a:rPr lang="en-US" dirty="0">
                <a:latin typeface="Times New Roman" panose="02020603050405020304" pitchFamily="18" charset="0"/>
                <a:cs typeface="Times New Roman" panose="02020603050405020304" pitchFamily="18" charset="0"/>
              </a:rPr>
              <a:t> I usually do what other people tell me to do.</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w5</a:t>
            </a:r>
            <a:r>
              <a:rPr lang="en-US" dirty="0">
                <a:latin typeface="Times New Roman" panose="02020603050405020304" pitchFamily="18" charset="0"/>
                <a:cs typeface="Times New Roman" panose="02020603050405020304" pitchFamily="18" charset="0"/>
              </a:rPr>
              <a:t> I always feel I need to do what others expect me to do.</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w6</a:t>
            </a:r>
            <a:r>
              <a:rPr lang="en-US" dirty="0">
                <a:latin typeface="Times New Roman" panose="02020603050405020304" pitchFamily="18" charset="0"/>
                <a:cs typeface="Times New Roman" panose="02020603050405020304" pitchFamily="18" charset="0"/>
              </a:rPr>
              <a:t> Other people influence me greatly.</a:t>
            </a:r>
          </a:p>
          <a:p>
            <a:pPr>
              <a:buSzPct val="123214"/>
            </a:pPr>
            <a:r>
              <a:rPr lang="en-US" b="1" dirty="0">
                <a:latin typeface="Times New Roman" panose="02020603050405020304" pitchFamily="18" charset="0"/>
                <a:cs typeface="Times New Roman" panose="02020603050405020304" pitchFamily="18" charset="0"/>
              </a:rPr>
              <a:t>w2</a:t>
            </a:r>
            <a:r>
              <a:rPr lang="en-US" dirty="0">
                <a:latin typeface="Times New Roman" panose="02020603050405020304" pitchFamily="18" charset="0"/>
                <a:cs typeface="Times New Roman" panose="02020603050405020304" pitchFamily="18" charset="0"/>
              </a:rPr>
              <a:t> I don’t know how I really feel inside.</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w7</a:t>
            </a:r>
            <a:r>
              <a:rPr lang="en-US" dirty="0">
                <a:latin typeface="Times New Roman" panose="02020603050405020304" pitchFamily="18" charset="0"/>
                <a:cs typeface="Times New Roman" panose="02020603050405020304" pitchFamily="18" charset="0"/>
              </a:rPr>
              <a:t> I feel as if I don’t know myself very well.</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w10</a:t>
            </a:r>
            <a:r>
              <a:rPr lang="en-US" dirty="0">
                <a:latin typeface="Times New Roman" panose="02020603050405020304" pitchFamily="18" charset="0"/>
                <a:cs typeface="Times New Roman" panose="02020603050405020304" pitchFamily="18" charset="0"/>
              </a:rPr>
              <a:t> I feel out of touch with the 'real me’.</a:t>
            </a:r>
            <a:endParaRPr dirty="0">
              <a:latin typeface="Times New Roman" panose="02020603050405020304" pitchFamily="18" charset="0"/>
              <a:cs typeface="Times New Roman" panose="02020603050405020304" pitchFamily="18" charset="0"/>
            </a:endParaRPr>
          </a:p>
          <a:p>
            <a:pPr>
              <a:buSzPct val="123214"/>
            </a:pPr>
            <a:r>
              <a:rPr lang="en-US" b="1" dirty="0">
                <a:latin typeface="Times New Roman" panose="02020603050405020304" pitchFamily="18" charset="0"/>
                <a:cs typeface="Times New Roman" panose="02020603050405020304" pitchFamily="18" charset="0"/>
              </a:rPr>
              <a:t>w12</a:t>
            </a:r>
            <a:r>
              <a:rPr lang="en-US" dirty="0">
                <a:latin typeface="Times New Roman" panose="02020603050405020304" pitchFamily="18" charset="0"/>
                <a:cs typeface="Times New Roman" panose="02020603050405020304" pitchFamily="18" charset="0"/>
              </a:rPr>
              <a:t> I feel alienated from myself.</a:t>
            </a:r>
            <a:endParaRPr dirty="0">
              <a:latin typeface="Times New Roman" panose="02020603050405020304" pitchFamily="18" charset="0"/>
              <a:cs typeface="Times New Roman" panose="02020603050405020304" pitchFamily="18" charset="0"/>
            </a:endParaRPr>
          </a:p>
        </p:txBody>
      </p:sp>
      <p:sp>
        <p:nvSpPr>
          <p:cNvPr id="206" name="Google Shape;206;p7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b="1" dirty="0">
                <a:latin typeface="Times New Roman" panose="02020603050405020304" pitchFamily="18" charset="0"/>
                <a:cs typeface="Times New Roman" panose="02020603050405020304" pitchFamily="18" charset="0"/>
              </a:rPr>
              <a:t>Authenticity</a:t>
            </a:r>
            <a:endParaRPr b="1" dirty="0">
              <a:latin typeface="Times New Roman" panose="02020603050405020304" pitchFamily="18" charset="0"/>
              <a:cs typeface="Times New Roman" panose="02020603050405020304" pitchFamily="18" charset="0"/>
            </a:endParaRPr>
          </a:p>
        </p:txBody>
      </p:sp>
      <p:sp>
        <p:nvSpPr>
          <p:cNvPr id="209" name="Google Shape;209;p70"/>
          <p:cNvSpPr/>
          <p:nvPr/>
        </p:nvSpPr>
        <p:spPr>
          <a:xfrm>
            <a:off x="858077" y="1374402"/>
            <a:ext cx="7070738" cy="154608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lt1"/>
              </a:solidFill>
              <a:latin typeface="Arial"/>
              <a:ea typeface="Arial"/>
              <a:cs typeface="Arial"/>
              <a:sym typeface="Arial"/>
            </a:endParaRPr>
          </a:p>
        </p:txBody>
      </p:sp>
      <p:sp>
        <p:nvSpPr>
          <p:cNvPr id="210" name="Google Shape;210;p70"/>
          <p:cNvSpPr txBox="1"/>
          <p:nvPr/>
        </p:nvSpPr>
        <p:spPr>
          <a:xfrm>
            <a:off x="7928815" y="1835891"/>
            <a:ext cx="2185323" cy="400069"/>
          </a:xfrm>
          <a:prstGeom prst="rect">
            <a:avLst/>
          </a:prstGeom>
          <a:noFill/>
          <a:ln>
            <a:noFill/>
          </a:ln>
        </p:spPr>
        <p:txBody>
          <a:bodyPr spcFirstLastPara="1" wrap="square" lIns="91425" tIns="45700" rIns="91425" bIns="45700" anchor="t" anchorCtr="0">
            <a:spAutoFit/>
          </a:bodyPr>
          <a:lstStyle/>
          <a:p>
            <a:r>
              <a:rPr lang="en-US" sz="2000" b="1" dirty="0">
                <a:solidFill>
                  <a:srgbClr val="FF0000"/>
                </a:solidFill>
                <a:latin typeface="Times New Roman" panose="02020603050405020304" pitchFamily="18" charset="0"/>
                <a:ea typeface="Garamond"/>
                <a:cs typeface="Times New Roman" panose="02020603050405020304" pitchFamily="18" charset="0"/>
                <a:sym typeface="Garamond"/>
              </a:rPr>
              <a:t>Authentic Living</a:t>
            </a:r>
            <a:endParaRPr sz="28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140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71"/>
          <p:cNvSpPr txBox="1">
            <a:spLocks noGrp="1"/>
          </p:cNvSpPr>
          <p:nvPr>
            <p:ph type="body" sz="quarter" idx="108"/>
          </p:nvPr>
        </p:nvSpPr>
        <p:spPr>
          <a:prstGeom prst="rect">
            <a:avLst/>
          </a:prstGeom>
          <a:noFill/>
          <a:ln>
            <a:noFill/>
          </a:ln>
        </p:spPr>
        <p:txBody>
          <a:bodyPr spcFirstLastPara="1" wrap="square" lIns="91425" tIns="45700" rIns="91425" bIns="45700" anchor="t" anchorCtr="0">
            <a:normAutofit lnSpcReduction="10000"/>
          </a:bodyPr>
          <a:lstStyle/>
          <a:p>
            <a:pPr>
              <a:buSzPct val="123214"/>
            </a:pPr>
            <a:r>
              <a:rPr lang="en-US" b="1" dirty="0">
                <a:latin typeface="Times New Roman" panose="02020603050405020304" pitchFamily="18" charset="0"/>
                <a:cs typeface="Times New Roman" panose="02020603050405020304" pitchFamily="18" charset="0"/>
              </a:rPr>
              <a:t>w1</a:t>
            </a:r>
            <a:r>
              <a:rPr lang="en-US" dirty="0">
                <a:latin typeface="Times New Roman" panose="02020603050405020304" pitchFamily="18" charset="0"/>
                <a:cs typeface="Times New Roman" panose="02020603050405020304" pitchFamily="18" charset="0"/>
              </a:rPr>
              <a:t> I think it is better to be yourself than to be popular.</a:t>
            </a:r>
          </a:p>
          <a:p>
            <a:pPr>
              <a:buSzPct val="123214"/>
            </a:pPr>
            <a:r>
              <a:rPr lang="en-US" b="1" dirty="0">
                <a:latin typeface="Times New Roman" panose="02020603050405020304" pitchFamily="18" charset="0"/>
                <a:cs typeface="Times New Roman" panose="02020603050405020304" pitchFamily="18" charset="0"/>
              </a:rPr>
              <a:t>w8</a:t>
            </a:r>
            <a:r>
              <a:rPr lang="en-US" dirty="0">
                <a:latin typeface="Times New Roman" panose="02020603050405020304" pitchFamily="18" charset="0"/>
                <a:cs typeface="Times New Roman" panose="02020603050405020304" pitchFamily="18" charset="0"/>
              </a:rPr>
              <a:t> I always stand by what I believe in.</a:t>
            </a:r>
          </a:p>
          <a:p>
            <a:pPr>
              <a:buSzPct val="123214"/>
            </a:pPr>
            <a:r>
              <a:rPr lang="en-US" b="1" dirty="0">
                <a:latin typeface="Times New Roman" panose="02020603050405020304" pitchFamily="18" charset="0"/>
                <a:cs typeface="Times New Roman" panose="02020603050405020304" pitchFamily="18" charset="0"/>
              </a:rPr>
              <a:t>w9</a:t>
            </a:r>
            <a:r>
              <a:rPr lang="en-US" dirty="0">
                <a:latin typeface="Times New Roman" panose="02020603050405020304" pitchFamily="18" charset="0"/>
                <a:cs typeface="Times New Roman" panose="02020603050405020304" pitchFamily="18" charset="0"/>
              </a:rPr>
              <a:t> I am true to myself in most situations.</a:t>
            </a:r>
          </a:p>
          <a:p>
            <a:pPr>
              <a:buSzPct val="123214"/>
            </a:pPr>
            <a:r>
              <a:rPr lang="en-US" b="1" dirty="0">
                <a:latin typeface="Times New Roman" panose="02020603050405020304" pitchFamily="18" charset="0"/>
                <a:cs typeface="Times New Roman" panose="02020603050405020304" pitchFamily="18" charset="0"/>
              </a:rPr>
              <a:t>w11</a:t>
            </a:r>
            <a:r>
              <a:rPr lang="en-US" dirty="0">
                <a:latin typeface="Times New Roman" panose="02020603050405020304" pitchFamily="18" charset="0"/>
                <a:cs typeface="Times New Roman" panose="02020603050405020304" pitchFamily="18" charset="0"/>
              </a:rPr>
              <a:t> I live in accordance with my values and beliefs.</a:t>
            </a:r>
          </a:p>
          <a:p>
            <a:pPr>
              <a:buSzPct val="123214"/>
            </a:pPr>
            <a:r>
              <a:rPr lang="en-US" b="1" dirty="0">
                <a:latin typeface="Times New Roman" panose="02020603050405020304" pitchFamily="18" charset="0"/>
                <a:cs typeface="Times New Roman" panose="02020603050405020304" pitchFamily="18" charset="0"/>
              </a:rPr>
              <a:t>w3</a:t>
            </a:r>
            <a:r>
              <a:rPr lang="en-US" dirty="0">
                <a:latin typeface="Times New Roman" panose="02020603050405020304" pitchFamily="18" charset="0"/>
                <a:cs typeface="Times New Roman" panose="02020603050405020304" pitchFamily="18" charset="0"/>
              </a:rPr>
              <a:t> I am strongly influenced by the opinions of others.</a:t>
            </a:r>
          </a:p>
          <a:p>
            <a:pPr>
              <a:buSzPct val="123214"/>
            </a:pPr>
            <a:r>
              <a:rPr lang="en-US" b="1" dirty="0">
                <a:latin typeface="Times New Roman" panose="02020603050405020304" pitchFamily="18" charset="0"/>
                <a:cs typeface="Times New Roman" panose="02020603050405020304" pitchFamily="18" charset="0"/>
              </a:rPr>
              <a:t>w4</a:t>
            </a:r>
            <a:r>
              <a:rPr lang="en-US" dirty="0">
                <a:latin typeface="Times New Roman" panose="02020603050405020304" pitchFamily="18" charset="0"/>
                <a:cs typeface="Times New Roman" panose="02020603050405020304" pitchFamily="18" charset="0"/>
              </a:rPr>
              <a:t> I usually do what other people tell me to do.</a:t>
            </a:r>
          </a:p>
          <a:p>
            <a:pPr>
              <a:buSzPct val="123214"/>
            </a:pPr>
            <a:r>
              <a:rPr lang="en-US" b="1" dirty="0">
                <a:latin typeface="Times New Roman" panose="02020603050405020304" pitchFamily="18" charset="0"/>
                <a:cs typeface="Times New Roman" panose="02020603050405020304" pitchFamily="18" charset="0"/>
              </a:rPr>
              <a:t>w5</a:t>
            </a:r>
            <a:r>
              <a:rPr lang="en-US" dirty="0">
                <a:latin typeface="Times New Roman" panose="02020603050405020304" pitchFamily="18" charset="0"/>
                <a:cs typeface="Times New Roman" panose="02020603050405020304" pitchFamily="18" charset="0"/>
              </a:rPr>
              <a:t> I always feel I need to do what others expect me to do.</a:t>
            </a:r>
          </a:p>
          <a:p>
            <a:pPr>
              <a:buSzPct val="123214"/>
            </a:pPr>
            <a:r>
              <a:rPr lang="en-US" b="1" dirty="0">
                <a:latin typeface="Times New Roman" panose="02020603050405020304" pitchFamily="18" charset="0"/>
                <a:cs typeface="Times New Roman" panose="02020603050405020304" pitchFamily="18" charset="0"/>
              </a:rPr>
              <a:t>w6</a:t>
            </a:r>
            <a:r>
              <a:rPr lang="en-US" dirty="0">
                <a:latin typeface="Times New Roman" panose="02020603050405020304" pitchFamily="18" charset="0"/>
                <a:cs typeface="Times New Roman" panose="02020603050405020304" pitchFamily="18" charset="0"/>
              </a:rPr>
              <a:t> Other people influence me greatly.</a:t>
            </a:r>
          </a:p>
          <a:p>
            <a:pPr>
              <a:buSzPct val="123214"/>
            </a:pPr>
            <a:r>
              <a:rPr lang="en-US" b="1" dirty="0">
                <a:latin typeface="Times New Roman" panose="02020603050405020304" pitchFamily="18" charset="0"/>
                <a:cs typeface="Times New Roman" panose="02020603050405020304" pitchFamily="18" charset="0"/>
              </a:rPr>
              <a:t>w2</a:t>
            </a:r>
            <a:r>
              <a:rPr lang="en-US" dirty="0">
                <a:latin typeface="Times New Roman" panose="02020603050405020304" pitchFamily="18" charset="0"/>
                <a:cs typeface="Times New Roman" panose="02020603050405020304" pitchFamily="18" charset="0"/>
              </a:rPr>
              <a:t> I don’t know how I really feel inside.</a:t>
            </a:r>
          </a:p>
          <a:p>
            <a:pPr>
              <a:buSzPct val="123214"/>
            </a:pPr>
            <a:r>
              <a:rPr lang="en-US" b="1" dirty="0">
                <a:latin typeface="Times New Roman" panose="02020603050405020304" pitchFamily="18" charset="0"/>
                <a:cs typeface="Times New Roman" panose="02020603050405020304" pitchFamily="18" charset="0"/>
              </a:rPr>
              <a:t>w7</a:t>
            </a:r>
            <a:r>
              <a:rPr lang="en-US" dirty="0">
                <a:latin typeface="Times New Roman" panose="02020603050405020304" pitchFamily="18" charset="0"/>
                <a:cs typeface="Times New Roman" panose="02020603050405020304" pitchFamily="18" charset="0"/>
              </a:rPr>
              <a:t> I feel as if I don’t know myself very well.</a:t>
            </a:r>
          </a:p>
          <a:p>
            <a:pPr>
              <a:buSzPct val="123214"/>
            </a:pPr>
            <a:r>
              <a:rPr lang="en-US" b="1" dirty="0">
                <a:latin typeface="Times New Roman" panose="02020603050405020304" pitchFamily="18" charset="0"/>
                <a:cs typeface="Times New Roman" panose="02020603050405020304" pitchFamily="18" charset="0"/>
              </a:rPr>
              <a:t>w10</a:t>
            </a:r>
            <a:r>
              <a:rPr lang="en-US" dirty="0">
                <a:latin typeface="Times New Roman" panose="02020603050405020304" pitchFamily="18" charset="0"/>
                <a:cs typeface="Times New Roman" panose="02020603050405020304" pitchFamily="18" charset="0"/>
              </a:rPr>
              <a:t> I feel out of touch with the 'real me’.</a:t>
            </a:r>
          </a:p>
          <a:p>
            <a:pPr>
              <a:buSzPct val="123214"/>
            </a:pPr>
            <a:r>
              <a:rPr lang="en-US" b="1" dirty="0">
                <a:latin typeface="Times New Roman" panose="02020603050405020304" pitchFamily="18" charset="0"/>
                <a:cs typeface="Times New Roman" panose="02020603050405020304" pitchFamily="18" charset="0"/>
              </a:rPr>
              <a:t>w12</a:t>
            </a:r>
            <a:r>
              <a:rPr lang="en-US" dirty="0">
                <a:latin typeface="Times New Roman" panose="02020603050405020304" pitchFamily="18" charset="0"/>
                <a:cs typeface="Times New Roman" panose="02020603050405020304" pitchFamily="18" charset="0"/>
              </a:rPr>
              <a:t> I feel alienated from myself.</a:t>
            </a:r>
          </a:p>
        </p:txBody>
      </p:sp>
      <p:sp>
        <p:nvSpPr>
          <p:cNvPr id="216" name="Google Shape;216;p7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b="1" dirty="0">
                <a:latin typeface="Times New Roman" panose="02020603050405020304" pitchFamily="18" charset="0"/>
                <a:cs typeface="Times New Roman" panose="02020603050405020304" pitchFamily="18" charset="0"/>
              </a:rPr>
              <a:t>Authenticity</a:t>
            </a:r>
            <a:endParaRPr b="1" dirty="0">
              <a:latin typeface="Times New Roman" panose="02020603050405020304" pitchFamily="18" charset="0"/>
              <a:cs typeface="Times New Roman" panose="02020603050405020304" pitchFamily="18" charset="0"/>
            </a:endParaRPr>
          </a:p>
        </p:txBody>
      </p:sp>
      <p:sp>
        <p:nvSpPr>
          <p:cNvPr id="219" name="Google Shape;219;p71"/>
          <p:cNvSpPr/>
          <p:nvPr/>
        </p:nvSpPr>
        <p:spPr>
          <a:xfrm>
            <a:off x="848138" y="2880380"/>
            <a:ext cx="7204180" cy="1691620"/>
          </a:xfrm>
          <a:prstGeom prst="rect">
            <a:avLst/>
          </a:prstGeom>
          <a:noFill/>
          <a:ln w="254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lt1"/>
              </a:solidFill>
              <a:latin typeface="Arial"/>
              <a:ea typeface="Arial"/>
              <a:cs typeface="Arial"/>
              <a:sym typeface="Arial"/>
            </a:endParaRPr>
          </a:p>
        </p:txBody>
      </p:sp>
      <p:sp>
        <p:nvSpPr>
          <p:cNvPr id="220" name="Google Shape;220;p71"/>
          <p:cNvSpPr txBox="1"/>
          <p:nvPr/>
        </p:nvSpPr>
        <p:spPr>
          <a:xfrm>
            <a:off x="8404068" y="3276378"/>
            <a:ext cx="1765646" cy="1015622"/>
          </a:xfrm>
          <a:prstGeom prst="rect">
            <a:avLst/>
          </a:prstGeom>
          <a:noFill/>
          <a:ln>
            <a:noFill/>
          </a:ln>
        </p:spPr>
        <p:txBody>
          <a:bodyPr spcFirstLastPara="1" wrap="square" lIns="91425" tIns="45700" rIns="91425" bIns="45700" anchor="t" anchorCtr="0">
            <a:spAutoFit/>
          </a:bodyPr>
          <a:lstStyle/>
          <a:p>
            <a:r>
              <a:rPr lang="en-US" sz="2000" b="1" dirty="0">
                <a:solidFill>
                  <a:srgbClr val="0070C0"/>
                </a:solidFill>
                <a:latin typeface="Times New Roman" panose="02020603050405020304" pitchFamily="18" charset="0"/>
                <a:ea typeface="Garamond"/>
                <a:cs typeface="Times New Roman" panose="02020603050405020304" pitchFamily="18" charset="0"/>
                <a:sym typeface="Garamond"/>
              </a:rPr>
              <a:t>Accepting External Influences</a:t>
            </a:r>
            <a:endParaRPr sz="28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067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72"/>
          <p:cNvSpPr txBox="1">
            <a:spLocks noGrp="1"/>
          </p:cNvSpPr>
          <p:nvPr>
            <p:ph type="body" sz="quarter" idx="108"/>
          </p:nvPr>
        </p:nvSpPr>
        <p:spPr>
          <a:prstGeom prst="rect">
            <a:avLst/>
          </a:prstGeom>
          <a:noFill/>
          <a:ln>
            <a:noFill/>
          </a:ln>
        </p:spPr>
        <p:txBody>
          <a:bodyPr spcFirstLastPara="1" wrap="square" lIns="91425" tIns="45700" rIns="91425" bIns="45700" anchor="t" anchorCtr="0">
            <a:normAutofit lnSpcReduction="10000"/>
          </a:bodyPr>
          <a:lstStyle/>
          <a:p>
            <a:pPr>
              <a:buSzPct val="123214"/>
            </a:pPr>
            <a:r>
              <a:rPr lang="en-US" b="1" dirty="0">
                <a:latin typeface="Times New Roman" panose="02020603050405020304" pitchFamily="18" charset="0"/>
                <a:cs typeface="Times New Roman" panose="02020603050405020304" pitchFamily="18" charset="0"/>
              </a:rPr>
              <a:t>w1</a:t>
            </a:r>
            <a:r>
              <a:rPr lang="en-US" dirty="0">
                <a:latin typeface="Times New Roman" panose="02020603050405020304" pitchFamily="18" charset="0"/>
                <a:cs typeface="Times New Roman" panose="02020603050405020304" pitchFamily="18" charset="0"/>
              </a:rPr>
              <a:t> I think it is better to be yourself than to be popular.</a:t>
            </a:r>
          </a:p>
          <a:p>
            <a:pPr>
              <a:buSzPct val="123214"/>
            </a:pPr>
            <a:r>
              <a:rPr lang="en-US" b="1" dirty="0">
                <a:latin typeface="Times New Roman" panose="02020603050405020304" pitchFamily="18" charset="0"/>
                <a:cs typeface="Times New Roman" panose="02020603050405020304" pitchFamily="18" charset="0"/>
              </a:rPr>
              <a:t>w8</a:t>
            </a:r>
            <a:r>
              <a:rPr lang="en-US" dirty="0">
                <a:latin typeface="Times New Roman" panose="02020603050405020304" pitchFamily="18" charset="0"/>
                <a:cs typeface="Times New Roman" panose="02020603050405020304" pitchFamily="18" charset="0"/>
              </a:rPr>
              <a:t> I always stand by what I believe in.</a:t>
            </a:r>
          </a:p>
          <a:p>
            <a:pPr>
              <a:buSzPct val="123214"/>
            </a:pPr>
            <a:r>
              <a:rPr lang="en-US" b="1" dirty="0">
                <a:latin typeface="Times New Roman" panose="02020603050405020304" pitchFamily="18" charset="0"/>
                <a:cs typeface="Times New Roman" panose="02020603050405020304" pitchFamily="18" charset="0"/>
              </a:rPr>
              <a:t>w9</a:t>
            </a:r>
            <a:r>
              <a:rPr lang="en-US" dirty="0">
                <a:latin typeface="Times New Roman" panose="02020603050405020304" pitchFamily="18" charset="0"/>
                <a:cs typeface="Times New Roman" panose="02020603050405020304" pitchFamily="18" charset="0"/>
              </a:rPr>
              <a:t> I am true to myself in most situations.</a:t>
            </a:r>
          </a:p>
          <a:p>
            <a:pPr>
              <a:buSzPct val="123214"/>
            </a:pPr>
            <a:r>
              <a:rPr lang="en-US" b="1" dirty="0">
                <a:latin typeface="Times New Roman" panose="02020603050405020304" pitchFamily="18" charset="0"/>
                <a:cs typeface="Times New Roman" panose="02020603050405020304" pitchFamily="18" charset="0"/>
              </a:rPr>
              <a:t>w11</a:t>
            </a:r>
            <a:r>
              <a:rPr lang="en-US" dirty="0">
                <a:latin typeface="Times New Roman" panose="02020603050405020304" pitchFamily="18" charset="0"/>
                <a:cs typeface="Times New Roman" panose="02020603050405020304" pitchFamily="18" charset="0"/>
              </a:rPr>
              <a:t> I live in accordance with my values and beliefs.</a:t>
            </a:r>
          </a:p>
          <a:p>
            <a:pPr>
              <a:buSzPct val="123214"/>
            </a:pPr>
            <a:r>
              <a:rPr lang="en-US" b="1" dirty="0">
                <a:latin typeface="Times New Roman" panose="02020603050405020304" pitchFamily="18" charset="0"/>
                <a:cs typeface="Times New Roman" panose="02020603050405020304" pitchFamily="18" charset="0"/>
              </a:rPr>
              <a:t>w3</a:t>
            </a:r>
            <a:r>
              <a:rPr lang="en-US" dirty="0">
                <a:latin typeface="Times New Roman" panose="02020603050405020304" pitchFamily="18" charset="0"/>
                <a:cs typeface="Times New Roman" panose="02020603050405020304" pitchFamily="18" charset="0"/>
              </a:rPr>
              <a:t> I am strongly influenced by the opinions of others.</a:t>
            </a:r>
          </a:p>
          <a:p>
            <a:pPr>
              <a:buSzPct val="123214"/>
            </a:pPr>
            <a:r>
              <a:rPr lang="en-US" b="1" dirty="0">
                <a:latin typeface="Times New Roman" panose="02020603050405020304" pitchFamily="18" charset="0"/>
                <a:cs typeface="Times New Roman" panose="02020603050405020304" pitchFamily="18" charset="0"/>
              </a:rPr>
              <a:t>w4</a:t>
            </a:r>
            <a:r>
              <a:rPr lang="en-US" dirty="0">
                <a:latin typeface="Times New Roman" panose="02020603050405020304" pitchFamily="18" charset="0"/>
                <a:cs typeface="Times New Roman" panose="02020603050405020304" pitchFamily="18" charset="0"/>
              </a:rPr>
              <a:t> I usually do what other people tell me to do.</a:t>
            </a:r>
          </a:p>
          <a:p>
            <a:pPr>
              <a:buSzPct val="123214"/>
            </a:pPr>
            <a:r>
              <a:rPr lang="en-US" b="1" dirty="0">
                <a:latin typeface="Times New Roman" panose="02020603050405020304" pitchFamily="18" charset="0"/>
                <a:cs typeface="Times New Roman" panose="02020603050405020304" pitchFamily="18" charset="0"/>
              </a:rPr>
              <a:t>w5</a:t>
            </a:r>
            <a:r>
              <a:rPr lang="en-US" dirty="0">
                <a:latin typeface="Times New Roman" panose="02020603050405020304" pitchFamily="18" charset="0"/>
                <a:cs typeface="Times New Roman" panose="02020603050405020304" pitchFamily="18" charset="0"/>
              </a:rPr>
              <a:t> I always feel I need to do what others expect me to do.</a:t>
            </a:r>
          </a:p>
          <a:p>
            <a:pPr>
              <a:buSzPct val="123214"/>
            </a:pPr>
            <a:r>
              <a:rPr lang="en-US" b="1" dirty="0">
                <a:latin typeface="Times New Roman" panose="02020603050405020304" pitchFamily="18" charset="0"/>
                <a:cs typeface="Times New Roman" panose="02020603050405020304" pitchFamily="18" charset="0"/>
              </a:rPr>
              <a:t>w6</a:t>
            </a:r>
            <a:r>
              <a:rPr lang="en-US" dirty="0">
                <a:latin typeface="Times New Roman" panose="02020603050405020304" pitchFamily="18" charset="0"/>
                <a:cs typeface="Times New Roman" panose="02020603050405020304" pitchFamily="18" charset="0"/>
              </a:rPr>
              <a:t> Other people influence me greatly.</a:t>
            </a:r>
          </a:p>
          <a:p>
            <a:pPr>
              <a:buSzPct val="123214"/>
            </a:pPr>
            <a:r>
              <a:rPr lang="en-US" b="1" dirty="0">
                <a:latin typeface="Times New Roman" panose="02020603050405020304" pitchFamily="18" charset="0"/>
                <a:cs typeface="Times New Roman" panose="02020603050405020304" pitchFamily="18" charset="0"/>
              </a:rPr>
              <a:t>w2</a:t>
            </a:r>
            <a:r>
              <a:rPr lang="en-US" dirty="0">
                <a:latin typeface="Times New Roman" panose="02020603050405020304" pitchFamily="18" charset="0"/>
                <a:cs typeface="Times New Roman" panose="02020603050405020304" pitchFamily="18" charset="0"/>
              </a:rPr>
              <a:t> I don’t know how I really feel inside.</a:t>
            </a:r>
          </a:p>
          <a:p>
            <a:pPr>
              <a:buSzPct val="123214"/>
            </a:pPr>
            <a:r>
              <a:rPr lang="en-US" b="1" dirty="0">
                <a:latin typeface="Times New Roman" panose="02020603050405020304" pitchFamily="18" charset="0"/>
                <a:cs typeface="Times New Roman" panose="02020603050405020304" pitchFamily="18" charset="0"/>
              </a:rPr>
              <a:t>w7</a:t>
            </a:r>
            <a:r>
              <a:rPr lang="en-US" dirty="0">
                <a:latin typeface="Times New Roman" panose="02020603050405020304" pitchFamily="18" charset="0"/>
                <a:cs typeface="Times New Roman" panose="02020603050405020304" pitchFamily="18" charset="0"/>
              </a:rPr>
              <a:t> I feel as if I don’t know myself very well.</a:t>
            </a:r>
          </a:p>
          <a:p>
            <a:pPr>
              <a:buSzPct val="123214"/>
            </a:pPr>
            <a:r>
              <a:rPr lang="en-US" b="1" dirty="0">
                <a:latin typeface="Times New Roman" panose="02020603050405020304" pitchFamily="18" charset="0"/>
                <a:cs typeface="Times New Roman" panose="02020603050405020304" pitchFamily="18" charset="0"/>
              </a:rPr>
              <a:t>w10</a:t>
            </a:r>
            <a:r>
              <a:rPr lang="en-US" dirty="0">
                <a:latin typeface="Times New Roman" panose="02020603050405020304" pitchFamily="18" charset="0"/>
                <a:cs typeface="Times New Roman" panose="02020603050405020304" pitchFamily="18" charset="0"/>
              </a:rPr>
              <a:t> I feel out of touch with the 'real me’.</a:t>
            </a:r>
          </a:p>
          <a:p>
            <a:pPr>
              <a:buSzPct val="123214"/>
            </a:pPr>
            <a:r>
              <a:rPr lang="en-US" b="1" dirty="0">
                <a:latin typeface="Times New Roman" panose="02020603050405020304" pitchFamily="18" charset="0"/>
                <a:cs typeface="Times New Roman" panose="02020603050405020304" pitchFamily="18" charset="0"/>
              </a:rPr>
              <a:t>w12</a:t>
            </a:r>
            <a:r>
              <a:rPr lang="en-US" dirty="0">
                <a:latin typeface="Times New Roman" panose="02020603050405020304" pitchFamily="18" charset="0"/>
                <a:cs typeface="Times New Roman" panose="02020603050405020304" pitchFamily="18" charset="0"/>
              </a:rPr>
              <a:t> I feel alienated from myself.</a:t>
            </a:r>
          </a:p>
        </p:txBody>
      </p:sp>
      <p:sp>
        <p:nvSpPr>
          <p:cNvPr id="226" name="Google Shape;226;p7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b="1" dirty="0">
                <a:latin typeface="Times New Roman" panose="02020603050405020304" pitchFamily="18" charset="0"/>
                <a:cs typeface="Times New Roman" panose="02020603050405020304" pitchFamily="18" charset="0"/>
              </a:rPr>
              <a:t>Authenticity</a:t>
            </a:r>
            <a:endParaRPr b="1" dirty="0">
              <a:latin typeface="Times New Roman" panose="02020603050405020304" pitchFamily="18" charset="0"/>
              <a:cs typeface="Times New Roman" panose="02020603050405020304" pitchFamily="18" charset="0"/>
            </a:endParaRPr>
          </a:p>
        </p:txBody>
      </p:sp>
      <p:sp>
        <p:nvSpPr>
          <p:cNvPr id="229" name="Google Shape;229;p72"/>
          <p:cNvSpPr/>
          <p:nvPr/>
        </p:nvSpPr>
        <p:spPr>
          <a:xfrm>
            <a:off x="838199" y="4576810"/>
            <a:ext cx="5889172" cy="1650251"/>
          </a:xfrm>
          <a:prstGeom prst="rect">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lt1"/>
              </a:solidFill>
              <a:latin typeface="Arial"/>
              <a:ea typeface="Arial"/>
              <a:cs typeface="Arial"/>
              <a:sym typeface="Arial"/>
            </a:endParaRPr>
          </a:p>
        </p:txBody>
      </p:sp>
      <p:sp>
        <p:nvSpPr>
          <p:cNvPr id="230" name="Google Shape;230;p72"/>
          <p:cNvSpPr txBox="1"/>
          <p:nvPr/>
        </p:nvSpPr>
        <p:spPr>
          <a:xfrm>
            <a:off x="7233458" y="5161747"/>
            <a:ext cx="1765646" cy="400069"/>
          </a:xfrm>
          <a:prstGeom prst="rect">
            <a:avLst/>
          </a:prstGeom>
          <a:noFill/>
          <a:ln>
            <a:noFill/>
          </a:ln>
        </p:spPr>
        <p:txBody>
          <a:bodyPr spcFirstLastPara="1" wrap="square" lIns="91425" tIns="45700" rIns="91425" bIns="45700" anchor="t" anchorCtr="0">
            <a:spAutoFit/>
          </a:bodyPr>
          <a:lstStyle/>
          <a:p>
            <a:r>
              <a:rPr lang="en-US" sz="2000" b="1" dirty="0">
                <a:solidFill>
                  <a:srgbClr val="00B050"/>
                </a:solidFill>
                <a:latin typeface="Times New Roman" panose="02020603050405020304" pitchFamily="18" charset="0"/>
                <a:ea typeface="Garamond"/>
                <a:cs typeface="Times New Roman" panose="02020603050405020304" pitchFamily="18" charset="0"/>
                <a:sym typeface="Garamond"/>
              </a:rPr>
              <a:t>Self-alienation</a:t>
            </a:r>
            <a:endParaRPr sz="28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626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68E094-D8C1-C869-5167-77374E6E0BF4}"/>
              </a:ext>
            </a:extLst>
          </p:cNvPr>
          <p:cNvSpPr>
            <a:spLocks noGrp="1"/>
          </p:cNvSpPr>
          <p:nvPr>
            <p:ph type="title"/>
          </p:nvPr>
        </p:nvSpPr>
        <p:spPr/>
        <p:txBody>
          <a:bodyPr/>
          <a:lstStyle/>
          <a:p>
            <a:r>
              <a:rPr lang="en-US" dirty="0"/>
              <a:t>The Pattern Matrix</a:t>
            </a:r>
          </a:p>
        </p:txBody>
      </p:sp>
      <p:grpSp>
        <p:nvGrpSpPr>
          <p:cNvPr id="18" name="Group 17">
            <a:extLst>
              <a:ext uri="{FF2B5EF4-FFF2-40B4-BE49-F238E27FC236}">
                <a16:creationId xmlns:a16="http://schemas.microsoft.com/office/drawing/2014/main" id="{B8FD3D1E-DF42-0DCF-AA10-843A2D52CFE6}"/>
              </a:ext>
            </a:extLst>
          </p:cNvPr>
          <p:cNvGrpSpPr/>
          <p:nvPr/>
        </p:nvGrpSpPr>
        <p:grpSpPr>
          <a:xfrm>
            <a:off x="1050735" y="1322821"/>
            <a:ext cx="9231600" cy="5245929"/>
            <a:chOff x="808140" y="930936"/>
            <a:chExt cx="8235968" cy="4596513"/>
          </a:xfrm>
        </p:grpSpPr>
        <p:pic>
          <p:nvPicPr>
            <p:cNvPr id="5" name="Picture 4">
              <a:extLst>
                <a:ext uri="{FF2B5EF4-FFF2-40B4-BE49-F238E27FC236}">
                  <a16:creationId xmlns:a16="http://schemas.microsoft.com/office/drawing/2014/main" id="{ECBCA5C7-4059-72CB-7553-4E1092B46D18}"/>
                </a:ext>
              </a:extLst>
            </p:cNvPr>
            <p:cNvPicPr>
              <a:picLocks noChangeAspect="1"/>
            </p:cNvPicPr>
            <p:nvPr/>
          </p:nvPicPr>
          <p:blipFill>
            <a:blip r:embed="rId3"/>
            <a:srcRect t="8262"/>
            <a:stretch/>
          </p:blipFill>
          <p:spPr>
            <a:xfrm>
              <a:off x="808140" y="930936"/>
              <a:ext cx="8235968" cy="4596513"/>
            </a:xfrm>
            <a:prstGeom prst="rect">
              <a:avLst/>
            </a:prstGeom>
          </p:spPr>
        </p:pic>
        <p:sp>
          <p:nvSpPr>
            <p:cNvPr id="7" name="Google Shape;259;p76">
              <a:extLst>
                <a:ext uri="{FF2B5EF4-FFF2-40B4-BE49-F238E27FC236}">
                  <a16:creationId xmlns:a16="http://schemas.microsoft.com/office/drawing/2014/main" id="{A4043732-64A9-0741-E073-444DA2A56EAC}"/>
                </a:ext>
              </a:extLst>
            </p:cNvPr>
            <p:cNvSpPr/>
            <p:nvPr/>
          </p:nvSpPr>
          <p:spPr>
            <a:xfrm rot="5400000">
              <a:off x="1952788" y="521196"/>
              <a:ext cx="1496039" cy="2667962"/>
            </a:xfrm>
            <a:prstGeom prst="triangle">
              <a:avLst>
                <a:gd name="adj" fmla="val 100000"/>
              </a:avLst>
            </a:prstGeom>
            <a:solidFill>
              <a:srgbClr val="FF0000">
                <a:alpha val="14902"/>
              </a:srgbClr>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 name="Google Shape;260;p76">
              <a:extLst>
                <a:ext uri="{FF2B5EF4-FFF2-40B4-BE49-F238E27FC236}">
                  <a16:creationId xmlns:a16="http://schemas.microsoft.com/office/drawing/2014/main" id="{CDF50A5B-04C1-8D1E-2572-C1B806B5ADC9}"/>
                </a:ext>
              </a:extLst>
            </p:cNvPr>
            <p:cNvSpPr/>
            <p:nvPr/>
          </p:nvSpPr>
          <p:spPr>
            <a:xfrm rot="5400000">
              <a:off x="4393094" y="1877849"/>
              <a:ext cx="1496039" cy="2667962"/>
            </a:xfrm>
            <a:prstGeom prst="triangle">
              <a:avLst>
                <a:gd name="adj" fmla="val 100000"/>
              </a:avLst>
            </a:prstGeom>
            <a:solidFill>
              <a:srgbClr val="0070C0">
                <a:alpha val="14902"/>
              </a:srgbClr>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 name="Google Shape;261;p76">
              <a:extLst>
                <a:ext uri="{FF2B5EF4-FFF2-40B4-BE49-F238E27FC236}">
                  <a16:creationId xmlns:a16="http://schemas.microsoft.com/office/drawing/2014/main" id="{BBD7F20B-40CF-D163-D756-A7328A6AD658}"/>
                </a:ext>
              </a:extLst>
            </p:cNvPr>
            <p:cNvSpPr/>
            <p:nvPr/>
          </p:nvSpPr>
          <p:spPr>
            <a:xfrm rot="5400000">
              <a:off x="6842924" y="3241829"/>
              <a:ext cx="1496039" cy="2667962"/>
            </a:xfrm>
            <a:prstGeom prst="triangle">
              <a:avLst>
                <a:gd name="adj" fmla="val 100000"/>
              </a:avLst>
            </a:prstGeom>
            <a:solidFill>
              <a:srgbClr val="00B050">
                <a:alpha val="14902"/>
              </a:srgbClr>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262;p76">
              <a:extLst>
                <a:ext uri="{FF2B5EF4-FFF2-40B4-BE49-F238E27FC236}">
                  <a16:creationId xmlns:a16="http://schemas.microsoft.com/office/drawing/2014/main" id="{E84111D4-7825-FD9F-0A3E-00389AD42A47}"/>
                </a:ext>
              </a:extLst>
            </p:cNvPr>
            <p:cNvSpPr/>
            <p:nvPr/>
          </p:nvSpPr>
          <p:spPr>
            <a:xfrm>
              <a:off x="1332536" y="2614627"/>
              <a:ext cx="2440306" cy="1356653"/>
            </a:xfrm>
            <a:prstGeom prst="rect">
              <a:avLst/>
            </a:prstGeom>
            <a:no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 name="Google Shape;263;p76">
              <a:extLst>
                <a:ext uri="{FF2B5EF4-FFF2-40B4-BE49-F238E27FC236}">
                  <a16:creationId xmlns:a16="http://schemas.microsoft.com/office/drawing/2014/main" id="{6B7F82FC-30F2-4365-53AE-2485F7A588F9}"/>
                </a:ext>
              </a:extLst>
            </p:cNvPr>
            <p:cNvSpPr/>
            <p:nvPr/>
          </p:nvSpPr>
          <p:spPr>
            <a:xfrm>
              <a:off x="1332536" y="3978607"/>
              <a:ext cx="2440306" cy="1356653"/>
            </a:xfrm>
            <a:prstGeom prst="rect">
              <a:avLst/>
            </a:prstGeom>
            <a:no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 name="Google Shape;264;p76">
              <a:extLst>
                <a:ext uri="{FF2B5EF4-FFF2-40B4-BE49-F238E27FC236}">
                  <a16:creationId xmlns:a16="http://schemas.microsoft.com/office/drawing/2014/main" id="{2AE5D943-835A-D0A9-5715-21F2EB2F4008}"/>
                </a:ext>
              </a:extLst>
            </p:cNvPr>
            <p:cNvSpPr/>
            <p:nvPr/>
          </p:nvSpPr>
          <p:spPr>
            <a:xfrm>
              <a:off x="3782366" y="3985904"/>
              <a:ext cx="2440306" cy="1356653"/>
            </a:xfrm>
            <a:prstGeom prst="rect">
              <a:avLst/>
            </a:prstGeom>
            <a:no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752928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E03419-BEAD-4C68-5987-68247466484B}"/>
              </a:ext>
            </a:extLst>
          </p:cNvPr>
          <p:cNvSpPr>
            <a:spLocks noGrp="1"/>
          </p:cNvSpPr>
          <p:nvPr>
            <p:ph type="body" sz="quarter" idx="108"/>
          </p:nvPr>
        </p:nvSpPr>
        <p:spPr/>
        <p:txBody>
          <a:bodyPr/>
          <a:lstStyle/>
          <a:p>
            <a:pPr marL="342900" lvl="1" indent="-342900">
              <a:spcBef>
                <a:spcPts val="1200"/>
              </a:spcBef>
              <a:buFont typeface="Arial" charset="0"/>
              <a:buChar char="•"/>
            </a:pPr>
            <a:r>
              <a:rPr lang="en-US" dirty="0"/>
              <a:t>The validity of a measure is not the same as its reliability.</a:t>
            </a:r>
          </a:p>
          <a:p>
            <a:pPr marL="342900" lvl="1" indent="-342900">
              <a:spcBef>
                <a:spcPts val="1200"/>
              </a:spcBef>
              <a:buFont typeface="Arial" charset="0"/>
              <a:buChar char="•"/>
            </a:pPr>
            <a:r>
              <a:rPr lang="en-US" dirty="0"/>
              <a:t>A measure can be less valid than it is reliable, but it cannot be more valid than it is reliable.</a:t>
            </a:r>
          </a:p>
          <a:p>
            <a:pPr marL="342900" lvl="1" indent="-342900">
              <a:spcBef>
                <a:spcPts val="1200"/>
              </a:spcBef>
              <a:buFont typeface="Arial" charset="0"/>
              <a:buChar char="•"/>
            </a:pPr>
            <a:r>
              <a:rPr lang="en-US" dirty="0"/>
              <a:t>Reliability is necessary but not sufficient for validity.</a:t>
            </a:r>
          </a:p>
          <a:p>
            <a:endParaRPr lang="en-US" dirty="0"/>
          </a:p>
        </p:txBody>
      </p:sp>
      <p:sp>
        <p:nvSpPr>
          <p:cNvPr id="3" name="Title 2">
            <a:extLst>
              <a:ext uri="{FF2B5EF4-FFF2-40B4-BE49-F238E27FC236}">
                <a16:creationId xmlns:a16="http://schemas.microsoft.com/office/drawing/2014/main" id="{8D3F5ED7-7CEA-5F4C-6079-2C5CF7BA099F}"/>
              </a:ext>
            </a:extLst>
          </p:cNvPr>
          <p:cNvSpPr>
            <a:spLocks noGrp="1"/>
          </p:cNvSpPr>
          <p:nvPr>
            <p:ph type="title"/>
          </p:nvPr>
        </p:nvSpPr>
        <p:spPr/>
        <p:txBody>
          <a:bodyPr/>
          <a:lstStyle/>
          <a:p>
            <a:r>
              <a:rPr lang="en-US" dirty="0"/>
              <a:t>Pulling it Back Together</a:t>
            </a:r>
          </a:p>
        </p:txBody>
      </p:sp>
    </p:spTree>
    <p:extLst>
      <p:ext uri="{BB962C8B-B14F-4D97-AF65-F5344CB8AC3E}">
        <p14:creationId xmlns:p14="http://schemas.microsoft.com/office/powerpoint/2010/main" val="2885689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4DF5F1-7A8B-8D25-BB4A-8EE9DCD2C1F5}"/>
              </a:ext>
            </a:extLst>
          </p:cNvPr>
          <p:cNvSpPr>
            <a:spLocks noGrp="1"/>
          </p:cNvSpPr>
          <p:nvPr>
            <p:ph type="body" sz="quarter" idx="106"/>
          </p:nvPr>
        </p:nvSpPr>
        <p:spPr/>
        <p:txBody>
          <a:bodyPr/>
          <a:lstStyle/>
          <a:p>
            <a:pPr marL="0" indent="0">
              <a:buNone/>
            </a:pPr>
            <a:r>
              <a:rPr lang="en-US" b="1" dirty="0"/>
              <a:t>Before Next Class(es):</a:t>
            </a:r>
            <a:endParaRPr lang="en-US" dirty="0"/>
          </a:p>
          <a:p>
            <a:pPr lvl="0"/>
            <a:r>
              <a:rPr lang="en-US" dirty="0"/>
              <a:t>Read Chapter 5 and complete </a:t>
            </a:r>
            <a:r>
              <a:rPr lang="en-US" dirty="0" err="1"/>
              <a:t>Ebook</a:t>
            </a:r>
            <a:r>
              <a:rPr lang="en-US" dirty="0"/>
              <a:t>: Chapter 5 assignment</a:t>
            </a:r>
          </a:p>
          <a:p>
            <a:pPr lvl="1"/>
            <a:r>
              <a:rPr lang="en-US" dirty="0"/>
              <a:t>Due 9/30 at 11:59 pm</a:t>
            </a:r>
          </a:p>
          <a:p>
            <a:pPr lvl="0"/>
            <a:r>
              <a:rPr lang="en-US" dirty="0"/>
              <a:t>Complete InQuizitive: Chapter 5</a:t>
            </a:r>
          </a:p>
          <a:p>
            <a:pPr lvl="1"/>
            <a:r>
              <a:rPr lang="en-US" dirty="0"/>
              <a:t>Due 9/30 at 11:59 pm</a:t>
            </a:r>
          </a:p>
          <a:p>
            <a:endParaRPr lang="en-US" dirty="0"/>
          </a:p>
        </p:txBody>
      </p:sp>
      <p:sp>
        <p:nvSpPr>
          <p:cNvPr id="2" name="Text Placeholder 1">
            <a:extLst>
              <a:ext uri="{FF2B5EF4-FFF2-40B4-BE49-F238E27FC236}">
                <a16:creationId xmlns:a16="http://schemas.microsoft.com/office/drawing/2014/main" id="{67515C91-71C4-54B6-24D6-BA9D0AF77DB8}"/>
              </a:ext>
            </a:extLst>
          </p:cNvPr>
          <p:cNvSpPr>
            <a:spLocks noGrp="1"/>
          </p:cNvSpPr>
          <p:nvPr>
            <p:ph type="body" sz="quarter" idx="107"/>
          </p:nvPr>
        </p:nvSpPr>
        <p:spPr/>
        <p:txBody>
          <a:bodyPr/>
          <a:lstStyle/>
          <a:p>
            <a:pPr marL="0" indent="0">
              <a:buNone/>
            </a:pPr>
            <a:r>
              <a:rPr lang="en-US" b="1" dirty="0"/>
              <a:t>Next Class:</a:t>
            </a:r>
            <a:endParaRPr lang="en-US" dirty="0"/>
          </a:p>
          <a:p>
            <a:r>
              <a:rPr lang="en-US" dirty="0"/>
              <a:t>Chapter 6: Surveys and Observations</a:t>
            </a:r>
          </a:p>
        </p:txBody>
      </p:sp>
      <p:sp>
        <p:nvSpPr>
          <p:cNvPr id="5" name="Title 4">
            <a:extLst>
              <a:ext uri="{FF2B5EF4-FFF2-40B4-BE49-F238E27FC236}">
                <a16:creationId xmlns:a16="http://schemas.microsoft.com/office/drawing/2014/main" id="{7102B905-D5A8-B4AA-6358-45B56454E729}"/>
              </a:ext>
            </a:extLst>
          </p:cNvPr>
          <p:cNvSpPr>
            <a:spLocks noGrp="1"/>
          </p:cNvSpPr>
          <p:nvPr>
            <p:ph type="title"/>
          </p:nvPr>
        </p:nvSpPr>
        <p:spPr/>
        <p:txBody>
          <a:bodyPr/>
          <a:lstStyle/>
          <a:p>
            <a:r>
              <a:rPr lang="en-US" dirty="0"/>
              <a:t>Next Time on PSY 270…</a:t>
            </a:r>
          </a:p>
        </p:txBody>
      </p:sp>
    </p:spTree>
    <p:extLst>
      <p:ext uri="{BB962C8B-B14F-4D97-AF65-F5344CB8AC3E}">
        <p14:creationId xmlns:p14="http://schemas.microsoft.com/office/powerpoint/2010/main" val="190094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2.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1799</TotalTime>
  <Words>1432</Words>
  <Application>Microsoft Office PowerPoint</Application>
  <PresentationFormat>Widescreen</PresentationFormat>
  <Paragraphs>164</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Display</vt:lpstr>
      <vt:lpstr>Arial</vt:lpstr>
      <vt:lpstr>Britannic Bold</vt:lpstr>
      <vt:lpstr>Garamond</vt:lpstr>
      <vt:lpstr>Gill Sans MT</vt:lpstr>
      <vt:lpstr>Times New Roman</vt:lpstr>
      <vt:lpstr>Office Theme</vt:lpstr>
      <vt:lpstr>Chapter 5</vt:lpstr>
      <vt:lpstr>Reminders</vt:lpstr>
      <vt:lpstr>Agenda</vt:lpstr>
      <vt:lpstr>Ways to Measure Variables</vt:lpstr>
      <vt:lpstr>Conceptual and Operational Definitions Review</vt:lpstr>
      <vt:lpstr>Three Common Types of Measures</vt:lpstr>
      <vt:lpstr>Talk It Out:  Measuring Stress</vt:lpstr>
      <vt:lpstr>Scales of Measurement</vt:lpstr>
      <vt:lpstr>Reliability</vt:lpstr>
      <vt:lpstr>Reliability vs. Validity</vt:lpstr>
      <vt:lpstr>Test-Retest Reliability</vt:lpstr>
      <vt:lpstr>Test-Retest Reliability</vt:lpstr>
      <vt:lpstr>Interrater Reliability</vt:lpstr>
      <vt:lpstr>Internal Reliability</vt:lpstr>
      <vt:lpstr>Internal Reliability Comparisons </vt:lpstr>
      <vt:lpstr>Internal Reliability in Journal Articles</vt:lpstr>
      <vt:lpstr>Overview of Reliability</vt:lpstr>
      <vt:lpstr>Let’s Review… </vt:lpstr>
      <vt:lpstr>Validity</vt:lpstr>
      <vt:lpstr>Face Validity and Content Validity</vt:lpstr>
      <vt:lpstr>Criterion Validity</vt:lpstr>
      <vt:lpstr>Convergent Validity</vt:lpstr>
      <vt:lpstr>Discriminant Validity</vt:lpstr>
      <vt:lpstr>Multidimensionality</vt:lpstr>
      <vt:lpstr>Example: Authenticity Scale</vt:lpstr>
      <vt:lpstr>Authenticity</vt:lpstr>
      <vt:lpstr>Authenticity</vt:lpstr>
      <vt:lpstr>Authenticity</vt:lpstr>
      <vt:lpstr>The Pattern Matrix</vt:lpstr>
      <vt:lpstr>Pulling it Back Together</vt:lpstr>
      <vt:lpstr>Next Time on PSY 270…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19</cp:revision>
  <dcterms:created xsi:type="dcterms:W3CDTF">2026-08-20T19:50:46Z</dcterms:created>
  <dcterms:modified xsi:type="dcterms:W3CDTF">2026-09-25T03:48:58Z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