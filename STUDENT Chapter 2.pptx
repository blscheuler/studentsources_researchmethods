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56" r:id="rId5"/>
    <p:sldId id="259" r:id="rId6"/>
    <p:sldId id="309" r:id="rId7"/>
    <p:sldId id="308" r:id="rId8"/>
    <p:sldId id="310" r:id="rId9"/>
    <p:sldId id="311" r:id="rId10"/>
    <p:sldId id="314" r:id="rId11"/>
    <p:sldId id="315" r:id="rId12"/>
    <p:sldId id="316" r:id="rId13"/>
    <p:sldId id="318" r:id="rId14"/>
    <p:sldId id="319" r:id="rId15"/>
    <p:sldId id="320" r:id="rId16"/>
    <p:sldId id="321" r:id="rId17"/>
    <p:sldId id="322" r:id="rId18"/>
    <p:sldId id="323" r:id="rId19"/>
    <p:sldId id="317" r:id="rId20"/>
    <p:sldId id="324" r:id="rId21"/>
    <p:sldId id="325" r:id="rId22"/>
    <p:sldId id="326" r:id="rId23"/>
    <p:sldId id="327" r:id="rId24"/>
    <p:sldId id="328" r:id="rId25"/>
    <p:sldId id="329" r:id="rId26"/>
    <p:sldId id="330" r:id="rId27"/>
    <p:sldId id="331"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77703" autoAdjust="0"/>
  </p:normalViewPr>
  <p:slideViewPr>
    <p:cSldViewPr snapToGrid="0" snapToObjects="1">
      <p:cViewPr varScale="1">
        <p:scale>
          <a:sx n="87" d="100"/>
          <a:sy n="87" d="100"/>
        </p:scale>
        <p:origin x="9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2_2#6">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8">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737D4B-0CA3-49E7-A636-F1B88B3D6166}" type="doc">
      <dgm:prSet loTypeId="urn:microsoft.com/office/officeart/2018/2/layout/IconVerticalSolidList" loCatId="icon" qsTypeId="urn:microsoft.com/office/officeart/2005/8/quickstyle/simple1#11" qsCatId="simple" csTypeId="urn:microsoft.com/office/officeart/2005/8/colors/accent2_2#6" csCatId="accent2" phldr="1"/>
      <dgm:spPr/>
      <dgm:t>
        <a:bodyPr/>
        <a:lstStyle/>
        <a:p>
          <a:endParaRPr lang="en-US"/>
        </a:p>
      </dgm:t>
    </dgm:pt>
    <dgm:pt modelId="{85CA2DC7-D63C-45E0-B61B-0FD69F274847}">
      <dgm:prSet/>
      <dgm:spPr/>
      <dgm:t>
        <a:bodyPr/>
        <a:lstStyle/>
        <a:p>
          <a:r>
            <a:rPr lang="en-US"/>
            <a:t>We make mistakes when we base our reasoning on intuition rather than on empiricism.</a:t>
          </a:r>
        </a:p>
      </dgm:t>
    </dgm:pt>
    <dgm:pt modelId="{6062FCDD-4ABD-4BDF-81C6-6112021EF134}" type="parTrans" cxnId="{A4991AF5-F8A7-4DDC-A6A6-E7D398C4EB8E}">
      <dgm:prSet/>
      <dgm:spPr/>
      <dgm:t>
        <a:bodyPr/>
        <a:lstStyle/>
        <a:p>
          <a:endParaRPr lang="en-US"/>
        </a:p>
      </dgm:t>
    </dgm:pt>
    <dgm:pt modelId="{705385B8-4C2A-43C6-9B31-EE32B68CE6AE}" type="sibTrans" cxnId="{A4991AF5-F8A7-4DDC-A6A6-E7D398C4EB8E}">
      <dgm:prSet/>
      <dgm:spPr/>
      <dgm:t>
        <a:bodyPr/>
        <a:lstStyle/>
        <a:p>
          <a:endParaRPr lang="en-US"/>
        </a:p>
      </dgm:t>
    </dgm:pt>
    <dgm:pt modelId="{14A1D5BB-2DAF-4EEF-95FD-86451711DE83}">
      <dgm:prSet/>
      <dgm:spPr/>
      <dgm:t>
        <a:bodyPr/>
        <a:lstStyle/>
        <a:p>
          <a:r>
            <a:rPr lang="en-US"/>
            <a:t>Researchers create comparison groups and look at all the data.</a:t>
          </a:r>
        </a:p>
      </dgm:t>
    </dgm:pt>
    <dgm:pt modelId="{4B2CF52C-8117-4DE7-93F0-5E45B05D45AA}" type="parTrans" cxnId="{00A8C755-50AA-4454-B282-E7E238CA26FF}">
      <dgm:prSet/>
      <dgm:spPr/>
      <dgm:t>
        <a:bodyPr/>
        <a:lstStyle/>
        <a:p>
          <a:endParaRPr lang="en-US"/>
        </a:p>
      </dgm:t>
    </dgm:pt>
    <dgm:pt modelId="{DE4CF559-BA0F-4E58-B363-53FA91DA4463}" type="sibTrans" cxnId="{00A8C755-50AA-4454-B282-E7E238CA26FF}">
      <dgm:prSet/>
      <dgm:spPr/>
      <dgm:t>
        <a:bodyPr/>
        <a:lstStyle/>
        <a:p>
          <a:endParaRPr lang="en-US"/>
        </a:p>
      </dgm:t>
    </dgm:pt>
    <dgm:pt modelId="{AA93215E-0145-4F1F-8AE7-804C40E59A6C}" type="pres">
      <dgm:prSet presAssocID="{0C737D4B-0CA3-49E7-A636-F1B88B3D6166}" presName="root" presStyleCnt="0">
        <dgm:presLayoutVars>
          <dgm:dir/>
          <dgm:resizeHandles val="exact"/>
        </dgm:presLayoutVars>
      </dgm:prSet>
      <dgm:spPr/>
    </dgm:pt>
    <dgm:pt modelId="{39151714-1CEC-4742-AC57-AB88C23C01DF}" type="pres">
      <dgm:prSet presAssocID="{85CA2DC7-D63C-45E0-B61B-0FD69F274847}" presName="compNode" presStyleCnt="0"/>
      <dgm:spPr/>
    </dgm:pt>
    <dgm:pt modelId="{2575633F-5569-405E-AE39-7C1C4B3965D7}" type="pres">
      <dgm:prSet presAssocID="{85CA2DC7-D63C-45E0-B61B-0FD69F274847}" presName="bgRect" presStyleLbl="bgShp" presStyleIdx="0" presStyleCnt="2"/>
      <dgm:spPr/>
    </dgm:pt>
    <dgm:pt modelId="{C9164E69-75B2-4216-84B0-0B5CD91C0A0D}" type="pres">
      <dgm:prSet presAssocID="{85CA2DC7-D63C-45E0-B61B-0FD69F27484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erson with Idea"/>
        </a:ext>
      </dgm:extLst>
    </dgm:pt>
    <dgm:pt modelId="{C416185B-0AA9-4AFB-8565-E0741F5ECE7E}" type="pres">
      <dgm:prSet presAssocID="{85CA2DC7-D63C-45E0-B61B-0FD69F274847}" presName="spaceRect" presStyleCnt="0"/>
      <dgm:spPr/>
    </dgm:pt>
    <dgm:pt modelId="{2289D1B8-1F15-4203-9418-A8E49C868396}" type="pres">
      <dgm:prSet presAssocID="{85CA2DC7-D63C-45E0-B61B-0FD69F274847}" presName="parTx" presStyleLbl="revTx" presStyleIdx="0" presStyleCnt="2">
        <dgm:presLayoutVars>
          <dgm:chMax val="0"/>
          <dgm:chPref val="0"/>
        </dgm:presLayoutVars>
      </dgm:prSet>
      <dgm:spPr/>
    </dgm:pt>
    <dgm:pt modelId="{A423D3D5-1387-473F-B5FC-4A2D1FF56B0C}" type="pres">
      <dgm:prSet presAssocID="{705385B8-4C2A-43C6-9B31-EE32B68CE6AE}" presName="sibTrans" presStyleCnt="0"/>
      <dgm:spPr/>
    </dgm:pt>
    <dgm:pt modelId="{68C15C4F-869E-419D-99D9-69EF1D13C5FB}" type="pres">
      <dgm:prSet presAssocID="{14A1D5BB-2DAF-4EEF-95FD-86451711DE83}" presName="compNode" presStyleCnt="0"/>
      <dgm:spPr/>
    </dgm:pt>
    <dgm:pt modelId="{0D608A23-94B9-4D27-8CF9-897BB127A19F}" type="pres">
      <dgm:prSet presAssocID="{14A1D5BB-2DAF-4EEF-95FD-86451711DE83}" presName="bgRect" presStyleLbl="bgShp" presStyleIdx="1" presStyleCnt="2"/>
      <dgm:spPr/>
    </dgm:pt>
    <dgm:pt modelId="{BCB7C6CC-2181-45D7-A7B9-09B1C3F491F3}" type="pres">
      <dgm:prSet presAssocID="{14A1D5BB-2DAF-4EEF-95FD-86451711DE8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72022506-30D8-4123-8C29-9399E930D4EF}" type="pres">
      <dgm:prSet presAssocID="{14A1D5BB-2DAF-4EEF-95FD-86451711DE83}" presName="spaceRect" presStyleCnt="0"/>
      <dgm:spPr/>
    </dgm:pt>
    <dgm:pt modelId="{744CF1E9-1CE5-4071-B001-092B924164A1}" type="pres">
      <dgm:prSet presAssocID="{14A1D5BB-2DAF-4EEF-95FD-86451711DE83}" presName="parTx" presStyleLbl="revTx" presStyleIdx="1" presStyleCnt="2">
        <dgm:presLayoutVars>
          <dgm:chMax val="0"/>
          <dgm:chPref val="0"/>
        </dgm:presLayoutVars>
      </dgm:prSet>
      <dgm:spPr/>
    </dgm:pt>
  </dgm:ptLst>
  <dgm:cxnLst>
    <dgm:cxn modelId="{B81A6509-86C0-49A1-B99E-BECDEC0592A2}" type="presOf" srcId="{14A1D5BB-2DAF-4EEF-95FD-86451711DE83}" destId="{744CF1E9-1CE5-4071-B001-092B924164A1}" srcOrd="0" destOrd="0" presId="urn:microsoft.com/office/officeart/2018/2/layout/IconVerticalSolidList"/>
    <dgm:cxn modelId="{8AD8DF3E-C901-4206-A248-21F0E7031A56}" type="presOf" srcId="{85CA2DC7-D63C-45E0-B61B-0FD69F274847}" destId="{2289D1B8-1F15-4203-9418-A8E49C868396}" srcOrd="0" destOrd="0" presId="urn:microsoft.com/office/officeart/2018/2/layout/IconVerticalSolidList"/>
    <dgm:cxn modelId="{00A8C755-50AA-4454-B282-E7E238CA26FF}" srcId="{0C737D4B-0CA3-49E7-A636-F1B88B3D6166}" destId="{14A1D5BB-2DAF-4EEF-95FD-86451711DE83}" srcOrd="1" destOrd="0" parTransId="{4B2CF52C-8117-4DE7-93F0-5E45B05D45AA}" sibTransId="{DE4CF559-BA0F-4E58-B363-53FA91DA4463}"/>
    <dgm:cxn modelId="{73E7727E-2B1B-480D-84F6-7394BDD5BA6E}" type="presOf" srcId="{0C737D4B-0CA3-49E7-A636-F1B88B3D6166}" destId="{AA93215E-0145-4F1F-8AE7-804C40E59A6C}" srcOrd="0" destOrd="0" presId="urn:microsoft.com/office/officeart/2018/2/layout/IconVerticalSolidList"/>
    <dgm:cxn modelId="{A4991AF5-F8A7-4DDC-A6A6-E7D398C4EB8E}" srcId="{0C737D4B-0CA3-49E7-A636-F1B88B3D6166}" destId="{85CA2DC7-D63C-45E0-B61B-0FD69F274847}" srcOrd="0" destOrd="0" parTransId="{6062FCDD-4ABD-4BDF-81C6-6112021EF134}" sibTransId="{705385B8-4C2A-43C6-9B31-EE32B68CE6AE}"/>
    <dgm:cxn modelId="{B22C4FC3-9B0C-4E01-A8BE-E567C46B9F3A}" type="presParOf" srcId="{AA93215E-0145-4F1F-8AE7-804C40E59A6C}" destId="{39151714-1CEC-4742-AC57-AB88C23C01DF}" srcOrd="0" destOrd="0" presId="urn:microsoft.com/office/officeart/2018/2/layout/IconVerticalSolidList"/>
    <dgm:cxn modelId="{5988DD23-81A2-4AF0-BCC9-7F2C6CAC1A36}" type="presParOf" srcId="{39151714-1CEC-4742-AC57-AB88C23C01DF}" destId="{2575633F-5569-405E-AE39-7C1C4B3965D7}" srcOrd="0" destOrd="0" presId="urn:microsoft.com/office/officeart/2018/2/layout/IconVerticalSolidList"/>
    <dgm:cxn modelId="{2F78D953-D6CA-4237-A7D7-295392700EF2}" type="presParOf" srcId="{39151714-1CEC-4742-AC57-AB88C23C01DF}" destId="{C9164E69-75B2-4216-84B0-0B5CD91C0A0D}" srcOrd="1" destOrd="0" presId="urn:microsoft.com/office/officeart/2018/2/layout/IconVerticalSolidList"/>
    <dgm:cxn modelId="{2FFF71B2-60F2-4130-9D45-F91B3867B295}" type="presParOf" srcId="{39151714-1CEC-4742-AC57-AB88C23C01DF}" destId="{C416185B-0AA9-4AFB-8565-E0741F5ECE7E}" srcOrd="2" destOrd="0" presId="urn:microsoft.com/office/officeart/2018/2/layout/IconVerticalSolidList"/>
    <dgm:cxn modelId="{A6A2B880-3D82-46CB-AD4D-B586F9A5B1CC}" type="presParOf" srcId="{39151714-1CEC-4742-AC57-AB88C23C01DF}" destId="{2289D1B8-1F15-4203-9418-A8E49C868396}" srcOrd="3" destOrd="0" presId="urn:microsoft.com/office/officeart/2018/2/layout/IconVerticalSolidList"/>
    <dgm:cxn modelId="{3353CF30-6AD8-432B-8F23-8EC1C3E4760B}" type="presParOf" srcId="{AA93215E-0145-4F1F-8AE7-804C40E59A6C}" destId="{A423D3D5-1387-473F-B5FC-4A2D1FF56B0C}" srcOrd="1" destOrd="0" presId="urn:microsoft.com/office/officeart/2018/2/layout/IconVerticalSolidList"/>
    <dgm:cxn modelId="{9CCC0620-22EA-4D09-9EE6-CFF58923EE58}" type="presParOf" srcId="{AA93215E-0145-4F1F-8AE7-804C40E59A6C}" destId="{68C15C4F-869E-419D-99D9-69EF1D13C5FB}" srcOrd="2" destOrd="0" presId="urn:microsoft.com/office/officeart/2018/2/layout/IconVerticalSolidList"/>
    <dgm:cxn modelId="{A0F81ADD-9BCB-4984-858C-5C27ABFF33F6}" type="presParOf" srcId="{68C15C4F-869E-419D-99D9-69EF1D13C5FB}" destId="{0D608A23-94B9-4D27-8CF9-897BB127A19F}" srcOrd="0" destOrd="0" presId="urn:microsoft.com/office/officeart/2018/2/layout/IconVerticalSolidList"/>
    <dgm:cxn modelId="{7A27B29F-9670-4FA6-8AE7-9A8C5F12E371}" type="presParOf" srcId="{68C15C4F-869E-419D-99D9-69EF1D13C5FB}" destId="{BCB7C6CC-2181-45D7-A7B9-09B1C3F491F3}" srcOrd="1" destOrd="0" presId="urn:microsoft.com/office/officeart/2018/2/layout/IconVerticalSolidList"/>
    <dgm:cxn modelId="{3FD2410A-7169-4552-994A-A5F7D117D723}" type="presParOf" srcId="{68C15C4F-869E-419D-99D9-69EF1D13C5FB}" destId="{72022506-30D8-4123-8C29-9399E930D4EF}" srcOrd="2" destOrd="0" presId="urn:microsoft.com/office/officeart/2018/2/layout/IconVerticalSolidList"/>
    <dgm:cxn modelId="{23423E1E-9250-49F3-859E-75CD9283A5C6}" type="presParOf" srcId="{68C15C4F-869E-419D-99D9-69EF1D13C5FB}" destId="{744CF1E9-1CE5-4071-B001-092B924164A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B3C41D-DE36-4DBA-A88F-805BD206B99E}" type="doc">
      <dgm:prSet loTypeId="urn:microsoft.com/office/officeart/2018/2/layout/IconVerticalSolidList" loCatId="icon" qsTypeId="urn:microsoft.com/office/officeart/2005/8/quickstyle/simple1#15" qsCatId="simple" csTypeId="urn:microsoft.com/office/officeart/2005/8/colors/accent2_2#8" csCatId="accent2" phldr="1"/>
      <dgm:spPr/>
      <dgm:t>
        <a:bodyPr/>
        <a:lstStyle/>
        <a:p>
          <a:endParaRPr lang="en-US"/>
        </a:p>
      </dgm:t>
    </dgm:pt>
    <dgm:pt modelId="{45BCCAC3-C88F-433A-99A6-DF48D819A673}">
      <dgm:prSet/>
      <dgm:spPr/>
      <dgm:t>
        <a:bodyPr/>
        <a:lstStyle/>
        <a:p>
          <a:r>
            <a:rPr lang="en-US"/>
            <a:t>Click restraint: Pause when a social media post triggers fear, anger, or vindication.</a:t>
          </a:r>
        </a:p>
      </dgm:t>
    </dgm:pt>
    <dgm:pt modelId="{26EF7C87-15FE-48E8-ABB4-0F4DB72BAE52}" type="parTrans" cxnId="{10D62188-03F6-455A-A54D-106BF8867BEE}">
      <dgm:prSet/>
      <dgm:spPr/>
      <dgm:t>
        <a:bodyPr/>
        <a:lstStyle/>
        <a:p>
          <a:endParaRPr lang="en-US"/>
        </a:p>
      </dgm:t>
    </dgm:pt>
    <dgm:pt modelId="{84FB088D-8461-49F9-A22A-368A94B9ADE4}" type="sibTrans" cxnId="{10D62188-03F6-455A-A54D-106BF8867BEE}">
      <dgm:prSet/>
      <dgm:spPr/>
      <dgm:t>
        <a:bodyPr/>
        <a:lstStyle/>
        <a:p>
          <a:endParaRPr lang="en-US"/>
        </a:p>
      </dgm:t>
    </dgm:pt>
    <dgm:pt modelId="{F7CC5EF4-44AA-4008-A208-61851603F9E4}">
      <dgm:prSet/>
      <dgm:spPr/>
      <dgm:t>
        <a:bodyPr/>
        <a:lstStyle/>
        <a:p>
          <a:r>
            <a:rPr lang="en-US"/>
            <a:t>Lateral reading: Look for better coverage on credible platforms.</a:t>
          </a:r>
        </a:p>
      </dgm:t>
    </dgm:pt>
    <dgm:pt modelId="{46C6868E-072A-483D-BAAF-34AFF9C66FF8}" type="parTrans" cxnId="{95B05D85-DA59-4A20-839B-3214FAC17FCF}">
      <dgm:prSet/>
      <dgm:spPr/>
      <dgm:t>
        <a:bodyPr/>
        <a:lstStyle/>
        <a:p>
          <a:endParaRPr lang="en-US"/>
        </a:p>
      </dgm:t>
    </dgm:pt>
    <dgm:pt modelId="{F3F5D797-FE15-4D50-AE8E-3E289DCBBFEC}" type="sibTrans" cxnId="{95B05D85-DA59-4A20-839B-3214FAC17FCF}">
      <dgm:prSet/>
      <dgm:spPr/>
      <dgm:t>
        <a:bodyPr/>
        <a:lstStyle/>
        <a:p>
          <a:endParaRPr lang="en-US"/>
        </a:p>
      </dgm:t>
    </dgm:pt>
    <dgm:pt modelId="{D8E33B5B-E06D-44D0-A592-17326F533CA2}" type="pres">
      <dgm:prSet presAssocID="{26B3C41D-DE36-4DBA-A88F-805BD206B99E}" presName="root" presStyleCnt="0">
        <dgm:presLayoutVars>
          <dgm:dir/>
          <dgm:resizeHandles val="exact"/>
        </dgm:presLayoutVars>
      </dgm:prSet>
      <dgm:spPr/>
    </dgm:pt>
    <dgm:pt modelId="{91DCBF61-21A8-4007-94F5-0814912253D0}" type="pres">
      <dgm:prSet presAssocID="{45BCCAC3-C88F-433A-99A6-DF48D819A673}" presName="compNode" presStyleCnt="0"/>
      <dgm:spPr/>
    </dgm:pt>
    <dgm:pt modelId="{3C677CD7-F03D-4A24-8630-3D5705405E5C}" type="pres">
      <dgm:prSet presAssocID="{45BCCAC3-C88F-433A-99A6-DF48D819A673}" presName="bgRect" presStyleLbl="bgShp" presStyleIdx="0" presStyleCnt="2"/>
      <dgm:spPr/>
    </dgm:pt>
    <dgm:pt modelId="{5D3E57CA-7E9E-4F6E-A9D4-43B4C4FFA5B9}" type="pres">
      <dgm:prSet presAssocID="{45BCCAC3-C88F-433A-99A6-DF48D819A67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xclamation Mark"/>
        </a:ext>
      </dgm:extLst>
    </dgm:pt>
    <dgm:pt modelId="{D019C19E-98EA-402D-BBA1-DAC828099E82}" type="pres">
      <dgm:prSet presAssocID="{45BCCAC3-C88F-433A-99A6-DF48D819A673}" presName="spaceRect" presStyleCnt="0"/>
      <dgm:spPr/>
    </dgm:pt>
    <dgm:pt modelId="{E733E859-A1F4-4211-9BEC-F433946F9A5C}" type="pres">
      <dgm:prSet presAssocID="{45BCCAC3-C88F-433A-99A6-DF48D819A673}" presName="parTx" presStyleLbl="revTx" presStyleIdx="0" presStyleCnt="2">
        <dgm:presLayoutVars>
          <dgm:chMax val="0"/>
          <dgm:chPref val="0"/>
        </dgm:presLayoutVars>
      </dgm:prSet>
      <dgm:spPr/>
    </dgm:pt>
    <dgm:pt modelId="{1429D66E-DF46-4824-B00D-FA2ADB765329}" type="pres">
      <dgm:prSet presAssocID="{84FB088D-8461-49F9-A22A-368A94B9ADE4}" presName="sibTrans" presStyleCnt="0"/>
      <dgm:spPr/>
    </dgm:pt>
    <dgm:pt modelId="{45ECED4F-B117-4518-905F-70608C11ADD6}" type="pres">
      <dgm:prSet presAssocID="{F7CC5EF4-44AA-4008-A208-61851603F9E4}" presName="compNode" presStyleCnt="0"/>
      <dgm:spPr/>
    </dgm:pt>
    <dgm:pt modelId="{7503D4C4-8579-4022-A653-6A4CAC0A10D3}" type="pres">
      <dgm:prSet presAssocID="{F7CC5EF4-44AA-4008-A208-61851603F9E4}" presName="bgRect" presStyleLbl="bgShp" presStyleIdx="1" presStyleCnt="2"/>
      <dgm:spPr/>
    </dgm:pt>
    <dgm:pt modelId="{265132DF-E9EE-4936-97E8-70F1FF0662F7}" type="pres">
      <dgm:prSet presAssocID="{F7CC5EF4-44AA-4008-A208-61851603F9E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9F11EA5F-7CB7-4348-89C8-F9E28D2BE572}" type="pres">
      <dgm:prSet presAssocID="{F7CC5EF4-44AA-4008-A208-61851603F9E4}" presName="spaceRect" presStyleCnt="0"/>
      <dgm:spPr/>
    </dgm:pt>
    <dgm:pt modelId="{34E6F757-61AC-4853-AF5D-2F8E5B112567}" type="pres">
      <dgm:prSet presAssocID="{F7CC5EF4-44AA-4008-A208-61851603F9E4}" presName="parTx" presStyleLbl="revTx" presStyleIdx="1" presStyleCnt="2">
        <dgm:presLayoutVars>
          <dgm:chMax val="0"/>
          <dgm:chPref val="0"/>
        </dgm:presLayoutVars>
      </dgm:prSet>
      <dgm:spPr/>
    </dgm:pt>
  </dgm:ptLst>
  <dgm:cxnLst>
    <dgm:cxn modelId="{E475CF21-B12F-42C9-8212-5C4B7A087C6C}" type="presOf" srcId="{F7CC5EF4-44AA-4008-A208-61851603F9E4}" destId="{34E6F757-61AC-4853-AF5D-2F8E5B112567}" srcOrd="0" destOrd="0" presId="urn:microsoft.com/office/officeart/2018/2/layout/IconVerticalSolidList"/>
    <dgm:cxn modelId="{95B05D85-DA59-4A20-839B-3214FAC17FCF}" srcId="{26B3C41D-DE36-4DBA-A88F-805BD206B99E}" destId="{F7CC5EF4-44AA-4008-A208-61851603F9E4}" srcOrd="1" destOrd="0" parTransId="{46C6868E-072A-483D-BAAF-34AFF9C66FF8}" sibTransId="{F3F5D797-FE15-4D50-AE8E-3E289DCBBFEC}"/>
    <dgm:cxn modelId="{10D62188-03F6-455A-A54D-106BF8867BEE}" srcId="{26B3C41D-DE36-4DBA-A88F-805BD206B99E}" destId="{45BCCAC3-C88F-433A-99A6-DF48D819A673}" srcOrd="0" destOrd="0" parTransId="{26EF7C87-15FE-48E8-ABB4-0F4DB72BAE52}" sibTransId="{84FB088D-8461-49F9-A22A-368A94B9ADE4}"/>
    <dgm:cxn modelId="{183B198E-A2B4-49BB-BF3F-5A2837BB6B9E}" type="presOf" srcId="{45BCCAC3-C88F-433A-99A6-DF48D819A673}" destId="{E733E859-A1F4-4211-9BEC-F433946F9A5C}" srcOrd="0" destOrd="0" presId="urn:microsoft.com/office/officeart/2018/2/layout/IconVerticalSolidList"/>
    <dgm:cxn modelId="{E86565D5-A99B-4233-88DF-9C23E36C872A}" type="presOf" srcId="{26B3C41D-DE36-4DBA-A88F-805BD206B99E}" destId="{D8E33B5B-E06D-44D0-A592-17326F533CA2}" srcOrd="0" destOrd="0" presId="urn:microsoft.com/office/officeart/2018/2/layout/IconVerticalSolidList"/>
    <dgm:cxn modelId="{80A2617A-4601-4C34-B4AB-A8832456921F}" type="presParOf" srcId="{D8E33B5B-E06D-44D0-A592-17326F533CA2}" destId="{91DCBF61-21A8-4007-94F5-0814912253D0}" srcOrd="0" destOrd="0" presId="urn:microsoft.com/office/officeart/2018/2/layout/IconVerticalSolidList"/>
    <dgm:cxn modelId="{AD4CB187-8BF2-4C2D-8F01-FCF5DCDE0798}" type="presParOf" srcId="{91DCBF61-21A8-4007-94F5-0814912253D0}" destId="{3C677CD7-F03D-4A24-8630-3D5705405E5C}" srcOrd="0" destOrd="0" presId="urn:microsoft.com/office/officeart/2018/2/layout/IconVerticalSolidList"/>
    <dgm:cxn modelId="{9315C6EF-3859-49AE-9A4E-CC578D5F10F2}" type="presParOf" srcId="{91DCBF61-21A8-4007-94F5-0814912253D0}" destId="{5D3E57CA-7E9E-4F6E-A9D4-43B4C4FFA5B9}" srcOrd="1" destOrd="0" presId="urn:microsoft.com/office/officeart/2018/2/layout/IconVerticalSolidList"/>
    <dgm:cxn modelId="{2D4E5F84-1D6B-45CC-AFF1-A610A4FDE232}" type="presParOf" srcId="{91DCBF61-21A8-4007-94F5-0814912253D0}" destId="{D019C19E-98EA-402D-BBA1-DAC828099E82}" srcOrd="2" destOrd="0" presId="urn:microsoft.com/office/officeart/2018/2/layout/IconVerticalSolidList"/>
    <dgm:cxn modelId="{797D1DC9-F280-4C73-B3CB-1916DA394C7A}" type="presParOf" srcId="{91DCBF61-21A8-4007-94F5-0814912253D0}" destId="{E733E859-A1F4-4211-9BEC-F433946F9A5C}" srcOrd="3" destOrd="0" presId="urn:microsoft.com/office/officeart/2018/2/layout/IconVerticalSolidList"/>
    <dgm:cxn modelId="{AEC0F2D6-E546-42A3-9F0A-F5EE3BE8230D}" type="presParOf" srcId="{D8E33B5B-E06D-44D0-A592-17326F533CA2}" destId="{1429D66E-DF46-4824-B00D-FA2ADB765329}" srcOrd="1" destOrd="0" presId="urn:microsoft.com/office/officeart/2018/2/layout/IconVerticalSolidList"/>
    <dgm:cxn modelId="{A490F186-33F2-4F14-B806-32196C783722}" type="presParOf" srcId="{D8E33B5B-E06D-44D0-A592-17326F533CA2}" destId="{45ECED4F-B117-4518-905F-70608C11ADD6}" srcOrd="2" destOrd="0" presId="urn:microsoft.com/office/officeart/2018/2/layout/IconVerticalSolidList"/>
    <dgm:cxn modelId="{F30162ED-2348-4B9B-B1B0-6EF590E1ED40}" type="presParOf" srcId="{45ECED4F-B117-4518-905F-70608C11ADD6}" destId="{7503D4C4-8579-4022-A653-6A4CAC0A10D3}" srcOrd="0" destOrd="0" presId="urn:microsoft.com/office/officeart/2018/2/layout/IconVerticalSolidList"/>
    <dgm:cxn modelId="{DE4F5D50-7739-4CD1-8D3C-5944E9608BBA}" type="presParOf" srcId="{45ECED4F-B117-4518-905F-70608C11ADD6}" destId="{265132DF-E9EE-4936-97E8-70F1FF0662F7}" srcOrd="1" destOrd="0" presId="urn:microsoft.com/office/officeart/2018/2/layout/IconVerticalSolidList"/>
    <dgm:cxn modelId="{CB089CDD-8894-4420-BF9A-CE164736401C}" type="presParOf" srcId="{45ECED4F-B117-4518-905F-70608C11ADD6}" destId="{9F11EA5F-7CB7-4348-89C8-F9E28D2BE572}" srcOrd="2" destOrd="0" presId="urn:microsoft.com/office/officeart/2018/2/layout/IconVerticalSolidList"/>
    <dgm:cxn modelId="{2CE1EA28-87CB-489C-A70F-9A9F06CE469A}" type="presParOf" srcId="{45ECED4F-B117-4518-905F-70608C11ADD6}" destId="{34E6F757-61AC-4853-AF5D-2F8E5B11256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5633F-5569-405E-AE39-7C1C4B3965D7}">
      <dsp:nvSpPr>
        <dsp:cNvPr id="0" name=""/>
        <dsp:cNvSpPr/>
      </dsp:nvSpPr>
      <dsp:spPr>
        <a:xfrm>
          <a:off x="0" y="873637"/>
          <a:ext cx="10875266" cy="16128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164E69-75B2-4216-84B0-0B5CD91C0A0D}">
      <dsp:nvSpPr>
        <dsp:cNvPr id="0" name=""/>
        <dsp:cNvSpPr/>
      </dsp:nvSpPr>
      <dsp:spPr>
        <a:xfrm>
          <a:off x="487892" y="1236533"/>
          <a:ext cx="887078" cy="8870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89D1B8-1F15-4203-9418-A8E49C868396}">
      <dsp:nvSpPr>
        <dsp:cNvPr id="0" name=""/>
        <dsp:cNvSpPr/>
      </dsp:nvSpPr>
      <dsp:spPr>
        <a:xfrm>
          <a:off x="1862864" y="873637"/>
          <a:ext cx="9012401" cy="1612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95" tIns="170695" rIns="170695" bIns="170695" numCol="1" spcCol="1270" anchor="ctr" anchorCtr="0">
          <a:noAutofit/>
        </a:bodyPr>
        <a:lstStyle/>
        <a:p>
          <a:pPr marL="0" lvl="0" indent="0" algn="l" defTabSz="1111250">
            <a:lnSpc>
              <a:spcPct val="90000"/>
            </a:lnSpc>
            <a:spcBef>
              <a:spcPct val="0"/>
            </a:spcBef>
            <a:spcAft>
              <a:spcPct val="35000"/>
            </a:spcAft>
            <a:buNone/>
          </a:pPr>
          <a:r>
            <a:rPr lang="en-US" sz="2500" kern="1200"/>
            <a:t>We make mistakes when we base our reasoning on intuition rather than on empiricism.</a:t>
          </a:r>
        </a:p>
      </dsp:txBody>
      <dsp:txXfrm>
        <a:off x="1862864" y="873637"/>
        <a:ext cx="9012401" cy="1612869"/>
      </dsp:txXfrm>
    </dsp:sp>
    <dsp:sp modelId="{0D608A23-94B9-4D27-8CF9-897BB127A19F}">
      <dsp:nvSpPr>
        <dsp:cNvPr id="0" name=""/>
        <dsp:cNvSpPr/>
      </dsp:nvSpPr>
      <dsp:spPr>
        <a:xfrm>
          <a:off x="0" y="2889724"/>
          <a:ext cx="10875266" cy="16128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B7C6CC-2181-45D7-A7B9-09B1C3F491F3}">
      <dsp:nvSpPr>
        <dsp:cNvPr id="0" name=""/>
        <dsp:cNvSpPr/>
      </dsp:nvSpPr>
      <dsp:spPr>
        <a:xfrm>
          <a:off x="487892" y="3252619"/>
          <a:ext cx="887078" cy="8870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4CF1E9-1CE5-4071-B001-092B924164A1}">
      <dsp:nvSpPr>
        <dsp:cNvPr id="0" name=""/>
        <dsp:cNvSpPr/>
      </dsp:nvSpPr>
      <dsp:spPr>
        <a:xfrm>
          <a:off x="1862864" y="2889724"/>
          <a:ext cx="9012401" cy="1612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95" tIns="170695" rIns="170695" bIns="170695" numCol="1" spcCol="1270" anchor="ctr" anchorCtr="0">
          <a:noAutofit/>
        </a:bodyPr>
        <a:lstStyle/>
        <a:p>
          <a:pPr marL="0" lvl="0" indent="0" algn="l" defTabSz="1111250">
            <a:lnSpc>
              <a:spcPct val="90000"/>
            </a:lnSpc>
            <a:spcBef>
              <a:spcPct val="0"/>
            </a:spcBef>
            <a:spcAft>
              <a:spcPct val="35000"/>
            </a:spcAft>
            <a:buNone/>
          </a:pPr>
          <a:r>
            <a:rPr lang="en-US" sz="2500" kern="1200"/>
            <a:t>Researchers create comparison groups and look at all the data.</a:t>
          </a:r>
        </a:p>
      </dsp:txBody>
      <dsp:txXfrm>
        <a:off x="1862864" y="2889724"/>
        <a:ext cx="9012401" cy="1612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677CD7-F03D-4A24-8630-3D5705405E5C}">
      <dsp:nvSpPr>
        <dsp:cNvPr id="0" name=""/>
        <dsp:cNvSpPr/>
      </dsp:nvSpPr>
      <dsp:spPr>
        <a:xfrm>
          <a:off x="0" y="770708"/>
          <a:ext cx="10982791" cy="142284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3E57CA-7E9E-4F6E-A9D4-43B4C4FFA5B9}">
      <dsp:nvSpPr>
        <dsp:cNvPr id="0" name=""/>
        <dsp:cNvSpPr/>
      </dsp:nvSpPr>
      <dsp:spPr>
        <a:xfrm>
          <a:off x="430411" y="1090849"/>
          <a:ext cx="782565" cy="7825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33E859-A1F4-4211-9BEC-F433946F9A5C}">
      <dsp:nvSpPr>
        <dsp:cNvPr id="0" name=""/>
        <dsp:cNvSpPr/>
      </dsp:nvSpPr>
      <dsp:spPr>
        <a:xfrm>
          <a:off x="1643388" y="770708"/>
          <a:ext cx="9339402" cy="1422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85" tIns="150585" rIns="150585" bIns="150585" numCol="1" spcCol="1270" anchor="ctr" anchorCtr="0">
          <a:noAutofit/>
        </a:bodyPr>
        <a:lstStyle/>
        <a:p>
          <a:pPr marL="0" lvl="0" indent="0" algn="l" defTabSz="1111250">
            <a:lnSpc>
              <a:spcPct val="90000"/>
            </a:lnSpc>
            <a:spcBef>
              <a:spcPct val="0"/>
            </a:spcBef>
            <a:spcAft>
              <a:spcPct val="35000"/>
            </a:spcAft>
            <a:buNone/>
          </a:pPr>
          <a:r>
            <a:rPr lang="en-US" sz="2500" kern="1200"/>
            <a:t>Click restraint: Pause when a social media post triggers fear, anger, or vindication.</a:t>
          </a:r>
        </a:p>
      </dsp:txBody>
      <dsp:txXfrm>
        <a:off x="1643388" y="770708"/>
        <a:ext cx="9339402" cy="1422847"/>
      </dsp:txXfrm>
    </dsp:sp>
    <dsp:sp modelId="{7503D4C4-8579-4022-A653-6A4CAC0A10D3}">
      <dsp:nvSpPr>
        <dsp:cNvPr id="0" name=""/>
        <dsp:cNvSpPr/>
      </dsp:nvSpPr>
      <dsp:spPr>
        <a:xfrm>
          <a:off x="0" y="2549267"/>
          <a:ext cx="10982791" cy="142284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132DF-E9EE-4936-97E8-70F1FF0662F7}">
      <dsp:nvSpPr>
        <dsp:cNvPr id="0" name=""/>
        <dsp:cNvSpPr/>
      </dsp:nvSpPr>
      <dsp:spPr>
        <a:xfrm>
          <a:off x="430411" y="2869408"/>
          <a:ext cx="782565" cy="7825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E6F757-61AC-4853-AF5D-2F8E5B112567}">
      <dsp:nvSpPr>
        <dsp:cNvPr id="0" name=""/>
        <dsp:cNvSpPr/>
      </dsp:nvSpPr>
      <dsp:spPr>
        <a:xfrm>
          <a:off x="1643388" y="2549267"/>
          <a:ext cx="9339402" cy="1422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85" tIns="150585" rIns="150585" bIns="150585" numCol="1" spcCol="1270" anchor="ctr" anchorCtr="0">
          <a:noAutofit/>
        </a:bodyPr>
        <a:lstStyle/>
        <a:p>
          <a:pPr marL="0" lvl="0" indent="0" algn="l" defTabSz="1111250">
            <a:lnSpc>
              <a:spcPct val="90000"/>
            </a:lnSpc>
            <a:spcBef>
              <a:spcPct val="0"/>
            </a:spcBef>
            <a:spcAft>
              <a:spcPct val="35000"/>
            </a:spcAft>
            <a:buNone/>
          </a:pPr>
          <a:r>
            <a:rPr lang="en-US" sz="2500" kern="1200"/>
            <a:t>Lateral reading: Look for better coverage on credible platforms.</a:t>
          </a:r>
        </a:p>
      </dsp:txBody>
      <dsp:txXfrm>
        <a:off x="1643388" y="2549267"/>
        <a:ext cx="9339402" cy="142284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6148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07460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42974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683644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endParaRPr lang="en-US" b="1" dirty="0"/>
          </a:p>
        </p:txBody>
      </p:sp>
    </p:spTree>
    <p:extLst>
      <p:ext uri="{BB962C8B-B14F-4D97-AF65-F5344CB8AC3E}">
        <p14:creationId xmlns:p14="http://schemas.microsoft.com/office/powerpoint/2010/main" val="2444008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006252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029916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52207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46640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35632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14791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097398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00308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68440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85098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99302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40970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87887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3317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895032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3666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061143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92409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13195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video" Target="https://www.youtube.com/embed/0Rnq1NpHdmw?feature=oembed" TargetMode="External"/><Relationship Id="rId5" Type="http://schemas.openxmlformats.org/officeDocument/2006/relationships/image" Target="../media/image9.jpeg"/><Relationship Id="rId4" Type="http://schemas.openxmlformats.org/officeDocument/2006/relationships/hyperlink" Target="https://www.youtube.com/watch?v=0Rnq1NpHdmw" TargetMode="Externa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2</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Sources of Information</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904737" y="1542779"/>
            <a:ext cx="5547033" cy="4654550"/>
          </a:xfrm>
        </p:spPr>
        <p:txBody>
          <a:bodyPr/>
          <a:lstStyle/>
          <a:p>
            <a:r>
              <a:rPr lang="en-US" dirty="0"/>
              <a:t>Research Versus Your Experience</a:t>
            </a:r>
          </a:p>
          <a:p>
            <a:r>
              <a:rPr lang="en-US" dirty="0"/>
              <a:t>Research Versus Your Intuition</a:t>
            </a:r>
          </a:p>
          <a:p>
            <a:r>
              <a:rPr lang="en-US" dirty="0"/>
              <a:t>Research Sources</a:t>
            </a:r>
          </a:p>
          <a:p>
            <a:r>
              <a:rPr lang="en-US" dirty="0"/>
              <a:t>Research Activity 2</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p:txBody>
          <a:bodyPr/>
          <a:lstStyle/>
          <a:p>
            <a:r>
              <a:rPr lang="en-US" dirty="0"/>
              <a:t>Research vs. Your Experience</a:t>
            </a:r>
          </a:p>
        </p:txBody>
      </p:sp>
      <p:sp>
        <p:nvSpPr>
          <p:cNvPr id="5" name="Content Placeholder 4">
            <a:extLst>
              <a:ext uri="{FF2B5EF4-FFF2-40B4-BE49-F238E27FC236}">
                <a16:creationId xmlns:a16="http://schemas.microsoft.com/office/drawing/2014/main" id="{2A7E3DDB-B7BE-A1D5-801F-7013944157B4}"/>
              </a:ext>
            </a:extLst>
          </p:cNvPr>
          <p:cNvSpPr>
            <a:spLocks noGrp="1"/>
          </p:cNvSpPr>
          <p:nvPr>
            <p:ph sz="quarter" idx="10"/>
          </p:nvPr>
        </p:nvSpPr>
        <p:spPr>
          <a:xfrm>
            <a:off x="4794295" y="3013165"/>
            <a:ext cx="6378575" cy="2621281"/>
          </a:xfrm>
        </p:spPr>
        <p:txBody>
          <a:bodyPr/>
          <a:lstStyle/>
          <a:p>
            <a:pPr algn="l">
              <a:lnSpc>
                <a:spcPct val="120000"/>
              </a:lnSpc>
              <a:spcBef>
                <a:spcPts val="1200"/>
              </a:spcBef>
              <a:buFont typeface="Arial" charset="0"/>
              <a:buChar char="•"/>
            </a:pPr>
            <a:r>
              <a:rPr lang="en-US" dirty="0"/>
              <a:t>Experience has no comparison group.</a:t>
            </a:r>
          </a:p>
          <a:p>
            <a:pPr algn="l">
              <a:lnSpc>
                <a:spcPct val="120000"/>
              </a:lnSpc>
              <a:spcBef>
                <a:spcPts val="1200"/>
              </a:spcBef>
              <a:buFont typeface="Arial" charset="0"/>
              <a:buChar char="•"/>
            </a:pPr>
            <a:r>
              <a:rPr lang="en-US" dirty="0"/>
              <a:t>Experience is confounded.</a:t>
            </a:r>
          </a:p>
          <a:p>
            <a:pPr algn="l">
              <a:lnSpc>
                <a:spcPct val="120000"/>
              </a:lnSpc>
              <a:spcBef>
                <a:spcPts val="1200"/>
              </a:spcBef>
              <a:buFont typeface="Arial" charset="0"/>
              <a:buChar char="•"/>
            </a:pPr>
            <a:r>
              <a:rPr lang="en-US" dirty="0"/>
              <a:t>Research is better than experience.</a:t>
            </a:r>
          </a:p>
          <a:p>
            <a:pPr algn="l">
              <a:lnSpc>
                <a:spcPct val="120000"/>
              </a:lnSpc>
              <a:spcBef>
                <a:spcPts val="1200"/>
              </a:spcBef>
              <a:buFont typeface="Arial" charset="0"/>
              <a:buChar char="•"/>
            </a:pPr>
            <a:r>
              <a:rPr lang="en-US" dirty="0"/>
              <a:t>Research is probabilistic.</a:t>
            </a:r>
          </a:p>
        </p:txBody>
      </p:sp>
    </p:spTree>
    <p:extLst>
      <p:ext uri="{BB962C8B-B14F-4D97-AF65-F5344CB8AC3E}">
        <p14:creationId xmlns:p14="http://schemas.microsoft.com/office/powerpoint/2010/main" val="2579795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051B652-7479-61D6-D3B2-6A34BBB53947}"/>
              </a:ext>
            </a:extLst>
          </p:cNvPr>
          <p:cNvSpPr>
            <a:spLocks noGrp="1"/>
          </p:cNvSpPr>
          <p:nvPr>
            <p:ph type="body" sz="quarter" idx="108"/>
          </p:nvPr>
        </p:nvSpPr>
        <p:spPr/>
        <p:txBody>
          <a:bodyPr/>
          <a:lstStyle/>
          <a:p>
            <a:r>
              <a:rPr lang="en-US" dirty="0"/>
              <a:t>Relying on personal experience can over-inflate one possible outcome due to the lack of a comparison group</a:t>
            </a:r>
          </a:p>
          <a:p>
            <a:r>
              <a:rPr lang="en-US" b="1" dirty="0"/>
              <a:t>Comparison group</a:t>
            </a:r>
            <a:r>
              <a:rPr lang="en-US" dirty="0"/>
              <a:t> – a group who receives a different treatment (or no treatment at all) to determine potential outcomes</a:t>
            </a:r>
          </a:p>
          <a:p>
            <a:r>
              <a:rPr lang="en-US" dirty="0"/>
              <a:t>Examples in-action: radical mastectomies, rage rooms, face tapping for anxiety</a:t>
            </a:r>
          </a:p>
        </p:txBody>
      </p:sp>
      <p:sp>
        <p:nvSpPr>
          <p:cNvPr id="4" name="Title 3">
            <a:extLst>
              <a:ext uri="{FF2B5EF4-FFF2-40B4-BE49-F238E27FC236}">
                <a16:creationId xmlns:a16="http://schemas.microsoft.com/office/drawing/2014/main" id="{E25E9B98-6C27-F786-1943-B1212F8F8873}"/>
              </a:ext>
            </a:extLst>
          </p:cNvPr>
          <p:cNvSpPr>
            <a:spLocks noGrp="1"/>
          </p:cNvSpPr>
          <p:nvPr>
            <p:ph type="title"/>
          </p:nvPr>
        </p:nvSpPr>
        <p:spPr/>
        <p:txBody>
          <a:bodyPr/>
          <a:lstStyle/>
          <a:p>
            <a:r>
              <a:rPr lang="en-US" dirty="0"/>
              <a:t>The Problem with Personal Experience </a:t>
            </a:r>
          </a:p>
        </p:txBody>
      </p:sp>
    </p:spTree>
    <p:extLst>
      <p:ext uri="{BB962C8B-B14F-4D97-AF65-F5344CB8AC3E}">
        <p14:creationId xmlns:p14="http://schemas.microsoft.com/office/powerpoint/2010/main" val="3919661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EEDEAE-3DBF-2E27-74FB-361CDD92E1EE}"/>
              </a:ext>
            </a:extLst>
          </p:cNvPr>
          <p:cNvSpPr>
            <a:spLocks noGrp="1"/>
          </p:cNvSpPr>
          <p:nvPr>
            <p:ph type="title"/>
          </p:nvPr>
        </p:nvSpPr>
        <p:spPr/>
        <p:txBody>
          <a:bodyPr/>
          <a:lstStyle/>
          <a:p>
            <a:r>
              <a:rPr lang="en-US" dirty="0"/>
              <a:t>The Power of a Comparison Group</a:t>
            </a:r>
          </a:p>
        </p:txBody>
      </p:sp>
      <p:pic>
        <p:nvPicPr>
          <p:cNvPr id="5" name="Picture 4" descr="A bar graph illustrating the problem with certain assumptions made by surgeons about radical mastectomies. The X-axis has labels: Radical mastectomy, for which there is a bar, and Other treatments, for which there is no bar. A label pointing to the latter category indicates that other treatments were not tested. The Y-axis measures long-term survival rate.">
            <a:extLst>
              <a:ext uri="{FF2B5EF4-FFF2-40B4-BE49-F238E27FC236}">
                <a16:creationId xmlns:a16="http://schemas.microsoft.com/office/drawing/2014/main" id="{40F75FCD-5DD0-3342-1706-4E4D35E0D4FF}"/>
              </a:ext>
            </a:extLst>
          </p:cNvPr>
          <p:cNvPicPr>
            <a:picLocks noChangeAspect="1"/>
          </p:cNvPicPr>
          <p:nvPr/>
        </p:nvPicPr>
        <p:blipFill>
          <a:blip r:embed="rId3"/>
          <a:stretch>
            <a:fillRect/>
          </a:stretch>
        </p:blipFill>
        <p:spPr>
          <a:xfrm>
            <a:off x="1037100" y="2248481"/>
            <a:ext cx="3240000" cy="2588194"/>
          </a:xfrm>
          <a:prstGeom prst="rect">
            <a:avLst/>
          </a:prstGeom>
        </p:spPr>
      </p:pic>
      <p:pic>
        <p:nvPicPr>
          <p:cNvPr id="7" name="Picture 6" descr="A bar graph that shows the benefit of having a comparison group for the problem of always assuming that radical mastectomies are the only appropriate treatment for breast cancer. The X-axis has labels: Radical mastectomy and Other treatments. The Y-axis measures long-term survival rate. There is one bar for radical mastectomy. For other treatments there are three bars of increasing height, labeled a, b and c. Bar a is smaller than radical mastectomy, b is about the same height as the radical mastectomy bar, c is at least 25 percent taller than the radical mastectomy bar.">
            <a:extLst>
              <a:ext uri="{FF2B5EF4-FFF2-40B4-BE49-F238E27FC236}">
                <a16:creationId xmlns:a16="http://schemas.microsoft.com/office/drawing/2014/main" id="{0E6D8414-0C11-7D04-748A-1B19E7F993FC}"/>
              </a:ext>
            </a:extLst>
          </p:cNvPr>
          <p:cNvPicPr>
            <a:picLocks noChangeAspect="1"/>
          </p:cNvPicPr>
          <p:nvPr/>
        </p:nvPicPr>
        <p:blipFill>
          <a:blip r:embed="rId4"/>
          <a:stretch>
            <a:fillRect/>
          </a:stretch>
        </p:blipFill>
        <p:spPr>
          <a:xfrm>
            <a:off x="4556400" y="2248481"/>
            <a:ext cx="3240000" cy="2603486"/>
          </a:xfrm>
          <a:prstGeom prst="rect">
            <a:avLst/>
          </a:prstGeom>
        </p:spPr>
      </p:pic>
      <p:pic>
        <p:nvPicPr>
          <p:cNvPr id="9" name="Picture 8" descr="A bar graph that illustrates the study's results after collecting data from other treatments used to help patients with breast cancer. The X-axis shows surgery condition, labeled radical mastectomy and other treatments, while the Y-axis shows a 25-year survival rate, from 0 to 40. Each bar in the graph has an error bar. The other treatments bar is only very slightly shorter than the radical mastectomy bar. The difference is less than the heights of the two error bars.">
            <a:extLst>
              <a:ext uri="{FF2B5EF4-FFF2-40B4-BE49-F238E27FC236}">
                <a16:creationId xmlns:a16="http://schemas.microsoft.com/office/drawing/2014/main" id="{CDDECAFD-556D-DB1F-26B4-26BB22835588}"/>
              </a:ext>
            </a:extLst>
          </p:cNvPr>
          <p:cNvPicPr>
            <a:picLocks noChangeAspect="1"/>
          </p:cNvPicPr>
          <p:nvPr/>
        </p:nvPicPr>
        <p:blipFill>
          <a:blip r:embed="rId5"/>
          <a:stretch>
            <a:fillRect/>
          </a:stretch>
        </p:blipFill>
        <p:spPr>
          <a:xfrm>
            <a:off x="8113800" y="2067511"/>
            <a:ext cx="3240000" cy="2784456"/>
          </a:xfrm>
          <a:prstGeom prst="rect">
            <a:avLst/>
          </a:prstGeom>
        </p:spPr>
      </p:pic>
    </p:spTree>
    <p:extLst>
      <p:ext uri="{BB962C8B-B14F-4D97-AF65-F5344CB8AC3E}">
        <p14:creationId xmlns:p14="http://schemas.microsoft.com/office/powerpoint/2010/main" val="260215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60FB83-BB97-E499-DE98-94756C229B51}"/>
              </a:ext>
            </a:extLst>
          </p:cNvPr>
          <p:cNvSpPr>
            <a:spLocks noGrp="1"/>
          </p:cNvSpPr>
          <p:nvPr>
            <p:ph type="body" sz="quarter" idx="108"/>
          </p:nvPr>
        </p:nvSpPr>
        <p:spPr/>
        <p:txBody>
          <a:bodyPr/>
          <a:lstStyle/>
          <a:p>
            <a:r>
              <a:rPr lang="en-US" dirty="0"/>
              <a:t>When relying on personal experience, we can fall victim to confounds</a:t>
            </a:r>
          </a:p>
          <a:p>
            <a:pPr lvl="1"/>
            <a:r>
              <a:rPr lang="en-US" dirty="0"/>
              <a:t>Ex: Believing rage rooms alleviate anger, when the “calming” affect may just be the drop in heart rate after exercise (not actually alleviating the anger itself)</a:t>
            </a:r>
          </a:p>
          <a:p>
            <a:r>
              <a:rPr lang="en-US" b="1" dirty="0"/>
              <a:t>Confounds</a:t>
            </a:r>
            <a:r>
              <a:rPr lang="en-US" dirty="0"/>
              <a:t> – alternative variables that could explain phenomena </a:t>
            </a:r>
          </a:p>
          <a:p>
            <a:pPr lvl="1"/>
            <a:r>
              <a:rPr lang="en-US" dirty="0"/>
              <a:t>confounded = confused</a:t>
            </a:r>
          </a:p>
          <a:p>
            <a:r>
              <a:rPr lang="en-US" dirty="0"/>
              <a:t>So, what do we do about confounds?</a:t>
            </a:r>
          </a:p>
          <a:p>
            <a:pPr lvl="1"/>
            <a:r>
              <a:rPr lang="en-US" dirty="0"/>
              <a:t>Use a research setting where we can systematically look for patterns</a:t>
            </a:r>
          </a:p>
        </p:txBody>
      </p:sp>
      <p:sp>
        <p:nvSpPr>
          <p:cNvPr id="3" name="Title 2">
            <a:extLst>
              <a:ext uri="{FF2B5EF4-FFF2-40B4-BE49-F238E27FC236}">
                <a16:creationId xmlns:a16="http://schemas.microsoft.com/office/drawing/2014/main" id="{6924B8DB-D13B-73DC-7440-7DFE3C99261E}"/>
              </a:ext>
            </a:extLst>
          </p:cNvPr>
          <p:cNvSpPr>
            <a:spLocks noGrp="1"/>
          </p:cNvSpPr>
          <p:nvPr>
            <p:ph type="title"/>
          </p:nvPr>
        </p:nvSpPr>
        <p:spPr/>
        <p:txBody>
          <a:bodyPr/>
          <a:lstStyle/>
          <a:p>
            <a:r>
              <a:rPr lang="en-US" dirty="0"/>
              <a:t>Experience is Confounded</a:t>
            </a:r>
          </a:p>
        </p:txBody>
      </p:sp>
    </p:spTree>
    <p:extLst>
      <p:ext uri="{BB962C8B-B14F-4D97-AF65-F5344CB8AC3E}">
        <p14:creationId xmlns:p14="http://schemas.microsoft.com/office/powerpoint/2010/main" val="245232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844BAD-486E-E13E-4B5F-681320103F7D}"/>
              </a:ext>
            </a:extLst>
          </p:cNvPr>
          <p:cNvSpPr>
            <a:spLocks noGrp="1"/>
          </p:cNvSpPr>
          <p:nvPr>
            <p:ph type="title"/>
          </p:nvPr>
        </p:nvSpPr>
        <p:spPr/>
        <p:txBody>
          <a:bodyPr/>
          <a:lstStyle/>
          <a:p>
            <a:r>
              <a:rPr lang="en-US" dirty="0"/>
              <a:t>Research is Better than Experience</a:t>
            </a:r>
          </a:p>
        </p:txBody>
      </p:sp>
      <p:sp>
        <p:nvSpPr>
          <p:cNvPr id="6" name="Text Placeholder 5">
            <a:extLst>
              <a:ext uri="{FF2B5EF4-FFF2-40B4-BE49-F238E27FC236}">
                <a16:creationId xmlns:a16="http://schemas.microsoft.com/office/drawing/2014/main" id="{90C851C0-CCFB-B9AD-4AD3-25EB230C2DD7}"/>
              </a:ext>
            </a:extLst>
          </p:cNvPr>
          <p:cNvSpPr>
            <a:spLocks noGrp="1"/>
          </p:cNvSpPr>
          <p:nvPr>
            <p:ph type="body" sz="quarter" idx="106"/>
          </p:nvPr>
        </p:nvSpPr>
        <p:spPr/>
        <p:txBody>
          <a:bodyPr/>
          <a:lstStyle/>
          <a:p>
            <a:r>
              <a:rPr lang="en-US" dirty="0"/>
              <a:t>Bushman’s (2002) study on the effect of catharsis on aggression is a systematic comparison that controls for potential confounds.</a:t>
            </a:r>
          </a:p>
          <a:p>
            <a:endParaRPr lang="en-US" dirty="0"/>
          </a:p>
        </p:txBody>
      </p:sp>
      <p:pic>
        <p:nvPicPr>
          <p:cNvPr id="12" name="Picture 2" descr="A bar graph of the research on the catharsis hypothesis. The X axis has labels: Sit quietly, Punching bag exercise, and Punching bag Steve's face. The Y axis is Subsequent aggression to partner, in z score from negative 0.4 to 0.4. The sit quietly group had a z score of about negative 0.2, the punching bag for exercise group had a z score of about 0.01, and the punching bag group that imagined Steve's face had a z score of about 0.2.">
            <a:extLst>
              <a:ext uri="{FF2B5EF4-FFF2-40B4-BE49-F238E27FC236}">
                <a16:creationId xmlns:a16="http://schemas.microsoft.com/office/drawing/2014/main" id="{397731FB-F09F-CA52-6CF9-A5208F1853E5}"/>
              </a:ext>
            </a:extLst>
          </p:cNvPr>
          <p:cNvPicPr>
            <a:picLocks noGrp="1" noChangeAspect="1"/>
          </p:cNvPicPr>
          <p:nvPr>
            <p:ph type="clipArt" sz="quarter" idx="107"/>
          </p:nvPr>
        </p:nvPicPr>
        <p:blipFill>
          <a:blip r:embed="rId3"/>
          <a:stretch/>
        </p:blipFill>
        <p:spPr>
          <a:xfrm>
            <a:off x="6350351" y="1217464"/>
            <a:ext cx="4823617" cy="4980136"/>
          </a:xfrm>
          <a:prstGeom prst="rect">
            <a:avLst/>
          </a:prstGeom>
          <a:noFill/>
        </p:spPr>
      </p:pic>
    </p:spTree>
    <p:extLst>
      <p:ext uri="{BB962C8B-B14F-4D97-AF65-F5344CB8AC3E}">
        <p14:creationId xmlns:p14="http://schemas.microsoft.com/office/powerpoint/2010/main" val="3685900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AAF2907-78F6-518B-8BF5-F24A0AA86075}"/>
              </a:ext>
            </a:extLst>
          </p:cNvPr>
          <p:cNvSpPr>
            <a:spLocks noGrp="1"/>
          </p:cNvSpPr>
          <p:nvPr>
            <p:ph type="body" sz="quarter" idx="108"/>
          </p:nvPr>
        </p:nvSpPr>
        <p:spPr/>
        <p:txBody>
          <a:bodyPr/>
          <a:lstStyle/>
          <a:p>
            <a:r>
              <a:rPr lang="en-US" dirty="0"/>
              <a:t>Personal experience assumes my experience = all experiences</a:t>
            </a:r>
          </a:p>
          <a:p>
            <a:r>
              <a:rPr lang="en-US" dirty="0"/>
              <a:t>Research relies on a probabilistic approach</a:t>
            </a:r>
          </a:p>
          <a:p>
            <a:r>
              <a:rPr lang="en-US" b="1" dirty="0"/>
              <a:t>Probabilistic</a:t>
            </a:r>
            <a:r>
              <a:rPr lang="en-US" dirty="0"/>
              <a:t> – based on the relative likelihood of something occurring, amongst all possibilities</a:t>
            </a:r>
          </a:p>
          <a:p>
            <a:r>
              <a:rPr lang="en-US" dirty="0"/>
              <a:t>In other words, research looks at an outcome as a possibility out of multiple outcomes, not a certainty</a:t>
            </a:r>
          </a:p>
        </p:txBody>
      </p:sp>
      <p:sp>
        <p:nvSpPr>
          <p:cNvPr id="5" name="Title 4">
            <a:extLst>
              <a:ext uri="{FF2B5EF4-FFF2-40B4-BE49-F238E27FC236}">
                <a16:creationId xmlns:a16="http://schemas.microsoft.com/office/drawing/2014/main" id="{CBE65E84-D922-EC12-8E0A-83B154EBBD2C}"/>
              </a:ext>
            </a:extLst>
          </p:cNvPr>
          <p:cNvSpPr>
            <a:spLocks noGrp="1"/>
          </p:cNvSpPr>
          <p:nvPr>
            <p:ph type="title"/>
          </p:nvPr>
        </p:nvSpPr>
        <p:spPr/>
        <p:txBody>
          <a:bodyPr/>
          <a:lstStyle/>
          <a:p>
            <a:r>
              <a:rPr lang="en-US" dirty="0"/>
              <a:t>Research Results are Probabilistic</a:t>
            </a:r>
          </a:p>
        </p:txBody>
      </p:sp>
    </p:spTree>
    <p:extLst>
      <p:ext uri="{BB962C8B-B14F-4D97-AF65-F5344CB8AC3E}">
        <p14:creationId xmlns:p14="http://schemas.microsoft.com/office/powerpoint/2010/main" val="3429600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731E3-3FA1-E207-BDBF-65C91ED431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882FFD-2234-17F1-4FAB-3E494E59145D}"/>
              </a:ext>
            </a:extLst>
          </p:cNvPr>
          <p:cNvSpPr>
            <a:spLocks noGrp="1"/>
          </p:cNvSpPr>
          <p:nvPr>
            <p:ph type="title"/>
          </p:nvPr>
        </p:nvSpPr>
        <p:spPr/>
        <p:txBody>
          <a:bodyPr/>
          <a:lstStyle/>
          <a:p>
            <a:r>
              <a:rPr lang="en-US" dirty="0"/>
              <a:t>Research vs. Your Intuition</a:t>
            </a:r>
          </a:p>
        </p:txBody>
      </p:sp>
      <p:sp>
        <p:nvSpPr>
          <p:cNvPr id="5" name="Content Placeholder 4">
            <a:extLst>
              <a:ext uri="{FF2B5EF4-FFF2-40B4-BE49-F238E27FC236}">
                <a16:creationId xmlns:a16="http://schemas.microsoft.com/office/drawing/2014/main" id="{DB626E72-BDB8-6AAD-4EA6-0E17BFB6D573}"/>
              </a:ext>
            </a:extLst>
          </p:cNvPr>
          <p:cNvSpPr>
            <a:spLocks noGrp="1"/>
          </p:cNvSpPr>
          <p:nvPr>
            <p:ph sz="quarter" idx="10"/>
          </p:nvPr>
        </p:nvSpPr>
        <p:spPr>
          <a:xfrm>
            <a:off x="4794295" y="3013165"/>
            <a:ext cx="6378575" cy="2621281"/>
          </a:xfrm>
        </p:spPr>
        <p:txBody>
          <a:bodyPr/>
          <a:lstStyle/>
          <a:p>
            <a:pPr algn="l">
              <a:lnSpc>
                <a:spcPct val="120000"/>
              </a:lnSpc>
              <a:spcBef>
                <a:spcPts val="1200"/>
              </a:spcBef>
              <a:buFont typeface="Arial" charset="0"/>
              <a:buChar char="•"/>
            </a:pPr>
            <a:r>
              <a:rPr lang="en-US" dirty="0"/>
              <a:t>Ways in which intuition is biased</a:t>
            </a:r>
          </a:p>
          <a:p>
            <a:pPr algn="l">
              <a:lnSpc>
                <a:spcPct val="120000"/>
              </a:lnSpc>
              <a:spcBef>
                <a:spcPts val="1200"/>
              </a:spcBef>
              <a:buFont typeface="Arial" charset="0"/>
              <a:buChar char="•"/>
            </a:pPr>
            <a:r>
              <a:rPr lang="en-US" dirty="0"/>
              <a:t>The intuitive thinker vs. the scientific reasoner</a:t>
            </a:r>
          </a:p>
        </p:txBody>
      </p:sp>
    </p:spTree>
    <p:extLst>
      <p:ext uri="{BB962C8B-B14F-4D97-AF65-F5344CB8AC3E}">
        <p14:creationId xmlns:p14="http://schemas.microsoft.com/office/powerpoint/2010/main" val="249549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7D4EED6-8FE6-8E9D-95BC-3BDDB7F54B14}"/>
              </a:ext>
            </a:extLst>
          </p:cNvPr>
          <p:cNvSpPr>
            <a:spLocks noGrp="1"/>
          </p:cNvSpPr>
          <p:nvPr>
            <p:ph type="body" sz="quarter" idx="108"/>
          </p:nvPr>
        </p:nvSpPr>
        <p:spPr/>
        <p:txBody>
          <a:bodyPr/>
          <a:lstStyle/>
          <a:p>
            <a:r>
              <a:rPr lang="en-US" dirty="0"/>
              <a:t>Being swayed by a good story</a:t>
            </a:r>
          </a:p>
          <a:p>
            <a:pPr lvl="1"/>
            <a:r>
              <a:rPr lang="en-US" dirty="0"/>
              <a:t>Sounds logical ≠ true</a:t>
            </a:r>
          </a:p>
          <a:p>
            <a:r>
              <a:rPr lang="en-US" dirty="0"/>
              <a:t>Being persuaded by what easily comes to mind</a:t>
            </a:r>
          </a:p>
          <a:p>
            <a:r>
              <a:rPr lang="en-US" dirty="0"/>
              <a:t>Focusing on the evidence we expect</a:t>
            </a:r>
          </a:p>
          <a:p>
            <a:r>
              <a:rPr lang="en-US" dirty="0"/>
              <a:t>Being biased about being biased</a:t>
            </a:r>
          </a:p>
        </p:txBody>
      </p:sp>
      <p:sp>
        <p:nvSpPr>
          <p:cNvPr id="4" name="Title 3">
            <a:extLst>
              <a:ext uri="{FF2B5EF4-FFF2-40B4-BE49-F238E27FC236}">
                <a16:creationId xmlns:a16="http://schemas.microsoft.com/office/drawing/2014/main" id="{C8286DDF-E0A1-C08B-CB98-73190FA61352}"/>
              </a:ext>
            </a:extLst>
          </p:cNvPr>
          <p:cNvSpPr>
            <a:spLocks noGrp="1"/>
          </p:cNvSpPr>
          <p:nvPr>
            <p:ph type="title"/>
          </p:nvPr>
        </p:nvSpPr>
        <p:spPr/>
        <p:txBody>
          <a:bodyPr/>
          <a:lstStyle/>
          <a:p>
            <a:r>
              <a:rPr lang="en-US" dirty="0"/>
              <a:t>Ways that Intuition Can Be Biased</a:t>
            </a:r>
          </a:p>
        </p:txBody>
      </p:sp>
    </p:spTree>
    <p:extLst>
      <p:ext uri="{BB962C8B-B14F-4D97-AF65-F5344CB8AC3E}">
        <p14:creationId xmlns:p14="http://schemas.microsoft.com/office/powerpoint/2010/main" val="2031206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E2FEC-623F-2933-13C3-DDA68668B4B9}"/>
              </a:ext>
            </a:extLst>
          </p:cNvPr>
          <p:cNvSpPr>
            <a:spLocks noGrp="1"/>
          </p:cNvSpPr>
          <p:nvPr>
            <p:ph type="title"/>
          </p:nvPr>
        </p:nvSpPr>
        <p:spPr/>
        <p:txBody>
          <a:bodyPr/>
          <a:lstStyle/>
          <a:p>
            <a:r>
              <a:rPr lang="en-US" dirty="0"/>
              <a:t>Ways That Intuition Can Be Biased</a:t>
            </a:r>
          </a:p>
        </p:txBody>
      </p:sp>
      <p:sp>
        <p:nvSpPr>
          <p:cNvPr id="4" name="Text Placeholder 3">
            <a:extLst>
              <a:ext uri="{FF2B5EF4-FFF2-40B4-BE49-F238E27FC236}">
                <a16:creationId xmlns:a16="http://schemas.microsoft.com/office/drawing/2014/main" id="{5ECFC0C6-2082-9D00-1783-19B76120CCE1}"/>
              </a:ext>
            </a:extLst>
          </p:cNvPr>
          <p:cNvSpPr>
            <a:spLocks noGrp="1"/>
          </p:cNvSpPr>
          <p:nvPr>
            <p:ph type="body" sz="quarter" idx="106"/>
          </p:nvPr>
        </p:nvSpPr>
        <p:spPr>
          <a:xfrm>
            <a:off x="658368" y="1437639"/>
            <a:ext cx="3965883" cy="4654550"/>
          </a:xfrm>
        </p:spPr>
        <p:txBody>
          <a:bodyPr/>
          <a:lstStyle/>
          <a:p>
            <a:r>
              <a:rPr lang="en-US" dirty="0"/>
              <a:t>Being persuaded by what easily comes to mind</a:t>
            </a:r>
          </a:p>
          <a:p>
            <a:pPr lvl="1"/>
            <a:r>
              <a:rPr lang="en-US" b="1" dirty="0"/>
              <a:t>Availability heuristic</a:t>
            </a:r>
            <a:r>
              <a:rPr lang="en-US" dirty="0"/>
              <a:t> – the things that come to mind easily are more “available” to memory and can guide and/or bias our thinking</a:t>
            </a:r>
          </a:p>
          <a:p>
            <a:pPr lvl="1"/>
            <a:r>
              <a:rPr lang="en-US" dirty="0"/>
              <a:t>The brain’s “recently viewed” links</a:t>
            </a:r>
          </a:p>
          <a:p>
            <a:endParaRPr lang="en-US" dirty="0"/>
          </a:p>
        </p:txBody>
      </p:sp>
      <p:pic>
        <p:nvPicPr>
          <p:cNvPr id="7" name="Picture 2" descr="A bar graph titled Causes of Death in the U S, What Americans die from, what they search on Google, and what the media reports on. The X-axis has labels: Causes of deaths in the US, 2016, Google searches in the US, 2016, Media Coverage: The New York Times, 2016, and Media Coverage: The Guardian, 2016. The Y-axis shows the share of the total from 0% to 100%. Heart disease causes 30.2 percent of all deaths but accounts for less than 3 percent of Google searches or media coverage. At the other extreme, homicide accounts for about 0.9 percent of deaths and only 3.2 percent of Google searches but over 20 percent of media coverage. And terrorism accounts for less than 0.01 percent of deaths but 7.2 percent of Google searches and over 30 percent of media coverage.">
            <a:extLst>
              <a:ext uri="{FF2B5EF4-FFF2-40B4-BE49-F238E27FC236}">
                <a16:creationId xmlns:a16="http://schemas.microsoft.com/office/drawing/2014/main" id="{99DCBA05-0906-93C6-EC6B-313D9B380747}"/>
              </a:ext>
            </a:extLst>
          </p:cNvPr>
          <p:cNvPicPr>
            <a:picLocks noChangeAspect="1"/>
          </p:cNvPicPr>
          <p:nvPr/>
        </p:nvPicPr>
        <p:blipFill>
          <a:blip r:embed="rId3"/>
          <a:srcRect r="1526"/>
          <a:stretch>
            <a:fillRect/>
          </a:stretch>
        </p:blipFill>
        <p:spPr>
          <a:xfrm>
            <a:off x="4686407" y="998500"/>
            <a:ext cx="6664671" cy="5279011"/>
          </a:xfrm>
          <a:prstGeom prst="rect">
            <a:avLst/>
          </a:prstGeom>
          <a:noFill/>
        </p:spPr>
      </p:pic>
    </p:spTree>
    <p:extLst>
      <p:ext uri="{BB962C8B-B14F-4D97-AF65-F5344CB8AC3E}">
        <p14:creationId xmlns:p14="http://schemas.microsoft.com/office/powerpoint/2010/main" val="4035406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8E9B66-7D14-4A53-3ECE-8E72296EA742}"/>
              </a:ext>
            </a:extLst>
          </p:cNvPr>
          <p:cNvSpPr>
            <a:spLocks noGrp="1"/>
          </p:cNvSpPr>
          <p:nvPr>
            <p:ph type="body" sz="quarter" idx="108"/>
          </p:nvPr>
        </p:nvSpPr>
        <p:spPr/>
        <p:txBody>
          <a:bodyPr/>
          <a:lstStyle/>
          <a:p>
            <a:r>
              <a:rPr lang="en-US" dirty="0"/>
              <a:t>Focusing on the evidence we expect to be true</a:t>
            </a:r>
          </a:p>
          <a:p>
            <a:pPr lvl="1"/>
            <a:r>
              <a:rPr lang="en-US" b="1" dirty="0"/>
              <a:t>Confirmation bias</a:t>
            </a:r>
            <a:r>
              <a:rPr lang="en-US" dirty="0"/>
              <a:t> – the tendency to focus on information we already believe to be true</a:t>
            </a:r>
          </a:p>
          <a:p>
            <a:pPr lvl="1"/>
            <a:r>
              <a:rPr lang="en-US" dirty="0"/>
              <a:t>Ex: the worst cases come into the ER on the full moon</a:t>
            </a:r>
          </a:p>
          <a:p>
            <a:r>
              <a:rPr lang="en-US" dirty="0"/>
              <a:t>Being biased about being biased</a:t>
            </a:r>
          </a:p>
          <a:p>
            <a:pPr lvl="1"/>
            <a:r>
              <a:rPr lang="en-US" b="1" dirty="0"/>
              <a:t>Bias blind spot</a:t>
            </a:r>
            <a:r>
              <a:rPr lang="en-US" dirty="0"/>
              <a:t> – the belief that we are less likely to fall prep to biases than other people</a:t>
            </a:r>
          </a:p>
          <a:p>
            <a:pPr lvl="1"/>
            <a:r>
              <a:rPr lang="en-US" dirty="0"/>
              <a:t>We don’t want to be vulnerable, so we convince ourselves that we would not make the same mistakes</a:t>
            </a:r>
          </a:p>
          <a:p>
            <a:endParaRPr lang="en-US" dirty="0"/>
          </a:p>
        </p:txBody>
      </p:sp>
      <p:sp>
        <p:nvSpPr>
          <p:cNvPr id="3" name="Title 2">
            <a:extLst>
              <a:ext uri="{FF2B5EF4-FFF2-40B4-BE49-F238E27FC236}">
                <a16:creationId xmlns:a16="http://schemas.microsoft.com/office/drawing/2014/main" id="{C0BCF4B7-D1F5-BF6A-5C30-E01B8379D994}"/>
              </a:ext>
            </a:extLst>
          </p:cNvPr>
          <p:cNvSpPr>
            <a:spLocks noGrp="1"/>
          </p:cNvSpPr>
          <p:nvPr>
            <p:ph type="title"/>
          </p:nvPr>
        </p:nvSpPr>
        <p:spPr/>
        <p:txBody>
          <a:bodyPr/>
          <a:lstStyle/>
          <a:p>
            <a:r>
              <a:rPr lang="en-US" dirty="0"/>
              <a:t>Ways That Intuition Can Be Biased</a:t>
            </a:r>
          </a:p>
        </p:txBody>
      </p:sp>
    </p:spTree>
    <p:extLst>
      <p:ext uri="{BB962C8B-B14F-4D97-AF65-F5344CB8AC3E}">
        <p14:creationId xmlns:p14="http://schemas.microsoft.com/office/powerpoint/2010/main" val="1138398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7F99D7-D54B-42A0-E1D8-70A7AD9BA1EB}"/>
              </a:ext>
            </a:extLst>
          </p:cNvPr>
          <p:cNvSpPr>
            <a:spLocks noGrp="1"/>
          </p:cNvSpPr>
          <p:nvPr>
            <p:ph type="title"/>
          </p:nvPr>
        </p:nvSpPr>
        <p:spPr/>
        <p:txBody>
          <a:bodyPr/>
          <a:lstStyle/>
          <a:p>
            <a:r>
              <a:rPr lang="en-US" dirty="0"/>
              <a:t>Intuition “Cherry-Picking”</a:t>
            </a:r>
          </a:p>
        </p:txBody>
      </p:sp>
      <p:sp>
        <p:nvSpPr>
          <p:cNvPr id="2" name="Text Placeholder 1">
            <a:extLst>
              <a:ext uri="{FF2B5EF4-FFF2-40B4-BE49-F238E27FC236}">
                <a16:creationId xmlns:a16="http://schemas.microsoft.com/office/drawing/2014/main" id="{36776232-A7C8-3302-3CC8-EF9CAA758CD6}"/>
              </a:ext>
            </a:extLst>
          </p:cNvPr>
          <p:cNvSpPr>
            <a:spLocks noGrp="1"/>
          </p:cNvSpPr>
          <p:nvPr>
            <p:ph type="body" sz="quarter" idx="106"/>
          </p:nvPr>
        </p:nvSpPr>
        <p:spPr>
          <a:xfrm>
            <a:off x="658368" y="1437638"/>
            <a:ext cx="3939758" cy="5056343"/>
          </a:xfrm>
        </p:spPr>
        <p:txBody>
          <a:bodyPr/>
          <a:lstStyle/>
          <a:p>
            <a:r>
              <a:rPr lang="en-US" dirty="0"/>
              <a:t>Science progresses slowly, one study at a time.</a:t>
            </a:r>
          </a:p>
          <a:p>
            <a:r>
              <a:rPr lang="en-US" dirty="0"/>
              <a:t>We need to consider the full body of evidence.</a:t>
            </a:r>
          </a:p>
          <a:p>
            <a:r>
              <a:rPr lang="en-US" dirty="0"/>
              <a:t>We are not allowed to cherry-pick only the studies that make sense to us.</a:t>
            </a:r>
          </a:p>
          <a:p>
            <a:endParaRPr lang="en-US" dirty="0"/>
          </a:p>
          <a:p>
            <a:endParaRPr lang="en-US" dirty="0"/>
          </a:p>
          <a:p>
            <a:pPr marL="0" indent="0">
              <a:buNone/>
            </a:pPr>
            <a:r>
              <a:rPr lang="en-US" sz="1800" dirty="0">
                <a:hlinkClick r:id="rId4"/>
              </a:rPr>
              <a:t>https://www.youtube.com/watch?v=0Rnq1NpHdmw</a:t>
            </a:r>
            <a:endParaRPr lang="en-US" sz="1800" dirty="0"/>
          </a:p>
          <a:p>
            <a:pPr marL="0" indent="0">
              <a:buNone/>
            </a:pPr>
            <a:endParaRPr lang="en-US" dirty="0"/>
          </a:p>
        </p:txBody>
      </p:sp>
      <p:pic>
        <p:nvPicPr>
          <p:cNvPr id="5" name="Online Media 4" title="Scientific Studies: Last Week Tonight with John Oliver (HBO)">
            <a:hlinkClick r:id="" action="ppaction://media"/>
            <a:extLst>
              <a:ext uri="{FF2B5EF4-FFF2-40B4-BE49-F238E27FC236}">
                <a16:creationId xmlns:a16="http://schemas.microsoft.com/office/drawing/2014/main" id="{DB53F141-1E09-F9BA-E3E9-3155C7B2F96D}"/>
              </a:ext>
            </a:extLst>
          </p:cNvPr>
          <p:cNvPicPr>
            <a:picLocks noRot="1" noChangeAspect="1"/>
          </p:cNvPicPr>
          <p:nvPr>
            <a:videoFile r:link="rId1"/>
          </p:nvPr>
        </p:nvPicPr>
        <p:blipFill>
          <a:blip r:embed="rId5"/>
          <a:stretch>
            <a:fillRect/>
          </a:stretch>
        </p:blipFill>
        <p:spPr>
          <a:xfrm>
            <a:off x="4999081" y="1437639"/>
            <a:ext cx="7165932" cy="4048761"/>
          </a:xfrm>
          <a:prstGeom prst="rect">
            <a:avLst/>
          </a:prstGeom>
        </p:spPr>
      </p:pic>
    </p:spTree>
    <p:extLst>
      <p:ext uri="{BB962C8B-B14F-4D97-AF65-F5344CB8AC3E}">
        <p14:creationId xmlns:p14="http://schemas.microsoft.com/office/powerpoint/2010/main" val="259823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379871-4C90-8090-E474-4F59B9CCB1DC}"/>
              </a:ext>
            </a:extLst>
          </p:cNvPr>
          <p:cNvSpPr>
            <a:spLocks noGrp="1"/>
          </p:cNvSpPr>
          <p:nvPr>
            <p:ph type="title"/>
          </p:nvPr>
        </p:nvSpPr>
        <p:spPr>
          <a:xfrm>
            <a:off x="658368" y="364018"/>
            <a:ext cx="10515600" cy="732155"/>
          </a:xfrm>
        </p:spPr>
        <p:txBody>
          <a:bodyPr>
            <a:normAutofit/>
          </a:bodyPr>
          <a:lstStyle/>
          <a:p>
            <a:r>
              <a:rPr lang="en-US" dirty="0"/>
              <a:t>The Intuitive Thinker vs The Scientific Reasoner</a:t>
            </a:r>
          </a:p>
        </p:txBody>
      </p:sp>
      <p:graphicFrame>
        <p:nvGraphicFramePr>
          <p:cNvPr id="7" name="Text Placeholder 4">
            <a:extLst>
              <a:ext uri="{FF2B5EF4-FFF2-40B4-BE49-F238E27FC236}">
                <a16:creationId xmlns:a16="http://schemas.microsoft.com/office/drawing/2014/main" id="{A34C3AF8-DA34-6040-2FB3-D4FD9998934D}"/>
              </a:ext>
            </a:extLst>
          </p:cNvPr>
          <p:cNvGraphicFramePr/>
          <p:nvPr>
            <p:extLst>
              <p:ext uri="{D42A27DB-BD31-4B8C-83A1-F6EECF244321}">
                <p14:modId xmlns:p14="http://schemas.microsoft.com/office/powerpoint/2010/main" val="1281224882"/>
              </p:ext>
            </p:extLst>
          </p:nvPr>
        </p:nvGraphicFramePr>
        <p:xfrm>
          <a:off x="658366" y="1096173"/>
          <a:ext cx="10875266" cy="53762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705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6647F74-1B97-5A56-E842-F8608ADBFFD1}"/>
              </a:ext>
            </a:extLst>
          </p:cNvPr>
          <p:cNvSpPr>
            <a:spLocks noGrp="1"/>
          </p:cNvSpPr>
          <p:nvPr>
            <p:ph type="body" sz="quarter" idx="108"/>
          </p:nvPr>
        </p:nvSpPr>
        <p:spPr/>
        <p:txBody>
          <a:bodyPr/>
          <a:lstStyle/>
          <a:p>
            <a:r>
              <a:rPr lang="en-US" dirty="0"/>
              <a:t>So, how do we be scientific reasoners?</a:t>
            </a:r>
          </a:p>
          <a:p>
            <a:endParaRPr lang="en-US" dirty="0"/>
          </a:p>
          <a:p>
            <a:pPr>
              <a:spcBef>
                <a:spcPts val="1200"/>
              </a:spcBef>
              <a:buFont typeface="Arial" charset="0"/>
              <a:buChar char="•"/>
            </a:pPr>
            <a:r>
              <a:rPr lang="en-US" dirty="0"/>
              <a:t>Consulting scientific sources</a:t>
            </a:r>
          </a:p>
          <a:p>
            <a:pPr>
              <a:spcBef>
                <a:spcPts val="1200"/>
              </a:spcBef>
              <a:buFont typeface="Arial" charset="0"/>
              <a:buChar char="•"/>
            </a:pPr>
            <a:r>
              <a:rPr lang="en-US" dirty="0"/>
              <a:t>Finding legitimate scientific sources</a:t>
            </a:r>
          </a:p>
          <a:p>
            <a:pPr>
              <a:spcBef>
                <a:spcPts val="1200"/>
              </a:spcBef>
              <a:buFont typeface="Arial" charset="0"/>
              <a:buChar char="•"/>
            </a:pPr>
            <a:r>
              <a:rPr lang="en-US" dirty="0"/>
              <a:t>Reading the research</a:t>
            </a:r>
          </a:p>
          <a:p>
            <a:pPr>
              <a:spcBef>
                <a:spcPts val="1200"/>
              </a:spcBef>
              <a:buFont typeface="Arial" charset="0"/>
              <a:buChar char="•"/>
            </a:pPr>
            <a:r>
              <a:rPr lang="en-US" dirty="0"/>
              <a:t>Legitimate journalism versus disinformation</a:t>
            </a:r>
          </a:p>
          <a:p>
            <a:endParaRPr lang="en-US" dirty="0"/>
          </a:p>
        </p:txBody>
      </p:sp>
      <p:sp>
        <p:nvSpPr>
          <p:cNvPr id="5" name="Title 4">
            <a:extLst>
              <a:ext uri="{FF2B5EF4-FFF2-40B4-BE49-F238E27FC236}">
                <a16:creationId xmlns:a16="http://schemas.microsoft.com/office/drawing/2014/main" id="{1BC606DF-36A2-D042-52CE-19828C50543E}"/>
              </a:ext>
            </a:extLst>
          </p:cNvPr>
          <p:cNvSpPr>
            <a:spLocks noGrp="1"/>
          </p:cNvSpPr>
          <p:nvPr>
            <p:ph type="title"/>
          </p:nvPr>
        </p:nvSpPr>
        <p:spPr/>
        <p:txBody>
          <a:bodyPr/>
          <a:lstStyle/>
          <a:p>
            <a:r>
              <a:rPr lang="en-US" dirty="0"/>
              <a:t>The Intuitive Thinker vs. The Scientific Reasoner</a:t>
            </a:r>
          </a:p>
        </p:txBody>
      </p:sp>
    </p:spTree>
    <p:extLst>
      <p:ext uri="{BB962C8B-B14F-4D97-AF65-F5344CB8AC3E}">
        <p14:creationId xmlns:p14="http://schemas.microsoft.com/office/powerpoint/2010/main" val="501995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4598C-CD57-3FC0-FCE3-CBA7360A67B4}"/>
              </a:ext>
            </a:extLst>
          </p:cNvPr>
          <p:cNvSpPr>
            <a:spLocks noGrp="1"/>
          </p:cNvSpPr>
          <p:nvPr>
            <p:ph type="title"/>
          </p:nvPr>
        </p:nvSpPr>
        <p:spPr/>
        <p:txBody>
          <a:bodyPr/>
          <a:lstStyle/>
          <a:p>
            <a:r>
              <a:rPr lang="en-US" dirty="0"/>
              <a:t>Research Sources</a:t>
            </a:r>
          </a:p>
        </p:txBody>
      </p:sp>
      <p:sp>
        <p:nvSpPr>
          <p:cNvPr id="3" name="Content Placeholder 2">
            <a:extLst>
              <a:ext uri="{FF2B5EF4-FFF2-40B4-BE49-F238E27FC236}">
                <a16:creationId xmlns:a16="http://schemas.microsoft.com/office/drawing/2014/main" id="{2382814F-E56D-3F1E-652C-6655008D02E2}"/>
              </a:ext>
            </a:extLst>
          </p:cNvPr>
          <p:cNvSpPr>
            <a:spLocks noGrp="1"/>
          </p:cNvSpPr>
          <p:nvPr>
            <p:ph sz="quarter" idx="10"/>
          </p:nvPr>
        </p:nvSpPr>
        <p:spPr>
          <a:xfrm>
            <a:off x="4689792" y="3498394"/>
            <a:ext cx="6378575" cy="2600455"/>
          </a:xfrm>
        </p:spPr>
        <p:txBody>
          <a:bodyPr/>
          <a:lstStyle/>
          <a:p>
            <a:pPr marL="457200" indent="-457200" algn="l">
              <a:buFont typeface="Arial" panose="020B0604020202020204" pitchFamily="34" charset="0"/>
              <a:buChar char="•"/>
            </a:pPr>
            <a:r>
              <a:rPr lang="en-US" dirty="0"/>
              <a:t>Sources of Information</a:t>
            </a:r>
          </a:p>
          <a:p>
            <a:pPr marL="457200" indent="-457200" algn="l">
              <a:buFont typeface="Arial" panose="020B0604020202020204" pitchFamily="34" charset="0"/>
              <a:buChar char="•"/>
            </a:pPr>
            <a:r>
              <a:rPr lang="en-US" dirty="0"/>
              <a:t>Consulting Sources</a:t>
            </a:r>
          </a:p>
          <a:p>
            <a:pPr marL="457200" indent="-457200" algn="l">
              <a:buFont typeface="Arial" panose="020B0604020202020204" pitchFamily="34" charset="0"/>
              <a:buChar char="•"/>
            </a:pPr>
            <a:r>
              <a:rPr lang="en-US" dirty="0"/>
              <a:t>Finding Legitimate Sources</a:t>
            </a:r>
          </a:p>
          <a:p>
            <a:pPr marL="457200" indent="-457200" algn="l">
              <a:buFont typeface="Arial" panose="020B0604020202020204" pitchFamily="34" charset="0"/>
              <a:buChar char="•"/>
            </a:pPr>
            <a:r>
              <a:rPr lang="en-US" dirty="0"/>
              <a:t>Reading with a Purpose</a:t>
            </a:r>
          </a:p>
          <a:p>
            <a:pPr marL="457200" indent="-457200" algn="l">
              <a:buFont typeface="Arial" panose="020B0604020202020204" pitchFamily="34" charset="0"/>
              <a:buChar char="•"/>
            </a:pPr>
            <a:r>
              <a:rPr lang="en-US" dirty="0"/>
              <a:t>Disinformation</a:t>
            </a:r>
          </a:p>
        </p:txBody>
      </p:sp>
    </p:spTree>
    <p:extLst>
      <p:ext uri="{BB962C8B-B14F-4D97-AF65-F5344CB8AC3E}">
        <p14:creationId xmlns:p14="http://schemas.microsoft.com/office/powerpoint/2010/main" val="719687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16286E0-8E53-0932-503A-1B309487EE43}"/>
              </a:ext>
            </a:extLst>
          </p:cNvPr>
          <p:cNvSpPr>
            <a:spLocks noGrp="1"/>
          </p:cNvSpPr>
          <p:nvPr>
            <p:ph type="body" sz="quarter" idx="108"/>
          </p:nvPr>
        </p:nvSpPr>
        <p:spPr>
          <a:xfrm>
            <a:off x="496388" y="2481943"/>
            <a:ext cx="3640183" cy="3745118"/>
          </a:xfrm>
        </p:spPr>
        <p:txBody>
          <a:bodyPr/>
          <a:lstStyle/>
          <a:p>
            <a:r>
              <a:rPr lang="en-US" dirty="0"/>
              <a:t>The black-outlined boxes are the best scientific approach</a:t>
            </a:r>
          </a:p>
        </p:txBody>
      </p:sp>
      <p:sp>
        <p:nvSpPr>
          <p:cNvPr id="4" name="Title 3">
            <a:extLst>
              <a:ext uri="{FF2B5EF4-FFF2-40B4-BE49-F238E27FC236}">
                <a16:creationId xmlns:a16="http://schemas.microsoft.com/office/drawing/2014/main" id="{838D060F-29D0-8027-1626-C00FC8D00EAC}"/>
              </a:ext>
            </a:extLst>
          </p:cNvPr>
          <p:cNvSpPr>
            <a:spLocks noGrp="1"/>
          </p:cNvSpPr>
          <p:nvPr>
            <p:ph type="title"/>
          </p:nvPr>
        </p:nvSpPr>
        <p:spPr>
          <a:xfrm>
            <a:off x="-346166" y="1166950"/>
            <a:ext cx="4265023" cy="1245324"/>
          </a:xfrm>
        </p:spPr>
        <p:txBody>
          <a:bodyPr/>
          <a:lstStyle/>
          <a:p>
            <a:r>
              <a:rPr lang="en-US" dirty="0"/>
              <a:t>Sources of Information</a:t>
            </a:r>
          </a:p>
        </p:txBody>
      </p:sp>
      <p:pic>
        <p:nvPicPr>
          <p:cNvPr id="7" name="Picture 6" descr="A flowchart of people's information sources. If a belief is based on experience, it either has no comparison group or has confounds. If the belief is based on authority, then it either could be based on authority's research, could be the authority's personal experience, or could be the authority's intuition. If the belief is based on intuition, this likely traces back to either a good story, the availability heuristic, confirmation bias, or bias blind spot. If the belief is based on research, then it could be from scientific sources by psychologists for psychologists, or from other sources by psychologists, journalists, or laypeople for a popular audience. Scientific sources could either be journal articles, chapters in edited books or full-length books. Journal articles can either be empirical articles or review articles. Other sources include trade books (look for references), magazines and newspapers (look for research), and wikis (think critically).">
            <a:extLst>
              <a:ext uri="{FF2B5EF4-FFF2-40B4-BE49-F238E27FC236}">
                <a16:creationId xmlns:a16="http://schemas.microsoft.com/office/drawing/2014/main" id="{78FC7221-706D-028E-D354-4C3A6997939A}"/>
              </a:ext>
            </a:extLst>
          </p:cNvPr>
          <p:cNvPicPr>
            <a:picLocks noChangeAspect="1"/>
          </p:cNvPicPr>
          <p:nvPr/>
        </p:nvPicPr>
        <p:blipFill>
          <a:blip r:embed="rId3"/>
          <a:stretch/>
        </p:blipFill>
        <p:spPr>
          <a:xfrm>
            <a:off x="4681385" y="105431"/>
            <a:ext cx="7145574" cy="6752569"/>
          </a:xfrm>
          <a:prstGeom prst="rect">
            <a:avLst/>
          </a:prstGeom>
          <a:noFill/>
        </p:spPr>
      </p:pic>
    </p:spTree>
    <p:extLst>
      <p:ext uri="{BB962C8B-B14F-4D97-AF65-F5344CB8AC3E}">
        <p14:creationId xmlns:p14="http://schemas.microsoft.com/office/powerpoint/2010/main" val="2762997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E198AE-2894-3F23-5406-16D640BCEF9B}"/>
              </a:ext>
            </a:extLst>
          </p:cNvPr>
          <p:cNvSpPr>
            <a:spLocks noGrp="1"/>
          </p:cNvSpPr>
          <p:nvPr>
            <p:ph type="body" sz="quarter" idx="108"/>
          </p:nvPr>
        </p:nvSpPr>
        <p:spPr/>
        <p:txBody>
          <a:bodyPr/>
          <a:lstStyle/>
          <a:p>
            <a:r>
              <a:rPr lang="en-US" dirty="0"/>
              <a:t>Journal articles are the most important source for psychology</a:t>
            </a:r>
          </a:p>
          <a:p>
            <a:r>
              <a:rPr lang="en-US" b="1" dirty="0"/>
              <a:t>Empirical journal article</a:t>
            </a:r>
            <a:r>
              <a:rPr lang="en-US" dirty="0"/>
              <a:t> – A paper reporting the method and results from an experiment (or series of experiments) for the first time</a:t>
            </a:r>
          </a:p>
          <a:p>
            <a:r>
              <a:rPr lang="en-US" b="1" dirty="0"/>
              <a:t>Review journal article</a:t>
            </a:r>
            <a:r>
              <a:rPr lang="en-US" dirty="0"/>
              <a:t> – A paper summarizing all the published studies that have been conducted in that particular research area</a:t>
            </a:r>
          </a:p>
          <a:p>
            <a:r>
              <a:rPr lang="en-US" b="1" dirty="0"/>
              <a:t>Meta-analysis</a:t>
            </a:r>
            <a:r>
              <a:rPr lang="en-US" dirty="0"/>
              <a:t> – A paper statistically evaluating the information reported across multiple other empirical journal articles</a:t>
            </a:r>
            <a:endParaRPr lang="en-US" b="1" dirty="0"/>
          </a:p>
        </p:txBody>
      </p:sp>
      <p:sp>
        <p:nvSpPr>
          <p:cNvPr id="3" name="Title 2">
            <a:extLst>
              <a:ext uri="{FF2B5EF4-FFF2-40B4-BE49-F238E27FC236}">
                <a16:creationId xmlns:a16="http://schemas.microsoft.com/office/drawing/2014/main" id="{AC3A199E-B8EA-79D8-4BC2-2FA5414420EE}"/>
              </a:ext>
            </a:extLst>
          </p:cNvPr>
          <p:cNvSpPr>
            <a:spLocks noGrp="1"/>
          </p:cNvSpPr>
          <p:nvPr>
            <p:ph type="title"/>
          </p:nvPr>
        </p:nvSpPr>
        <p:spPr/>
        <p:txBody>
          <a:bodyPr/>
          <a:lstStyle/>
          <a:p>
            <a:r>
              <a:rPr lang="en-US" dirty="0"/>
              <a:t>Consulting Scientific Sources</a:t>
            </a:r>
          </a:p>
        </p:txBody>
      </p:sp>
    </p:spTree>
    <p:extLst>
      <p:ext uri="{BB962C8B-B14F-4D97-AF65-F5344CB8AC3E}">
        <p14:creationId xmlns:p14="http://schemas.microsoft.com/office/powerpoint/2010/main" val="1528977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B6FB8F-B1B1-0B46-5876-74F44C4BED02}"/>
              </a:ext>
            </a:extLst>
          </p:cNvPr>
          <p:cNvSpPr>
            <a:spLocks noGrp="1"/>
          </p:cNvSpPr>
          <p:nvPr>
            <p:ph type="body" sz="quarter" idx="108"/>
          </p:nvPr>
        </p:nvSpPr>
        <p:spPr/>
        <p:txBody>
          <a:bodyPr/>
          <a:lstStyle/>
          <a:p>
            <a:r>
              <a:rPr lang="en-US" dirty="0"/>
              <a:t>Other scientific sources include:</a:t>
            </a:r>
          </a:p>
          <a:p>
            <a:r>
              <a:rPr lang="en-US" dirty="0"/>
              <a:t>Chapters in edited books (each chapter is written by different authors)</a:t>
            </a:r>
          </a:p>
          <a:p>
            <a:r>
              <a:rPr lang="en-US" dirty="0"/>
              <a:t>Full length books (written by one author)</a:t>
            </a:r>
          </a:p>
          <a:p>
            <a:pPr lvl="1"/>
            <a:r>
              <a:rPr lang="en-US" dirty="0"/>
              <a:t>This is rather rare in psychology</a:t>
            </a:r>
          </a:p>
        </p:txBody>
      </p:sp>
      <p:sp>
        <p:nvSpPr>
          <p:cNvPr id="3" name="Title 2">
            <a:extLst>
              <a:ext uri="{FF2B5EF4-FFF2-40B4-BE49-F238E27FC236}">
                <a16:creationId xmlns:a16="http://schemas.microsoft.com/office/drawing/2014/main" id="{1A48A65D-008B-9C51-0112-9323CCFB98F8}"/>
              </a:ext>
            </a:extLst>
          </p:cNvPr>
          <p:cNvSpPr>
            <a:spLocks noGrp="1"/>
          </p:cNvSpPr>
          <p:nvPr>
            <p:ph type="title"/>
          </p:nvPr>
        </p:nvSpPr>
        <p:spPr/>
        <p:txBody>
          <a:bodyPr/>
          <a:lstStyle/>
          <a:p>
            <a:r>
              <a:rPr lang="en-US" dirty="0"/>
              <a:t>Consulting Scientific Sources</a:t>
            </a:r>
          </a:p>
        </p:txBody>
      </p:sp>
    </p:spTree>
    <p:extLst>
      <p:ext uri="{BB962C8B-B14F-4D97-AF65-F5344CB8AC3E}">
        <p14:creationId xmlns:p14="http://schemas.microsoft.com/office/powerpoint/2010/main" val="2080902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4AB021-4E6A-CD16-A71B-BEDF98433FD4}"/>
              </a:ext>
            </a:extLst>
          </p:cNvPr>
          <p:cNvSpPr>
            <a:spLocks noGrp="1"/>
          </p:cNvSpPr>
          <p:nvPr>
            <p:ph type="body" sz="quarter" idx="108"/>
          </p:nvPr>
        </p:nvSpPr>
        <p:spPr/>
        <p:txBody>
          <a:bodyPr/>
          <a:lstStyle/>
          <a:p>
            <a:r>
              <a:rPr lang="en-US" dirty="0"/>
              <a:t>PsycINFO</a:t>
            </a:r>
          </a:p>
          <a:p>
            <a:pPr lvl="1"/>
            <a:r>
              <a:rPr lang="en-US" dirty="0"/>
              <a:t>Great filtering options; psychology focused, and most likely to have peer-reviewed sources</a:t>
            </a:r>
          </a:p>
          <a:p>
            <a:r>
              <a:rPr lang="en-US" dirty="0"/>
              <a:t>Google Scholar</a:t>
            </a:r>
          </a:p>
          <a:p>
            <a:pPr lvl="1"/>
            <a:r>
              <a:rPr lang="en-US" dirty="0"/>
              <a:t>All encompassing, but poor filtering</a:t>
            </a:r>
          </a:p>
          <a:p>
            <a:r>
              <a:rPr lang="en-US" dirty="0" err="1"/>
              <a:t>PsyArXiv</a:t>
            </a:r>
            <a:endParaRPr lang="en-US" dirty="0"/>
          </a:p>
          <a:p>
            <a:pPr lvl="1"/>
            <a:r>
              <a:rPr lang="en-US" dirty="0"/>
              <a:t>Based in open science mindset, but does not have peer-review</a:t>
            </a:r>
          </a:p>
          <a:p>
            <a:r>
              <a:rPr lang="en-US" dirty="0"/>
              <a:t>Concerns:</a:t>
            </a:r>
          </a:p>
          <a:p>
            <a:pPr lvl="1"/>
            <a:r>
              <a:rPr lang="en-US" dirty="0"/>
              <a:t>Predatory journals</a:t>
            </a:r>
          </a:p>
          <a:p>
            <a:pPr lvl="1"/>
            <a:r>
              <a:rPr lang="en-US" dirty="0"/>
              <a:t>Paywalled vs open access </a:t>
            </a:r>
          </a:p>
          <a:p>
            <a:pPr lvl="1"/>
            <a:r>
              <a:rPr lang="en-US" dirty="0"/>
              <a:t>Impact factors (quality matters)</a:t>
            </a:r>
          </a:p>
        </p:txBody>
      </p:sp>
      <p:sp>
        <p:nvSpPr>
          <p:cNvPr id="3" name="Title 2">
            <a:extLst>
              <a:ext uri="{FF2B5EF4-FFF2-40B4-BE49-F238E27FC236}">
                <a16:creationId xmlns:a16="http://schemas.microsoft.com/office/drawing/2014/main" id="{30EB34BF-743E-DDB7-32F8-5237FFDAB11D}"/>
              </a:ext>
            </a:extLst>
          </p:cNvPr>
          <p:cNvSpPr>
            <a:spLocks noGrp="1"/>
          </p:cNvSpPr>
          <p:nvPr>
            <p:ph type="title"/>
          </p:nvPr>
        </p:nvSpPr>
        <p:spPr/>
        <p:txBody>
          <a:bodyPr/>
          <a:lstStyle/>
          <a:p>
            <a:r>
              <a:rPr lang="en-US" dirty="0"/>
              <a:t>Finding Legitimate Scientific Sources</a:t>
            </a:r>
          </a:p>
        </p:txBody>
      </p:sp>
    </p:spTree>
    <p:extLst>
      <p:ext uri="{BB962C8B-B14F-4D97-AF65-F5344CB8AC3E}">
        <p14:creationId xmlns:p14="http://schemas.microsoft.com/office/powerpoint/2010/main" val="3348737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D5CA79-C690-0632-BDE1-4260CF40C096}"/>
              </a:ext>
            </a:extLst>
          </p:cNvPr>
          <p:cNvSpPr>
            <a:spLocks noGrp="1"/>
          </p:cNvSpPr>
          <p:nvPr>
            <p:ph type="body" sz="quarter" idx="108"/>
          </p:nvPr>
        </p:nvSpPr>
        <p:spPr/>
        <p:txBody>
          <a:bodyPr/>
          <a:lstStyle/>
          <a:p>
            <a:r>
              <a:rPr lang="en-US" dirty="0"/>
              <a:t>Components of an empirical journal article</a:t>
            </a:r>
          </a:p>
          <a:p>
            <a:pPr lvl="1"/>
            <a:r>
              <a:rPr lang="en-US" dirty="0"/>
              <a:t>Abstract</a:t>
            </a:r>
          </a:p>
          <a:p>
            <a:pPr lvl="1"/>
            <a:r>
              <a:rPr lang="en-US" dirty="0"/>
              <a:t>Introduction</a:t>
            </a:r>
          </a:p>
          <a:p>
            <a:pPr lvl="1"/>
            <a:r>
              <a:rPr lang="en-US" dirty="0"/>
              <a:t>Method</a:t>
            </a:r>
          </a:p>
          <a:p>
            <a:pPr lvl="1"/>
            <a:r>
              <a:rPr lang="en-US" dirty="0"/>
              <a:t>Results</a:t>
            </a:r>
          </a:p>
          <a:p>
            <a:pPr lvl="1"/>
            <a:r>
              <a:rPr lang="en-US" dirty="0"/>
              <a:t>Discussion</a:t>
            </a:r>
          </a:p>
          <a:p>
            <a:pPr lvl="1"/>
            <a:r>
              <a:rPr lang="en-US" dirty="0"/>
              <a:t>References</a:t>
            </a:r>
          </a:p>
          <a:p>
            <a:r>
              <a:rPr lang="en-US" dirty="0"/>
              <a:t>Approach sections with a goal in mind:</a:t>
            </a:r>
          </a:p>
          <a:p>
            <a:pPr lvl="1"/>
            <a:r>
              <a:rPr lang="en-US" dirty="0"/>
              <a:t>What is the argument?</a:t>
            </a:r>
          </a:p>
          <a:p>
            <a:pPr lvl="1"/>
            <a:r>
              <a:rPr lang="en-US" dirty="0"/>
              <a:t>What is the evidence to support the argument?</a:t>
            </a:r>
          </a:p>
          <a:p>
            <a:endParaRPr lang="en-US" dirty="0"/>
          </a:p>
        </p:txBody>
      </p:sp>
      <p:sp>
        <p:nvSpPr>
          <p:cNvPr id="3" name="Title 2">
            <a:extLst>
              <a:ext uri="{FF2B5EF4-FFF2-40B4-BE49-F238E27FC236}">
                <a16:creationId xmlns:a16="http://schemas.microsoft.com/office/drawing/2014/main" id="{1ED01636-C612-3EC9-06E0-74B06F8E746E}"/>
              </a:ext>
            </a:extLst>
          </p:cNvPr>
          <p:cNvSpPr>
            <a:spLocks noGrp="1"/>
          </p:cNvSpPr>
          <p:nvPr>
            <p:ph type="title"/>
          </p:nvPr>
        </p:nvSpPr>
        <p:spPr/>
        <p:txBody>
          <a:bodyPr/>
          <a:lstStyle/>
          <a:p>
            <a:r>
              <a:rPr lang="en-US" dirty="0"/>
              <a:t>Reading with a Purpose</a:t>
            </a:r>
          </a:p>
        </p:txBody>
      </p:sp>
    </p:spTree>
    <p:extLst>
      <p:ext uri="{BB962C8B-B14F-4D97-AF65-F5344CB8AC3E}">
        <p14:creationId xmlns:p14="http://schemas.microsoft.com/office/powerpoint/2010/main" val="3895788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926EBF-C712-BEE5-4A51-CA27981E4FCF}"/>
              </a:ext>
            </a:extLst>
          </p:cNvPr>
          <p:cNvSpPr>
            <a:spLocks noGrp="1"/>
          </p:cNvSpPr>
          <p:nvPr>
            <p:ph type="body" sz="quarter" idx="108"/>
          </p:nvPr>
        </p:nvSpPr>
        <p:spPr/>
        <p:txBody>
          <a:bodyPr/>
          <a:lstStyle/>
          <a:p>
            <a:r>
              <a:rPr lang="en-US" dirty="0"/>
              <a:t>Some information may be incorrect by accident (ex: oversimplification)</a:t>
            </a:r>
          </a:p>
          <a:p>
            <a:r>
              <a:rPr lang="en-US" dirty="0"/>
              <a:t>Other times, the research is deliberately inaccurate </a:t>
            </a:r>
          </a:p>
          <a:p>
            <a:pPr lvl="1"/>
            <a:r>
              <a:rPr lang="en-US" b="1" dirty="0"/>
              <a:t>Disinformation</a:t>
            </a:r>
            <a:r>
              <a:rPr lang="en-US" dirty="0"/>
              <a:t> – the deliberate creation and sharing of information known to be false</a:t>
            </a:r>
          </a:p>
          <a:p>
            <a:r>
              <a:rPr lang="en-US" dirty="0"/>
              <a:t>A common example of disinformation is sharing information from a retracted paper</a:t>
            </a:r>
          </a:p>
          <a:p>
            <a:pPr lvl="1"/>
            <a:r>
              <a:rPr lang="en-US" b="1" dirty="0"/>
              <a:t>Retracted</a:t>
            </a:r>
            <a:r>
              <a:rPr lang="en-US" dirty="0"/>
              <a:t> – when the authors publicly state the paper is inaccurate</a:t>
            </a:r>
          </a:p>
          <a:p>
            <a:pPr lvl="1"/>
            <a:r>
              <a:rPr lang="en-US" dirty="0"/>
              <a:t>Cool source for those interested: Retraction Watch</a:t>
            </a:r>
          </a:p>
        </p:txBody>
      </p:sp>
      <p:sp>
        <p:nvSpPr>
          <p:cNvPr id="3" name="Title 2">
            <a:extLst>
              <a:ext uri="{FF2B5EF4-FFF2-40B4-BE49-F238E27FC236}">
                <a16:creationId xmlns:a16="http://schemas.microsoft.com/office/drawing/2014/main" id="{E8BCD1C3-9F9C-8596-00C9-7C712E2D9051}"/>
              </a:ext>
            </a:extLst>
          </p:cNvPr>
          <p:cNvSpPr>
            <a:spLocks noGrp="1"/>
          </p:cNvSpPr>
          <p:nvPr>
            <p:ph type="title"/>
          </p:nvPr>
        </p:nvSpPr>
        <p:spPr/>
        <p:txBody>
          <a:bodyPr/>
          <a:lstStyle/>
          <a:p>
            <a:r>
              <a:rPr lang="en-US" dirty="0"/>
              <a:t>Disinformation</a:t>
            </a:r>
          </a:p>
        </p:txBody>
      </p:sp>
    </p:spTree>
    <p:extLst>
      <p:ext uri="{BB962C8B-B14F-4D97-AF65-F5344CB8AC3E}">
        <p14:creationId xmlns:p14="http://schemas.microsoft.com/office/powerpoint/2010/main" val="7919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BABF83-A39C-BCBC-BECD-81E7CF030E5C}"/>
              </a:ext>
            </a:extLst>
          </p:cNvPr>
          <p:cNvSpPr>
            <a:spLocks noGrp="1"/>
          </p:cNvSpPr>
          <p:nvPr>
            <p:ph type="title"/>
          </p:nvPr>
        </p:nvSpPr>
        <p:spPr>
          <a:xfrm>
            <a:off x="658368" y="364018"/>
            <a:ext cx="10515600" cy="732155"/>
          </a:xfrm>
        </p:spPr>
        <p:txBody>
          <a:bodyPr>
            <a:normAutofit/>
          </a:bodyPr>
          <a:lstStyle/>
          <a:p>
            <a:r>
              <a:rPr lang="en-US" dirty="0"/>
              <a:t>Combating Disinformation </a:t>
            </a:r>
          </a:p>
        </p:txBody>
      </p:sp>
      <p:graphicFrame>
        <p:nvGraphicFramePr>
          <p:cNvPr id="5" name="Text Placeholder 1">
            <a:extLst>
              <a:ext uri="{FF2B5EF4-FFF2-40B4-BE49-F238E27FC236}">
                <a16:creationId xmlns:a16="http://schemas.microsoft.com/office/drawing/2014/main" id="{2BE3FEBE-608F-0867-5C80-C91F4E700772}"/>
              </a:ext>
            </a:extLst>
          </p:cNvPr>
          <p:cNvGraphicFramePr/>
          <p:nvPr>
            <p:extLst>
              <p:ext uri="{D42A27DB-BD31-4B8C-83A1-F6EECF244321}">
                <p14:modId xmlns:p14="http://schemas.microsoft.com/office/powerpoint/2010/main" val="1724860566"/>
              </p:ext>
            </p:extLst>
          </p:nvPr>
        </p:nvGraphicFramePr>
        <p:xfrm>
          <a:off x="658368" y="1393572"/>
          <a:ext cx="10982791" cy="4742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3655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C331-C1BA-AE6A-3AD5-95EDE2A96A34}"/>
              </a:ext>
            </a:extLst>
          </p:cNvPr>
          <p:cNvSpPr>
            <a:spLocks noGrp="1"/>
          </p:cNvSpPr>
          <p:nvPr>
            <p:ph type="title"/>
          </p:nvPr>
        </p:nvSpPr>
        <p:spPr>
          <a:xfrm>
            <a:off x="438031" y="2665440"/>
            <a:ext cx="4475492" cy="1574951"/>
          </a:xfrm>
        </p:spPr>
        <p:txBody>
          <a:bodyPr/>
          <a:lstStyle/>
          <a:p>
            <a:r>
              <a:rPr lang="en-US" dirty="0"/>
              <a:t>Gullible, Cynical, or Literate?</a:t>
            </a:r>
          </a:p>
        </p:txBody>
      </p:sp>
      <p:pic>
        <p:nvPicPr>
          <p:cNvPr id="6" name="Picture 5" descr="An infographic titled Be Information Literate, Not Gullible or Cynical. The graphic illustrates how different people engage with media, ranging from the gullible who believe a source too quickly to the cynical who ignore all news sources, thinking, why bother. The image portrays an ideal way of sharing sources, which requires pausing emotions, cross-checking and contextualizing information.">
            <a:extLst>
              <a:ext uri="{FF2B5EF4-FFF2-40B4-BE49-F238E27FC236}">
                <a16:creationId xmlns:a16="http://schemas.microsoft.com/office/drawing/2014/main" id="{4699ED6B-4BB8-9689-8412-973C5C06AAA0}"/>
              </a:ext>
            </a:extLst>
          </p:cNvPr>
          <p:cNvPicPr>
            <a:picLocks noChangeAspect="1"/>
          </p:cNvPicPr>
          <p:nvPr/>
        </p:nvPicPr>
        <p:blipFill>
          <a:blip r:embed="rId3"/>
          <a:stretch/>
        </p:blipFill>
        <p:spPr>
          <a:xfrm>
            <a:off x="5553457" y="92474"/>
            <a:ext cx="5359905" cy="6720885"/>
          </a:xfrm>
          <a:prstGeom prst="rect">
            <a:avLst/>
          </a:prstGeom>
          <a:noFill/>
        </p:spPr>
      </p:pic>
    </p:spTree>
    <p:extLst>
      <p:ext uri="{BB962C8B-B14F-4D97-AF65-F5344CB8AC3E}">
        <p14:creationId xmlns:p14="http://schemas.microsoft.com/office/powerpoint/2010/main" val="4252728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Props1.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3.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481</TotalTime>
  <Words>898</Words>
  <Application>Microsoft Office PowerPoint</Application>
  <PresentationFormat>Widescreen</PresentationFormat>
  <Paragraphs>120</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Britannic Bold</vt:lpstr>
      <vt:lpstr>Office Theme</vt:lpstr>
      <vt:lpstr>Chapter 2</vt:lpstr>
      <vt:lpstr>Agenda</vt:lpstr>
      <vt:lpstr>Research vs. Your Experience</vt:lpstr>
      <vt:lpstr>The Problem with Personal Experience </vt:lpstr>
      <vt:lpstr>The Power of a Comparison Group</vt:lpstr>
      <vt:lpstr>Experience is Confounded</vt:lpstr>
      <vt:lpstr>Research is Better than Experience</vt:lpstr>
      <vt:lpstr>Research Results are Probabilistic</vt:lpstr>
      <vt:lpstr>Research vs. Your Intuition</vt:lpstr>
      <vt:lpstr>Ways that Intuition Can Be Biased</vt:lpstr>
      <vt:lpstr>Ways That Intuition Can Be Biased</vt:lpstr>
      <vt:lpstr>Ways That Intuition Can Be Biased</vt:lpstr>
      <vt:lpstr>Intuition “Cherry-Picking”</vt:lpstr>
      <vt:lpstr>The Intuitive Thinker vs The Scientific Reasoner</vt:lpstr>
      <vt:lpstr>The Intuitive Thinker vs. The Scientific Reasoner</vt:lpstr>
      <vt:lpstr>Research Sources</vt:lpstr>
      <vt:lpstr>Sources of Information</vt:lpstr>
      <vt:lpstr>Consulting Scientific Sources</vt:lpstr>
      <vt:lpstr>Consulting Scientific Sources</vt:lpstr>
      <vt:lpstr>Finding Legitimate Scientific Sources</vt:lpstr>
      <vt:lpstr>Reading with a Purpose</vt:lpstr>
      <vt:lpstr>Disinformation</vt:lpstr>
      <vt:lpstr>Combating Disinformation </vt:lpstr>
      <vt:lpstr>Gullible, Cynical, or Literate?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8</cp:revision>
  <dcterms:created xsi:type="dcterms:W3CDTF">2026-08-20T19:50:46Z</dcterms:created>
  <dcterms:modified xsi:type="dcterms:W3CDTF">2026-08-31T08:24:31Z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