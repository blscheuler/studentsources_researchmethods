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9" r:id="rId6"/>
    <p:sldId id="258" r:id="rId7"/>
    <p:sldId id="264" r:id="rId8"/>
    <p:sldId id="275" r:id="rId9"/>
    <p:sldId id="267" r:id="rId10"/>
    <p:sldId id="257" r:id="rId11"/>
    <p:sldId id="271" r:id="rId12"/>
    <p:sldId id="263" r:id="rId13"/>
    <p:sldId id="260" r:id="rId14"/>
    <p:sldId id="272" r:id="rId15"/>
    <p:sldId id="276" r:id="rId16"/>
    <p:sldId id="277" r:id="rId17"/>
    <p:sldId id="278" r:id="rId18"/>
    <p:sldId id="273" r:id="rId19"/>
    <p:sldId id="279" r:id="rId20"/>
    <p:sldId id="280" r:id="rId21"/>
    <p:sldId id="281" r:id="rId22"/>
    <p:sldId id="274" r:id="rId23"/>
    <p:sldId id="261"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77703" autoAdjust="0"/>
  </p:normalViewPr>
  <p:slideViewPr>
    <p:cSldViewPr snapToGrid="0" snapToObjects="1">
      <p:cViewPr varScale="1">
        <p:scale>
          <a:sx n="123" d="100"/>
          <a:sy n="123" d="100"/>
        </p:scale>
        <p:origin x="39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72723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432334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36969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976541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397601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06877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409591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986468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390926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9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627318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128091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49538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263113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63494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92295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9255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07691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907434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17198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mailto:scheulerb2@unk.edu"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hyperlink" Target="https://canvas.nebraska.edu/"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Research Methods I</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Introduction to the Course</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p:txBody>
          <a:bodyPr/>
          <a:lstStyle/>
          <a:p>
            <a:r>
              <a:rPr lang="en-US" dirty="0"/>
              <a:t>Meet the instructor</a:t>
            </a:r>
          </a:p>
          <a:p>
            <a:r>
              <a:rPr lang="en-US" dirty="0"/>
              <a:t>Course details</a:t>
            </a:r>
          </a:p>
          <a:p>
            <a:r>
              <a:rPr lang="en-US" dirty="0"/>
              <a:t>Class policies</a:t>
            </a:r>
          </a:p>
          <a:p>
            <a:r>
              <a:rPr lang="en-US" dirty="0"/>
              <a:t>Canvas tour</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5417E-6195-42A2-939C-7B08C5811F39}"/>
              </a:ext>
            </a:extLst>
          </p:cNvPr>
          <p:cNvSpPr>
            <a:spLocks noGrp="1"/>
          </p:cNvSpPr>
          <p:nvPr>
            <p:ph type="title"/>
          </p:nvPr>
        </p:nvSpPr>
        <p:spPr>
          <a:xfrm>
            <a:off x="2751746" y="1337065"/>
            <a:ext cx="8865649" cy="1799292"/>
          </a:xfrm>
        </p:spPr>
        <p:txBody>
          <a:bodyPr/>
          <a:lstStyle/>
          <a:p>
            <a:r>
              <a:rPr lang="en-US" dirty="0"/>
              <a:t>What makes a good introduction?</a:t>
            </a:r>
          </a:p>
        </p:txBody>
      </p:sp>
    </p:spTree>
    <p:extLst>
      <p:ext uri="{BB962C8B-B14F-4D97-AF65-F5344CB8AC3E}">
        <p14:creationId xmlns:p14="http://schemas.microsoft.com/office/powerpoint/2010/main" val="3995866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EE9F0B-2448-074E-7093-2DEF09659573}"/>
              </a:ext>
            </a:extLst>
          </p:cNvPr>
          <p:cNvSpPr>
            <a:spLocks noGrp="1"/>
          </p:cNvSpPr>
          <p:nvPr>
            <p:ph type="body" sz="quarter" idx="108"/>
          </p:nvPr>
        </p:nvSpPr>
        <p:spPr/>
        <p:txBody>
          <a:bodyPr/>
          <a:lstStyle/>
          <a:p>
            <a:r>
              <a:rPr lang="en-US" dirty="0"/>
              <a:t>Valid</a:t>
            </a:r>
          </a:p>
          <a:p>
            <a:r>
              <a:rPr lang="en-US" dirty="0"/>
              <a:t>Representative</a:t>
            </a:r>
          </a:p>
          <a:p>
            <a:r>
              <a:rPr lang="en-US" dirty="0"/>
              <a:t>Relevant</a:t>
            </a:r>
          </a:p>
          <a:p>
            <a:r>
              <a:rPr lang="en-US" dirty="0"/>
              <a:t>Sufficient</a:t>
            </a:r>
          </a:p>
          <a:p>
            <a:r>
              <a:rPr lang="en-US" dirty="0"/>
              <a:t>Unbiased</a:t>
            </a:r>
          </a:p>
        </p:txBody>
      </p:sp>
      <p:sp>
        <p:nvSpPr>
          <p:cNvPr id="4" name="Title 3">
            <a:extLst>
              <a:ext uri="{FF2B5EF4-FFF2-40B4-BE49-F238E27FC236}">
                <a16:creationId xmlns:a16="http://schemas.microsoft.com/office/drawing/2014/main" id="{9B29102C-FF10-6859-8F05-F62B52E313B1}"/>
              </a:ext>
            </a:extLst>
          </p:cNvPr>
          <p:cNvSpPr>
            <a:spLocks noGrp="1"/>
          </p:cNvSpPr>
          <p:nvPr>
            <p:ph type="title"/>
          </p:nvPr>
        </p:nvSpPr>
        <p:spPr/>
        <p:txBody>
          <a:bodyPr/>
          <a:lstStyle/>
          <a:p>
            <a:r>
              <a:rPr lang="en-US" dirty="0"/>
              <a:t>Meet the Professor</a:t>
            </a:r>
          </a:p>
        </p:txBody>
      </p:sp>
    </p:spTree>
    <p:extLst>
      <p:ext uri="{BB962C8B-B14F-4D97-AF65-F5344CB8AC3E}">
        <p14:creationId xmlns:p14="http://schemas.microsoft.com/office/powerpoint/2010/main" val="351985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ADB33F-2FE8-A822-40CF-38C7A47986D0}"/>
              </a:ext>
            </a:extLst>
          </p:cNvPr>
          <p:cNvSpPr>
            <a:spLocks noGrp="1"/>
          </p:cNvSpPr>
          <p:nvPr>
            <p:ph type="body" sz="quarter" idx="108"/>
          </p:nvPr>
        </p:nvSpPr>
        <p:spPr>
          <a:xfrm>
            <a:off x="496389" y="1252729"/>
            <a:ext cx="4963886" cy="4974332"/>
          </a:xfrm>
        </p:spPr>
        <p:txBody>
          <a:bodyPr/>
          <a:lstStyle/>
          <a:p>
            <a:r>
              <a:rPr lang="en-US" sz="2000" b="1" dirty="0"/>
              <a:t>Office Location</a:t>
            </a:r>
          </a:p>
          <a:p>
            <a:pPr lvl="1"/>
            <a:r>
              <a:rPr lang="en-US" sz="1800" dirty="0"/>
              <a:t>Copeland Hall 320E</a:t>
            </a:r>
          </a:p>
          <a:p>
            <a:r>
              <a:rPr lang="en-US" sz="2000" b="1" dirty="0"/>
              <a:t>Office Hours</a:t>
            </a:r>
          </a:p>
          <a:p>
            <a:pPr lvl="1"/>
            <a:r>
              <a:rPr lang="en-US" sz="1800" dirty="0"/>
              <a:t>MW 2:30pm – 4:30pm</a:t>
            </a:r>
          </a:p>
          <a:p>
            <a:pPr lvl="1"/>
            <a:r>
              <a:rPr lang="en-US" sz="1800" dirty="0"/>
              <a:t>T 2:30pm – 3:30pm</a:t>
            </a:r>
          </a:p>
          <a:p>
            <a:pPr lvl="1"/>
            <a:r>
              <a:rPr lang="en-US" sz="1800" dirty="0"/>
              <a:t>By appointment</a:t>
            </a:r>
          </a:p>
          <a:p>
            <a:r>
              <a:rPr lang="en-US" sz="2000" b="1" dirty="0"/>
              <a:t>Email: </a:t>
            </a:r>
            <a:r>
              <a:rPr lang="en-US" sz="2000" b="1" dirty="0">
                <a:hlinkClick r:id="rId3">
                  <a:extLst>
                    <a:ext uri="{A12FA001-AC4F-418D-AE19-62706E023703}">
                      <ahyp:hlinkClr xmlns:ahyp="http://schemas.microsoft.com/office/drawing/2018/hyperlinkcolor" val="tx"/>
                    </a:ext>
                  </a:extLst>
                </a:hlinkClick>
              </a:rPr>
              <a:t>scheulerb2@unk.edu</a:t>
            </a:r>
            <a:endParaRPr lang="en-US" sz="2000" b="1" dirty="0"/>
          </a:p>
          <a:p>
            <a:pPr lvl="1"/>
            <a:r>
              <a:rPr lang="en-US" sz="1800" dirty="0"/>
              <a:t>Please use guidelines in syllabus</a:t>
            </a:r>
          </a:p>
          <a:p>
            <a:pPr lvl="1"/>
            <a:r>
              <a:rPr lang="en-US" sz="1800" dirty="0"/>
              <a:t>DO NOT use "messaging" on Canvas – there’s a decent chance I will never see it </a:t>
            </a:r>
          </a:p>
          <a:p>
            <a:endParaRPr lang="en-US" dirty="0"/>
          </a:p>
        </p:txBody>
      </p:sp>
      <p:sp>
        <p:nvSpPr>
          <p:cNvPr id="3" name="Title 2">
            <a:extLst>
              <a:ext uri="{FF2B5EF4-FFF2-40B4-BE49-F238E27FC236}">
                <a16:creationId xmlns:a16="http://schemas.microsoft.com/office/drawing/2014/main" id="{CA972ECE-9641-4D8E-7F49-BE36D3A834A0}"/>
              </a:ext>
            </a:extLst>
          </p:cNvPr>
          <p:cNvSpPr>
            <a:spLocks noGrp="1"/>
          </p:cNvSpPr>
          <p:nvPr>
            <p:ph type="title"/>
          </p:nvPr>
        </p:nvSpPr>
        <p:spPr/>
        <p:txBody>
          <a:bodyPr/>
          <a:lstStyle/>
          <a:p>
            <a:r>
              <a:rPr lang="en-US" dirty="0"/>
              <a:t>Contacting Me</a:t>
            </a:r>
          </a:p>
        </p:txBody>
      </p:sp>
      <p:sp>
        <p:nvSpPr>
          <p:cNvPr id="4" name="Rectangle 3">
            <a:extLst>
              <a:ext uri="{FF2B5EF4-FFF2-40B4-BE49-F238E27FC236}">
                <a16:creationId xmlns:a16="http://schemas.microsoft.com/office/drawing/2014/main" id="{A0CFD951-503E-5EFB-EEF5-6FE4255B0AD0}"/>
              </a:ext>
            </a:extLst>
          </p:cNvPr>
          <p:cNvSpPr>
            <a:spLocks/>
          </p:cNvSpPr>
          <p:nvPr/>
        </p:nvSpPr>
        <p:spPr>
          <a:xfrm>
            <a:off x="6096000" y="1730557"/>
            <a:ext cx="5666422" cy="3572963"/>
          </a:xfrm>
          <a:prstGeom prst="rect">
            <a:avLst/>
          </a:prstGeom>
          <a:solidFill>
            <a:srgbClr val="4472C4">
              <a:lumMod val="40000"/>
              <a:lumOff val="60000"/>
            </a:srgbClr>
          </a:solidFill>
          <a:ln w="12700" cap="flat" cmpd="sng" algn="ctr">
            <a:solidFill>
              <a:srgbClr val="4472C4">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buNone/>
            </a:pPr>
            <a:r>
              <a:rPr lang="en-US" sz="1600">
                <a:solidFill>
                  <a:srgbClr val="000000"/>
                </a:solidFill>
                <a:effectLst/>
                <a:latin typeface="Times New Roman" panose="02020603050405020304" pitchFamily="18" charset="0"/>
                <a:ea typeface="Times New Roman" panose="02020603050405020304" pitchFamily="18" charset="0"/>
              </a:rPr>
              <a:t>Subject: PSY 270 [SUMMARY OF EMAIL HERE]</a:t>
            </a:r>
            <a:endParaRPr lang="en-US" sz="1600">
              <a:effectLst/>
              <a:latin typeface="Times New Roman" panose="02020603050405020304" pitchFamily="18" charset="0"/>
              <a:ea typeface="Times New Roman" panose="02020603050405020304" pitchFamily="18" charset="0"/>
            </a:endParaRPr>
          </a:p>
          <a:p>
            <a:pPr marL="0" marR="0">
              <a:buNone/>
            </a:pPr>
            <a:r>
              <a:rPr lang="en-US" sz="1600">
                <a:solidFill>
                  <a:srgbClr val="000000"/>
                </a:solidFill>
                <a:effectLst/>
                <a:latin typeface="Times New Roman" panose="02020603050405020304" pitchFamily="18" charset="0"/>
                <a:ea typeface="Times New Roman" panose="02020603050405020304" pitchFamily="18" charset="0"/>
              </a:rPr>
              <a:t>Hello Dr. Scheuler,</a:t>
            </a:r>
            <a:endParaRPr lang="en-US" sz="1600">
              <a:effectLst/>
              <a:latin typeface="Times New Roman" panose="02020603050405020304" pitchFamily="18" charset="0"/>
              <a:ea typeface="Times New Roman" panose="02020603050405020304" pitchFamily="18" charset="0"/>
            </a:endParaRPr>
          </a:p>
          <a:p>
            <a:pPr marL="0" marR="0">
              <a:buNone/>
            </a:pPr>
            <a:r>
              <a:rPr lang="en-US" sz="1600">
                <a:solidFill>
                  <a:srgbClr val="000000"/>
                </a:solidFill>
                <a:effectLst/>
                <a:latin typeface="Times New Roman" panose="02020603050405020304" pitchFamily="18" charset="0"/>
                <a:ea typeface="Times New Roman" panose="02020603050405020304" pitchFamily="18" charset="0"/>
              </a:rPr>
              <a:t>Write your question(s) here, in full sentences and full words (e.g., no abbreviations such as “IDK”). If your question refers to a certain chapter, exam, or assignment, be sure to specify which item you are referring to in your email (e.g., instead of saying “I need help understanding the role of reliability in this week’s research activity,” you could say “I need help understanding the role of reliability in the Chapter 11 research activity”). If you would like to discuss the question in person, please provide times of availability, such as:</a:t>
            </a:r>
            <a:endParaRPr lang="en-US" sz="1600">
              <a:effectLst/>
              <a:latin typeface="Times New Roman" panose="02020603050405020304" pitchFamily="18" charset="0"/>
              <a:ea typeface="Times New Roman" panose="02020603050405020304" pitchFamily="18" charset="0"/>
            </a:endParaRPr>
          </a:p>
          <a:p>
            <a:pPr marL="0" marR="0">
              <a:buNone/>
            </a:pPr>
            <a:r>
              <a:rPr lang="en-US" sz="1600">
                <a:solidFill>
                  <a:srgbClr val="000000"/>
                </a:solidFill>
                <a:effectLst/>
                <a:latin typeface="Times New Roman" panose="02020603050405020304" pitchFamily="18" charset="0"/>
                <a:ea typeface="Times New Roman" panose="02020603050405020304" pitchFamily="18" charset="0"/>
              </a:rPr>
              <a:t>Tuesday 4-5pm, Wednesday 8-9am, 11am-12pm, Friday, after 3pm</a:t>
            </a:r>
            <a:endParaRPr lang="en-US" sz="1600">
              <a:effectLst/>
              <a:latin typeface="Times New Roman" panose="02020603050405020304" pitchFamily="18" charset="0"/>
              <a:ea typeface="Times New Roman" panose="02020603050405020304" pitchFamily="18" charset="0"/>
            </a:endParaRPr>
          </a:p>
          <a:p>
            <a:pPr marL="0" marR="0">
              <a:buNone/>
            </a:pPr>
            <a:r>
              <a:rPr lang="en-US" sz="1600">
                <a:solidFill>
                  <a:srgbClr val="000000"/>
                </a:solidFill>
                <a:effectLst/>
                <a:latin typeface="Times New Roman" panose="02020603050405020304" pitchFamily="18" charset="0"/>
                <a:ea typeface="Times New Roman" panose="02020603050405020304" pitchFamily="18" charset="0"/>
              </a:rPr>
              <a:t>Thank you,</a:t>
            </a:r>
            <a:br>
              <a:rPr lang="en-US" sz="1600">
                <a:solidFill>
                  <a:srgbClr val="000000"/>
                </a:solidFill>
                <a:effectLst/>
                <a:latin typeface="Times New Roman" panose="02020603050405020304" pitchFamily="18" charset="0"/>
                <a:ea typeface="Times New Roman" panose="02020603050405020304" pitchFamily="18" charset="0"/>
              </a:rPr>
            </a:br>
            <a:r>
              <a:rPr lang="en-US" sz="1600">
                <a:solidFill>
                  <a:srgbClr val="000000"/>
                </a:solidFill>
                <a:effectLst/>
                <a:latin typeface="Times New Roman" panose="02020603050405020304" pitchFamily="18" charset="0"/>
                <a:ea typeface="Times New Roman" panose="02020603050405020304" pitchFamily="18" charset="0"/>
              </a:rPr>
              <a:t>Your Full Name</a:t>
            </a:r>
            <a:endParaRPr lang="en-US" sz="16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01960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FAC5EC-D2CA-1972-20C8-EAC65BAE3E7A}"/>
              </a:ext>
            </a:extLst>
          </p:cNvPr>
          <p:cNvSpPr>
            <a:spLocks noGrp="1"/>
          </p:cNvSpPr>
          <p:nvPr>
            <p:ph type="title"/>
          </p:nvPr>
        </p:nvSpPr>
        <p:spPr/>
        <p:txBody>
          <a:bodyPr/>
          <a:lstStyle/>
          <a:p>
            <a:r>
              <a:rPr lang="en-US" dirty="0"/>
              <a:t>Course Details</a:t>
            </a:r>
          </a:p>
        </p:txBody>
      </p:sp>
      <p:sp>
        <p:nvSpPr>
          <p:cNvPr id="5" name="Content Placeholder 4">
            <a:extLst>
              <a:ext uri="{FF2B5EF4-FFF2-40B4-BE49-F238E27FC236}">
                <a16:creationId xmlns:a16="http://schemas.microsoft.com/office/drawing/2014/main" id="{C3CAA5F3-27D3-A254-D864-2A10BE5C5A2A}"/>
              </a:ext>
            </a:extLst>
          </p:cNvPr>
          <p:cNvSpPr>
            <a:spLocks noGrp="1"/>
          </p:cNvSpPr>
          <p:nvPr>
            <p:ph sz="quarter" idx="10"/>
          </p:nvPr>
        </p:nvSpPr>
        <p:spPr/>
        <p:txBody>
          <a:bodyPr/>
          <a:lstStyle/>
          <a:p>
            <a:r>
              <a:rPr lang="en-US" dirty="0"/>
              <a:t>What this semester entails… </a:t>
            </a:r>
          </a:p>
        </p:txBody>
      </p:sp>
    </p:spTree>
    <p:extLst>
      <p:ext uri="{BB962C8B-B14F-4D97-AF65-F5344CB8AC3E}">
        <p14:creationId xmlns:p14="http://schemas.microsoft.com/office/powerpoint/2010/main" val="1455713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116C829-0896-13A8-7230-06FC9A0D767C}"/>
              </a:ext>
            </a:extLst>
          </p:cNvPr>
          <p:cNvSpPr>
            <a:spLocks noGrp="1"/>
          </p:cNvSpPr>
          <p:nvPr>
            <p:ph type="body" sz="quarter" idx="108"/>
          </p:nvPr>
        </p:nvSpPr>
        <p:spPr/>
        <p:txBody>
          <a:bodyPr/>
          <a:lstStyle/>
          <a:p>
            <a:pPr marL="228600" marR="0" lvl="0" indent="-228600" algn="l" defTabSz="914400" rtl="0" eaLnBrk="1" fontAlgn="auto" latinLnBrk="0" hangingPunct="1">
              <a:lnSpc>
                <a:spcPct val="90000"/>
              </a:lnSpc>
              <a:spcBef>
                <a:spcPts val="1800"/>
              </a:spcBef>
              <a:spcAft>
                <a:spcPts val="0"/>
              </a:spcAft>
              <a:buClr>
                <a:srgbClr val="D680A5"/>
              </a:buClr>
              <a:buSzPct val="90000"/>
              <a:buFont typeface="Arial"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mbria"/>
                <a:ea typeface="+mn-ea"/>
                <a:cs typeface="+mn-cs"/>
              </a:rPr>
              <a:t>Part 1:</a:t>
            </a:r>
          </a:p>
          <a:p>
            <a:pPr marL="548640" marR="0" lvl="1" indent="-228600" algn="l" defTabSz="914400" rtl="0" eaLnBrk="1" fontAlgn="auto" latinLnBrk="0" hangingPunct="1">
              <a:lnSpc>
                <a:spcPct val="90000"/>
              </a:lnSpc>
              <a:spcBef>
                <a:spcPts val="1200"/>
              </a:spcBef>
              <a:spcAft>
                <a:spcPts val="0"/>
              </a:spcAft>
              <a:buClr>
                <a:srgbClr val="D680A5"/>
              </a:buClr>
              <a:buSzPct val="90000"/>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a:ea typeface="+mn-ea"/>
                <a:cs typeface="+mn-cs"/>
              </a:rPr>
              <a:t>PSY 250: Behavioral Statistics</a:t>
            </a:r>
          </a:p>
          <a:p>
            <a:pPr marL="548640" marR="0" lvl="1" indent="-228600" algn="l" defTabSz="914400" rtl="0" eaLnBrk="1" fontAlgn="auto" latinLnBrk="0" hangingPunct="1">
              <a:lnSpc>
                <a:spcPct val="90000"/>
              </a:lnSpc>
              <a:spcBef>
                <a:spcPts val="1200"/>
              </a:spcBef>
              <a:spcAft>
                <a:spcPts val="0"/>
              </a:spcAft>
              <a:buClr>
                <a:srgbClr val="D680A5"/>
              </a:buClr>
              <a:buSzPct val="90000"/>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a:ea typeface="+mn-ea"/>
                <a:cs typeface="+mn-cs"/>
              </a:rPr>
              <a:t>PSY 270: Research Methods I</a:t>
            </a:r>
          </a:p>
          <a:p>
            <a:pPr marL="228600" marR="0" lvl="0" indent="-228600" algn="l" defTabSz="914400" rtl="0" eaLnBrk="1" fontAlgn="auto" latinLnBrk="0" hangingPunct="1">
              <a:lnSpc>
                <a:spcPct val="90000"/>
              </a:lnSpc>
              <a:spcBef>
                <a:spcPts val="1800"/>
              </a:spcBef>
              <a:spcAft>
                <a:spcPts val="0"/>
              </a:spcAft>
              <a:buClr>
                <a:srgbClr val="D680A5"/>
              </a:buClr>
              <a:buSzPct val="90000"/>
              <a:buFont typeface="Arial"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mbria"/>
                <a:ea typeface="+mn-ea"/>
                <a:cs typeface="+mn-cs"/>
              </a:rPr>
              <a:t>Part 2:</a:t>
            </a:r>
          </a:p>
          <a:p>
            <a:pPr marL="548640" marR="0" lvl="1" indent="-228600" algn="l" defTabSz="914400" rtl="0" eaLnBrk="1" fontAlgn="auto" latinLnBrk="0" hangingPunct="1">
              <a:lnSpc>
                <a:spcPct val="90000"/>
              </a:lnSpc>
              <a:spcBef>
                <a:spcPts val="1200"/>
              </a:spcBef>
              <a:spcAft>
                <a:spcPts val="0"/>
              </a:spcAft>
              <a:buClr>
                <a:srgbClr val="D680A5"/>
              </a:buClr>
              <a:buSzPct val="90000"/>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a:ea typeface="+mn-ea"/>
                <a:cs typeface="+mn-cs"/>
              </a:rPr>
              <a:t>PSY 271: Research Methods II</a:t>
            </a:r>
          </a:p>
          <a:p>
            <a:pPr marL="228600" marR="0" lvl="0" indent="-228600" algn="l" defTabSz="914400" rtl="0" eaLnBrk="1" fontAlgn="auto" latinLnBrk="0" hangingPunct="1">
              <a:lnSpc>
                <a:spcPct val="90000"/>
              </a:lnSpc>
              <a:spcBef>
                <a:spcPts val="1800"/>
              </a:spcBef>
              <a:spcAft>
                <a:spcPts val="0"/>
              </a:spcAft>
              <a:buClr>
                <a:srgbClr val="D680A5"/>
              </a:buClr>
              <a:buSzPct val="90000"/>
              <a:buFont typeface="Arial"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mbria"/>
                <a:ea typeface="+mn-ea"/>
                <a:cs typeface="+mn-cs"/>
              </a:rPr>
              <a:t>{take other classes}</a:t>
            </a:r>
          </a:p>
          <a:p>
            <a:pPr marL="228600" marR="0" lvl="0" indent="-228600" algn="l" defTabSz="914400" rtl="0" eaLnBrk="1" fontAlgn="auto" latinLnBrk="0" hangingPunct="1">
              <a:lnSpc>
                <a:spcPct val="90000"/>
              </a:lnSpc>
              <a:spcBef>
                <a:spcPts val="1800"/>
              </a:spcBef>
              <a:spcAft>
                <a:spcPts val="0"/>
              </a:spcAft>
              <a:buClr>
                <a:srgbClr val="D680A5"/>
              </a:buClr>
              <a:buSzPct val="90000"/>
              <a:buFont typeface="Arial"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mbria"/>
                <a:ea typeface="+mn-ea"/>
                <a:cs typeface="+mn-cs"/>
              </a:rPr>
              <a:t>Part 3*:</a:t>
            </a:r>
          </a:p>
          <a:p>
            <a:pPr marL="548640" marR="0" lvl="1" indent="-228600" algn="l" defTabSz="914400" rtl="0" eaLnBrk="1" fontAlgn="auto" latinLnBrk="0" hangingPunct="1">
              <a:lnSpc>
                <a:spcPct val="90000"/>
              </a:lnSpc>
              <a:spcBef>
                <a:spcPts val="1200"/>
              </a:spcBef>
              <a:spcAft>
                <a:spcPts val="0"/>
              </a:spcAft>
              <a:buClr>
                <a:srgbClr val="D680A5"/>
              </a:buClr>
              <a:buSzPct val="90000"/>
              <a:buFont typeface="Arial"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mbria"/>
                <a:ea typeface="+mn-ea"/>
                <a:cs typeface="+mn-cs"/>
              </a:rPr>
              <a:t>PSY 495: Psychological Inquiry</a:t>
            </a:r>
          </a:p>
          <a:p>
            <a:endParaRPr lang="en-US" dirty="0"/>
          </a:p>
        </p:txBody>
      </p:sp>
      <p:sp>
        <p:nvSpPr>
          <p:cNvPr id="8" name="Title 7">
            <a:extLst>
              <a:ext uri="{FF2B5EF4-FFF2-40B4-BE49-F238E27FC236}">
                <a16:creationId xmlns:a16="http://schemas.microsoft.com/office/drawing/2014/main" id="{2A9693DF-EF35-E6AF-D48A-3EE5E3B172A1}"/>
              </a:ext>
            </a:extLst>
          </p:cNvPr>
          <p:cNvSpPr>
            <a:spLocks noGrp="1"/>
          </p:cNvSpPr>
          <p:nvPr>
            <p:ph type="title"/>
          </p:nvPr>
        </p:nvSpPr>
        <p:spPr/>
        <p:txBody>
          <a:bodyPr/>
          <a:lstStyle/>
          <a:p>
            <a:r>
              <a:rPr lang="en-US" dirty="0"/>
              <a:t>Context: The Research Class Pathway</a:t>
            </a:r>
          </a:p>
        </p:txBody>
      </p:sp>
    </p:spTree>
    <p:extLst>
      <p:ext uri="{BB962C8B-B14F-4D97-AF65-F5344CB8AC3E}">
        <p14:creationId xmlns:p14="http://schemas.microsoft.com/office/powerpoint/2010/main" val="1248273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CCA875-B707-014D-4B1B-8B61A754EC18}"/>
              </a:ext>
            </a:extLst>
          </p:cNvPr>
          <p:cNvSpPr>
            <a:spLocks noGrp="1"/>
          </p:cNvSpPr>
          <p:nvPr>
            <p:ph type="title"/>
          </p:nvPr>
        </p:nvSpPr>
        <p:spPr/>
        <p:txBody>
          <a:bodyPr/>
          <a:lstStyle/>
          <a:p>
            <a:r>
              <a:rPr lang="en-US" dirty="0"/>
              <a:t>Roll Call</a:t>
            </a:r>
          </a:p>
        </p:txBody>
      </p:sp>
      <p:sp>
        <p:nvSpPr>
          <p:cNvPr id="6" name="Content Placeholder 4">
            <a:extLst>
              <a:ext uri="{FF2B5EF4-FFF2-40B4-BE49-F238E27FC236}">
                <a16:creationId xmlns:a16="http://schemas.microsoft.com/office/drawing/2014/main" id="{1CD0E8F4-E413-14DD-C72C-5B00F2AFA196}"/>
              </a:ext>
            </a:extLst>
          </p:cNvPr>
          <p:cNvSpPr>
            <a:spLocks noGrp="1"/>
          </p:cNvSpPr>
          <p:nvPr>
            <p:ph sz="quarter" idx="10"/>
          </p:nvPr>
        </p:nvSpPr>
        <p:spPr>
          <a:xfrm>
            <a:off x="4837837" y="3106248"/>
            <a:ext cx="6378575" cy="2386621"/>
          </a:xfrm>
        </p:spPr>
        <p:txBody>
          <a:bodyPr/>
          <a:lstStyle/>
          <a:p>
            <a:r>
              <a:rPr lang="en-US" dirty="0"/>
              <a:t>Stats Background:</a:t>
            </a:r>
          </a:p>
          <a:p>
            <a:r>
              <a:rPr lang="en-US" dirty="0"/>
              <a:t>-Have you already taken stats?</a:t>
            </a:r>
          </a:p>
          <a:p>
            <a:r>
              <a:rPr lang="en-US" dirty="0"/>
              <a:t>-Are you taking it currently?</a:t>
            </a:r>
          </a:p>
          <a:p>
            <a:r>
              <a:rPr lang="en-US" dirty="0"/>
              <a:t>-Will you be taking it in the future?</a:t>
            </a:r>
          </a:p>
        </p:txBody>
      </p:sp>
    </p:spTree>
    <p:extLst>
      <p:ext uri="{BB962C8B-B14F-4D97-AF65-F5344CB8AC3E}">
        <p14:creationId xmlns:p14="http://schemas.microsoft.com/office/powerpoint/2010/main" val="338133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0E05AF-62C7-BE5A-F887-B2683CD92EB5}"/>
              </a:ext>
            </a:extLst>
          </p:cNvPr>
          <p:cNvSpPr>
            <a:spLocks noGrp="1"/>
          </p:cNvSpPr>
          <p:nvPr>
            <p:ph type="body" sz="quarter" idx="108"/>
          </p:nvPr>
        </p:nvSpPr>
        <p:spPr>
          <a:xfrm>
            <a:off x="496388" y="1252729"/>
            <a:ext cx="5164183" cy="4974332"/>
          </a:xfrm>
        </p:spPr>
        <p:txBody>
          <a:bodyPr/>
          <a:lstStyle/>
          <a:p>
            <a:r>
              <a:rPr lang="en-US" dirty="0"/>
              <a:t>Morling, B. (2025). Research methods in psychology, 5</a:t>
            </a:r>
            <a:r>
              <a:rPr lang="en-US" baseline="30000" dirty="0"/>
              <a:t>th</a:t>
            </a:r>
            <a:r>
              <a:rPr lang="en-US" dirty="0"/>
              <a:t> Edition. W. W. Norton. ISBN: 978-1-324-08580-5 (</a:t>
            </a:r>
            <a:r>
              <a:rPr lang="en-US" dirty="0" err="1"/>
              <a:t>Ebook</a:t>
            </a:r>
            <a:r>
              <a:rPr lang="en-US" dirty="0"/>
              <a:t> with InQuizitive Access). </a:t>
            </a:r>
            <a:br>
              <a:rPr lang="en-US" dirty="0"/>
            </a:br>
            <a:endParaRPr lang="en-US" dirty="0"/>
          </a:p>
          <a:p>
            <a:r>
              <a:rPr lang="en-US" dirty="0"/>
              <a:t>One of the assignments is embedded in the chapters, so make sure you have access to the </a:t>
            </a:r>
            <a:r>
              <a:rPr lang="en-US" dirty="0" err="1"/>
              <a:t>Ebook</a:t>
            </a:r>
            <a:r>
              <a:rPr lang="en-US" dirty="0"/>
              <a:t>, even if you get a printed version (it should come with a code at the front of the book)</a:t>
            </a:r>
          </a:p>
        </p:txBody>
      </p:sp>
      <p:sp>
        <p:nvSpPr>
          <p:cNvPr id="3" name="Title 2">
            <a:extLst>
              <a:ext uri="{FF2B5EF4-FFF2-40B4-BE49-F238E27FC236}">
                <a16:creationId xmlns:a16="http://schemas.microsoft.com/office/drawing/2014/main" id="{E8761403-3E82-E58F-3457-B8A6B6BCCF53}"/>
              </a:ext>
            </a:extLst>
          </p:cNvPr>
          <p:cNvSpPr>
            <a:spLocks noGrp="1"/>
          </p:cNvSpPr>
          <p:nvPr>
            <p:ph type="title"/>
          </p:nvPr>
        </p:nvSpPr>
        <p:spPr/>
        <p:txBody>
          <a:bodyPr/>
          <a:lstStyle/>
          <a:p>
            <a:r>
              <a:rPr lang="en-US" dirty="0"/>
              <a:t>Require Material</a:t>
            </a:r>
          </a:p>
        </p:txBody>
      </p:sp>
      <p:pic>
        <p:nvPicPr>
          <p:cNvPr id="4" name="Picture 3">
            <a:extLst>
              <a:ext uri="{FF2B5EF4-FFF2-40B4-BE49-F238E27FC236}">
                <a16:creationId xmlns:a16="http://schemas.microsoft.com/office/drawing/2014/main" id="{3175AA59-48D8-CC88-FD05-5EC76942E0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87283" y="1524090"/>
            <a:ext cx="3025883" cy="3448503"/>
          </a:xfrm>
          <a:prstGeom prst="rect">
            <a:avLst/>
          </a:prstGeom>
          <a:noFill/>
        </p:spPr>
      </p:pic>
    </p:spTree>
    <p:extLst>
      <p:ext uri="{BB962C8B-B14F-4D97-AF65-F5344CB8AC3E}">
        <p14:creationId xmlns:p14="http://schemas.microsoft.com/office/powerpoint/2010/main" val="3384750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2A667C-9814-1AE8-6F16-9645616B1F7B}"/>
              </a:ext>
            </a:extLst>
          </p:cNvPr>
          <p:cNvSpPr>
            <a:spLocks noGrp="1"/>
          </p:cNvSpPr>
          <p:nvPr>
            <p:ph type="body" sz="quarter" idx="108"/>
          </p:nvPr>
        </p:nvSpPr>
        <p:spPr/>
        <p:txBody>
          <a:bodyPr/>
          <a:lstStyle/>
          <a:p>
            <a:r>
              <a:rPr lang="en-US" dirty="0"/>
              <a:t>Read the textbook chapter</a:t>
            </a:r>
          </a:p>
          <a:p>
            <a:pPr lvl="1"/>
            <a:r>
              <a:rPr lang="en-US" dirty="0" err="1"/>
              <a:t>Ebook</a:t>
            </a:r>
            <a:r>
              <a:rPr lang="en-US" dirty="0"/>
              <a:t> assignments built into the chapter to assess knowledge as you read</a:t>
            </a:r>
          </a:p>
          <a:p>
            <a:r>
              <a:rPr lang="en-US" dirty="0"/>
              <a:t>Lecture on chapter’s content</a:t>
            </a:r>
          </a:p>
          <a:p>
            <a:pPr lvl="1"/>
            <a:r>
              <a:rPr lang="en-US" dirty="0"/>
              <a:t>2-3 class days discussing the content, where I break down the content (similar, but complementary to the textbook)</a:t>
            </a:r>
          </a:p>
          <a:p>
            <a:r>
              <a:rPr lang="en-US" dirty="0"/>
              <a:t>Apply content in a research activity</a:t>
            </a:r>
          </a:p>
          <a:p>
            <a:pPr lvl="1"/>
            <a:r>
              <a:rPr lang="en-US" dirty="0"/>
              <a:t>Usually completed in person, sometimes online</a:t>
            </a:r>
          </a:p>
          <a:p>
            <a:r>
              <a:rPr lang="en-US" dirty="0"/>
              <a:t>Practice quizzing over the content</a:t>
            </a:r>
          </a:p>
          <a:p>
            <a:pPr lvl="1"/>
            <a:r>
              <a:rPr lang="en-US" dirty="0"/>
              <a:t>Due by the time we complete the chapter in class</a:t>
            </a:r>
          </a:p>
          <a:p>
            <a:pPr lvl="1"/>
            <a:r>
              <a:rPr lang="en-US" dirty="0"/>
              <a:t>Can keep working until you get a perfect score</a:t>
            </a:r>
          </a:p>
          <a:p>
            <a:pPr lvl="1"/>
            <a:r>
              <a:rPr lang="en-US" dirty="0"/>
              <a:t>A good way of determining if you’re ready to take an exam over that content</a:t>
            </a:r>
          </a:p>
        </p:txBody>
      </p:sp>
      <p:sp>
        <p:nvSpPr>
          <p:cNvPr id="2" name="Title 1">
            <a:extLst>
              <a:ext uri="{FF2B5EF4-FFF2-40B4-BE49-F238E27FC236}">
                <a16:creationId xmlns:a16="http://schemas.microsoft.com/office/drawing/2014/main" id="{39F3028C-BD6D-6AF4-BE23-C87823DB3F4E}"/>
              </a:ext>
            </a:extLst>
          </p:cNvPr>
          <p:cNvSpPr>
            <a:spLocks noGrp="1"/>
          </p:cNvSpPr>
          <p:nvPr>
            <p:ph type="title"/>
          </p:nvPr>
        </p:nvSpPr>
        <p:spPr/>
        <p:txBody>
          <a:bodyPr/>
          <a:lstStyle/>
          <a:p>
            <a:r>
              <a:rPr lang="en-US" dirty="0"/>
              <a:t>The Typical Approach to a Chapter</a:t>
            </a:r>
          </a:p>
        </p:txBody>
      </p:sp>
    </p:spTree>
    <p:extLst>
      <p:ext uri="{BB962C8B-B14F-4D97-AF65-F5344CB8AC3E}">
        <p14:creationId xmlns:p14="http://schemas.microsoft.com/office/powerpoint/2010/main" val="783184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5D2F13-3489-FAEA-3BBA-E2CF4474F79D}"/>
              </a:ext>
            </a:extLst>
          </p:cNvPr>
          <p:cNvSpPr>
            <a:spLocks noGrp="1"/>
          </p:cNvSpPr>
          <p:nvPr>
            <p:ph type="body" sz="quarter" idx="108"/>
          </p:nvPr>
        </p:nvSpPr>
        <p:spPr>
          <a:xfrm>
            <a:off x="496388" y="1252728"/>
            <a:ext cx="6217921" cy="5240146"/>
          </a:xfrm>
        </p:spPr>
        <p:txBody>
          <a:bodyPr>
            <a:normAutofit fontScale="92500" lnSpcReduction="20000"/>
          </a:bodyPr>
          <a:lstStyle/>
          <a:p>
            <a:r>
              <a:rPr lang="en-US" dirty="0"/>
              <a:t>Class Participation</a:t>
            </a:r>
          </a:p>
          <a:p>
            <a:pPr lvl="1"/>
            <a:r>
              <a:rPr lang="en-US" dirty="0"/>
              <a:t>Need at least 40 class days </a:t>
            </a:r>
          </a:p>
          <a:p>
            <a:pPr lvl="1"/>
            <a:r>
              <a:rPr lang="en-US" dirty="0"/>
              <a:t>Keep track outside of Canvas</a:t>
            </a:r>
          </a:p>
          <a:p>
            <a:r>
              <a:rPr lang="en-US" dirty="0" err="1"/>
              <a:t>Ebook</a:t>
            </a:r>
            <a:r>
              <a:rPr lang="en-US" dirty="0"/>
              <a:t> Assignments</a:t>
            </a:r>
          </a:p>
          <a:p>
            <a:pPr lvl="1"/>
            <a:r>
              <a:rPr lang="en-US" dirty="0"/>
              <a:t>14 chapters; 1 assignment/ chapter</a:t>
            </a:r>
          </a:p>
          <a:p>
            <a:pPr lvl="1"/>
            <a:r>
              <a:rPr lang="en-US" dirty="0"/>
              <a:t>Lowest 2 dropped</a:t>
            </a:r>
          </a:p>
          <a:p>
            <a:r>
              <a:rPr lang="en-US" dirty="0"/>
              <a:t>InQuizitive Assignments</a:t>
            </a:r>
          </a:p>
          <a:p>
            <a:pPr lvl="1"/>
            <a:r>
              <a:rPr lang="en-US" dirty="0"/>
              <a:t>14 chapters plus one introductory assignment</a:t>
            </a:r>
          </a:p>
          <a:p>
            <a:pPr lvl="1"/>
            <a:r>
              <a:rPr lang="en-US" dirty="0"/>
              <a:t>Lowest 2 dropped</a:t>
            </a:r>
          </a:p>
          <a:p>
            <a:r>
              <a:rPr lang="en-US" dirty="0"/>
              <a:t>Research Activities</a:t>
            </a:r>
          </a:p>
          <a:p>
            <a:pPr lvl="1"/>
            <a:r>
              <a:rPr lang="en-US" dirty="0"/>
              <a:t>One per chapter</a:t>
            </a:r>
          </a:p>
          <a:p>
            <a:pPr lvl="1"/>
            <a:r>
              <a:rPr lang="en-US" dirty="0"/>
              <a:t>Lowest grade dropped</a:t>
            </a:r>
          </a:p>
          <a:p>
            <a:r>
              <a:rPr lang="en-US" dirty="0"/>
              <a:t>Exams</a:t>
            </a:r>
          </a:p>
          <a:p>
            <a:pPr lvl="1"/>
            <a:r>
              <a:rPr lang="en-US" dirty="0"/>
              <a:t>Three unit exams, one comprehensive final exam</a:t>
            </a:r>
          </a:p>
          <a:p>
            <a:pPr lvl="1"/>
            <a:r>
              <a:rPr lang="en-US" dirty="0"/>
              <a:t>Completed in-class, with a blend of scantron and short answer questions</a:t>
            </a:r>
          </a:p>
          <a:p>
            <a:endParaRPr lang="en-US" dirty="0"/>
          </a:p>
        </p:txBody>
      </p:sp>
      <p:sp>
        <p:nvSpPr>
          <p:cNvPr id="3" name="Title 2">
            <a:extLst>
              <a:ext uri="{FF2B5EF4-FFF2-40B4-BE49-F238E27FC236}">
                <a16:creationId xmlns:a16="http://schemas.microsoft.com/office/drawing/2014/main" id="{3580E608-DCBF-BF4D-B84A-56AACCB95E03}"/>
              </a:ext>
            </a:extLst>
          </p:cNvPr>
          <p:cNvSpPr>
            <a:spLocks noGrp="1"/>
          </p:cNvSpPr>
          <p:nvPr>
            <p:ph type="title"/>
          </p:nvPr>
        </p:nvSpPr>
        <p:spPr/>
        <p:txBody>
          <a:bodyPr/>
          <a:lstStyle/>
          <a:p>
            <a:r>
              <a:rPr lang="en-US" dirty="0"/>
              <a:t>Class Assignments</a:t>
            </a:r>
          </a:p>
        </p:txBody>
      </p:sp>
      <p:graphicFrame>
        <p:nvGraphicFramePr>
          <p:cNvPr id="5" name="Table 4">
            <a:extLst>
              <a:ext uri="{FF2B5EF4-FFF2-40B4-BE49-F238E27FC236}">
                <a16:creationId xmlns:a16="http://schemas.microsoft.com/office/drawing/2014/main" id="{F96E13CD-A83B-7005-50FC-515AE55AD720}"/>
              </a:ext>
            </a:extLst>
          </p:cNvPr>
          <p:cNvGraphicFramePr>
            <a:graphicFrameLocks noGrp="1"/>
          </p:cNvGraphicFramePr>
          <p:nvPr>
            <p:extLst>
              <p:ext uri="{D42A27DB-BD31-4B8C-83A1-F6EECF244321}">
                <p14:modId xmlns:p14="http://schemas.microsoft.com/office/powerpoint/2010/main" val="3793757894"/>
              </p:ext>
            </p:extLst>
          </p:nvPr>
        </p:nvGraphicFramePr>
        <p:xfrm>
          <a:off x="6862353" y="1991909"/>
          <a:ext cx="4946469" cy="2545256"/>
        </p:xfrm>
        <a:graphic>
          <a:graphicData uri="http://schemas.openxmlformats.org/drawingml/2006/table">
            <a:tbl>
              <a:tblPr firstRow="1" firstCol="1" bandRow="1"/>
              <a:tblGrid>
                <a:gridCol w="3091543">
                  <a:extLst>
                    <a:ext uri="{9D8B030D-6E8A-4147-A177-3AD203B41FA5}">
                      <a16:colId xmlns:a16="http://schemas.microsoft.com/office/drawing/2014/main" val="2203113485"/>
                    </a:ext>
                  </a:extLst>
                </a:gridCol>
                <a:gridCol w="1854926">
                  <a:extLst>
                    <a:ext uri="{9D8B030D-6E8A-4147-A177-3AD203B41FA5}">
                      <a16:colId xmlns:a16="http://schemas.microsoft.com/office/drawing/2014/main" val="1355734886"/>
                    </a:ext>
                  </a:extLst>
                </a:gridCol>
              </a:tblGrid>
              <a:tr h="363608">
                <a:tc>
                  <a:txBody>
                    <a:bodyPr/>
                    <a:lstStyle/>
                    <a:p>
                      <a:pPr marL="0" marR="0" algn="l">
                        <a:lnSpc>
                          <a:spcPct val="115000"/>
                        </a:lnSpc>
                        <a:spcAft>
                          <a:spcPts val="800"/>
                        </a:spcAft>
                        <a:buNone/>
                      </a:pPr>
                      <a:r>
                        <a:rPr lang="en-US" sz="2000" b="1" kern="100">
                          <a:solidFill>
                            <a:srgbClr val="000000"/>
                          </a:solidFill>
                          <a:effectLst/>
                          <a:latin typeface="Times New Roman" panose="02020603050405020304" pitchFamily="18" charset="0"/>
                          <a:ea typeface="Calibri" panose="020F0502020204030204" pitchFamily="34" charset="0"/>
                        </a:rPr>
                        <a:t>Activity</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tc>
                  <a:txBody>
                    <a:bodyPr/>
                    <a:lstStyle/>
                    <a:p>
                      <a:pPr marL="0" marR="0" algn="l">
                        <a:lnSpc>
                          <a:spcPct val="115000"/>
                        </a:lnSpc>
                        <a:spcAft>
                          <a:spcPts val="800"/>
                        </a:spcAft>
                        <a:buNone/>
                      </a:pPr>
                      <a:r>
                        <a:rPr lang="en-US" sz="2000" b="1" kern="100">
                          <a:solidFill>
                            <a:srgbClr val="000000"/>
                          </a:solidFill>
                          <a:effectLst/>
                          <a:latin typeface="Times New Roman" panose="02020603050405020304" pitchFamily="18" charset="0"/>
                          <a:ea typeface="Calibri" panose="020F0502020204030204" pitchFamily="34" charset="0"/>
                        </a:rPr>
                        <a:t>Possible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904556081"/>
                  </a:ext>
                </a:extLst>
              </a:tr>
              <a:tr h="363608">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Class Participation </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40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extLst>
                  <a:ext uri="{0D108BD9-81ED-4DB2-BD59-A6C34878D82A}">
                    <a16:rowId xmlns:a16="http://schemas.microsoft.com/office/drawing/2014/main" val="2961755909"/>
                  </a:ext>
                </a:extLst>
              </a:tr>
              <a:tr h="363608">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Norton Ebook Assignments </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120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4241506306"/>
                  </a:ext>
                </a:extLst>
              </a:tr>
              <a:tr h="363608">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InQuizitive Assignments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130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D9E2F3"/>
                    </a:solidFill>
                  </a:tcPr>
                </a:tc>
                <a:extLst>
                  <a:ext uri="{0D108BD9-81ED-4DB2-BD59-A6C34878D82A}">
                    <a16:rowId xmlns:a16="http://schemas.microsoft.com/office/drawing/2014/main" val="883364336"/>
                  </a:ext>
                </a:extLst>
              </a:tr>
              <a:tr h="363608">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Research Activities </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260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2207272506"/>
                  </a:ext>
                </a:extLst>
              </a:tr>
              <a:tr h="363608">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Exams </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000" kern="100">
                          <a:solidFill>
                            <a:srgbClr val="000000"/>
                          </a:solidFill>
                          <a:effectLst/>
                          <a:latin typeface="Times New Roman" panose="02020603050405020304" pitchFamily="18" charset="0"/>
                          <a:ea typeface="Calibri" panose="020F0502020204030204" pitchFamily="34" charset="0"/>
                        </a:rPr>
                        <a:t>450 points</a:t>
                      </a:r>
                      <a:endParaRPr lang="en-US" sz="2000" kern="1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4019942915"/>
                  </a:ext>
                </a:extLst>
              </a:tr>
              <a:tr h="363608">
                <a:tc>
                  <a:txBody>
                    <a:bodyPr/>
                    <a:lstStyle/>
                    <a:p>
                      <a:pPr marL="0" marR="0" algn="l">
                        <a:lnSpc>
                          <a:spcPct val="115000"/>
                        </a:lnSpc>
                        <a:spcAft>
                          <a:spcPts val="800"/>
                        </a:spcAft>
                        <a:buNone/>
                      </a:pPr>
                      <a:r>
                        <a:rPr lang="en-US" sz="2000" kern="100" dirty="0">
                          <a:effectLst/>
                          <a:latin typeface="Times New Roman" panose="02020603050405020304" pitchFamily="18" charset="0"/>
                          <a:ea typeface="Calibri" panose="020F0502020204030204" pitchFamily="34" charset="0"/>
                        </a:rPr>
                        <a:t> </a:t>
                      </a:r>
                      <a:endParaRPr lang="en-US" sz="2000" kern="100" dirty="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000" b="1" kern="100" dirty="0">
                          <a:solidFill>
                            <a:srgbClr val="000000"/>
                          </a:solidFill>
                          <a:effectLst/>
                          <a:latin typeface="Times New Roman" panose="02020603050405020304" pitchFamily="18" charset="0"/>
                          <a:ea typeface="Calibri" panose="020F0502020204030204" pitchFamily="34" charset="0"/>
                        </a:rPr>
                        <a:t>1000 points</a:t>
                      </a:r>
                      <a:endParaRPr lang="en-US" sz="2000" kern="100" dirty="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957517118"/>
                  </a:ext>
                </a:extLst>
              </a:tr>
            </a:tbl>
          </a:graphicData>
        </a:graphic>
      </p:graphicFrame>
    </p:spTree>
    <p:extLst>
      <p:ext uri="{BB962C8B-B14F-4D97-AF65-F5344CB8AC3E}">
        <p14:creationId xmlns:p14="http://schemas.microsoft.com/office/powerpoint/2010/main" val="1001959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544DDF-FCB1-A1ED-9F84-F34749A87AF6}"/>
              </a:ext>
            </a:extLst>
          </p:cNvPr>
          <p:cNvSpPr>
            <a:spLocks noGrp="1"/>
          </p:cNvSpPr>
          <p:nvPr>
            <p:ph type="body" sz="quarter" idx="108"/>
          </p:nvPr>
        </p:nvSpPr>
        <p:spPr/>
        <p:txBody>
          <a:bodyPr/>
          <a:lstStyle/>
          <a:p>
            <a:r>
              <a:rPr lang="en-US" dirty="0"/>
              <a:t>Unit 1:</a:t>
            </a:r>
          </a:p>
          <a:p>
            <a:pPr lvl="1"/>
            <a:r>
              <a:rPr lang="en-US" dirty="0"/>
              <a:t>Chapters 1–4</a:t>
            </a:r>
          </a:p>
          <a:p>
            <a:pPr lvl="1"/>
            <a:r>
              <a:rPr lang="en-US" dirty="0"/>
              <a:t>Exam 1: September 23</a:t>
            </a:r>
            <a:r>
              <a:rPr lang="en-US" baseline="30000" dirty="0"/>
              <a:t>rd</a:t>
            </a:r>
            <a:r>
              <a:rPr lang="en-US" dirty="0"/>
              <a:t> </a:t>
            </a:r>
          </a:p>
          <a:p>
            <a:r>
              <a:rPr lang="en-US" dirty="0"/>
              <a:t>Unit 2:</a:t>
            </a:r>
          </a:p>
          <a:p>
            <a:pPr lvl="1"/>
            <a:r>
              <a:rPr lang="en-US" dirty="0"/>
              <a:t>Chapters 5–7</a:t>
            </a:r>
          </a:p>
          <a:p>
            <a:pPr lvl="1"/>
            <a:r>
              <a:rPr lang="en-US" dirty="0"/>
              <a:t>Exam 2: October 21</a:t>
            </a:r>
            <a:r>
              <a:rPr lang="en-US" baseline="30000" dirty="0"/>
              <a:t>st</a:t>
            </a:r>
            <a:r>
              <a:rPr lang="en-US" dirty="0"/>
              <a:t> </a:t>
            </a:r>
          </a:p>
          <a:p>
            <a:r>
              <a:rPr lang="en-US" dirty="0"/>
              <a:t>Unit 3:</a:t>
            </a:r>
          </a:p>
          <a:p>
            <a:pPr lvl="1"/>
            <a:r>
              <a:rPr lang="en-US" dirty="0"/>
              <a:t>Chapters 8–11</a:t>
            </a:r>
          </a:p>
          <a:p>
            <a:pPr lvl="1"/>
            <a:r>
              <a:rPr lang="en-US" dirty="0"/>
              <a:t>Exam 3: November 20</a:t>
            </a:r>
            <a:r>
              <a:rPr lang="en-US" baseline="30000" dirty="0"/>
              <a:t>th</a:t>
            </a:r>
            <a:r>
              <a:rPr lang="en-US" dirty="0"/>
              <a:t> </a:t>
            </a:r>
          </a:p>
          <a:p>
            <a:r>
              <a:rPr lang="en-US" dirty="0"/>
              <a:t>Unit 4:</a:t>
            </a:r>
          </a:p>
          <a:p>
            <a:pPr lvl="1"/>
            <a:r>
              <a:rPr lang="en-US" dirty="0"/>
              <a:t>Chapters 12–14</a:t>
            </a:r>
          </a:p>
          <a:p>
            <a:pPr lvl="1"/>
            <a:r>
              <a:rPr lang="en-US" dirty="0"/>
              <a:t>Final Exam: December 14</a:t>
            </a:r>
            <a:r>
              <a:rPr lang="en-US" baseline="30000" dirty="0"/>
              <a:t>th</a:t>
            </a:r>
            <a:r>
              <a:rPr lang="en-US" dirty="0"/>
              <a:t> (10:30am)</a:t>
            </a:r>
          </a:p>
          <a:p>
            <a:endParaRPr lang="en-US" dirty="0"/>
          </a:p>
        </p:txBody>
      </p:sp>
      <p:sp>
        <p:nvSpPr>
          <p:cNvPr id="3" name="Title 2">
            <a:extLst>
              <a:ext uri="{FF2B5EF4-FFF2-40B4-BE49-F238E27FC236}">
                <a16:creationId xmlns:a16="http://schemas.microsoft.com/office/drawing/2014/main" id="{22EA7653-8E28-FD8C-A0E7-48E977DC6461}"/>
              </a:ext>
            </a:extLst>
          </p:cNvPr>
          <p:cNvSpPr>
            <a:spLocks noGrp="1"/>
          </p:cNvSpPr>
          <p:nvPr>
            <p:ph type="title"/>
          </p:nvPr>
        </p:nvSpPr>
        <p:spPr/>
        <p:txBody>
          <a:bodyPr/>
          <a:lstStyle/>
          <a:p>
            <a:r>
              <a:rPr lang="en-US" dirty="0"/>
              <a:t>Timeline</a:t>
            </a:r>
          </a:p>
        </p:txBody>
      </p:sp>
      <p:sp>
        <p:nvSpPr>
          <p:cNvPr id="4" name="TextBox 3">
            <a:extLst>
              <a:ext uri="{FF2B5EF4-FFF2-40B4-BE49-F238E27FC236}">
                <a16:creationId xmlns:a16="http://schemas.microsoft.com/office/drawing/2014/main" id="{17337F4D-2F4B-C743-9A8F-5EE8FBA4D757}"/>
              </a:ext>
            </a:extLst>
          </p:cNvPr>
          <p:cNvSpPr txBox="1"/>
          <p:nvPr/>
        </p:nvSpPr>
        <p:spPr>
          <a:xfrm>
            <a:off x="8125098" y="3541259"/>
            <a:ext cx="3570514" cy="1477328"/>
          </a:xfrm>
          <a:prstGeom prst="rect">
            <a:avLst/>
          </a:prstGeom>
          <a:noFill/>
          <a:ln>
            <a:solidFill>
              <a:schemeClr val="accent1"/>
            </a:solidFill>
          </a:ln>
        </p:spPr>
        <p:txBody>
          <a:bodyPr wrap="square" rtlCol="0">
            <a:spAutoFit/>
          </a:bodyPr>
          <a:lstStyle/>
          <a:p>
            <a:r>
              <a:rPr lang="en-US" dirty="0"/>
              <a:t>Note: The syllabus has what topic is covered each day. Additionally, Canvas will tell you what we are working on each week, with links and deadlines</a:t>
            </a:r>
          </a:p>
        </p:txBody>
      </p:sp>
    </p:spTree>
    <p:extLst>
      <p:ext uri="{BB962C8B-B14F-4D97-AF65-F5344CB8AC3E}">
        <p14:creationId xmlns:p14="http://schemas.microsoft.com/office/powerpoint/2010/main" val="635347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917515-4343-4DD7-90D3-14ABD3A9B14E}"/>
              </a:ext>
            </a:extLst>
          </p:cNvPr>
          <p:cNvSpPr>
            <a:spLocks noGrp="1"/>
          </p:cNvSpPr>
          <p:nvPr>
            <p:ph type="title"/>
          </p:nvPr>
        </p:nvSpPr>
        <p:spPr/>
        <p:txBody>
          <a:bodyPr/>
          <a:lstStyle/>
          <a:p>
            <a:r>
              <a:rPr lang="en-US" dirty="0"/>
              <a:t>Class Policies</a:t>
            </a:r>
          </a:p>
        </p:txBody>
      </p:sp>
    </p:spTree>
    <p:extLst>
      <p:ext uri="{BB962C8B-B14F-4D97-AF65-F5344CB8AC3E}">
        <p14:creationId xmlns:p14="http://schemas.microsoft.com/office/powerpoint/2010/main" val="331792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1B0773F-70C8-DCC8-5595-C51556C76764}"/>
              </a:ext>
            </a:extLst>
          </p:cNvPr>
          <p:cNvSpPr>
            <a:spLocks noGrp="1"/>
          </p:cNvSpPr>
          <p:nvPr>
            <p:ph type="body" sz="quarter" idx="108"/>
          </p:nvPr>
        </p:nvSpPr>
        <p:spPr/>
        <p:txBody>
          <a:bodyPr/>
          <a:lstStyle/>
          <a:p>
            <a:r>
              <a:rPr lang="en-US" dirty="0"/>
              <a:t>When in class, please respect your instructor and fellow classmates. </a:t>
            </a:r>
          </a:p>
          <a:p>
            <a:r>
              <a:rPr lang="en-US" dirty="0"/>
              <a:t>What you learn in this class will be very important for your entire research class pathway. The more you dial in to this class, the easier those classes will be.</a:t>
            </a:r>
          </a:p>
          <a:p>
            <a:r>
              <a:rPr lang="en-US" dirty="0"/>
              <a:t>Please don’t come to class if you are sick, even if you don’t have a doctor’s note.</a:t>
            </a:r>
          </a:p>
          <a:p>
            <a:pPr lvl="1"/>
            <a:r>
              <a:rPr lang="en-US" dirty="0"/>
              <a:t>You only need 40 days of attendance (and our class meets more than 40 times throughout the semester)</a:t>
            </a:r>
          </a:p>
          <a:p>
            <a:pPr lvl="1"/>
            <a:endParaRPr lang="en-US" dirty="0"/>
          </a:p>
          <a:p>
            <a:endParaRPr lang="en-US" dirty="0"/>
          </a:p>
        </p:txBody>
      </p:sp>
      <p:sp>
        <p:nvSpPr>
          <p:cNvPr id="4" name="Title 3">
            <a:extLst>
              <a:ext uri="{FF2B5EF4-FFF2-40B4-BE49-F238E27FC236}">
                <a16:creationId xmlns:a16="http://schemas.microsoft.com/office/drawing/2014/main" id="{377BCDE3-73AE-21C2-0321-F97CE9E41AC4}"/>
              </a:ext>
            </a:extLst>
          </p:cNvPr>
          <p:cNvSpPr>
            <a:spLocks noGrp="1"/>
          </p:cNvSpPr>
          <p:nvPr>
            <p:ph type="title"/>
          </p:nvPr>
        </p:nvSpPr>
        <p:spPr/>
        <p:txBody>
          <a:bodyPr/>
          <a:lstStyle/>
          <a:p>
            <a:r>
              <a:rPr lang="en-US" dirty="0"/>
              <a:t>Class Attendance</a:t>
            </a:r>
          </a:p>
        </p:txBody>
      </p:sp>
    </p:spTree>
    <p:extLst>
      <p:ext uri="{BB962C8B-B14F-4D97-AF65-F5344CB8AC3E}">
        <p14:creationId xmlns:p14="http://schemas.microsoft.com/office/powerpoint/2010/main" val="2059706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B0CE45-5EB8-8047-8BB0-91F9632D2A79}"/>
              </a:ext>
            </a:extLst>
          </p:cNvPr>
          <p:cNvSpPr>
            <a:spLocks noGrp="1"/>
          </p:cNvSpPr>
          <p:nvPr>
            <p:ph type="body" sz="quarter" idx="108"/>
          </p:nvPr>
        </p:nvSpPr>
        <p:spPr/>
        <p:txBody>
          <a:bodyPr/>
          <a:lstStyle/>
          <a:p>
            <a:r>
              <a:rPr lang="en-US" dirty="0"/>
              <a:t>All PowerPoints are provided as links on Canvas</a:t>
            </a:r>
          </a:p>
          <a:p>
            <a:pPr lvl="1"/>
            <a:r>
              <a:rPr lang="en-US" dirty="0"/>
              <a:t>Hosted on GitHub, so students familiar with GitHub may elect to clone the repository</a:t>
            </a:r>
          </a:p>
          <a:p>
            <a:pPr lvl="1"/>
            <a:r>
              <a:rPr lang="en-US" dirty="0"/>
              <a:t>If you are not familiar with GitHub but would like to start using it, I am happy to help during office hours/ an individual meeting</a:t>
            </a:r>
          </a:p>
          <a:p>
            <a:r>
              <a:rPr lang="en-US" dirty="0"/>
              <a:t>Goal: don’t waste time writing what’s on the screen, write down examples and discussions that will complement the notes you’re already provided with</a:t>
            </a:r>
          </a:p>
        </p:txBody>
      </p:sp>
      <p:sp>
        <p:nvSpPr>
          <p:cNvPr id="3" name="Title 2">
            <a:extLst>
              <a:ext uri="{FF2B5EF4-FFF2-40B4-BE49-F238E27FC236}">
                <a16:creationId xmlns:a16="http://schemas.microsoft.com/office/drawing/2014/main" id="{DEAD927F-5081-76BE-85F5-63AB6B3D3FCA}"/>
              </a:ext>
            </a:extLst>
          </p:cNvPr>
          <p:cNvSpPr>
            <a:spLocks noGrp="1"/>
          </p:cNvSpPr>
          <p:nvPr>
            <p:ph type="title"/>
          </p:nvPr>
        </p:nvSpPr>
        <p:spPr/>
        <p:txBody>
          <a:bodyPr/>
          <a:lstStyle/>
          <a:p>
            <a:r>
              <a:rPr lang="en-US" dirty="0"/>
              <a:t>PowerPoints Provided</a:t>
            </a:r>
          </a:p>
        </p:txBody>
      </p:sp>
    </p:spTree>
    <p:extLst>
      <p:ext uri="{BB962C8B-B14F-4D97-AF65-F5344CB8AC3E}">
        <p14:creationId xmlns:p14="http://schemas.microsoft.com/office/powerpoint/2010/main" val="4105954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E996A6-4028-83CD-1673-8FCE269F553C}"/>
              </a:ext>
            </a:extLst>
          </p:cNvPr>
          <p:cNvSpPr>
            <a:spLocks noGrp="1"/>
          </p:cNvSpPr>
          <p:nvPr>
            <p:ph type="body" sz="quarter" idx="108"/>
          </p:nvPr>
        </p:nvSpPr>
        <p:spPr/>
        <p:txBody>
          <a:bodyPr/>
          <a:lstStyle/>
          <a:p>
            <a:r>
              <a:rPr lang="en-US" dirty="0"/>
              <a:t>Textbook assignments (</a:t>
            </a:r>
            <a:r>
              <a:rPr lang="en-US" dirty="0" err="1"/>
              <a:t>Ebook</a:t>
            </a:r>
            <a:r>
              <a:rPr lang="en-US" dirty="0"/>
              <a:t> and InQuizitive) can be completed late, but there is a 20% penalty for each day it is late</a:t>
            </a:r>
          </a:p>
          <a:p>
            <a:r>
              <a:rPr lang="en-US" dirty="0"/>
              <a:t>If you know you will be absent for a university-approved event, let me know at least one week before, so we have time to create an alternative BEFORE you are gone</a:t>
            </a:r>
          </a:p>
          <a:p>
            <a:pPr lvl="1"/>
            <a:r>
              <a:rPr lang="en-US" dirty="0"/>
              <a:t>For example, if you will miss an exam, the exam is supposed to be taken before the absence</a:t>
            </a:r>
          </a:p>
        </p:txBody>
      </p:sp>
      <p:sp>
        <p:nvSpPr>
          <p:cNvPr id="3" name="Title 2">
            <a:extLst>
              <a:ext uri="{FF2B5EF4-FFF2-40B4-BE49-F238E27FC236}">
                <a16:creationId xmlns:a16="http://schemas.microsoft.com/office/drawing/2014/main" id="{DA5EF983-D0EF-6A2B-BA96-34F803AEA79D}"/>
              </a:ext>
            </a:extLst>
          </p:cNvPr>
          <p:cNvSpPr>
            <a:spLocks noGrp="1"/>
          </p:cNvSpPr>
          <p:nvPr>
            <p:ph type="title"/>
          </p:nvPr>
        </p:nvSpPr>
        <p:spPr/>
        <p:txBody>
          <a:bodyPr/>
          <a:lstStyle/>
          <a:p>
            <a:r>
              <a:rPr lang="en-US" dirty="0"/>
              <a:t>Late and Missing Work</a:t>
            </a:r>
          </a:p>
        </p:txBody>
      </p:sp>
    </p:spTree>
    <p:extLst>
      <p:ext uri="{BB962C8B-B14F-4D97-AF65-F5344CB8AC3E}">
        <p14:creationId xmlns:p14="http://schemas.microsoft.com/office/powerpoint/2010/main" val="2549223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8E709F-2B63-9EB9-4DEF-0DB4E2F1DD66}"/>
              </a:ext>
            </a:extLst>
          </p:cNvPr>
          <p:cNvSpPr>
            <a:spLocks noGrp="1"/>
          </p:cNvSpPr>
          <p:nvPr>
            <p:ph type="body" sz="quarter" idx="108"/>
          </p:nvPr>
        </p:nvSpPr>
        <p:spPr/>
        <p:txBody>
          <a:bodyPr/>
          <a:lstStyle/>
          <a:p>
            <a:r>
              <a:rPr lang="en-US" dirty="0"/>
              <a:t>AI is a tool, but not every tool is a good fit for every job</a:t>
            </a:r>
          </a:p>
          <a:p>
            <a:r>
              <a:rPr lang="en-US" dirty="0"/>
              <a:t>Would you use a tractor to weed around your flowers? Or would trying to do so destroy the point?</a:t>
            </a:r>
          </a:p>
          <a:p>
            <a:endParaRPr lang="en-US" dirty="0"/>
          </a:p>
          <a:p>
            <a:r>
              <a:rPr lang="en-US" dirty="0"/>
              <a:t>What do YOU think is the point of this class?</a:t>
            </a:r>
          </a:p>
        </p:txBody>
      </p:sp>
      <p:sp>
        <p:nvSpPr>
          <p:cNvPr id="3" name="Title 2">
            <a:extLst>
              <a:ext uri="{FF2B5EF4-FFF2-40B4-BE49-F238E27FC236}">
                <a16:creationId xmlns:a16="http://schemas.microsoft.com/office/drawing/2014/main" id="{9A42A524-7E0C-CB4A-14A2-E335EEBB097E}"/>
              </a:ext>
            </a:extLst>
          </p:cNvPr>
          <p:cNvSpPr>
            <a:spLocks noGrp="1"/>
          </p:cNvSpPr>
          <p:nvPr>
            <p:ph type="title"/>
          </p:nvPr>
        </p:nvSpPr>
        <p:spPr/>
        <p:txBody>
          <a:bodyPr/>
          <a:lstStyle/>
          <a:p>
            <a:r>
              <a:rPr lang="en-US" dirty="0"/>
              <a:t>AI Use</a:t>
            </a:r>
          </a:p>
        </p:txBody>
      </p:sp>
    </p:spTree>
    <p:extLst>
      <p:ext uri="{BB962C8B-B14F-4D97-AF65-F5344CB8AC3E}">
        <p14:creationId xmlns:p14="http://schemas.microsoft.com/office/powerpoint/2010/main" val="151836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C1AFBE-6276-EF7C-DF83-29FDE4CA1B96}"/>
              </a:ext>
            </a:extLst>
          </p:cNvPr>
          <p:cNvSpPr>
            <a:spLocks noGrp="1"/>
          </p:cNvSpPr>
          <p:nvPr>
            <p:ph type="body" sz="quarter" idx="108"/>
          </p:nvPr>
        </p:nvSpPr>
        <p:spPr/>
        <p:txBody>
          <a:bodyPr/>
          <a:lstStyle/>
          <a:p>
            <a:r>
              <a:rPr lang="en-US" dirty="0"/>
              <a:t>Cognitive offloading vs. cognitive debt</a:t>
            </a:r>
          </a:p>
          <a:p>
            <a:r>
              <a:rPr lang="en-US" dirty="0"/>
              <a:t>Pattern recognition does not equal intelligence</a:t>
            </a:r>
          </a:p>
          <a:p>
            <a:r>
              <a:rPr lang="en-US" dirty="0"/>
              <a:t>Cheating is heavily penalized for the research classes</a:t>
            </a:r>
          </a:p>
          <a:p>
            <a:r>
              <a:rPr lang="en-US" dirty="0"/>
              <a:t>Degrees can become meaningless with too much AI </a:t>
            </a:r>
          </a:p>
        </p:txBody>
      </p:sp>
      <p:sp>
        <p:nvSpPr>
          <p:cNvPr id="3" name="Title 2">
            <a:extLst>
              <a:ext uri="{FF2B5EF4-FFF2-40B4-BE49-F238E27FC236}">
                <a16:creationId xmlns:a16="http://schemas.microsoft.com/office/drawing/2014/main" id="{092EDECA-11FD-7FA4-B796-00869C261A67}"/>
              </a:ext>
            </a:extLst>
          </p:cNvPr>
          <p:cNvSpPr>
            <a:spLocks noGrp="1"/>
          </p:cNvSpPr>
          <p:nvPr>
            <p:ph type="title"/>
          </p:nvPr>
        </p:nvSpPr>
        <p:spPr/>
        <p:txBody>
          <a:bodyPr/>
          <a:lstStyle/>
          <a:p>
            <a:r>
              <a:rPr lang="en-US" dirty="0"/>
              <a:t>Reasons AI is Not a Good Tool for This Class</a:t>
            </a:r>
          </a:p>
        </p:txBody>
      </p:sp>
      <p:pic>
        <p:nvPicPr>
          <p:cNvPr id="5" name="Picture 2" descr="Blog – Dr. Ben Wiese">
            <a:extLst>
              <a:ext uri="{FF2B5EF4-FFF2-40B4-BE49-F238E27FC236}">
                <a16:creationId xmlns:a16="http://schemas.microsoft.com/office/drawing/2014/main" id="{777D426B-F810-4FEF-929F-EFB3D251F5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9297" y="2659455"/>
            <a:ext cx="2887133"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What Does Skin Cancer Look Like?">
            <a:extLst>
              <a:ext uri="{FF2B5EF4-FFF2-40B4-BE49-F238E27FC236}">
                <a16:creationId xmlns:a16="http://schemas.microsoft.com/office/drawing/2014/main" id="{1DAB014F-404C-1FD6-59A8-1EDC4F30E2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9297" y="4550661"/>
            <a:ext cx="2680687"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663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E42076-1B57-1F8F-682C-99D54D279547}"/>
              </a:ext>
            </a:extLst>
          </p:cNvPr>
          <p:cNvSpPr>
            <a:spLocks noGrp="1"/>
          </p:cNvSpPr>
          <p:nvPr>
            <p:ph type="body" sz="quarter" idx="108"/>
          </p:nvPr>
        </p:nvSpPr>
        <p:spPr/>
        <p:txBody>
          <a:bodyPr/>
          <a:lstStyle/>
          <a:p>
            <a:r>
              <a:rPr lang="en-US" dirty="0"/>
              <a:t>Don’t forget about the Canvas transition. The link you want to use now is: </a:t>
            </a:r>
            <a:r>
              <a:rPr lang="en-US" dirty="0">
                <a:hlinkClick r:id="rId3"/>
              </a:rPr>
              <a:t>https://canvas.nebraska.edu/</a:t>
            </a:r>
            <a:endParaRPr lang="en-US" dirty="0"/>
          </a:p>
          <a:p>
            <a:pPr lvl="1"/>
            <a:r>
              <a:rPr lang="en-US" dirty="0"/>
              <a:t>(We are now consistent across the entire system UN schools)</a:t>
            </a:r>
          </a:p>
          <a:p>
            <a:r>
              <a:rPr lang="en-US" dirty="0"/>
              <a:t>Feel free to follow along if you have your own computer/ tablet with you</a:t>
            </a:r>
          </a:p>
        </p:txBody>
      </p:sp>
      <p:sp>
        <p:nvSpPr>
          <p:cNvPr id="3" name="Title 2">
            <a:extLst>
              <a:ext uri="{FF2B5EF4-FFF2-40B4-BE49-F238E27FC236}">
                <a16:creationId xmlns:a16="http://schemas.microsoft.com/office/drawing/2014/main" id="{DA8CD999-98FB-9994-AF0B-6E7DDF1DC5BE}"/>
              </a:ext>
            </a:extLst>
          </p:cNvPr>
          <p:cNvSpPr>
            <a:spLocks noGrp="1"/>
          </p:cNvSpPr>
          <p:nvPr>
            <p:ph type="title"/>
          </p:nvPr>
        </p:nvSpPr>
        <p:spPr/>
        <p:txBody>
          <a:bodyPr/>
          <a:lstStyle/>
          <a:p>
            <a:r>
              <a:rPr lang="en-US" dirty="0"/>
              <a:t>Guide to Canvas</a:t>
            </a:r>
          </a:p>
        </p:txBody>
      </p:sp>
    </p:spTree>
    <p:extLst>
      <p:ext uri="{BB962C8B-B14F-4D97-AF65-F5344CB8AC3E}">
        <p14:creationId xmlns:p14="http://schemas.microsoft.com/office/powerpoint/2010/main" val="91998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4DF5F1-7A8B-8D25-BB4A-8EE9DCD2C1F5}"/>
              </a:ext>
            </a:extLst>
          </p:cNvPr>
          <p:cNvSpPr>
            <a:spLocks noGrp="1"/>
          </p:cNvSpPr>
          <p:nvPr>
            <p:ph type="body" sz="quarter" idx="106"/>
          </p:nvPr>
        </p:nvSpPr>
        <p:spPr/>
        <p:txBody>
          <a:bodyPr/>
          <a:lstStyle/>
          <a:p>
            <a:pPr marL="0" indent="0">
              <a:buNone/>
            </a:pPr>
            <a:r>
              <a:rPr lang="en-US" b="1" dirty="0"/>
              <a:t>Before Next Class(es):</a:t>
            </a:r>
            <a:endParaRPr lang="en-US" dirty="0"/>
          </a:p>
          <a:p>
            <a:pPr lvl="0"/>
            <a:r>
              <a:rPr lang="en-US" dirty="0"/>
              <a:t>Purchase Textbook</a:t>
            </a:r>
          </a:p>
          <a:p>
            <a:pPr lvl="0"/>
            <a:r>
              <a:rPr lang="en-US" dirty="0"/>
              <a:t>Complete “How to Use InQuizitive” assignment</a:t>
            </a:r>
          </a:p>
          <a:p>
            <a:pPr lvl="1"/>
            <a:r>
              <a:rPr lang="en-US" dirty="0"/>
              <a:t>Due 8/28 at 11:59 pm</a:t>
            </a:r>
          </a:p>
          <a:p>
            <a:pPr lvl="0"/>
            <a:r>
              <a:rPr lang="en-US" dirty="0"/>
              <a:t>Read Chapter 1 and complete </a:t>
            </a:r>
            <a:r>
              <a:rPr lang="en-US" dirty="0" err="1"/>
              <a:t>Ebook</a:t>
            </a:r>
            <a:r>
              <a:rPr lang="en-US" dirty="0"/>
              <a:t>: Chapter 1 assignment</a:t>
            </a:r>
          </a:p>
          <a:p>
            <a:pPr lvl="1"/>
            <a:r>
              <a:rPr lang="en-US" dirty="0"/>
              <a:t>Due 8/28 at 11:59 pm</a:t>
            </a:r>
          </a:p>
          <a:p>
            <a:pPr lvl="0"/>
            <a:r>
              <a:rPr lang="en-US" dirty="0"/>
              <a:t>Complete InQuizitive: Chapter 1</a:t>
            </a:r>
          </a:p>
          <a:p>
            <a:pPr lvl="1"/>
            <a:r>
              <a:rPr lang="en-US" dirty="0"/>
              <a:t>Due 8/28 at 11:59 pm</a:t>
            </a:r>
          </a:p>
          <a:p>
            <a:endParaRPr lang="en-US" dirty="0"/>
          </a:p>
        </p:txBody>
      </p:sp>
      <p:sp>
        <p:nvSpPr>
          <p:cNvPr id="2" name="Text Placeholder 1">
            <a:extLst>
              <a:ext uri="{FF2B5EF4-FFF2-40B4-BE49-F238E27FC236}">
                <a16:creationId xmlns:a16="http://schemas.microsoft.com/office/drawing/2014/main" id="{67515C91-71C4-54B6-24D6-BA9D0AF77DB8}"/>
              </a:ext>
            </a:extLst>
          </p:cNvPr>
          <p:cNvSpPr>
            <a:spLocks noGrp="1"/>
          </p:cNvSpPr>
          <p:nvPr>
            <p:ph type="body" sz="quarter" idx="107"/>
          </p:nvPr>
        </p:nvSpPr>
        <p:spPr/>
        <p:txBody>
          <a:bodyPr/>
          <a:lstStyle/>
          <a:p>
            <a:pPr marL="0" indent="0">
              <a:buNone/>
            </a:pPr>
            <a:r>
              <a:rPr lang="en-US" b="1" dirty="0"/>
              <a:t>Next Class:</a:t>
            </a:r>
            <a:endParaRPr lang="en-US" dirty="0"/>
          </a:p>
          <a:p>
            <a:r>
              <a:rPr lang="en-US" dirty="0"/>
              <a:t>Chapter 1: Psychology is a Way of Thinking</a:t>
            </a:r>
          </a:p>
        </p:txBody>
      </p:sp>
      <p:sp>
        <p:nvSpPr>
          <p:cNvPr id="5" name="Title 4">
            <a:extLst>
              <a:ext uri="{FF2B5EF4-FFF2-40B4-BE49-F238E27FC236}">
                <a16:creationId xmlns:a16="http://schemas.microsoft.com/office/drawing/2014/main" id="{7102B905-D5A8-B4AA-6358-45B56454E729}"/>
              </a:ext>
            </a:extLst>
          </p:cNvPr>
          <p:cNvSpPr>
            <a:spLocks noGrp="1"/>
          </p:cNvSpPr>
          <p:nvPr>
            <p:ph type="title"/>
          </p:nvPr>
        </p:nvSpPr>
        <p:spPr/>
        <p:txBody>
          <a:bodyPr/>
          <a:lstStyle/>
          <a:p>
            <a:r>
              <a:rPr lang="en-US" dirty="0"/>
              <a:t>Next Time on PSY 270…</a:t>
            </a:r>
          </a:p>
        </p:txBody>
      </p:sp>
    </p:spTree>
    <p:extLst>
      <p:ext uri="{BB962C8B-B14F-4D97-AF65-F5344CB8AC3E}">
        <p14:creationId xmlns:p14="http://schemas.microsoft.com/office/powerpoint/2010/main" val="190094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Props1.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3.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155</TotalTime>
  <Words>1107</Words>
  <Application>Microsoft Office PowerPoint</Application>
  <PresentationFormat>Widescreen</PresentationFormat>
  <Paragraphs>144</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Britannic Bold</vt:lpstr>
      <vt:lpstr>Cambria</vt:lpstr>
      <vt:lpstr>Times New Roman</vt:lpstr>
      <vt:lpstr>Office Theme</vt:lpstr>
      <vt:lpstr>Research Methods I</vt:lpstr>
      <vt:lpstr>Agenda</vt:lpstr>
      <vt:lpstr>What makes a good introduction?</vt:lpstr>
      <vt:lpstr>Meet the Professor</vt:lpstr>
      <vt:lpstr>Contacting Me</vt:lpstr>
      <vt:lpstr>Course Details</vt:lpstr>
      <vt:lpstr>Context: The Research Class Pathway</vt:lpstr>
      <vt:lpstr>Roll Call</vt:lpstr>
      <vt:lpstr>Require Material</vt:lpstr>
      <vt:lpstr>The Typical Approach to a Chapter</vt:lpstr>
      <vt:lpstr>Class Assignments</vt:lpstr>
      <vt:lpstr>Timeline</vt:lpstr>
      <vt:lpstr>Class Policies</vt:lpstr>
      <vt:lpstr>Class Attendance</vt:lpstr>
      <vt:lpstr>PowerPoints Provided</vt:lpstr>
      <vt:lpstr>Late and Missing Work</vt:lpstr>
      <vt:lpstr>AI Use</vt:lpstr>
      <vt:lpstr>Reasons AI is Not a Good Tool for This Class</vt:lpstr>
      <vt:lpstr>Guide to Canvas</vt:lpstr>
      <vt:lpstr>Next Time on PSY 270…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4</cp:revision>
  <dcterms:created xsi:type="dcterms:W3CDTF">2026-08-20T19:50:46Z</dcterms:created>
  <dcterms:modified xsi:type="dcterms:W3CDTF">2026-08-21T16:27:56Z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