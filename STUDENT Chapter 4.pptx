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307" r:id="rId6"/>
    <p:sldId id="259" r:id="rId7"/>
    <p:sldId id="309" r:id="rId8"/>
    <p:sldId id="310" r:id="rId9"/>
    <p:sldId id="311" r:id="rId10"/>
    <p:sldId id="262" r:id="rId11"/>
    <p:sldId id="313" r:id="rId12"/>
    <p:sldId id="312" r:id="rId13"/>
    <p:sldId id="315" r:id="rId14"/>
    <p:sldId id="316" r:id="rId15"/>
    <p:sldId id="317" r:id="rId16"/>
    <p:sldId id="377" r:id="rId17"/>
    <p:sldId id="298" r:id="rId18"/>
    <p:sldId id="351" r:id="rId19"/>
    <p:sldId id="265" r:id="rId20"/>
    <p:sldId id="352" r:id="rId21"/>
    <p:sldId id="323" r:id="rId22"/>
    <p:sldId id="356" r:id="rId23"/>
    <p:sldId id="324" r:id="rId24"/>
    <p:sldId id="354" r:id="rId25"/>
    <p:sldId id="355" r:id="rId26"/>
    <p:sldId id="379" r:id="rId27"/>
    <p:sldId id="378" r:id="rId28"/>
    <p:sldId id="353" r:id="rId29"/>
    <p:sldId id="261"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77703" autoAdjust="0"/>
  </p:normalViewPr>
  <p:slideViewPr>
    <p:cSldViewPr snapToGrid="0" snapToObjects="1">
      <p:cViewPr varScale="1">
        <p:scale>
          <a:sx n="87" d="100"/>
          <a:sy n="87" d="100"/>
        </p:scale>
        <p:origin x="9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2_2#5">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40651C-9917-4652-BF14-F4F598D1E52D}" type="doc">
      <dgm:prSet loTypeId="urn:microsoft.com/office/officeart/2005/8/layout/hierarchy1" loCatId="hierarchy" qsTypeId="urn:microsoft.com/office/officeart/2005/8/quickstyle/simple2#1" qsCatId="simple" csTypeId="urn:microsoft.com/office/officeart/2005/8/colors/accent2_2#5" csCatId="accent2" phldr="1"/>
      <dgm:spPr/>
      <dgm:t>
        <a:bodyPr/>
        <a:lstStyle/>
        <a:p>
          <a:endParaRPr lang="en-US"/>
        </a:p>
      </dgm:t>
    </dgm:pt>
    <dgm:pt modelId="{BC3E7B2B-5D7B-4494-9D6C-F0B15D69EA8C}">
      <dgm:prSet custT="1"/>
      <dgm:spPr>
        <a:ln>
          <a:solidFill>
            <a:schemeClr val="accent1"/>
          </a:solidFill>
        </a:ln>
      </dgm:spPr>
      <dgm:t>
        <a:bodyPr/>
        <a:lstStyle/>
        <a:p>
          <a:r>
            <a:rPr lang="en-US" sz="3200"/>
            <a:t>Harlow’s Studies (1950s–60s)</a:t>
          </a:r>
        </a:p>
      </dgm:t>
    </dgm:pt>
    <dgm:pt modelId="{2E159F9A-53DE-4278-B1B5-0D78A29021D4}" type="parTrans" cxnId="{48C8C1B8-6292-4339-9B40-ACCCBD46B04A}">
      <dgm:prSet/>
      <dgm:spPr/>
      <dgm:t>
        <a:bodyPr/>
        <a:lstStyle/>
        <a:p>
          <a:endParaRPr lang="en-US" sz="1200"/>
        </a:p>
      </dgm:t>
    </dgm:pt>
    <dgm:pt modelId="{9952D194-0C7A-477C-9350-6382AF963B51}" type="sibTrans" cxnId="{48C8C1B8-6292-4339-9B40-ACCCBD46B04A}">
      <dgm:prSet/>
      <dgm:spPr/>
      <dgm:t>
        <a:bodyPr/>
        <a:lstStyle/>
        <a:p>
          <a:endParaRPr lang="en-US" sz="1200"/>
        </a:p>
      </dgm:t>
    </dgm:pt>
    <dgm:pt modelId="{402BBB4D-D6CD-4377-BE68-D80231FFE7D2}">
      <dgm:prSet custT="1"/>
      <dgm:spPr>
        <a:ln>
          <a:solidFill>
            <a:schemeClr val="accent1"/>
          </a:solidFill>
        </a:ln>
      </dgm:spPr>
      <dgm:t>
        <a:bodyPr/>
        <a:lstStyle/>
        <a:p>
          <a:r>
            <a:rPr lang="en-US" sz="3200" dirty="0"/>
            <a:t>Songbird Research (Lattin et al., 2012, 2014)</a:t>
          </a:r>
        </a:p>
      </dgm:t>
    </dgm:pt>
    <dgm:pt modelId="{0B2F8701-DF8E-4088-8619-2B8C83FF83AD}" type="parTrans" cxnId="{DC67FC46-0DE9-49AE-B376-023F892CCDD4}">
      <dgm:prSet/>
      <dgm:spPr/>
      <dgm:t>
        <a:bodyPr/>
        <a:lstStyle/>
        <a:p>
          <a:endParaRPr lang="en-US" sz="1200"/>
        </a:p>
      </dgm:t>
    </dgm:pt>
    <dgm:pt modelId="{BFBBBB20-FD35-4322-9F7C-91DEF599DA8A}" type="sibTrans" cxnId="{DC67FC46-0DE9-49AE-B376-023F892CCDD4}">
      <dgm:prSet/>
      <dgm:spPr/>
      <dgm:t>
        <a:bodyPr/>
        <a:lstStyle/>
        <a:p>
          <a:endParaRPr lang="en-US" sz="1200"/>
        </a:p>
      </dgm:t>
    </dgm:pt>
    <dgm:pt modelId="{B807DD6F-0C56-4790-A411-A93849E1C55C}" type="pres">
      <dgm:prSet presAssocID="{5A40651C-9917-4652-BF14-F4F598D1E52D}" presName="hierChild1" presStyleCnt="0">
        <dgm:presLayoutVars>
          <dgm:chPref val="1"/>
          <dgm:dir/>
          <dgm:animOne val="branch"/>
          <dgm:animLvl val="lvl"/>
          <dgm:resizeHandles/>
        </dgm:presLayoutVars>
      </dgm:prSet>
      <dgm:spPr/>
    </dgm:pt>
    <dgm:pt modelId="{68BAE9D8-1829-4584-842D-325FB41210B2}" type="pres">
      <dgm:prSet presAssocID="{BC3E7B2B-5D7B-4494-9D6C-F0B15D69EA8C}" presName="hierRoot1" presStyleCnt="0"/>
      <dgm:spPr/>
    </dgm:pt>
    <dgm:pt modelId="{20FD9FB5-CE47-4BAA-B823-EF074084F0AE}" type="pres">
      <dgm:prSet presAssocID="{BC3E7B2B-5D7B-4494-9D6C-F0B15D69EA8C}" presName="composite" presStyleCnt="0"/>
      <dgm:spPr/>
    </dgm:pt>
    <dgm:pt modelId="{B62D71EA-2E22-4CEC-B197-A808D43C323C}" type="pres">
      <dgm:prSet presAssocID="{BC3E7B2B-5D7B-4494-9D6C-F0B15D69EA8C}" presName="background" presStyleLbl="node0" presStyleIdx="0" presStyleCnt="2"/>
      <dgm:spPr>
        <a:solidFill>
          <a:schemeClr val="accent1"/>
        </a:solidFill>
      </dgm:spPr>
    </dgm:pt>
    <dgm:pt modelId="{7DFA4C22-18CF-44F6-9014-1F88DE2F529B}" type="pres">
      <dgm:prSet presAssocID="{BC3E7B2B-5D7B-4494-9D6C-F0B15D69EA8C}" presName="text" presStyleLbl="fgAcc0" presStyleIdx="0" presStyleCnt="2">
        <dgm:presLayoutVars>
          <dgm:chPref val="3"/>
        </dgm:presLayoutVars>
      </dgm:prSet>
      <dgm:spPr/>
    </dgm:pt>
    <dgm:pt modelId="{82019C94-BC41-4252-8F23-2B6F59529A02}" type="pres">
      <dgm:prSet presAssocID="{BC3E7B2B-5D7B-4494-9D6C-F0B15D69EA8C}" presName="hierChild2" presStyleCnt="0"/>
      <dgm:spPr/>
    </dgm:pt>
    <dgm:pt modelId="{65684305-DCEE-4BDA-B8F2-02FD66C0B1D8}" type="pres">
      <dgm:prSet presAssocID="{402BBB4D-D6CD-4377-BE68-D80231FFE7D2}" presName="hierRoot1" presStyleCnt="0"/>
      <dgm:spPr/>
    </dgm:pt>
    <dgm:pt modelId="{5EA87BC0-614A-47D7-A539-6F8B13473601}" type="pres">
      <dgm:prSet presAssocID="{402BBB4D-D6CD-4377-BE68-D80231FFE7D2}" presName="composite" presStyleCnt="0"/>
      <dgm:spPr/>
    </dgm:pt>
    <dgm:pt modelId="{EBECDB35-A450-499F-8FD8-64BC5FDE902D}" type="pres">
      <dgm:prSet presAssocID="{402BBB4D-D6CD-4377-BE68-D80231FFE7D2}" presName="background" presStyleLbl="node0" presStyleIdx="1" presStyleCnt="2"/>
      <dgm:spPr>
        <a:solidFill>
          <a:schemeClr val="accent1"/>
        </a:solidFill>
      </dgm:spPr>
    </dgm:pt>
    <dgm:pt modelId="{D33A1F6A-FBF9-46D9-9CE6-68EEB2BB25DD}" type="pres">
      <dgm:prSet presAssocID="{402BBB4D-D6CD-4377-BE68-D80231FFE7D2}" presName="text" presStyleLbl="fgAcc0" presStyleIdx="1" presStyleCnt="2">
        <dgm:presLayoutVars>
          <dgm:chPref val="3"/>
        </dgm:presLayoutVars>
      </dgm:prSet>
      <dgm:spPr/>
    </dgm:pt>
    <dgm:pt modelId="{64EE4A31-2D3C-49D1-AA2B-E6EC4F3485C4}" type="pres">
      <dgm:prSet presAssocID="{402BBB4D-D6CD-4377-BE68-D80231FFE7D2}" presName="hierChild2" presStyleCnt="0"/>
      <dgm:spPr/>
    </dgm:pt>
  </dgm:ptLst>
  <dgm:cxnLst>
    <dgm:cxn modelId="{670BDC16-4E15-49CC-81F2-2D95E4A7FCA3}" type="presOf" srcId="{5A40651C-9917-4652-BF14-F4F598D1E52D}" destId="{B807DD6F-0C56-4790-A411-A93849E1C55C}" srcOrd="0" destOrd="0" presId="urn:microsoft.com/office/officeart/2005/8/layout/hierarchy1"/>
    <dgm:cxn modelId="{DC67FC46-0DE9-49AE-B376-023F892CCDD4}" srcId="{5A40651C-9917-4652-BF14-F4F598D1E52D}" destId="{402BBB4D-D6CD-4377-BE68-D80231FFE7D2}" srcOrd="1" destOrd="0" parTransId="{0B2F8701-DF8E-4088-8619-2B8C83FF83AD}" sibTransId="{BFBBBB20-FD35-4322-9F7C-91DEF599DA8A}"/>
    <dgm:cxn modelId="{53FE0B4C-E498-42BD-9D1D-9E9D2DD539B0}" type="presOf" srcId="{402BBB4D-D6CD-4377-BE68-D80231FFE7D2}" destId="{D33A1F6A-FBF9-46D9-9CE6-68EEB2BB25DD}" srcOrd="0" destOrd="0" presId="urn:microsoft.com/office/officeart/2005/8/layout/hierarchy1"/>
    <dgm:cxn modelId="{1016807B-A172-474A-9755-75A8A74E2292}" type="presOf" srcId="{BC3E7B2B-5D7B-4494-9D6C-F0B15D69EA8C}" destId="{7DFA4C22-18CF-44F6-9014-1F88DE2F529B}" srcOrd="0" destOrd="0" presId="urn:microsoft.com/office/officeart/2005/8/layout/hierarchy1"/>
    <dgm:cxn modelId="{48C8C1B8-6292-4339-9B40-ACCCBD46B04A}" srcId="{5A40651C-9917-4652-BF14-F4F598D1E52D}" destId="{BC3E7B2B-5D7B-4494-9D6C-F0B15D69EA8C}" srcOrd="0" destOrd="0" parTransId="{2E159F9A-53DE-4278-B1B5-0D78A29021D4}" sibTransId="{9952D194-0C7A-477C-9350-6382AF963B51}"/>
    <dgm:cxn modelId="{ABDC6B81-B88B-486F-B65A-0D8B4AA11B59}" type="presParOf" srcId="{B807DD6F-0C56-4790-A411-A93849E1C55C}" destId="{68BAE9D8-1829-4584-842D-325FB41210B2}" srcOrd="0" destOrd="0" presId="urn:microsoft.com/office/officeart/2005/8/layout/hierarchy1"/>
    <dgm:cxn modelId="{CE404984-3B84-484D-BF45-C16C486390A5}" type="presParOf" srcId="{68BAE9D8-1829-4584-842D-325FB41210B2}" destId="{20FD9FB5-CE47-4BAA-B823-EF074084F0AE}" srcOrd="0" destOrd="0" presId="urn:microsoft.com/office/officeart/2005/8/layout/hierarchy1"/>
    <dgm:cxn modelId="{2649675E-81E7-4E20-B6FA-D7670FAE2BDE}" type="presParOf" srcId="{20FD9FB5-CE47-4BAA-B823-EF074084F0AE}" destId="{B62D71EA-2E22-4CEC-B197-A808D43C323C}" srcOrd="0" destOrd="0" presId="urn:microsoft.com/office/officeart/2005/8/layout/hierarchy1"/>
    <dgm:cxn modelId="{BF4AA636-8887-408B-BE8B-71F0647DD31C}" type="presParOf" srcId="{20FD9FB5-CE47-4BAA-B823-EF074084F0AE}" destId="{7DFA4C22-18CF-44F6-9014-1F88DE2F529B}" srcOrd="1" destOrd="0" presId="urn:microsoft.com/office/officeart/2005/8/layout/hierarchy1"/>
    <dgm:cxn modelId="{D967F932-B8DB-4011-9280-60C94E512BBC}" type="presParOf" srcId="{68BAE9D8-1829-4584-842D-325FB41210B2}" destId="{82019C94-BC41-4252-8F23-2B6F59529A02}" srcOrd="1" destOrd="0" presId="urn:microsoft.com/office/officeart/2005/8/layout/hierarchy1"/>
    <dgm:cxn modelId="{4F7B903D-5CF4-422B-9F11-536008C7B496}" type="presParOf" srcId="{B807DD6F-0C56-4790-A411-A93849E1C55C}" destId="{65684305-DCEE-4BDA-B8F2-02FD66C0B1D8}" srcOrd="1" destOrd="0" presId="urn:microsoft.com/office/officeart/2005/8/layout/hierarchy1"/>
    <dgm:cxn modelId="{301FDDB7-1098-4DDF-AE10-7DC691B5C636}" type="presParOf" srcId="{65684305-DCEE-4BDA-B8F2-02FD66C0B1D8}" destId="{5EA87BC0-614A-47D7-A539-6F8B13473601}" srcOrd="0" destOrd="0" presId="urn:microsoft.com/office/officeart/2005/8/layout/hierarchy1"/>
    <dgm:cxn modelId="{A5BBF311-F62A-40EE-B1F9-6711A1F84815}" type="presParOf" srcId="{5EA87BC0-614A-47D7-A539-6F8B13473601}" destId="{EBECDB35-A450-499F-8FD8-64BC5FDE902D}" srcOrd="0" destOrd="0" presId="urn:microsoft.com/office/officeart/2005/8/layout/hierarchy1"/>
    <dgm:cxn modelId="{3326CB58-D155-4BB7-8AAE-ADEBF4504340}" type="presParOf" srcId="{5EA87BC0-614A-47D7-A539-6F8B13473601}" destId="{D33A1F6A-FBF9-46D9-9CE6-68EEB2BB25DD}" srcOrd="1" destOrd="0" presId="urn:microsoft.com/office/officeart/2005/8/layout/hierarchy1"/>
    <dgm:cxn modelId="{EE3E3B20-A5D6-4412-B16C-1FB109C3B26C}" type="presParOf" srcId="{65684305-DCEE-4BDA-B8F2-02FD66C0B1D8}" destId="{64EE4A31-2D3C-49D1-AA2B-E6EC4F3485C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D71EA-2E22-4CEC-B197-A808D43C323C}">
      <dsp:nvSpPr>
        <dsp:cNvPr id="0" name=""/>
        <dsp:cNvSpPr/>
      </dsp:nvSpPr>
      <dsp:spPr>
        <a:xfrm>
          <a:off x="1021" y="15752"/>
          <a:ext cx="3585267" cy="2276644"/>
        </a:xfrm>
        <a:prstGeom prst="roundRect">
          <a:avLst>
            <a:gd name="adj" fmla="val 10000"/>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7DFA4C22-18CF-44F6-9014-1F88DE2F529B}">
      <dsp:nvSpPr>
        <dsp:cNvPr id="0" name=""/>
        <dsp:cNvSpPr/>
      </dsp:nvSpPr>
      <dsp:spPr>
        <a:xfrm>
          <a:off x="399384" y="394197"/>
          <a:ext cx="3585267" cy="2276644"/>
        </a:xfrm>
        <a:prstGeom prst="roundRect">
          <a:avLst>
            <a:gd name="adj" fmla="val 10000"/>
          </a:avLst>
        </a:prstGeom>
        <a:solidFill>
          <a:schemeClr val="lt1">
            <a:alpha val="90000"/>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Harlow’s Studies (1950s–60s)</a:t>
          </a:r>
        </a:p>
      </dsp:txBody>
      <dsp:txXfrm>
        <a:off x="466065" y="460878"/>
        <a:ext cx="3451905" cy="2143282"/>
      </dsp:txXfrm>
    </dsp:sp>
    <dsp:sp modelId="{EBECDB35-A450-499F-8FD8-64BC5FDE902D}">
      <dsp:nvSpPr>
        <dsp:cNvPr id="0" name=""/>
        <dsp:cNvSpPr/>
      </dsp:nvSpPr>
      <dsp:spPr>
        <a:xfrm>
          <a:off x="4383015" y="15752"/>
          <a:ext cx="3585267" cy="2276644"/>
        </a:xfrm>
        <a:prstGeom prst="roundRect">
          <a:avLst>
            <a:gd name="adj" fmla="val 10000"/>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33A1F6A-FBF9-46D9-9CE6-68EEB2BB25DD}">
      <dsp:nvSpPr>
        <dsp:cNvPr id="0" name=""/>
        <dsp:cNvSpPr/>
      </dsp:nvSpPr>
      <dsp:spPr>
        <a:xfrm>
          <a:off x="4781378" y="394197"/>
          <a:ext cx="3585267" cy="2276644"/>
        </a:xfrm>
        <a:prstGeom prst="roundRect">
          <a:avLst>
            <a:gd name="adj" fmla="val 10000"/>
          </a:avLst>
        </a:prstGeom>
        <a:solidFill>
          <a:schemeClr val="lt1">
            <a:alpha val="90000"/>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Songbird Research (Lattin et al., 2012, 2014)</a:t>
          </a:r>
        </a:p>
      </dsp:txBody>
      <dsp:txXfrm>
        <a:off x="4848059" y="460878"/>
        <a:ext cx="3451905" cy="214328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59271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910595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015244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668833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82534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806686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dirty="0">
              <a:latin typeface="Arial"/>
              <a:cs typeface="Arial"/>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72999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848545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752004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007696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283772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645894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878246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6068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E30DD-9DF2-CC48-BDA6-07C096995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E4DF7-5EE1-FE57-F59F-8C497716D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96D93-EDCF-EF12-1504-9231A86836AA}"/>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43B107F0-1CC9-6044-A290-0DD4AE303381}"/>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20743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dirty="0">
              <a:latin typeface="Arial"/>
              <a:cs typeface="Arial"/>
            </a:endParaRPr>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636394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C7F6-B069-37A1-20D5-2570FF13D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82CCA-5BBA-7968-9C64-81B1C8264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10720-4F8E-F94B-E887-87B16C5CC80F}"/>
              </a:ext>
            </a:extLst>
          </p:cNvPr>
          <p:cNvSpPr>
            <a:spLocks noGrp="1"/>
          </p:cNvSpPr>
          <p:nvPr>
            <p:ph type="body" idx="1"/>
          </p:nvPr>
        </p:nvSpPr>
        <p:spPr/>
        <p:txBody>
          <a:bodyPr/>
          <a:lstStyle/>
          <a:p>
            <a:endParaRPr lang="en-IN" sz="1200" dirty="0"/>
          </a:p>
        </p:txBody>
      </p:sp>
      <p:sp>
        <p:nvSpPr>
          <p:cNvPr id="4" name="Slide Number Placeholder 3">
            <a:extLst>
              <a:ext uri="{FF2B5EF4-FFF2-40B4-BE49-F238E27FC236}">
                <a16:creationId xmlns:a16="http://schemas.microsoft.com/office/drawing/2014/main" id="{9D80438E-6286-8EA8-9F1A-C1DB1CC68432}"/>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59101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04300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12DB6-C08E-2D97-FFA9-E4001A763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16F8B-A963-1954-7DC9-F7EDA4822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6DD76-E4DD-D649-E153-7E0F68AEEB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BF1B96-CE2C-1C30-120F-AD4C6E74F51F}"/>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75513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51284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1B707-E9E9-4048-585E-D2ADF5018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74EAD-A91E-B9B5-9D71-445EE3E3C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13942-EAC2-1CE8-2C0F-DD1F3E716153}"/>
              </a:ext>
            </a:extLst>
          </p:cNvPr>
          <p:cNvSpPr>
            <a:spLocks noGrp="1"/>
          </p:cNvSpPr>
          <p:nvPr>
            <p:ph type="body" idx="1"/>
          </p:nvPr>
        </p:nvSpPr>
        <p:spPr/>
        <p:txBody>
          <a:bodyPr/>
          <a:lstStyle/>
          <a:p>
            <a:pPr marL="171450" indent="-171450" algn="l">
              <a:buFont typeface="Arial" panose="020B0604020202020204" pitchFamily="34" charset="0"/>
              <a:buChar char="•"/>
            </a:pPr>
            <a:endParaRPr lang="en-IN"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5932649D-B456-59FE-964F-12041417BFF5}"/>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12515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5CA6-6C5A-7793-DD80-21C9B9280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D077B-B447-5D94-F3C5-F13EA5078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63481-5943-053C-69AB-2745A82B67B3}"/>
              </a:ext>
            </a:extLst>
          </p:cNvPr>
          <p:cNvSpPr>
            <a:spLocks noGrp="1"/>
          </p:cNvSpPr>
          <p:nvPr>
            <p:ph type="body" idx="1"/>
          </p:nvPr>
        </p:nvSpPr>
        <p:spPr/>
        <p:txBody>
          <a:bodyPr/>
          <a:lstStyle/>
          <a:p>
            <a:pPr marL="0" indent="0">
              <a:buFont typeface="Arial" panose="020B0604020202020204" pitchFamily="34" charset="0"/>
              <a:buNone/>
            </a:pPr>
            <a:endParaRPr lang="en-IN"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490E2BD3-B56F-9856-406D-2B1DD31A6951}"/>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11420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56202-C464-FD63-FC5B-3900F0367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3A8A5-F731-C187-4F8E-6FF108248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BFEC6-9B69-7808-EBAB-EB598464EA55}"/>
              </a:ext>
            </a:extLst>
          </p:cNvPr>
          <p:cNvSpPr>
            <a:spLocks noGrp="1"/>
          </p:cNvSpPr>
          <p:nvPr>
            <p:ph type="body" idx="1"/>
          </p:nvPr>
        </p:nvSpPr>
        <p:spPr/>
        <p:txBody>
          <a:bodyPr/>
          <a:lstStyle/>
          <a:p>
            <a:pPr marL="171450" indent="-171450" algn="l">
              <a:buFont typeface="Arial" panose="020B0604020202020204" pitchFamily="34" charset="0"/>
              <a:buChar char="•"/>
            </a:pPr>
            <a:endParaRPr lang="en-IN"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5FC53C20-89B1-10FE-85BD-5CB55259F9E8}"/>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39846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398A-1141-F1C5-3627-2B41F9E37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BC25B-7791-21DF-D01D-DC34F7688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FD056-314A-6899-61A9-4CE11400994E}"/>
              </a:ext>
            </a:extLst>
          </p:cNvPr>
          <p:cNvSpPr>
            <a:spLocks noGrp="1"/>
          </p:cNvSpPr>
          <p:nvPr>
            <p:ph type="body" idx="1"/>
          </p:nvPr>
        </p:nvSpPr>
        <p:spPr/>
        <p:txBody>
          <a:bodyPr/>
          <a:lstStyle/>
          <a:p>
            <a:pPr marL="171450" indent="-171450" algn="l">
              <a:buFont typeface="Arial" panose="020B0604020202020204" pitchFamily="34" charset="0"/>
              <a:buChar char="•"/>
            </a:pPr>
            <a:endParaRPr lang="en-IN"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07F096D4-E784-AD02-B1A2-14CD6311868C}"/>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73867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C79B9-FA03-2F9D-11A7-6D0722B42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1C4BD-5430-18AE-F0C9-7CE64CF99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D4D7CB-5077-DAD7-1C2C-500D1974DB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8B90A3-86D2-D860-5A3E-C5CE39766BC3}"/>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28661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01201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normAutofit/>
          </a:bodyPr>
          <a:lstStyle>
            <a:lvl1pPr>
              <a:defRPr sz="32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64618B05-C18C-4A3D-9DA2-FBF373BE54C4}"/>
              </a:ext>
            </a:extLst>
          </p:cNvPr>
          <p:cNvSpPr>
            <a:spLocks noGrp="1"/>
          </p:cNvSpPr>
          <p:nvPr>
            <p:ph type="body" sz="quarter" idx="12"/>
          </p:nvPr>
        </p:nvSpPr>
        <p:spPr>
          <a:xfrm>
            <a:off x="3987800" y="6673850"/>
            <a:ext cx="7315200" cy="160338"/>
          </a:xfrm>
        </p:spPr>
        <p:txBody>
          <a:bodyPr>
            <a:noAutofit/>
          </a:bodyPr>
          <a:lstStyle>
            <a:lvl1pPr algn="r">
              <a:defRPr sz="800"/>
            </a:lvl1pPr>
          </a:lstStyle>
          <a:p>
            <a:pPr lvl="0"/>
            <a:r>
              <a:rPr lang="en-US"/>
              <a:t>Click to edit Master text styles</a:t>
            </a:r>
          </a:p>
        </p:txBody>
      </p:sp>
      <p:sp>
        <p:nvSpPr>
          <p:cNvPr id="10" name="Text Placeholder 9">
            <a:extLst>
              <a:ext uri="{FF2B5EF4-FFF2-40B4-BE49-F238E27FC236}">
                <a16:creationId xmlns:a16="http://schemas.microsoft.com/office/drawing/2014/main" id="{7B7177C8-4702-4D0B-A3DF-D9A2B23B19AB}"/>
              </a:ext>
            </a:extLst>
          </p:cNvPr>
          <p:cNvSpPr>
            <a:spLocks noGrp="1"/>
          </p:cNvSpPr>
          <p:nvPr>
            <p:ph type="body" sz="quarter" idx="13"/>
          </p:nvPr>
        </p:nvSpPr>
        <p:spPr>
          <a:xfrm>
            <a:off x="3927475" y="6348414"/>
            <a:ext cx="4337051" cy="193675"/>
          </a:xfrm>
        </p:spPr>
        <p:txBody>
          <a:bodyPr anchor="ctr">
            <a:noAutofit/>
          </a:bodyPr>
          <a:lstStyle>
            <a:lvl1pPr algn="ctr">
              <a:defRPr sz="900"/>
            </a:lvl1pPr>
          </a:lstStyle>
          <a:p>
            <a:pPr lvl="0"/>
            <a:r>
              <a:rPr lang="en-US"/>
              <a:t>Click to edit Master text styles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16F4155F-77C3-4412-81E5-2AD0BD7DA5C1}" type="slidenum">
              <a:rPr lang="en-US" smtClean="0"/>
              <a:t>‹#›</a:t>
            </a:fld>
            <a:endParaRPr lang="en-US"/>
          </a:p>
        </p:txBody>
      </p:sp>
    </p:spTree>
    <p:extLst>
      <p:ext uri="{BB962C8B-B14F-4D97-AF65-F5344CB8AC3E}">
        <p14:creationId xmlns:p14="http://schemas.microsoft.com/office/powerpoint/2010/main" val="182150586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521D7EE-3C93-41FB-A39B-E7EF2453623E}" type="datetimeFigureOut">
              <a:rPr lang="en-US" smtClean="0"/>
              <a:t>9/14/2026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6F4155F-77C3-4412-81E5-2AD0BD7DA5C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033758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 id="2147483660" r:id="rId10"/>
    <p:sldLayoutId id="2147483662"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video" Target="https://www.youtube.com/embed/ZV7RzS8QRXE?start=4&amp;feature=oembed" TargetMode="Externa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apa.org/independent-review"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4</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Ethical Guidelines in Psychological Research</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CEFCDD-7672-8590-7B7B-38DF8E75ED5B}"/>
              </a:ext>
            </a:extLst>
          </p:cNvPr>
          <p:cNvSpPr>
            <a:spLocks noGrp="1"/>
          </p:cNvSpPr>
          <p:nvPr>
            <p:ph type="title"/>
          </p:nvPr>
        </p:nvSpPr>
        <p:spPr/>
        <p:txBody>
          <a:bodyPr/>
          <a:lstStyle/>
          <a:p>
            <a:r>
              <a:rPr lang="en-US" dirty="0"/>
              <a:t>Reminders</a:t>
            </a:r>
          </a:p>
        </p:txBody>
      </p:sp>
      <p:sp>
        <p:nvSpPr>
          <p:cNvPr id="5" name="Text Placeholder 4">
            <a:extLst>
              <a:ext uri="{FF2B5EF4-FFF2-40B4-BE49-F238E27FC236}">
                <a16:creationId xmlns:a16="http://schemas.microsoft.com/office/drawing/2014/main" id="{BE98EC41-D184-D865-D790-B7042169F5C2}"/>
              </a:ext>
            </a:extLst>
          </p:cNvPr>
          <p:cNvSpPr>
            <a:spLocks noGrp="1"/>
          </p:cNvSpPr>
          <p:nvPr>
            <p:ph type="body" sz="quarter" idx="106"/>
          </p:nvPr>
        </p:nvSpPr>
        <p:spPr>
          <a:xfrm>
            <a:off x="5525477" y="1542779"/>
            <a:ext cx="5721643" cy="4654550"/>
          </a:xfrm>
        </p:spPr>
        <p:txBody>
          <a:bodyPr/>
          <a:lstStyle/>
          <a:p>
            <a:r>
              <a:rPr lang="en-US" dirty="0"/>
              <a:t>Turn in Research Activity #3</a:t>
            </a:r>
          </a:p>
          <a:p>
            <a:r>
              <a:rPr lang="en-US" dirty="0"/>
              <a:t>Chapter 4 Assignments due September 18</a:t>
            </a:r>
            <a:r>
              <a:rPr lang="en-US" baseline="30000" dirty="0"/>
              <a:t>th</a:t>
            </a:r>
            <a:r>
              <a:rPr lang="en-US" dirty="0"/>
              <a:t> at 11:59 pm</a:t>
            </a:r>
          </a:p>
          <a:p>
            <a:pPr lvl="1"/>
            <a:r>
              <a:rPr lang="en-US" dirty="0" err="1"/>
              <a:t>Ebook</a:t>
            </a:r>
            <a:r>
              <a:rPr lang="en-US" dirty="0"/>
              <a:t>: Chapter 4</a:t>
            </a:r>
          </a:p>
          <a:p>
            <a:pPr lvl="1"/>
            <a:r>
              <a:rPr lang="en-US" dirty="0"/>
              <a:t>InQuizitive: Chapter 4</a:t>
            </a:r>
          </a:p>
          <a:p>
            <a:r>
              <a:rPr lang="en-US" dirty="0"/>
              <a:t>Exam 1 is next week! </a:t>
            </a:r>
          </a:p>
          <a:p>
            <a:pPr lvl="1"/>
            <a:endParaRPr lang="en-US" dirty="0"/>
          </a:p>
        </p:txBody>
      </p:sp>
    </p:spTree>
    <p:extLst>
      <p:ext uri="{BB962C8B-B14F-4D97-AF65-F5344CB8AC3E}">
        <p14:creationId xmlns:p14="http://schemas.microsoft.com/office/powerpoint/2010/main" val="1035229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155474" y="1542779"/>
            <a:ext cx="6296297" cy="4654550"/>
          </a:xfrm>
        </p:spPr>
        <p:txBody>
          <a:bodyPr/>
          <a:lstStyle/>
          <a:p>
            <a:r>
              <a:rPr lang="en-US" dirty="0"/>
              <a:t>Historical Examples of Unethical Research</a:t>
            </a:r>
          </a:p>
          <a:p>
            <a:r>
              <a:rPr lang="en-US" dirty="0"/>
              <a:t>Ethical Principles</a:t>
            </a:r>
          </a:p>
          <a:p>
            <a:r>
              <a:rPr lang="en-US" dirty="0"/>
              <a:t>Ethical Animal Research</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CE20E-280F-E1CB-E555-00E71A226F0F}"/>
              </a:ext>
            </a:extLst>
          </p:cNvPr>
          <p:cNvSpPr>
            <a:spLocks noGrp="1"/>
          </p:cNvSpPr>
          <p:nvPr>
            <p:ph type="title"/>
          </p:nvPr>
        </p:nvSpPr>
        <p:spPr/>
        <p:txBody>
          <a:bodyPr/>
          <a:lstStyle/>
          <a:p>
            <a:r>
              <a:rPr lang="en-US" dirty="0"/>
              <a:t>Historical Examples of Unethical Research</a:t>
            </a:r>
          </a:p>
        </p:txBody>
      </p:sp>
      <p:sp>
        <p:nvSpPr>
          <p:cNvPr id="2" name="Content Placeholder 1">
            <a:extLst>
              <a:ext uri="{FF2B5EF4-FFF2-40B4-BE49-F238E27FC236}">
                <a16:creationId xmlns:a16="http://schemas.microsoft.com/office/drawing/2014/main" id="{2D21EA8C-4BCE-8C6F-39C3-F58F7065828C}"/>
              </a:ext>
            </a:extLst>
          </p:cNvPr>
          <p:cNvSpPr>
            <a:spLocks noGrp="1"/>
          </p:cNvSpPr>
          <p:nvPr>
            <p:ph sz="quarter" idx="10"/>
          </p:nvPr>
        </p:nvSpPr>
        <p:spPr/>
        <p:txBody>
          <a:bodyPr/>
          <a:lstStyle/>
          <a:p>
            <a:pPr marL="457200" indent="-457200" algn="l">
              <a:buFont typeface="Arial" panose="020B0604020202020204" pitchFamily="34" charset="0"/>
              <a:buChar char="•"/>
            </a:pPr>
            <a:r>
              <a:rPr lang="en-US" dirty="0"/>
              <a:t>The Tuskegee Syphilis Study</a:t>
            </a:r>
          </a:p>
          <a:p>
            <a:pPr marL="457200" indent="-457200" algn="l">
              <a:buFont typeface="Arial" panose="020B0604020202020204" pitchFamily="34" charset="0"/>
              <a:buChar char="•"/>
            </a:pPr>
            <a:r>
              <a:rPr lang="en-US" dirty="0"/>
              <a:t>The Milgram Obedience Studies</a:t>
            </a:r>
          </a:p>
          <a:p>
            <a:pPr marL="457200" indent="-457200" algn="l">
              <a:buFont typeface="Arial" panose="020B0604020202020204" pitchFamily="34" charset="0"/>
              <a:buChar char="•"/>
            </a:pPr>
            <a:r>
              <a:rPr lang="en-US" dirty="0"/>
              <a:t>The APA and the War on Terror</a:t>
            </a:r>
          </a:p>
        </p:txBody>
      </p:sp>
    </p:spTree>
    <p:extLst>
      <p:ext uri="{BB962C8B-B14F-4D97-AF65-F5344CB8AC3E}">
        <p14:creationId xmlns:p14="http://schemas.microsoft.com/office/powerpoint/2010/main" val="2579795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814824-91EA-7585-A901-CB92EED7BBF6}"/>
              </a:ext>
            </a:extLst>
          </p:cNvPr>
          <p:cNvSpPr>
            <a:spLocks noGrp="1"/>
          </p:cNvSpPr>
          <p:nvPr>
            <p:ph type="title"/>
          </p:nvPr>
        </p:nvSpPr>
        <p:spPr/>
        <p:txBody>
          <a:bodyPr/>
          <a:lstStyle/>
          <a:p>
            <a:r>
              <a:rPr lang="en-US" dirty="0"/>
              <a:t>The Tuskegee Syphilis Study</a:t>
            </a:r>
          </a:p>
        </p:txBody>
      </p:sp>
      <p:pic>
        <p:nvPicPr>
          <p:cNvPr id="6" name="Online Media 5" title="Ugly History: The U.S. Syphilis Experiment - Susan M. Reverby">
            <a:hlinkClick r:id="" action="ppaction://media"/>
            <a:extLst>
              <a:ext uri="{FF2B5EF4-FFF2-40B4-BE49-F238E27FC236}">
                <a16:creationId xmlns:a16="http://schemas.microsoft.com/office/drawing/2014/main" id="{84401E52-8E76-91FA-4251-EE7EDCD36D7A}"/>
              </a:ext>
            </a:extLst>
          </p:cNvPr>
          <p:cNvPicPr>
            <a:picLocks noRot="1" noChangeAspect="1"/>
          </p:cNvPicPr>
          <p:nvPr>
            <a:videoFile r:link="rId1"/>
          </p:nvPr>
        </p:nvPicPr>
        <p:blipFill>
          <a:blip r:embed="rId4"/>
          <a:stretch>
            <a:fillRect/>
          </a:stretch>
        </p:blipFill>
        <p:spPr>
          <a:xfrm>
            <a:off x="1306286" y="1086236"/>
            <a:ext cx="9430522" cy="5328257"/>
          </a:xfrm>
          <a:prstGeom prst="rect">
            <a:avLst/>
          </a:prstGeom>
        </p:spPr>
      </p:pic>
      <p:sp>
        <p:nvSpPr>
          <p:cNvPr id="7" name="TextBox 6">
            <a:extLst>
              <a:ext uri="{FF2B5EF4-FFF2-40B4-BE49-F238E27FC236}">
                <a16:creationId xmlns:a16="http://schemas.microsoft.com/office/drawing/2014/main" id="{1201614C-2EE2-A361-E193-991D656E14CA}"/>
              </a:ext>
            </a:extLst>
          </p:cNvPr>
          <p:cNvSpPr txBox="1"/>
          <p:nvPr/>
        </p:nvSpPr>
        <p:spPr>
          <a:xfrm>
            <a:off x="7559040" y="6532806"/>
            <a:ext cx="4545875" cy="307777"/>
          </a:xfrm>
          <a:prstGeom prst="rect">
            <a:avLst/>
          </a:prstGeom>
          <a:noFill/>
        </p:spPr>
        <p:txBody>
          <a:bodyPr wrap="square" rtlCol="0">
            <a:spAutoFit/>
          </a:bodyPr>
          <a:lstStyle/>
          <a:p>
            <a:r>
              <a:rPr lang="en-US" sz="1400" dirty="0"/>
              <a:t>https://www.youtube.com/watch?v=ZV7RzS8QRXE&amp;t=4s</a:t>
            </a:r>
          </a:p>
        </p:txBody>
      </p:sp>
    </p:spTree>
    <p:extLst>
      <p:ext uri="{BB962C8B-B14F-4D97-AF65-F5344CB8AC3E}">
        <p14:creationId xmlns:p14="http://schemas.microsoft.com/office/powerpoint/2010/main" val="41088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CA0B6D0-D2C1-D3C4-E044-F619911C9018}"/>
              </a:ext>
            </a:extLst>
          </p:cNvPr>
          <p:cNvSpPr>
            <a:spLocks noGrp="1"/>
          </p:cNvSpPr>
          <p:nvPr>
            <p:ph type="body" sz="quarter" idx="107"/>
          </p:nvPr>
        </p:nvSpPr>
        <p:spPr>
          <a:xfrm>
            <a:off x="443595" y="1697740"/>
            <a:ext cx="5342382" cy="4654550"/>
          </a:xfrm>
        </p:spPr>
        <p:txBody>
          <a:bodyPr/>
          <a:lstStyle/>
          <a:p>
            <a:r>
              <a:rPr lang="en-US" dirty="0"/>
              <a:t>Unethical choices</a:t>
            </a:r>
          </a:p>
          <a:p>
            <a:pPr lvl="1"/>
            <a:r>
              <a:rPr lang="en-US" dirty="0"/>
              <a:t>The participants were not treated respectfully (researchers lied to them about their disease).</a:t>
            </a:r>
          </a:p>
          <a:p>
            <a:pPr lvl="1"/>
            <a:r>
              <a:rPr lang="en-US" dirty="0"/>
              <a:t>The participants were discouraged from seeking other medical care.</a:t>
            </a:r>
          </a:p>
          <a:p>
            <a:pPr lvl="1"/>
            <a:r>
              <a:rPr lang="en-US" dirty="0"/>
              <a:t>The participants (and their families) were severely harmed, and many died.</a:t>
            </a:r>
          </a:p>
          <a:p>
            <a:pPr lvl="1"/>
            <a:r>
              <a:rPr lang="en-US" dirty="0"/>
              <a:t>The participants were a targeted, disadvantaged social group.</a:t>
            </a:r>
          </a:p>
          <a:p>
            <a:pPr lvl="1"/>
            <a:endParaRPr lang="en-US" dirty="0"/>
          </a:p>
        </p:txBody>
      </p:sp>
      <p:sp>
        <p:nvSpPr>
          <p:cNvPr id="3" name="Title 2">
            <a:extLst>
              <a:ext uri="{FF2B5EF4-FFF2-40B4-BE49-F238E27FC236}">
                <a16:creationId xmlns:a16="http://schemas.microsoft.com/office/drawing/2014/main" id="{E0B129C4-438A-699F-A0C1-405454E5B7EA}"/>
              </a:ext>
            </a:extLst>
          </p:cNvPr>
          <p:cNvSpPr>
            <a:spLocks noGrp="1"/>
          </p:cNvSpPr>
          <p:nvPr>
            <p:ph type="title"/>
          </p:nvPr>
        </p:nvSpPr>
        <p:spPr/>
        <p:txBody>
          <a:bodyPr/>
          <a:lstStyle/>
          <a:p>
            <a:r>
              <a:rPr lang="en-US" dirty="0"/>
              <a:t>The Tuskegee Syphilis Study</a:t>
            </a:r>
          </a:p>
        </p:txBody>
      </p:sp>
      <p:pic>
        <p:nvPicPr>
          <p:cNvPr id="7" name="Picture 6" descr="A white man takes a blood sample from a black man as other black men look on.">
            <a:extLst>
              <a:ext uri="{FF2B5EF4-FFF2-40B4-BE49-F238E27FC236}">
                <a16:creationId xmlns:a16="http://schemas.microsoft.com/office/drawing/2014/main" id="{2E508F13-4F4F-9C3E-0335-3E7A0CC6A78E}"/>
              </a:ext>
            </a:extLst>
          </p:cNvPr>
          <p:cNvPicPr>
            <a:picLocks noChangeAspect="1"/>
          </p:cNvPicPr>
          <p:nvPr/>
        </p:nvPicPr>
        <p:blipFill>
          <a:blip r:embed="rId3"/>
          <a:srcRect b="15164"/>
          <a:stretch>
            <a:fillRect/>
          </a:stretch>
        </p:blipFill>
        <p:spPr>
          <a:xfrm>
            <a:off x="6340839" y="2286001"/>
            <a:ext cx="5328254" cy="3478028"/>
          </a:xfrm>
          <a:prstGeom prst="rect">
            <a:avLst/>
          </a:prstGeom>
        </p:spPr>
      </p:pic>
    </p:spTree>
    <p:extLst>
      <p:ext uri="{BB962C8B-B14F-4D97-AF65-F5344CB8AC3E}">
        <p14:creationId xmlns:p14="http://schemas.microsoft.com/office/powerpoint/2010/main" val="1698740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8"/>
          </p:nvPr>
        </p:nvSpPr>
        <p:spPr/>
        <p:txBody>
          <a:bodyPr>
            <a:normAutofit/>
          </a:bodyPr>
          <a:lstStyle/>
          <a:p>
            <a:r>
              <a:rPr lang="en-US" sz="3200" dirty="0"/>
              <a:t>Written after Tuskegee, at request of Congress</a:t>
            </a:r>
          </a:p>
          <a:p>
            <a:r>
              <a:rPr lang="en-US" sz="3200" dirty="0"/>
              <a:t>Outlines three main principles:</a:t>
            </a:r>
          </a:p>
          <a:p>
            <a:pPr marL="571500" lvl="1" indent="-342900">
              <a:buFont typeface="+mj-lt"/>
              <a:buAutoNum type="arabicPeriod"/>
            </a:pPr>
            <a:r>
              <a:rPr lang="en-US" sz="2800" b="1" dirty="0"/>
              <a:t>Respect for persons</a:t>
            </a:r>
          </a:p>
          <a:p>
            <a:pPr marL="571500" lvl="1" indent="-342900">
              <a:buFont typeface="+mj-lt"/>
              <a:buAutoNum type="arabicPeriod"/>
            </a:pPr>
            <a:r>
              <a:rPr lang="en-US" sz="2800" b="1" dirty="0"/>
              <a:t>Beneficence</a:t>
            </a:r>
          </a:p>
          <a:p>
            <a:pPr marL="571500" lvl="1" indent="-342900">
              <a:buFont typeface="+mj-lt"/>
              <a:buAutoNum type="arabicPeriod"/>
            </a:pPr>
            <a:r>
              <a:rPr lang="en-US" sz="2800" b="1" dirty="0"/>
              <a:t>Justice</a:t>
            </a:r>
          </a:p>
          <a:p>
            <a:r>
              <a:rPr lang="en-US" sz="3000" dirty="0"/>
              <a:t>Nuremberg Code after WWII</a:t>
            </a:r>
          </a:p>
        </p:txBody>
      </p:sp>
      <p:sp>
        <p:nvSpPr>
          <p:cNvPr id="2" name="Title 1"/>
          <p:cNvSpPr>
            <a:spLocks noGrp="1"/>
          </p:cNvSpPr>
          <p:nvPr>
            <p:ph type="title"/>
          </p:nvPr>
        </p:nvSpPr>
        <p:spPr/>
        <p:txBody>
          <a:bodyPr/>
          <a:lstStyle/>
          <a:p>
            <a:r>
              <a:rPr lang="en-US" dirty="0"/>
              <a:t>Belmont Report</a:t>
            </a:r>
          </a:p>
        </p:txBody>
      </p:sp>
    </p:spTree>
    <p:extLst>
      <p:ext uri="{BB962C8B-B14F-4D97-AF65-F5344CB8AC3E}">
        <p14:creationId xmlns:p14="http://schemas.microsoft.com/office/powerpoint/2010/main" val="26021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CC0BB3D-06AB-57F2-2396-047ACC431599}"/>
              </a:ext>
            </a:extLst>
          </p:cNvPr>
          <p:cNvSpPr>
            <a:spLocks noGrp="1"/>
          </p:cNvSpPr>
          <p:nvPr>
            <p:ph type="body" sz="quarter" idx="106"/>
          </p:nvPr>
        </p:nvSpPr>
        <p:spPr>
          <a:xfrm>
            <a:off x="6528818" y="1799393"/>
            <a:ext cx="4645151" cy="4654550"/>
          </a:xfrm>
        </p:spPr>
        <p:txBody>
          <a:bodyPr/>
          <a:lstStyle/>
          <a:p>
            <a:r>
              <a:rPr lang="en-US" dirty="0"/>
              <a:t>Prod 1: Please continue. or Please go on. </a:t>
            </a:r>
          </a:p>
          <a:p>
            <a:r>
              <a:rPr lang="en-US" dirty="0"/>
              <a:t>Prod 2: The experiment requires that you continue. </a:t>
            </a:r>
          </a:p>
          <a:p>
            <a:r>
              <a:rPr lang="en-US" dirty="0"/>
              <a:t>Prod 3: It is absolutely essential that you continue. </a:t>
            </a:r>
          </a:p>
          <a:p>
            <a:r>
              <a:rPr lang="en-US" dirty="0"/>
              <a:t>Prod 4: You have no other choice, you must go on.</a:t>
            </a:r>
          </a:p>
          <a:p>
            <a:endParaRPr lang="en-US" dirty="0"/>
          </a:p>
        </p:txBody>
      </p:sp>
      <p:sp>
        <p:nvSpPr>
          <p:cNvPr id="4" name="Title 3">
            <a:extLst>
              <a:ext uri="{FF2B5EF4-FFF2-40B4-BE49-F238E27FC236}">
                <a16:creationId xmlns:a16="http://schemas.microsoft.com/office/drawing/2014/main" id="{2C967910-E653-A0C0-EF2D-DA9687C6D683}"/>
              </a:ext>
            </a:extLst>
          </p:cNvPr>
          <p:cNvSpPr>
            <a:spLocks noGrp="1"/>
          </p:cNvSpPr>
          <p:nvPr>
            <p:ph type="title"/>
          </p:nvPr>
        </p:nvSpPr>
        <p:spPr/>
        <p:txBody>
          <a:bodyPr/>
          <a:lstStyle/>
          <a:p>
            <a:r>
              <a:rPr lang="en-US" dirty="0"/>
              <a:t>The Milgram Obedience Studies</a:t>
            </a:r>
          </a:p>
        </p:txBody>
      </p:sp>
      <p:pic>
        <p:nvPicPr>
          <p:cNvPr id="8" name="Picture 7">
            <a:extLst>
              <a:ext uri="{FF2B5EF4-FFF2-40B4-BE49-F238E27FC236}">
                <a16:creationId xmlns:a16="http://schemas.microsoft.com/office/drawing/2014/main" id="{DEA653F9-A1ED-8013-0DEA-B518DBBAF117}"/>
              </a:ext>
            </a:extLst>
          </p:cNvPr>
          <p:cNvPicPr>
            <a:picLocks noChangeAspect="1"/>
          </p:cNvPicPr>
          <p:nvPr/>
        </p:nvPicPr>
        <p:blipFill>
          <a:blip r:embed="rId3"/>
          <a:stretch>
            <a:fillRect/>
          </a:stretch>
        </p:blipFill>
        <p:spPr>
          <a:xfrm>
            <a:off x="334103" y="1799393"/>
            <a:ext cx="5410379" cy="4256164"/>
          </a:xfrm>
          <a:prstGeom prst="rect">
            <a:avLst/>
          </a:prstGeom>
        </p:spPr>
      </p:pic>
    </p:spTree>
    <p:extLst>
      <p:ext uri="{BB962C8B-B14F-4D97-AF65-F5344CB8AC3E}">
        <p14:creationId xmlns:p14="http://schemas.microsoft.com/office/powerpoint/2010/main" val="1108561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85645FA-3EB5-2D14-2A9A-D4CCE84B3307}"/>
              </a:ext>
            </a:extLst>
          </p:cNvPr>
          <p:cNvSpPr>
            <a:spLocks noGrp="1"/>
          </p:cNvSpPr>
          <p:nvPr>
            <p:ph type="body" sz="quarter" idx="106"/>
          </p:nvPr>
        </p:nvSpPr>
        <p:spPr/>
        <p:txBody>
          <a:bodyPr/>
          <a:lstStyle/>
          <a:p>
            <a:r>
              <a:rPr lang="en-US" dirty="0"/>
              <a:t>Unethical choices</a:t>
            </a:r>
          </a:p>
          <a:p>
            <a:pPr lvl="1"/>
            <a:r>
              <a:rPr lang="en-US" dirty="0"/>
              <a:t>Participants didn’t know they could withdraw at any time</a:t>
            </a:r>
          </a:p>
          <a:p>
            <a:pPr lvl="1"/>
            <a:r>
              <a:rPr lang="en-US" dirty="0"/>
              <a:t>Let the participants become extremely distressed (crying, trembling, sweating, and panic attacks)</a:t>
            </a:r>
          </a:p>
          <a:p>
            <a:pPr lvl="1"/>
            <a:r>
              <a:rPr lang="en-US" dirty="0"/>
              <a:t>No debriefing</a:t>
            </a:r>
          </a:p>
          <a:p>
            <a:pPr lvl="1"/>
            <a:endParaRPr lang="en-US" dirty="0"/>
          </a:p>
        </p:txBody>
      </p:sp>
      <p:sp>
        <p:nvSpPr>
          <p:cNvPr id="5" name="Title 4">
            <a:extLst>
              <a:ext uri="{FF2B5EF4-FFF2-40B4-BE49-F238E27FC236}">
                <a16:creationId xmlns:a16="http://schemas.microsoft.com/office/drawing/2014/main" id="{DE59FEA2-C83C-9898-4E53-1632092DF7E5}"/>
              </a:ext>
            </a:extLst>
          </p:cNvPr>
          <p:cNvSpPr>
            <a:spLocks noGrp="1"/>
          </p:cNvSpPr>
          <p:nvPr>
            <p:ph type="title"/>
          </p:nvPr>
        </p:nvSpPr>
        <p:spPr/>
        <p:txBody>
          <a:bodyPr/>
          <a:lstStyle/>
          <a:p>
            <a:r>
              <a:rPr lang="en-US" dirty="0"/>
              <a:t>The Milgram Obedience Studies</a:t>
            </a:r>
          </a:p>
        </p:txBody>
      </p:sp>
      <p:pic>
        <p:nvPicPr>
          <p:cNvPr id="10" name="Picture 9" descr="A black and white photo shows a seated man is having electrodes attached by two other men.">
            <a:extLst>
              <a:ext uri="{FF2B5EF4-FFF2-40B4-BE49-F238E27FC236}">
                <a16:creationId xmlns:a16="http://schemas.microsoft.com/office/drawing/2014/main" id="{7CB21C82-0B3B-EEF1-6A58-DBCEA95A9F81}"/>
              </a:ext>
            </a:extLst>
          </p:cNvPr>
          <p:cNvPicPr>
            <a:picLocks noChangeAspect="1"/>
          </p:cNvPicPr>
          <p:nvPr/>
        </p:nvPicPr>
        <p:blipFill>
          <a:blip r:embed="rId3"/>
          <a:srcRect t="4994" r="4" b="13123"/>
          <a:stretch>
            <a:fillRect/>
          </a:stretch>
        </p:blipFill>
        <p:spPr>
          <a:xfrm>
            <a:off x="6629400" y="2073367"/>
            <a:ext cx="4800600" cy="3311912"/>
          </a:xfrm>
          <a:prstGeom prst="rect">
            <a:avLst/>
          </a:prstGeom>
          <a:noFill/>
        </p:spPr>
      </p:pic>
    </p:spTree>
    <p:extLst>
      <p:ext uri="{BB962C8B-B14F-4D97-AF65-F5344CB8AC3E}">
        <p14:creationId xmlns:p14="http://schemas.microsoft.com/office/powerpoint/2010/main" val="2704508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17F5BD-B0BC-C937-69E3-9498674237B4}"/>
              </a:ext>
            </a:extLst>
          </p:cNvPr>
          <p:cNvSpPr>
            <a:spLocks noGrp="1"/>
          </p:cNvSpPr>
          <p:nvPr>
            <p:ph type="body" sz="quarter" idx="108"/>
          </p:nvPr>
        </p:nvSpPr>
        <p:spPr/>
        <p:txBody>
          <a:bodyPr/>
          <a:lstStyle/>
          <a:p>
            <a:r>
              <a:rPr lang="en-US" dirty="0"/>
              <a:t>Post-9/11: U.S. government sought intelligence from suspected terrorists held at Guantánamo Bay and other detention sites </a:t>
            </a:r>
          </a:p>
          <a:p>
            <a:r>
              <a:rPr lang="en-US" dirty="0"/>
              <a:t>2002 APA Ethics Code: If ethics conflicted with law or other governing authority, psychologists could ultimately “adhere to” that authority </a:t>
            </a:r>
          </a:p>
          <a:p>
            <a:pPr lvl="1"/>
            <a:r>
              <a:rPr lang="en-US" dirty="0"/>
              <a:t>Originally oriented towards things like court orders and other civil matters, but opened a door for psychologists to play a part in the </a:t>
            </a:r>
          </a:p>
          <a:p>
            <a:r>
              <a:rPr lang="en-US" dirty="0"/>
              <a:t>2005 Presidential Task Force on Psychological Ethics and National Security (PENS Task Force): APA determined psychologists could ethically participate in national-security interrogations</a:t>
            </a:r>
          </a:p>
          <a:p>
            <a:r>
              <a:rPr lang="en-US" dirty="0"/>
              <a:t>Psychologists were recruited to advise interrogation programs, including techniques involving fear, stress, isolation, sleep deprivation, and other forms of psychological “pressure” </a:t>
            </a:r>
          </a:p>
          <a:p>
            <a:endParaRPr lang="en-US" dirty="0"/>
          </a:p>
          <a:p>
            <a:endParaRPr lang="en-US" dirty="0"/>
          </a:p>
        </p:txBody>
      </p:sp>
      <p:sp>
        <p:nvSpPr>
          <p:cNvPr id="3" name="Title 2">
            <a:extLst>
              <a:ext uri="{FF2B5EF4-FFF2-40B4-BE49-F238E27FC236}">
                <a16:creationId xmlns:a16="http://schemas.microsoft.com/office/drawing/2014/main" id="{01C33C12-4C04-50B3-131D-EDD7B3EB6CED}"/>
              </a:ext>
            </a:extLst>
          </p:cNvPr>
          <p:cNvSpPr>
            <a:spLocks noGrp="1"/>
          </p:cNvSpPr>
          <p:nvPr>
            <p:ph type="title"/>
          </p:nvPr>
        </p:nvSpPr>
        <p:spPr/>
        <p:txBody>
          <a:bodyPr/>
          <a:lstStyle/>
          <a:p>
            <a:r>
              <a:rPr lang="en-US" dirty="0"/>
              <a:t>APA &amp; The War on Terror</a:t>
            </a:r>
          </a:p>
        </p:txBody>
      </p:sp>
    </p:spTree>
    <p:extLst>
      <p:ext uri="{BB962C8B-B14F-4D97-AF65-F5344CB8AC3E}">
        <p14:creationId xmlns:p14="http://schemas.microsoft.com/office/powerpoint/2010/main" val="488053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86A182-4DB7-3E5A-9B85-8FEEFD3228F3}"/>
              </a:ext>
            </a:extLst>
          </p:cNvPr>
          <p:cNvSpPr>
            <a:spLocks noGrp="1"/>
          </p:cNvSpPr>
          <p:nvPr>
            <p:ph type="body" sz="quarter" idx="108"/>
          </p:nvPr>
        </p:nvSpPr>
        <p:spPr/>
        <p:txBody>
          <a:bodyPr/>
          <a:lstStyle/>
          <a:p>
            <a:r>
              <a:rPr lang="en-US" dirty="0"/>
              <a:t>Psychologists inside and outside APA raised concerns about psychologists' involvement in interrogations </a:t>
            </a:r>
          </a:p>
          <a:p>
            <a:r>
              <a:rPr lang="en-US" dirty="0"/>
              <a:t>2015 Hoffman Report: Independent investigation found that some APA officials colluded with Department of Defense officials </a:t>
            </a:r>
          </a:p>
          <a:p>
            <a:pPr lvl="1"/>
            <a:r>
              <a:rPr lang="en-US" dirty="0"/>
              <a:t>The review is available here: </a:t>
            </a:r>
            <a:r>
              <a:rPr lang="en-US" dirty="0">
                <a:hlinkClick r:id="rId3"/>
              </a:rPr>
              <a:t>https://www.apa.org/independent-review</a:t>
            </a:r>
            <a:r>
              <a:rPr lang="en-US" dirty="0"/>
              <a:t> </a:t>
            </a:r>
          </a:p>
          <a:p>
            <a:pPr lvl="1"/>
            <a:r>
              <a:rPr lang="en-US" dirty="0"/>
              <a:t>Investigators concluded APA officials sought loose ethical guidelines that would not impose greater restrictions than existing military rules </a:t>
            </a:r>
          </a:p>
          <a:p>
            <a:r>
              <a:rPr lang="en-US" dirty="0"/>
              <a:t>The scandal resulted in major leadership consequences, including firing/resignations/early retirements of senior APA officials </a:t>
            </a:r>
          </a:p>
          <a:p>
            <a:pPr marL="0" indent="0">
              <a:buNone/>
            </a:pPr>
            <a:endParaRPr lang="en-US" dirty="0"/>
          </a:p>
        </p:txBody>
      </p:sp>
      <p:sp>
        <p:nvSpPr>
          <p:cNvPr id="3" name="Title 2">
            <a:extLst>
              <a:ext uri="{FF2B5EF4-FFF2-40B4-BE49-F238E27FC236}">
                <a16:creationId xmlns:a16="http://schemas.microsoft.com/office/drawing/2014/main" id="{C8884701-D235-6435-1549-8312A6381295}"/>
              </a:ext>
            </a:extLst>
          </p:cNvPr>
          <p:cNvSpPr>
            <a:spLocks noGrp="1"/>
          </p:cNvSpPr>
          <p:nvPr>
            <p:ph type="title"/>
          </p:nvPr>
        </p:nvSpPr>
        <p:spPr/>
        <p:txBody>
          <a:bodyPr/>
          <a:lstStyle/>
          <a:p>
            <a:r>
              <a:rPr lang="en-US" dirty="0"/>
              <a:t>The Pushback</a:t>
            </a:r>
          </a:p>
        </p:txBody>
      </p:sp>
    </p:spTree>
    <p:extLst>
      <p:ext uri="{BB962C8B-B14F-4D97-AF65-F5344CB8AC3E}">
        <p14:creationId xmlns:p14="http://schemas.microsoft.com/office/powerpoint/2010/main" val="474329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ABBAC3-17CD-3100-2F11-35258F0745C5}"/>
              </a:ext>
            </a:extLst>
          </p:cNvPr>
          <p:cNvSpPr>
            <a:spLocks noGrp="1"/>
          </p:cNvSpPr>
          <p:nvPr>
            <p:ph type="body" sz="quarter" idx="108"/>
          </p:nvPr>
        </p:nvSpPr>
        <p:spPr/>
        <p:txBody>
          <a:bodyPr/>
          <a:lstStyle/>
          <a:p>
            <a:r>
              <a:rPr lang="en-US" dirty="0"/>
              <a:t>APA prohibited psychologists from participating in certain national-security interrogations and strengthened its ethics policies </a:t>
            </a:r>
          </a:p>
          <a:p>
            <a:r>
              <a:rPr lang="en-US" dirty="0"/>
              <a:t>In 2010, APA deleted the language saying psychologists could ultimately follow governing legal authority and replaced it with:</a:t>
            </a:r>
          </a:p>
          <a:p>
            <a:pPr lvl="1"/>
            <a:r>
              <a:rPr lang="en-US" dirty="0"/>
              <a:t>“Under no circumstances may this standard be used to justify or defend violating human rights.”</a:t>
            </a:r>
          </a:p>
          <a:p>
            <a:r>
              <a:rPr lang="en-US" dirty="0"/>
              <a:t>And in 2016, APA amended Standard 3.04, Avoiding Harm, to explicitly state that psychologists may not:</a:t>
            </a:r>
          </a:p>
          <a:p>
            <a:pPr lvl="1"/>
            <a:r>
              <a:rPr lang="en-US" dirty="0"/>
              <a:t>“participate in, facilitate, assist, or otherwise engage in torture”</a:t>
            </a:r>
          </a:p>
          <a:p>
            <a:pPr marL="0" indent="0">
              <a:buNone/>
            </a:pPr>
            <a:endParaRPr lang="en-US" dirty="0"/>
          </a:p>
          <a:p>
            <a:r>
              <a:rPr lang="en-US" dirty="0"/>
              <a:t>Key lesson: “Legal” or “ordered by an authority” ≠ “ethical”</a:t>
            </a:r>
          </a:p>
          <a:p>
            <a:endParaRPr lang="en-US" dirty="0"/>
          </a:p>
        </p:txBody>
      </p:sp>
      <p:sp>
        <p:nvSpPr>
          <p:cNvPr id="3" name="Title 2">
            <a:extLst>
              <a:ext uri="{FF2B5EF4-FFF2-40B4-BE49-F238E27FC236}">
                <a16:creationId xmlns:a16="http://schemas.microsoft.com/office/drawing/2014/main" id="{CE9C6DB1-724E-15FA-02C2-30EFC1500728}"/>
              </a:ext>
            </a:extLst>
          </p:cNvPr>
          <p:cNvSpPr>
            <a:spLocks noGrp="1"/>
          </p:cNvSpPr>
          <p:nvPr>
            <p:ph type="title"/>
          </p:nvPr>
        </p:nvSpPr>
        <p:spPr/>
        <p:txBody>
          <a:bodyPr/>
          <a:lstStyle/>
          <a:p>
            <a:r>
              <a:rPr lang="en-US" dirty="0"/>
              <a:t>The Ethical Reform</a:t>
            </a:r>
          </a:p>
        </p:txBody>
      </p:sp>
    </p:spTree>
    <p:extLst>
      <p:ext uri="{BB962C8B-B14F-4D97-AF65-F5344CB8AC3E}">
        <p14:creationId xmlns:p14="http://schemas.microsoft.com/office/powerpoint/2010/main" val="3593363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07ED-D8D2-1E2D-251B-9D6FAEF3F1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91A50D-B737-E419-A90C-04476CDBCD56}"/>
              </a:ext>
            </a:extLst>
          </p:cNvPr>
          <p:cNvSpPr>
            <a:spLocks noGrp="1"/>
          </p:cNvSpPr>
          <p:nvPr>
            <p:ph type="title"/>
          </p:nvPr>
        </p:nvSpPr>
        <p:spPr/>
        <p:txBody>
          <a:bodyPr/>
          <a:lstStyle/>
          <a:p>
            <a:r>
              <a:rPr lang="en-US" dirty="0"/>
              <a:t>Ethical Principles</a:t>
            </a:r>
          </a:p>
        </p:txBody>
      </p:sp>
      <p:sp>
        <p:nvSpPr>
          <p:cNvPr id="2" name="Content Placeholder 1">
            <a:extLst>
              <a:ext uri="{FF2B5EF4-FFF2-40B4-BE49-F238E27FC236}">
                <a16:creationId xmlns:a16="http://schemas.microsoft.com/office/drawing/2014/main" id="{CB9AF5AD-E12E-B5EA-EFD9-17F09E083879}"/>
              </a:ext>
            </a:extLst>
          </p:cNvPr>
          <p:cNvSpPr>
            <a:spLocks noGrp="1"/>
          </p:cNvSpPr>
          <p:nvPr>
            <p:ph sz="quarter" idx="10"/>
          </p:nvPr>
        </p:nvSpPr>
        <p:spPr/>
        <p:txBody>
          <a:bodyPr/>
          <a:lstStyle/>
          <a:p>
            <a:pPr marL="457200" indent="-457200" algn="l">
              <a:buFont typeface="Arial" panose="020B0604020202020204" pitchFamily="34" charset="0"/>
              <a:buChar char="•"/>
            </a:pPr>
            <a:r>
              <a:rPr lang="en-US" dirty="0"/>
              <a:t>APA Guidelines</a:t>
            </a:r>
          </a:p>
          <a:p>
            <a:pPr marL="457200" indent="-457200" algn="l">
              <a:buFont typeface="Arial" panose="020B0604020202020204" pitchFamily="34" charset="0"/>
              <a:buChar char="•"/>
            </a:pPr>
            <a:r>
              <a:rPr lang="en-US" dirty="0"/>
              <a:t>Application for Psychologists</a:t>
            </a:r>
          </a:p>
        </p:txBody>
      </p:sp>
    </p:spTree>
    <p:extLst>
      <p:ext uri="{BB962C8B-B14F-4D97-AF65-F5344CB8AC3E}">
        <p14:creationId xmlns:p14="http://schemas.microsoft.com/office/powerpoint/2010/main" val="3209636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nchor="t">
            <a:normAutofit fontScale="90000"/>
          </a:bodyPr>
          <a:lstStyle/>
          <a:p>
            <a:r>
              <a:rPr lang="en-US"/>
              <a:t>Guidelines for Psychologists: APA Ethical Principles</a:t>
            </a:r>
            <a:endParaRPr lang="en-US" dirty="0"/>
          </a:p>
        </p:txBody>
      </p:sp>
      <p:pic>
        <p:nvPicPr>
          <p:cNvPr id="6" name="Picture 5" descr="Screenshots from the American and Canadian Psychological Associations' websites. The screenshots are of codes of professional conduct for psychologists.">
            <a:extLst>
              <a:ext uri="{FF2B5EF4-FFF2-40B4-BE49-F238E27FC236}">
                <a16:creationId xmlns:a16="http://schemas.microsoft.com/office/drawing/2014/main" id="{63D4D567-D498-9EA5-6234-38D19573710E}"/>
              </a:ext>
            </a:extLst>
          </p:cNvPr>
          <p:cNvPicPr>
            <a:picLocks noChangeAspect="1"/>
          </p:cNvPicPr>
          <p:nvPr/>
        </p:nvPicPr>
        <p:blipFill>
          <a:blip r:embed="rId3"/>
          <a:srcRect l="-2" t="14574" r="3" b="40394"/>
          <a:stretch>
            <a:fillRect/>
          </a:stretch>
        </p:blipFill>
        <p:spPr>
          <a:xfrm>
            <a:off x="838200" y="1166950"/>
            <a:ext cx="10178322" cy="4571999"/>
          </a:xfrm>
          <a:prstGeom prst="rect">
            <a:avLst/>
          </a:prstGeom>
          <a:noFill/>
        </p:spPr>
      </p:pic>
    </p:spTree>
    <p:extLst>
      <p:ext uri="{BB962C8B-B14F-4D97-AF65-F5344CB8AC3E}">
        <p14:creationId xmlns:p14="http://schemas.microsoft.com/office/powerpoint/2010/main" val="272926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F2444-2310-5A77-61AA-49C53B6F1EB1}"/>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B516690-FAFB-1BA0-2D37-41FAE68400E7}"/>
              </a:ext>
            </a:extLst>
          </p:cNvPr>
          <p:cNvSpPr>
            <a:spLocks noGrp="1"/>
          </p:cNvSpPr>
          <p:nvPr>
            <p:ph type="body" sz="quarter" idx="108"/>
          </p:nvPr>
        </p:nvSpPr>
        <p:spPr/>
        <p:txBody>
          <a:bodyPr vert="horz" lIns="91440" tIns="45720" rIns="91440" bIns="45720" rtlCol="0">
            <a:normAutofit/>
          </a:bodyPr>
          <a:lstStyle/>
          <a:p>
            <a:pPr marL="342900" lvl="1" indent="-342900">
              <a:lnSpc>
                <a:spcPct val="100000"/>
              </a:lnSpc>
              <a:spcBef>
                <a:spcPts val="1200"/>
              </a:spcBef>
              <a:buFont typeface="Arial" charset="0"/>
              <a:buChar char="•"/>
            </a:pPr>
            <a:r>
              <a:rPr lang="en-US" sz="2000" dirty="0"/>
              <a:t>The Belmont Report: Principles and applications</a:t>
            </a:r>
          </a:p>
          <a:p>
            <a:pPr marL="801370" lvl="2" indent="-342900">
              <a:lnSpc>
                <a:spcPct val="100000"/>
              </a:lnSpc>
              <a:spcBef>
                <a:spcPts val="1200"/>
              </a:spcBef>
              <a:buClr>
                <a:srgbClr val="58697D"/>
              </a:buClr>
              <a:buFont typeface="Courier New" panose="02070309020205020404" pitchFamily="49" charset="0"/>
              <a:buChar char="o"/>
            </a:pPr>
            <a:r>
              <a:rPr lang="en-US" sz="2000" b="1" dirty="0"/>
              <a:t>Principle of respect for persons</a:t>
            </a:r>
          </a:p>
          <a:p>
            <a:pPr marL="1258570" lvl="3" indent="-342900">
              <a:lnSpc>
                <a:spcPct val="100000"/>
              </a:lnSpc>
              <a:spcBef>
                <a:spcPts val="1200"/>
              </a:spcBef>
              <a:buClr>
                <a:srgbClr val="58697D"/>
              </a:buClr>
              <a:buFont typeface="Courier New" panose="02070309020205020404" pitchFamily="49" charset="0"/>
              <a:buChar char="o"/>
            </a:pPr>
            <a:r>
              <a:rPr lang="en-US" sz="2000" b="1" dirty="0"/>
              <a:t>Informed consent</a:t>
            </a:r>
          </a:p>
          <a:p>
            <a:pPr marL="801370" lvl="2" indent="-342900">
              <a:lnSpc>
                <a:spcPct val="100000"/>
              </a:lnSpc>
              <a:spcBef>
                <a:spcPts val="1200"/>
              </a:spcBef>
              <a:buClr>
                <a:srgbClr val="58697D"/>
              </a:buClr>
              <a:buFont typeface="Courier New" panose="02070309020205020404" pitchFamily="49" charset="0"/>
              <a:buChar char="o"/>
            </a:pPr>
            <a:r>
              <a:rPr lang="en-US" sz="2000" b="1" dirty="0"/>
              <a:t>Principle of beneficence or concern for welfare</a:t>
            </a:r>
          </a:p>
          <a:p>
            <a:pPr marL="1258570" lvl="3" indent="-342900">
              <a:lnSpc>
                <a:spcPct val="100000"/>
              </a:lnSpc>
              <a:spcBef>
                <a:spcPts val="1200"/>
              </a:spcBef>
              <a:buClr>
                <a:srgbClr val="58697D"/>
              </a:buClr>
              <a:buFont typeface="Courier New" panose="02070309020205020404" pitchFamily="49" charset="0"/>
              <a:buChar char="o"/>
            </a:pPr>
            <a:r>
              <a:rPr lang="en-US" sz="2000" dirty="0"/>
              <a:t>Assess potential harm to participants and potential benefits to society.</a:t>
            </a:r>
          </a:p>
          <a:p>
            <a:pPr marL="801370" lvl="2" indent="-342900">
              <a:lnSpc>
                <a:spcPct val="100000"/>
              </a:lnSpc>
              <a:spcBef>
                <a:spcPts val="1200"/>
              </a:spcBef>
              <a:buClr>
                <a:srgbClr val="58697D"/>
              </a:buClr>
              <a:buFont typeface="Courier New" panose="02070309020205020404" pitchFamily="49" charset="0"/>
              <a:buChar char="o"/>
            </a:pPr>
            <a:r>
              <a:rPr lang="en-US" sz="2000" b="1" dirty="0"/>
              <a:t>Principle of justice</a:t>
            </a:r>
          </a:p>
          <a:p>
            <a:pPr marL="1258570" lvl="3" indent="-342900">
              <a:lnSpc>
                <a:spcPct val="100000"/>
              </a:lnSpc>
              <a:spcBef>
                <a:spcPts val="1200"/>
              </a:spcBef>
              <a:buClr>
                <a:srgbClr val="58697D"/>
              </a:buClr>
              <a:buFont typeface="Courier New" panose="02070309020205020404" pitchFamily="49" charset="0"/>
              <a:buChar char="o"/>
            </a:pPr>
            <a:r>
              <a:rPr lang="en-US" sz="2000" dirty="0"/>
              <a:t>Who bears the burden of research participation?</a:t>
            </a:r>
          </a:p>
        </p:txBody>
      </p:sp>
      <p:sp>
        <p:nvSpPr>
          <p:cNvPr id="2" name="Title 1">
            <a:extLst>
              <a:ext uri="{FF2B5EF4-FFF2-40B4-BE49-F238E27FC236}">
                <a16:creationId xmlns:a16="http://schemas.microsoft.com/office/drawing/2014/main" id="{71F23325-1805-8453-2B34-0541E9B1F220}"/>
              </a:ext>
            </a:extLst>
          </p:cNvPr>
          <p:cNvSpPr>
            <a:spLocks noGrp="1"/>
          </p:cNvSpPr>
          <p:nvPr>
            <p:ph type="title"/>
          </p:nvPr>
        </p:nvSpPr>
        <p:spPr/>
        <p:txBody>
          <a:bodyPr anchor="t">
            <a:normAutofit/>
          </a:bodyPr>
          <a:lstStyle/>
          <a:p>
            <a:r>
              <a:rPr lang="en-US" dirty="0"/>
              <a:t>Three Core Principles of Belmont Report</a:t>
            </a:r>
          </a:p>
        </p:txBody>
      </p:sp>
      <p:pic>
        <p:nvPicPr>
          <p:cNvPr id="6" name="Picture 5" descr="A woman talks with a young girl about an image on a sheet of paper. The girl is holding a colored pen.">
            <a:extLst>
              <a:ext uri="{FF2B5EF4-FFF2-40B4-BE49-F238E27FC236}">
                <a16:creationId xmlns:a16="http://schemas.microsoft.com/office/drawing/2014/main" id="{18AE5D83-3F4D-96A0-8334-8B3B51BD3AE4}"/>
              </a:ext>
            </a:extLst>
          </p:cNvPr>
          <p:cNvPicPr>
            <a:picLocks noChangeAspect="1"/>
          </p:cNvPicPr>
          <p:nvPr/>
        </p:nvPicPr>
        <p:blipFill>
          <a:blip r:embed="rId3"/>
          <a:srcRect r="4" b="14629"/>
          <a:stretch>
            <a:fillRect/>
          </a:stretch>
        </p:blipFill>
        <p:spPr>
          <a:xfrm>
            <a:off x="7751934" y="3848342"/>
            <a:ext cx="4162697" cy="2736453"/>
          </a:xfrm>
          <a:prstGeom prst="rect">
            <a:avLst/>
          </a:prstGeom>
          <a:noFill/>
        </p:spPr>
      </p:pic>
    </p:spTree>
    <p:extLst>
      <p:ext uri="{BB962C8B-B14F-4D97-AF65-F5344CB8AC3E}">
        <p14:creationId xmlns:p14="http://schemas.microsoft.com/office/powerpoint/2010/main" val="1280229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8"/>
          </p:nvPr>
        </p:nvSpPr>
        <p:spPr/>
        <p:txBody>
          <a:bodyPr>
            <a:noAutofit/>
          </a:bodyPr>
          <a:lstStyle/>
          <a:p>
            <a:r>
              <a:rPr lang="en-US" sz="2800" dirty="0"/>
              <a:t>The Five APA Ethical Principles</a:t>
            </a:r>
          </a:p>
          <a:p>
            <a:pPr lvl="1"/>
            <a:r>
              <a:rPr lang="en-US" sz="2400" dirty="0"/>
              <a:t>Developed to protect Ps, but also students and clients</a:t>
            </a:r>
          </a:p>
          <a:p>
            <a:pPr lvl="1"/>
            <a:r>
              <a:rPr lang="en-US" sz="2400" dirty="0"/>
              <a:t>Three are identical to Belmont Report’s Principles:</a:t>
            </a:r>
          </a:p>
          <a:p>
            <a:pPr lvl="2"/>
            <a:r>
              <a:rPr lang="en-US" sz="2000" dirty="0"/>
              <a:t>Beneficence and </a:t>
            </a:r>
            <a:r>
              <a:rPr lang="en-US" sz="2000" dirty="0" err="1"/>
              <a:t>nonmaleficence</a:t>
            </a:r>
            <a:endParaRPr lang="en-US" sz="2000" dirty="0"/>
          </a:p>
          <a:p>
            <a:pPr lvl="2"/>
            <a:r>
              <a:rPr lang="en-US" sz="2000" dirty="0"/>
              <a:t>Justice</a:t>
            </a:r>
          </a:p>
          <a:p>
            <a:pPr lvl="2"/>
            <a:r>
              <a:rPr lang="en-US" sz="2000" dirty="0"/>
              <a:t>Respect for people’s rights and dignity</a:t>
            </a:r>
          </a:p>
          <a:p>
            <a:pPr lvl="1"/>
            <a:r>
              <a:rPr lang="en-US" sz="2400" dirty="0"/>
              <a:t>Two additional principles apply to research, teaching, and clinical practice</a:t>
            </a:r>
          </a:p>
          <a:p>
            <a:pPr lvl="2"/>
            <a:r>
              <a:rPr lang="en-US" sz="2000" b="1" dirty="0"/>
              <a:t>Fidelity and responsibility</a:t>
            </a:r>
          </a:p>
          <a:p>
            <a:pPr lvl="2"/>
            <a:r>
              <a:rPr lang="en-US" sz="2000" b="1" dirty="0"/>
              <a:t>Integrity</a:t>
            </a:r>
            <a:endParaRPr lang="en-US" sz="2000" dirty="0"/>
          </a:p>
        </p:txBody>
      </p:sp>
      <p:sp>
        <p:nvSpPr>
          <p:cNvPr id="2" name="Title 1"/>
          <p:cNvSpPr>
            <a:spLocks noGrp="1"/>
          </p:cNvSpPr>
          <p:nvPr>
            <p:ph type="title"/>
          </p:nvPr>
        </p:nvSpPr>
        <p:spPr/>
        <p:txBody>
          <a:bodyPr/>
          <a:lstStyle/>
          <a:p>
            <a:r>
              <a:rPr lang="en-US" dirty="0"/>
              <a:t>The APA Ethical Principles</a:t>
            </a:r>
          </a:p>
        </p:txBody>
      </p:sp>
    </p:spTree>
    <p:extLst>
      <p:ext uri="{BB962C8B-B14F-4D97-AF65-F5344CB8AC3E}">
        <p14:creationId xmlns:p14="http://schemas.microsoft.com/office/powerpoint/2010/main" val="1563436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D0E1-6C11-B426-5239-9B07D3FAF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7C950-3514-AB08-F518-06C4C60A5B82}"/>
              </a:ext>
            </a:extLst>
          </p:cNvPr>
          <p:cNvSpPr>
            <a:spLocks noGrp="1"/>
          </p:cNvSpPr>
          <p:nvPr>
            <p:ph type="title"/>
          </p:nvPr>
        </p:nvSpPr>
        <p:spPr/>
        <p:txBody>
          <a:bodyPr anchor="b">
            <a:noAutofit/>
          </a:bodyPr>
          <a:lstStyle/>
          <a:p>
            <a:r>
              <a:rPr lang="en-US" sz="3200" dirty="0"/>
              <a:t>Belmont Plus Two: APA’s Five General Principles</a:t>
            </a:r>
            <a:endParaRPr lang="en-US" dirty="0"/>
          </a:p>
        </p:txBody>
      </p:sp>
      <p:sp>
        <p:nvSpPr>
          <p:cNvPr id="5" name="TextBox 4">
            <a:extLst>
              <a:ext uri="{FF2B5EF4-FFF2-40B4-BE49-F238E27FC236}">
                <a16:creationId xmlns:a16="http://schemas.microsoft.com/office/drawing/2014/main" id="{6F489C65-7CE2-9C7A-766F-0334B38B93E2}"/>
              </a:ext>
            </a:extLst>
          </p:cNvPr>
          <p:cNvSpPr txBox="1"/>
          <p:nvPr/>
        </p:nvSpPr>
        <p:spPr>
          <a:xfrm>
            <a:off x="2635057" y="1729276"/>
            <a:ext cx="1024255" cy="369332"/>
          </a:xfrm>
          <a:prstGeom prst="rect">
            <a:avLst/>
          </a:prstGeom>
          <a:noFill/>
        </p:spPr>
        <p:txBody>
          <a:bodyPr wrap="none" rtlCol="0">
            <a:spAutoFit/>
          </a:bodyPr>
          <a:lstStyle/>
          <a:p>
            <a:r>
              <a:rPr lang="en-IN" dirty="0"/>
              <a:t>Table 4.1</a:t>
            </a:r>
          </a:p>
        </p:txBody>
      </p:sp>
      <p:graphicFrame>
        <p:nvGraphicFramePr>
          <p:cNvPr id="4" name="Table 3">
            <a:extLst>
              <a:ext uri="{FF2B5EF4-FFF2-40B4-BE49-F238E27FC236}">
                <a16:creationId xmlns:a16="http://schemas.microsoft.com/office/drawing/2014/main" id="{8748D4B7-06FE-8DD8-9556-F7250BF67357}"/>
              </a:ext>
            </a:extLst>
          </p:cNvPr>
          <p:cNvGraphicFramePr>
            <a:graphicFrameLocks noGrp="1"/>
          </p:cNvGraphicFramePr>
          <p:nvPr/>
        </p:nvGraphicFramePr>
        <p:xfrm>
          <a:off x="2635057" y="2174808"/>
          <a:ext cx="6921886" cy="4269105"/>
        </p:xfrm>
        <a:graphic>
          <a:graphicData uri="http://schemas.openxmlformats.org/drawingml/2006/table">
            <a:tbl>
              <a:tblPr firstRow="1" bandRow="1">
                <a:tableStyleId>{073A0DAA-6AF3-43AB-8588-CEC1D06C72B9}</a:tableStyleId>
              </a:tblPr>
              <a:tblGrid>
                <a:gridCol w="1331806">
                  <a:extLst>
                    <a:ext uri="{9D8B030D-6E8A-4147-A177-3AD203B41FA5}">
                      <a16:colId xmlns:a16="http://schemas.microsoft.com/office/drawing/2014/main" val="1143828246"/>
                    </a:ext>
                  </a:extLst>
                </a:gridCol>
                <a:gridCol w="1471997">
                  <a:extLst>
                    <a:ext uri="{9D8B030D-6E8A-4147-A177-3AD203B41FA5}">
                      <a16:colId xmlns:a16="http://schemas.microsoft.com/office/drawing/2014/main" val="3297639267"/>
                    </a:ext>
                  </a:extLst>
                </a:gridCol>
                <a:gridCol w="1432567">
                  <a:extLst>
                    <a:ext uri="{9D8B030D-6E8A-4147-A177-3AD203B41FA5}">
                      <a16:colId xmlns:a16="http://schemas.microsoft.com/office/drawing/2014/main" val="207577352"/>
                    </a:ext>
                  </a:extLst>
                </a:gridCol>
                <a:gridCol w="2685516">
                  <a:extLst>
                    <a:ext uri="{9D8B030D-6E8A-4147-A177-3AD203B41FA5}">
                      <a16:colId xmlns:a16="http://schemas.microsoft.com/office/drawing/2014/main" val="2368805313"/>
                    </a:ext>
                  </a:extLst>
                </a:gridCol>
              </a:tblGrid>
              <a:tr h="474345">
                <a:tc gridSpan="4">
                  <a:txBody>
                    <a:bodyPr/>
                    <a:lstStyle/>
                    <a:p>
                      <a:pPr rtl="0" fontAlgn="b">
                        <a:buNone/>
                      </a:pPr>
                      <a:r>
                        <a:rPr lang="en-US" sz="400" dirty="0">
                          <a:effectLst/>
                        </a:rPr>
                        <a:t>Table 4.1 Core Ethical Principles Compared to APA’s Five General Principles and CPA’s Four Principles</a:t>
                      </a:r>
                    </a:p>
                  </a:txBody>
                  <a:tcPr marL="0" marR="0" marT="19050" marB="19050" anchor="b"/>
                </a:tc>
                <a:tc hMerge="1">
                  <a:txBody>
                    <a:bodyPr/>
                    <a:lstStyle/>
                    <a:p>
                      <a:pPr rtl="0" fontAlgn="b"/>
                      <a:endParaRPr lang="en-US" dirty="0">
                        <a:effectLst/>
                      </a:endParaRPr>
                    </a:p>
                  </a:txBody>
                  <a:tcPr marL="28575" marR="28575" marT="19050" marB="19050" anchor="b"/>
                </a:tc>
                <a:tc hMerge="1">
                  <a:txBody>
                    <a:bodyPr/>
                    <a:lstStyle/>
                    <a:p>
                      <a:pPr rtl="0" fontAlgn="b"/>
                      <a:endParaRPr lang="en-US" dirty="0">
                        <a:effectLst/>
                      </a:endParaRPr>
                    </a:p>
                  </a:txBody>
                  <a:tcPr marL="28575" marR="28575" marT="19050" marB="19050" anchor="b"/>
                </a:tc>
                <a:tc hMerge="1">
                  <a:txBody>
                    <a:bodyPr/>
                    <a:lstStyle/>
                    <a:p>
                      <a:pPr rtl="0" fontAlgn="b"/>
                      <a:endParaRPr lang="en-US" dirty="0">
                        <a:effectLst/>
                      </a:endParaRPr>
                    </a:p>
                  </a:txBody>
                  <a:tcPr marL="28575" marR="28575" marT="19050" marB="19050" anchor="b"/>
                </a:tc>
                <a:extLst>
                  <a:ext uri="{0D108BD9-81ED-4DB2-BD59-A6C34878D82A}">
                    <a16:rowId xmlns:a16="http://schemas.microsoft.com/office/drawing/2014/main" val="3403699973"/>
                  </a:ext>
                </a:extLst>
              </a:tr>
              <a:tr h="474345">
                <a:tc>
                  <a:txBody>
                    <a:bodyPr/>
                    <a:lstStyle/>
                    <a:p>
                      <a:pPr rtl="0" fontAlgn="b"/>
                      <a:r>
                        <a:rPr lang="en-US" sz="400" dirty="0">
                          <a:effectLst/>
                        </a:rPr>
                        <a:t>Core Principle from Belmont Report/TCPS</a:t>
                      </a:r>
                    </a:p>
                  </a:txBody>
                  <a:tcPr marL="28575" marR="28575" marT="19050" marB="19050" anchor="b"/>
                </a:tc>
                <a:tc>
                  <a:txBody>
                    <a:bodyPr/>
                    <a:lstStyle/>
                    <a:p>
                      <a:pPr rtl="0" fontAlgn="b"/>
                      <a:r>
                        <a:rPr lang="en-US" sz="400" dirty="0">
                          <a:effectLst/>
                        </a:rPr>
                        <a:t>APA Ethical Principles (2016)</a:t>
                      </a:r>
                    </a:p>
                  </a:txBody>
                  <a:tcPr marL="28575" marR="28575" marT="19050" marB="19050" anchor="b"/>
                </a:tc>
                <a:tc>
                  <a:txBody>
                    <a:bodyPr/>
                    <a:lstStyle/>
                    <a:p>
                      <a:pPr rtl="0" fontAlgn="b"/>
                      <a:r>
                        <a:rPr lang="en-US" sz="400" dirty="0">
                          <a:effectLst/>
                        </a:rPr>
                        <a:t>CPA Ethical Principles (2017)</a:t>
                      </a:r>
                    </a:p>
                  </a:txBody>
                  <a:tcPr marL="28575" marR="28575" marT="19050" marB="19050" anchor="b"/>
                </a:tc>
                <a:tc>
                  <a:txBody>
                    <a:bodyPr/>
                    <a:lstStyle/>
                    <a:p>
                      <a:pPr rtl="0" fontAlgn="b">
                        <a:buNone/>
                      </a:pPr>
                      <a:r>
                        <a:rPr lang="en-US" sz="400" dirty="0">
                          <a:effectLst/>
                        </a:rPr>
                        <a:t>Themes in Common*</a:t>
                      </a:r>
                    </a:p>
                  </a:txBody>
                  <a:tcPr marL="0" marR="0" marT="19050" marB="19050" anchor="b"/>
                </a:tc>
                <a:extLst>
                  <a:ext uri="{0D108BD9-81ED-4DB2-BD59-A6C34878D82A}">
                    <a16:rowId xmlns:a16="http://schemas.microsoft.com/office/drawing/2014/main" val="858550158"/>
                  </a:ext>
                </a:extLst>
              </a:tr>
              <a:tr h="474345">
                <a:tc>
                  <a:txBody>
                    <a:bodyPr/>
                    <a:lstStyle/>
                    <a:p>
                      <a:pPr rtl="0" fontAlgn="b"/>
                      <a:r>
                        <a:rPr lang="en-US" sz="400" dirty="0">
                          <a:effectLst/>
                        </a:rPr>
                        <a:t>Respect for persons</a:t>
                      </a:r>
                    </a:p>
                  </a:txBody>
                  <a:tcPr marL="28575" marR="28575" marT="19050" marB="19050" anchor="b"/>
                </a:tc>
                <a:tc>
                  <a:txBody>
                    <a:bodyPr/>
                    <a:lstStyle/>
                    <a:p>
                      <a:pPr rtl="0" fontAlgn="b"/>
                      <a:r>
                        <a:rPr lang="en-US" sz="400" dirty="0">
                          <a:effectLst/>
                        </a:rPr>
                        <a:t>E. Respect for people’s rights and dignity</a:t>
                      </a:r>
                    </a:p>
                  </a:txBody>
                  <a:tcPr marL="28575" marR="28575" marT="19050" marB="19050" anchor="b"/>
                </a:tc>
                <a:tc>
                  <a:txBody>
                    <a:bodyPr/>
                    <a:lstStyle/>
                    <a:p>
                      <a:pPr rtl="0" fontAlgn="b"/>
                      <a:r>
                        <a:rPr lang="en-US" sz="400" dirty="0">
                          <a:effectLst/>
                        </a:rPr>
                        <a:t>I. Respect for the dignity of persons and peoples</a:t>
                      </a:r>
                    </a:p>
                  </a:txBody>
                  <a:tcPr marL="28575" marR="28575" marT="19050" marB="19050" anchor="b"/>
                </a:tc>
                <a:tc>
                  <a:txBody>
                    <a:bodyPr/>
                    <a:lstStyle/>
                    <a:p>
                      <a:pPr rtl="0" fontAlgn="b">
                        <a:buNone/>
                      </a:pPr>
                      <a:r>
                        <a:rPr lang="en-US" sz="400" dirty="0">
                          <a:effectLst/>
                        </a:rPr>
                        <a:t>People are autonomous agents with inherent moral worth. Protect people’s rights, including the right to privacy and the right to give consent for treatment or research. Do not exclude or discriminate. Protect vulnerable populations.</a:t>
                      </a:r>
                    </a:p>
                  </a:txBody>
                  <a:tcPr marL="0" marR="0" marT="19050" marB="19050" anchor="b"/>
                </a:tc>
                <a:extLst>
                  <a:ext uri="{0D108BD9-81ED-4DB2-BD59-A6C34878D82A}">
                    <a16:rowId xmlns:a16="http://schemas.microsoft.com/office/drawing/2014/main" val="2621768501"/>
                  </a:ext>
                </a:extLst>
              </a:tr>
              <a:tr h="474345">
                <a:tc>
                  <a:txBody>
                    <a:bodyPr/>
                    <a:lstStyle/>
                    <a:p>
                      <a:pPr rtl="0" fontAlgn="b"/>
                      <a:r>
                        <a:rPr lang="en-US" sz="400" dirty="0">
                          <a:effectLst/>
                        </a:rPr>
                        <a:t>Beneficence/concern for welfare</a:t>
                      </a:r>
                    </a:p>
                  </a:txBody>
                  <a:tcPr marL="28575" marR="28575" marT="19050" marB="19050" anchor="b"/>
                </a:tc>
                <a:tc>
                  <a:txBody>
                    <a:bodyPr/>
                    <a:lstStyle/>
                    <a:p>
                      <a:pPr rtl="0" fontAlgn="b"/>
                      <a:r>
                        <a:rPr lang="en-US" sz="400" dirty="0">
                          <a:effectLst/>
                        </a:rPr>
                        <a:t>A. Beneficence and nonmaleficence</a:t>
                      </a:r>
                    </a:p>
                  </a:txBody>
                  <a:tcPr marL="28575" marR="28575" marT="19050" marB="19050" anchor="b"/>
                </a:tc>
                <a:tc>
                  <a:txBody>
                    <a:bodyPr/>
                    <a:lstStyle/>
                    <a:p>
                      <a:pPr rtl="0" fontAlgn="b"/>
                      <a:r>
                        <a:rPr lang="en-US" sz="400" dirty="0">
                          <a:effectLst/>
                        </a:rPr>
                        <a:t>II. Responsible caring</a:t>
                      </a:r>
                    </a:p>
                  </a:txBody>
                  <a:tcPr marL="28575" marR="28575" marT="19050" marB="19050" anchor="b"/>
                </a:tc>
                <a:tc>
                  <a:txBody>
                    <a:bodyPr/>
                    <a:lstStyle/>
                    <a:p>
                      <a:pPr rtl="0" fontAlgn="b">
                        <a:buNone/>
                      </a:pPr>
                      <a:r>
                        <a:rPr lang="en-US" sz="400" dirty="0">
                          <a:effectLst/>
                        </a:rPr>
                        <a:t>Treat people with competence and in ways that benefit them and that minimize harm to them.</a:t>
                      </a:r>
                    </a:p>
                  </a:txBody>
                  <a:tcPr marL="0" marR="0" marT="19050" marB="19050" anchor="b"/>
                </a:tc>
                <a:extLst>
                  <a:ext uri="{0D108BD9-81ED-4DB2-BD59-A6C34878D82A}">
                    <a16:rowId xmlns:a16="http://schemas.microsoft.com/office/drawing/2014/main" val="3362584623"/>
                  </a:ext>
                </a:extLst>
              </a:tr>
              <a:tr h="474345">
                <a:tc>
                  <a:txBody>
                    <a:bodyPr/>
                    <a:lstStyle/>
                    <a:p>
                      <a:pPr rtl="0" fontAlgn="b"/>
                      <a:endParaRPr lang="en-US" sz="400" dirty="0">
                        <a:effectLst/>
                      </a:endParaRPr>
                    </a:p>
                  </a:txBody>
                  <a:tcPr marL="28575" marR="28575" marT="19050" marB="19050" anchor="b"/>
                </a:tc>
                <a:tc>
                  <a:txBody>
                    <a:bodyPr/>
                    <a:lstStyle/>
                    <a:p>
                      <a:pPr rtl="0" fontAlgn="b"/>
                      <a:r>
                        <a:rPr lang="en-US" sz="400" dirty="0">
                          <a:effectLst/>
                        </a:rPr>
                        <a:t>B. Fidelity and responsibility</a:t>
                      </a:r>
                    </a:p>
                  </a:txBody>
                  <a:tcPr marL="28575" marR="28575" marT="19050" marB="19050" anchor="b"/>
                </a:tc>
                <a:tc>
                  <a:txBody>
                    <a:bodyPr/>
                    <a:lstStyle/>
                    <a:p>
                      <a:pPr rtl="0" fontAlgn="b"/>
                      <a:r>
                        <a:rPr lang="en-US" sz="400" dirty="0">
                          <a:effectLst/>
                        </a:rPr>
                        <a:t>III. Integrity in relationships</a:t>
                      </a:r>
                    </a:p>
                  </a:txBody>
                  <a:tcPr marL="28575" marR="28575" marT="19050" marB="19050" anchor="b"/>
                </a:tc>
                <a:tc>
                  <a:txBody>
                    <a:bodyPr/>
                    <a:lstStyle/>
                    <a:p>
                      <a:pPr rtl="0" fontAlgn="b">
                        <a:buNone/>
                      </a:pPr>
                      <a:r>
                        <a:rPr lang="en-US" sz="400" dirty="0">
                          <a:effectLst/>
                        </a:rPr>
                        <a:t>Establish relationships of trust, openness, and honesty; accept responsibility for competent and professional behavior (in research, teaching, and clinical practice).</a:t>
                      </a:r>
                    </a:p>
                  </a:txBody>
                  <a:tcPr marL="0" marR="0" marT="19050" marB="19050" anchor="b"/>
                </a:tc>
                <a:extLst>
                  <a:ext uri="{0D108BD9-81ED-4DB2-BD59-A6C34878D82A}">
                    <a16:rowId xmlns:a16="http://schemas.microsoft.com/office/drawing/2014/main" val="96771136"/>
                  </a:ext>
                </a:extLst>
              </a:tr>
              <a:tr h="474345">
                <a:tc>
                  <a:txBody>
                    <a:bodyPr/>
                    <a:lstStyle/>
                    <a:p>
                      <a:pPr rtl="0" fontAlgn="b"/>
                      <a:r>
                        <a:rPr lang="en-US" sz="400" dirty="0">
                          <a:effectLst/>
                        </a:rPr>
                        <a:t>Justice</a:t>
                      </a:r>
                    </a:p>
                  </a:txBody>
                  <a:tcPr marL="28575" marR="28575" marT="19050" marB="19050" anchor="b"/>
                </a:tc>
                <a:tc>
                  <a:txBody>
                    <a:bodyPr/>
                    <a:lstStyle/>
                    <a:p>
                      <a:pPr rtl="0" fontAlgn="b"/>
                      <a:r>
                        <a:rPr lang="en-US" sz="400" dirty="0">
                          <a:effectLst/>
                        </a:rPr>
                        <a:t>D. Justice</a:t>
                      </a:r>
                    </a:p>
                  </a:txBody>
                  <a:tcPr marL="28575" marR="28575" marT="19050" marB="19050" anchor="b"/>
                </a:tc>
                <a:tc>
                  <a:txBody>
                    <a:bodyPr/>
                    <a:lstStyle/>
                    <a:p>
                      <a:pPr rtl="0" fontAlgn="b"/>
                      <a:r>
                        <a:rPr lang="en-US" sz="400" dirty="0">
                          <a:effectLst/>
                        </a:rPr>
                        <a:t>IV. Responsibility to society</a:t>
                      </a:r>
                    </a:p>
                  </a:txBody>
                  <a:tcPr marL="28575" marR="28575" marT="19050" marB="19050" anchor="b"/>
                </a:tc>
                <a:tc>
                  <a:txBody>
                    <a:bodyPr/>
                    <a:lstStyle/>
                    <a:p>
                      <a:pPr rtl="0" fontAlgn="b">
                        <a:buNone/>
                      </a:pPr>
                      <a:r>
                        <a:rPr lang="en-US" sz="400" dirty="0">
                          <a:effectLst/>
                        </a:rPr>
                        <a:t>Work toward fairness so that all people benefit from psychology’s contributions. Be aware of personal and societal biases that might lead to unjust practices. In research, ensure that no group bears the burden of participation or is excluded from research benefits.</a:t>
                      </a:r>
                    </a:p>
                  </a:txBody>
                  <a:tcPr marL="0" marR="0" marT="19050" marB="19050" anchor="b"/>
                </a:tc>
                <a:extLst>
                  <a:ext uri="{0D108BD9-81ED-4DB2-BD59-A6C34878D82A}">
                    <a16:rowId xmlns:a16="http://schemas.microsoft.com/office/drawing/2014/main" val="2446915749"/>
                  </a:ext>
                </a:extLst>
              </a:tr>
              <a:tr h="474345">
                <a:tc>
                  <a:txBody>
                    <a:bodyPr/>
                    <a:lstStyle/>
                    <a:p>
                      <a:pPr rtl="0" fontAlgn="b"/>
                      <a:endParaRPr lang="en-US" sz="400" dirty="0">
                        <a:effectLst/>
                      </a:endParaRPr>
                    </a:p>
                  </a:txBody>
                  <a:tcPr marL="28575" marR="28575" marT="19050" marB="19050" anchor="b"/>
                </a:tc>
                <a:tc>
                  <a:txBody>
                    <a:bodyPr/>
                    <a:lstStyle/>
                    <a:p>
                      <a:pPr rtl="0" fontAlgn="b"/>
                      <a:r>
                        <a:rPr lang="en-US" sz="400" dirty="0">
                          <a:effectLst/>
                        </a:rPr>
                        <a:t>C. Integrity</a:t>
                      </a:r>
                    </a:p>
                  </a:txBody>
                  <a:tcPr marL="28575" marR="28575" marT="19050" marB="19050" anchor="b"/>
                </a:tc>
                <a:tc>
                  <a:txBody>
                    <a:bodyPr/>
                    <a:lstStyle/>
                    <a:p>
                      <a:pPr rtl="0" fontAlgn="b"/>
                      <a:endParaRPr lang="en-US" sz="400" dirty="0">
                        <a:effectLst/>
                      </a:endParaRPr>
                    </a:p>
                  </a:txBody>
                  <a:tcPr marL="28575" marR="28575" marT="19050" marB="19050" anchor="b"/>
                </a:tc>
                <a:tc>
                  <a:txBody>
                    <a:bodyPr/>
                    <a:lstStyle/>
                    <a:p>
                      <a:pPr rtl="0" fontAlgn="b">
                        <a:buNone/>
                      </a:pPr>
                      <a:r>
                        <a:rPr lang="en-US" sz="400" dirty="0">
                          <a:effectLst/>
                        </a:rPr>
                        <a:t>Strive to be accurate, truthful, and honest in one’s role as researcher, teacher, or practitioner.</a:t>
                      </a:r>
                    </a:p>
                  </a:txBody>
                  <a:tcPr marL="0" marR="0" marT="19050" marB="19050" anchor="b"/>
                </a:tc>
                <a:extLst>
                  <a:ext uri="{0D108BD9-81ED-4DB2-BD59-A6C34878D82A}">
                    <a16:rowId xmlns:a16="http://schemas.microsoft.com/office/drawing/2014/main" val="3163325335"/>
                  </a:ext>
                </a:extLst>
              </a:tr>
              <a:tr h="474345">
                <a:tc gridSpan="4">
                  <a:txBody>
                    <a:bodyPr/>
                    <a:lstStyle/>
                    <a:p>
                      <a:pPr rtl="0" fontAlgn="b">
                        <a:buNone/>
                      </a:pPr>
                      <a:r>
                        <a:rPr lang="en-US" sz="400" dirty="0">
                          <a:effectLst/>
                        </a:rPr>
                        <a:t>Principles that are presented on the same row are similar but not identical. Indeed, there are key differences in definitions and emphasis between the APA and CPA principles.</a:t>
                      </a:r>
                    </a:p>
                  </a:txBody>
                  <a:tcPr marL="0" marR="0" marT="19050" marB="19050" anchor="b"/>
                </a:tc>
                <a:tc hMerge="1">
                  <a:txBody>
                    <a:bodyPr/>
                    <a:lstStyle/>
                    <a:p>
                      <a:pPr rtl="0" fontAlgn="b"/>
                      <a:endParaRPr lang="en-US" dirty="0">
                        <a:effectLst/>
                      </a:endParaRPr>
                    </a:p>
                  </a:txBody>
                  <a:tcPr marL="28575" marR="28575" marT="19050" marB="19050" anchor="b"/>
                </a:tc>
                <a:tc hMerge="1">
                  <a:txBody>
                    <a:bodyPr/>
                    <a:lstStyle/>
                    <a:p>
                      <a:pPr rtl="0" fontAlgn="b"/>
                      <a:endParaRPr lang="en-US" dirty="0">
                        <a:effectLst/>
                      </a:endParaRPr>
                    </a:p>
                  </a:txBody>
                  <a:tcPr marL="28575" marR="28575" marT="19050" marB="19050" anchor="b"/>
                </a:tc>
                <a:tc hMerge="1">
                  <a:txBody>
                    <a:bodyPr/>
                    <a:lstStyle/>
                    <a:p>
                      <a:pPr rtl="0" fontAlgn="b"/>
                      <a:endParaRPr lang="en-US" dirty="0">
                        <a:effectLst/>
                      </a:endParaRPr>
                    </a:p>
                  </a:txBody>
                  <a:tcPr marL="28575" marR="28575" marT="19050" marB="19050" anchor="b"/>
                </a:tc>
                <a:extLst>
                  <a:ext uri="{0D108BD9-81ED-4DB2-BD59-A6C34878D82A}">
                    <a16:rowId xmlns:a16="http://schemas.microsoft.com/office/drawing/2014/main" val="2899759125"/>
                  </a:ext>
                </a:extLst>
              </a:tr>
              <a:tr h="474345">
                <a:tc gridSpan="4">
                  <a:txBody>
                    <a:bodyPr/>
                    <a:lstStyle/>
                    <a:p>
                      <a:pPr rtl="0" fontAlgn="b">
                        <a:buNone/>
                      </a:pPr>
                      <a:r>
                        <a:rPr lang="en-US" sz="400" dirty="0">
                          <a:effectLst/>
                        </a:rPr>
                        <a:t>Note. The APA and CPA principles apply not only to how psychologists conduct research but also to how they teach and conduct clinical practice. The CPA principles are ranked, with Principle I given higher weight when principles conflict.</a:t>
                      </a:r>
                    </a:p>
                  </a:txBody>
                  <a:tcPr marL="0" marR="0" marT="19050" marB="19050" anchor="b"/>
                </a:tc>
                <a:tc hMerge="1">
                  <a:txBody>
                    <a:bodyPr/>
                    <a:lstStyle/>
                    <a:p>
                      <a:pPr rtl="0" fontAlgn="b"/>
                      <a:endParaRPr lang="en-US" dirty="0">
                        <a:effectLst/>
                      </a:endParaRPr>
                    </a:p>
                  </a:txBody>
                  <a:tcPr marL="28575" marR="28575" marT="19050" marB="19050" anchor="b"/>
                </a:tc>
                <a:tc hMerge="1">
                  <a:txBody>
                    <a:bodyPr/>
                    <a:lstStyle/>
                    <a:p>
                      <a:pPr rtl="0" fontAlgn="b"/>
                      <a:endParaRPr lang="en-US" dirty="0">
                        <a:effectLst/>
                      </a:endParaRPr>
                    </a:p>
                  </a:txBody>
                  <a:tcPr marL="28575" marR="28575" marT="19050" marB="19050" anchor="b"/>
                </a:tc>
                <a:tc hMerge="1">
                  <a:txBody>
                    <a:bodyPr/>
                    <a:lstStyle/>
                    <a:p>
                      <a:pPr rtl="0" fontAlgn="b"/>
                      <a:endParaRPr lang="en-US" dirty="0">
                        <a:effectLst/>
                      </a:endParaRPr>
                    </a:p>
                  </a:txBody>
                  <a:tcPr marL="28575" marR="28575" marT="19050" marB="19050" anchor="b"/>
                </a:tc>
                <a:extLst>
                  <a:ext uri="{0D108BD9-81ED-4DB2-BD59-A6C34878D82A}">
                    <a16:rowId xmlns:a16="http://schemas.microsoft.com/office/drawing/2014/main" val="650380594"/>
                  </a:ext>
                </a:extLst>
              </a:tr>
            </a:tbl>
          </a:graphicData>
        </a:graphic>
      </p:graphicFrame>
      <p:pic>
        <p:nvPicPr>
          <p:cNvPr id="6" name="Picture 5" descr="A table titled, Core Ethical Principles Compared to APA’s Five General Principles and CPA’s Four Principles. Detailed table information is available in the accessible content.">
            <a:extLst>
              <a:ext uri="{FF2B5EF4-FFF2-40B4-BE49-F238E27FC236}">
                <a16:creationId xmlns:a16="http://schemas.microsoft.com/office/drawing/2014/main" id="{D064765D-BDEE-CF20-72AF-9B66990452E7}"/>
              </a:ext>
            </a:extLst>
          </p:cNvPr>
          <p:cNvPicPr>
            <a:picLocks noChangeAspect="1"/>
          </p:cNvPicPr>
          <p:nvPr/>
        </p:nvPicPr>
        <p:blipFill>
          <a:blip r:embed="rId3"/>
          <a:stretch>
            <a:fillRect/>
          </a:stretch>
        </p:blipFill>
        <p:spPr>
          <a:xfrm>
            <a:off x="2550987" y="1371257"/>
            <a:ext cx="7084543" cy="5310564"/>
          </a:xfrm>
          <a:prstGeom prst="rect">
            <a:avLst/>
          </a:prstGeom>
        </p:spPr>
      </p:pic>
    </p:spTree>
    <p:extLst>
      <p:ext uri="{BB962C8B-B14F-4D97-AF65-F5344CB8AC3E}">
        <p14:creationId xmlns:p14="http://schemas.microsoft.com/office/powerpoint/2010/main" val="664003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214502-DB3D-3944-A435-D86EB02849CE}"/>
              </a:ext>
            </a:extLst>
          </p:cNvPr>
          <p:cNvSpPr>
            <a:spLocks noGrp="1"/>
          </p:cNvSpPr>
          <p:nvPr>
            <p:ph type="body" sz="quarter" idx="108"/>
          </p:nvPr>
        </p:nvSpPr>
        <p:spPr/>
        <p:txBody>
          <a:bodyPr vert="horz" lIns="91440" tIns="45720" rIns="91440" bIns="45720" rtlCol="0">
            <a:normAutofit/>
          </a:bodyPr>
          <a:lstStyle/>
          <a:p>
            <a:pPr marL="342900" indent="-342900">
              <a:lnSpc>
                <a:spcPct val="100000"/>
              </a:lnSpc>
              <a:spcBef>
                <a:spcPts val="1200"/>
              </a:spcBef>
              <a:buFont typeface="Arial" charset="0"/>
              <a:buChar char="•"/>
            </a:pPr>
            <a:r>
              <a:rPr lang="en-US" dirty="0"/>
              <a:t>Ethical standards for research common to the APA and CPA</a:t>
            </a:r>
          </a:p>
          <a:p>
            <a:pPr marL="1028700" lvl="1" indent="-457200">
              <a:lnSpc>
                <a:spcPct val="100000"/>
              </a:lnSpc>
              <a:spcBef>
                <a:spcPts val="1000"/>
              </a:spcBef>
              <a:buFont typeface="Courier New" panose="02070309020205020404" pitchFamily="49" charset="0"/>
              <a:buChar char="o"/>
            </a:pPr>
            <a:r>
              <a:rPr lang="en-US" dirty="0"/>
              <a:t>Ethics training</a:t>
            </a:r>
          </a:p>
          <a:p>
            <a:pPr marL="1028700" lvl="1" indent="-457200">
              <a:lnSpc>
                <a:spcPct val="100000"/>
              </a:lnSpc>
              <a:spcBef>
                <a:spcPts val="1000"/>
              </a:spcBef>
              <a:buFont typeface="Courier New" panose="02070309020205020404" pitchFamily="49" charset="0"/>
              <a:buChar char="o"/>
            </a:pPr>
            <a:r>
              <a:rPr lang="en-US" dirty="0"/>
              <a:t>Institutional review boards, research ethics boards</a:t>
            </a:r>
          </a:p>
          <a:p>
            <a:pPr marL="1028700" lvl="1" indent="-457200">
              <a:lnSpc>
                <a:spcPct val="100000"/>
              </a:lnSpc>
              <a:spcBef>
                <a:spcPts val="1000"/>
              </a:spcBef>
              <a:buFont typeface="Courier New" panose="02070309020205020404" pitchFamily="49" charset="0"/>
              <a:buChar char="o"/>
            </a:pPr>
            <a:r>
              <a:rPr lang="en-US" dirty="0"/>
              <a:t>Informed consent </a:t>
            </a:r>
          </a:p>
          <a:p>
            <a:pPr marL="1028700" lvl="1" indent="-457200">
              <a:lnSpc>
                <a:spcPct val="100000"/>
              </a:lnSpc>
              <a:spcBef>
                <a:spcPts val="1000"/>
              </a:spcBef>
              <a:buFont typeface="Courier New" panose="02070309020205020404" pitchFamily="49" charset="0"/>
              <a:buChar char="o"/>
            </a:pPr>
            <a:r>
              <a:rPr lang="en-US" dirty="0"/>
              <a:t>Deception </a:t>
            </a:r>
          </a:p>
          <a:p>
            <a:pPr marL="1028700" lvl="1" indent="-457200">
              <a:lnSpc>
                <a:spcPct val="100000"/>
              </a:lnSpc>
              <a:spcBef>
                <a:spcPts val="1000"/>
              </a:spcBef>
              <a:buFont typeface="Courier New" panose="02070309020205020404" pitchFamily="49" charset="0"/>
              <a:buChar char="o"/>
            </a:pPr>
            <a:r>
              <a:rPr lang="en-US" dirty="0"/>
              <a:t>Debriefing </a:t>
            </a:r>
          </a:p>
          <a:p>
            <a:pPr marL="1028700" lvl="1" indent="-457200">
              <a:lnSpc>
                <a:spcPct val="100000"/>
              </a:lnSpc>
              <a:spcBef>
                <a:spcPts val="1000"/>
              </a:spcBef>
              <a:buFont typeface="Courier New" panose="02070309020205020404" pitchFamily="49" charset="0"/>
              <a:buChar char="o"/>
            </a:pPr>
            <a:r>
              <a:rPr lang="en-US" dirty="0"/>
              <a:t>Research misconduct</a:t>
            </a:r>
          </a:p>
          <a:p>
            <a:pPr marL="1487170" lvl="2" indent="-457200">
              <a:lnSpc>
                <a:spcPct val="100000"/>
              </a:lnSpc>
              <a:spcBef>
                <a:spcPts val="1000"/>
              </a:spcBef>
              <a:buFont typeface="Arial" panose="020B0604020202020204" pitchFamily="34" charset="0"/>
              <a:buChar char="•"/>
            </a:pPr>
            <a:r>
              <a:rPr lang="en-US" sz="1800" dirty="0"/>
              <a:t>Data fabrication and data falsification</a:t>
            </a:r>
          </a:p>
          <a:p>
            <a:pPr marL="1487170" lvl="2" indent="-457200">
              <a:lnSpc>
                <a:spcPct val="100000"/>
              </a:lnSpc>
              <a:spcBef>
                <a:spcPts val="1000"/>
              </a:spcBef>
              <a:buFont typeface="Arial" panose="020B0604020202020204" pitchFamily="34" charset="0"/>
              <a:buChar char="•"/>
            </a:pPr>
            <a:r>
              <a:rPr lang="en-US" sz="1800" dirty="0"/>
              <a:t>Ethics of openness and transparency</a:t>
            </a:r>
          </a:p>
          <a:p>
            <a:pPr marL="1487170" lvl="2" indent="-457200">
              <a:lnSpc>
                <a:spcPct val="100000"/>
              </a:lnSpc>
              <a:spcBef>
                <a:spcPts val="1000"/>
              </a:spcBef>
              <a:buFont typeface="Arial" panose="020B0604020202020204" pitchFamily="34" charset="0"/>
              <a:buChar char="•"/>
            </a:pPr>
            <a:r>
              <a:rPr lang="en-US" sz="1800" dirty="0"/>
              <a:t>Plagiarism, including self-plagiarism</a:t>
            </a:r>
          </a:p>
        </p:txBody>
      </p:sp>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a:xfrm>
            <a:off x="156754" y="383177"/>
            <a:ext cx="11512732" cy="783773"/>
          </a:xfrm>
        </p:spPr>
        <p:txBody>
          <a:bodyPr anchor="t">
            <a:noAutofit/>
          </a:bodyPr>
          <a:lstStyle/>
          <a:p>
            <a:r>
              <a:rPr lang="en-US" sz="3200" dirty="0"/>
              <a:t>Ethical Practices for Psychologists: APA and CPA Ethics Codes</a:t>
            </a:r>
          </a:p>
        </p:txBody>
      </p:sp>
    </p:spTree>
    <p:extLst>
      <p:ext uri="{BB962C8B-B14F-4D97-AF65-F5344CB8AC3E}">
        <p14:creationId xmlns:p14="http://schemas.microsoft.com/office/powerpoint/2010/main" val="2872364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50B3E-4B5A-2F4E-3D9C-F2EA8B8D3E22}"/>
            </a:ext>
          </a:extLst>
        </p:cNvPr>
        <p:cNvGrpSpPr/>
        <p:nvPr/>
      </p:nvGrpSpPr>
      <p:grpSpPr>
        <a:xfrm>
          <a:off x="0" y="0"/>
          <a:ext cx="0" cy="0"/>
          <a:chOff x="0" y="0"/>
          <a:chExt cx="0" cy="0"/>
        </a:xfrm>
      </p:grpSpPr>
      <p:pic>
        <p:nvPicPr>
          <p:cNvPr id="5" name="Picture 4" descr="A cat and golden retriever laying down">
            <a:extLst>
              <a:ext uri="{FF2B5EF4-FFF2-40B4-BE49-F238E27FC236}">
                <a16:creationId xmlns:a16="http://schemas.microsoft.com/office/drawing/2014/main" id="{46F5EF15-0A98-77EA-B404-B45C6CBA16AD}"/>
              </a:ext>
            </a:extLst>
          </p:cNvPr>
          <p:cNvPicPr>
            <a:picLocks noChangeAspect="1"/>
          </p:cNvPicPr>
          <p:nvPr/>
        </p:nvPicPr>
        <p:blipFill>
          <a:blip r:embed="rId3"/>
          <a:srcRect l="19804" r="8602" b="-1"/>
          <a:stretch>
            <a:fillRect/>
          </a:stretch>
        </p:blipFill>
        <p:spPr>
          <a:xfrm>
            <a:off x="6679474" y="2011691"/>
            <a:ext cx="5033328" cy="4692830"/>
          </a:xfrm>
          <a:prstGeom prst="rect">
            <a:avLst/>
          </a:prstGeom>
          <a:noFill/>
        </p:spPr>
      </p:pic>
      <p:sp>
        <p:nvSpPr>
          <p:cNvPr id="2" name="Title 1">
            <a:extLst>
              <a:ext uri="{FF2B5EF4-FFF2-40B4-BE49-F238E27FC236}">
                <a16:creationId xmlns:a16="http://schemas.microsoft.com/office/drawing/2014/main" id="{8295DC78-8F25-7C9B-3CE5-56AF436CB2B2}"/>
              </a:ext>
            </a:extLst>
          </p:cNvPr>
          <p:cNvSpPr>
            <a:spLocks noGrp="1"/>
          </p:cNvSpPr>
          <p:nvPr>
            <p:ph type="title"/>
          </p:nvPr>
        </p:nvSpPr>
        <p:spPr>
          <a:xfrm>
            <a:off x="914078" y="759150"/>
            <a:ext cx="5295134" cy="747433"/>
          </a:xfrm>
        </p:spPr>
        <p:txBody>
          <a:bodyPr anchor="b">
            <a:normAutofit/>
          </a:bodyPr>
          <a:lstStyle/>
          <a:p>
            <a:pPr>
              <a:lnSpc>
                <a:spcPct val="90000"/>
              </a:lnSpc>
            </a:pPr>
            <a:r>
              <a:rPr lang="en-US" sz="2000" dirty="0"/>
              <a:t>Ethical Practices for Psychologists: APA and CPA Ethics Codes</a:t>
            </a:r>
          </a:p>
        </p:txBody>
      </p:sp>
      <p:sp>
        <p:nvSpPr>
          <p:cNvPr id="3" name="Content Placeholder 2">
            <a:extLst>
              <a:ext uri="{FF2B5EF4-FFF2-40B4-BE49-F238E27FC236}">
                <a16:creationId xmlns:a16="http://schemas.microsoft.com/office/drawing/2014/main" id="{5E633564-0210-C063-189C-EA6F3DB72538}"/>
              </a:ext>
            </a:extLst>
          </p:cNvPr>
          <p:cNvSpPr>
            <a:spLocks noGrp="1"/>
          </p:cNvSpPr>
          <p:nvPr>
            <p:ph sz="quarter" idx="10"/>
          </p:nvPr>
        </p:nvSpPr>
        <p:spPr>
          <a:xfrm>
            <a:off x="2011679" y="3054259"/>
            <a:ext cx="2603864" cy="603342"/>
          </a:xfrm>
        </p:spPr>
        <p:txBody>
          <a:bodyPr>
            <a:normAutofit/>
          </a:bodyPr>
          <a:lstStyle/>
          <a:p>
            <a:pPr marL="114300">
              <a:spcBef>
                <a:spcPts val="1000"/>
              </a:spcBef>
            </a:pPr>
            <a:r>
              <a:rPr lang="en-US" sz="2600" dirty="0"/>
              <a:t>Animal research</a:t>
            </a:r>
          </a:p>
        </p:txBody>
      </p:sp>
    </p:spTree>
    <p:extLst>
      <p:ext uri="{BB962C8B-B14F-4D97-AF65-F5344CB8AC3E}">
        <p14:creationId xmlns:p14="http://schemas.microsoft.com/office/powerpoint/2010/main" val="3160576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ACD47C-D23A-2033-72CA-9EE8162C2C3F}"/>
              </a:ext>
            </a:extLst>
          </p:cNvPr>
          <p:cNvSpPr>
            <a:spLocks noGrp="1"/>
          </p:cNvSpPr>
          <p:nvPr>
            <p:ph type="body" sz="quarter" idx="108"/>
          </p:nvPr>
        </p:nvSpPr>
        <p:spPr/>
        <p:txBody>
          <a:bodyPr/>
          <a:lstStyle/>
          <a:p>
            <a:r>
              <a:rPr lang="en-US" dirty="0"/>
              <a:t>Purpose of animal research</a:t>
            </a:r>
          </a:p>
          <a:p>
            <a:pPr lvl="1"/>
            <a:r>
              <a:rPr lang="en-US" dirty="0"/>
              <a:t>Test hypotheses unethical to study in humans</a:t>
            </a:r>
          </a:p>
          <a:p>
            <a:r>
              <a:rPr lang="en-US" dirty="0"/>
              <a:t>Ethical considerations</a:t>
            </a:r>
          </a:p>
          <a:p>
            <a:pPr lvl="1"/>
            <a:r>
              <a:rPr lang="en-US" dirty="0"/>
              <a:t>Balance human benefits with animal welfare</a:t>
            </a:r>
          </a:p>
          <a:p>
            <a:pPr lvl="1"/>
            <a:r>
              <a:rPr lang="en-US" dirty="0"/>
              <a:t>Prevent unnecessary suffering</a:t>
            </a:r>
          </a:p>
          <a:p>
            <a:endParaRPr lang="en-US" dirty="0"/>
          </a:p>
        </p:txBody>
      </p:sp>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nchor="b">
            <a:normAutofit/>
          </a:bodyPr>
          <a:lstStyle/>
          <a:p>
            <a:r>
              <a:rPr lang="en-US" sz="2800" dirty="0"/>
              <a:t>Animal Research Practices</a:t>
            </a:r>
          </a:p>
        </p:txBody>
      </p:sp>
    </p:spTree>
    <p:extLst>
      <p:ext uri="{BB962C8B-B14F-4D97-AF65-F5344CB8AC3E}">
        <p14:creationId xmlns:p14="http://schemas.microsoft.com/office/powerpoint/2010/main" val="3187705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F45E1-3B55-5993-E03A-F7D015628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B834F-55EA-63C8-AF6F-EE6AD1118805}"/>
              </a:ext>
            </a:extLst>
          </p:cNvPr>
          <p:cNvSpPr>
            <a:spLocks noGrp="1"/>
          </p:cNvSpPr>
          <p:nvPr>
            <p:ph type="title"/>
          </p:nvPr>
        </p:nvSpPr>
        <p:spPr/>
        <p:txBody>
          <a:bodyPr anchor="t">
            <a:normAutofit/>
          </a:bodyPr>
          <a:lstStyle/>
          <a:p>
            <a:r>
              <a:rPr lang="en-US"/>
              <a:t>Examples of Animal Research</a:t>
            </a:r>
          </a:p>
        </p:txBody>
      </p:sp>
      <p:graphicFrame>
        <p:nvGraphicFramePr>
          <p:cNvPr id="5" name="Content Placeholder 2">
            <a:extLst>
              <a:ext uri="{FF2B5EF4-FFF2-40B4-BE49-F238E27FC236}">
                <a16:creationId xmlns:a16="http://schemas.microsoft.com/office/drawing/2014/main" id="{0A4A0C8E-BDF5-E3BA-DA4B-68FAB5CEBB72}"/>
              </a:ext>
            </a:extLst>
          </p:cNvPr>
          <p:cNvGraphicFramePr>
            <a:graphicFrameLocks noGrp="1"/>
          </p:cNvGraphicFramePr>
          <p:nvPr>
            <p:ph idx="4294967295"/>
            <p:extLst>
              <p:ext uri="{D42A27DB-BD31-4B8C-83A1-F6EECF244321}">
                <p14:modId xmlns:p14="http://schemas.microsoft.com/office/powerpoint/2010/main" val="3692469249"/>
              </p:ext>
            </p:extLst>
          </p:nvPr>
        </p:nvGraphicFramePr>
        <p:xfrm>
          <a:off x="2012950" y="2286000"/>
          <a:ext cx="8367667" cy="26865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707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CD0A-F551-D186-9BDD-8888792859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12BA1D-1A0C-3038-1D2B-FC4B15E6F2A6}"/>
              </a:ext>
            </a:extLst>
          </p:cNvPr>
          <p:cNvSpPr>
            <a:spLocks noGrp="1"/>
          </p:cNvSpPr>
          <p:nvPr>
            <p:ph type="body" sz="quarter" idx="108"/>
          </p:nvPr>
        </p:nvSpPr>
        <p:spPr/>
        <p:txBody>
          <a:bodyPr vert="horz" lIns="91440" tIns="45720" rIns="91440" bIns="45720" rtlCol="0">
            <a:normAutofit/>
          </a:bodyPr>
          <a:lstStyle/>
          <a:p>
            <a:pPr marL="342900" indent="-342900">
              <a:lnSpc>
                <a:spcPct val="100000"/>
              </a:lnSpc>
              <a:spcBef>
                <a:spcPts val="1200"/>
              </a:spcBef>
              <a:buFont typeface="Arial" charset="0"/>
              <a:buChar char="•"/>
            </a:pPr>
            <a:r>
              <a:rPr lang="en-US" sz="2400" dirty="0"/>
              <a:t>In the United States, the Animal Welfare Act (AWA, 1966) outlines standards for the ethical treatment of animals in research, although it excludes commonly studied species like mice, rats, and birds. </a:t>
            </a:r>
          </a:p>
          <a:p>
            <a:pPr marL="342900" indent="-342900">
              <a:lnSpc>
                <a:spcPct val="100000"/>
              </a:lnSpc>
              <a:spcBef>
                <a:spcPts val="1200"/>
              </a:spcBef>
              <a:buFont typeface="Arial" charset="0"/>
              <a:buChar char="•"/>
            </a:pPr>
            <a:r>
              <a:rPr lang="en-US" sz="2400" dirty="0"/>
              <a:t>Researchers must also comply with local and institutional requirements. Every research institution must have an Institutional Animal Care and Use Committee (IACUC) in the United States or an Animal Care Committee (ACC) in Canada.</a:t>
            </a:r>
          </a:p>
          <a:p>
            <a:pPr marL="342900" indent="-342900">
              <a:lnSpc>
                <a:spcPct val="100000"/>
              </a:lnSpc>
              <a:spcBef>
                <a:spcPts val="1200"/>
              </a:spcBef>
              <a:buFont typeface="Arial" charset="0"/>
              <a:buChar char="•"/>
            </a:pPr>
            <a:r>
              <a:rPr lang="en-US" sz="2400" dirty="0"/>
              <a:t> These committees, composed of veterinarians, scientists, community members, and students, approve research protocols before projects begin, ensuring animal welfare and scientific justification. They monitor compliance throughout the research process and have the authority to halt experiments or withdraw funding for violations. </a:t>
            </a:r>
          </a:p>
        </p:txBody>
      </p:sp>
      <p:sp>
        <p:nvSpPr>
          <p:cNvPr id="2" name="Title 1">
            <a:extLst>
              <a:ext uri="{FF2B5EF4-FFF2-40B4-BE49-F238E27FC236}">
                <a16:creationId xmlns:a16="http://schemas.microsoft.com/office/drawing/2014/main" id="{4A4BF0A8-3DFF-58B6-62DE-0D313A009B47}"/>
              </a:ext>
            </a:extLst>
          </p:cNvPr>
          <p:cNvSpPr>
            <a:spLocks noGrp="1"/>
          </p:cNvSpPr>
          <p:nvPr>
            <p:ph type="title"/>
          </p:nvPr>
        </p:nvSpPr>
        <p:spPr/>
        <p:txBody>
          <a:bodyPr anchor="t">
            <a:normAutofit/>
          </a:bodyPr>
          <a:lstStyle/>
          <a:p>
            <a:r>
              <a:rPr lang="en-US"/>
              <a:t>Legal, Institutional, and Moral Frameworks</a:t>
            </a:r>
          </a:p>
        </p:txBody>
      </p:sp>
    </p:spTree>
    <p:extLst>
      <p:ext uri="{BB962C8B-B14F-4D97-AF65-F5344CB8AC3E}">
        <p14:creationId xmlns:p14="http://schemas.microsoft.com/office/powerpoint/2010/main" val="108600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2151-B106-E7BD-4D53-E038AF3B7E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790799-8C00-511F-87A8-E217165F8E03}"/>
              </a:ext>
            </a:extLst>
          </p:cNvPr>
          <p:cNvSpPr>
            <a:spLocks noGrp="1"/>
          </p:cNvSpPr>
          <p:nvPr>
            <p:ph type="body" sz="quarter" idx="108"/>
          </p:nvPr>
        </p:nvSpPr>
        <p:spPr/>
        <p:txBody>
          <a:bodyPr vert="horz" lIns="91440" tIns="45720" rIns="91440" bIns="45720" rtlCol="0">
            <a:normAutofit/>
          </a:bodyPr>
          <a:lstStyle/>
          <a:p>
            <a:pPr>
              <a:spcBef>
                <a:spcPts val="1200"/>
              </a:spcBef>
              <a:buFont typeface="Arial" charset="0"/>
              <a:buChar char="•"/>
            </a:pPr>
            <a:r>
              <a:rPr lang="en-US" sz="2400" dirty="0"/>
              <a:t>Animal care guidelines and the three R’s (</a:t>
            </a:r>
            <a:r>
              <a:rPr lang="en-IN" dirty="0">
                <a:solidFill>
                  <a:srgbClr val="000000"/>
                </a:solidFill>
              </a:rPr>
              <a:t>outlined by Russell and Burch (1959)):</a:t>
            </a:r>
            <a:endParaRPr lang="en-US" sz="2400" dirty="0"/>
          </a:p>
          <a:p>
            <a:pPr marL="801370" lvl="2" indent="-342900">
              <a:lnSpc>
                <a:spcPct val="100000"/>
              </a:lnSpc>
              <a:spcBef>
                <a:spcPts val="1200"/>
              </a:spcBef>
              <a:buFont typeface="Courier New" panose="02070309020205020404" pitchFamily="49" charset="0"/>
              <a:buChar char="o"/>
            </a:pPr>
            <a:r>
              <a:rPr lang="en-US" sz="2400" dirty="0"/>
              <a:t>Replacement</a:t>
            </a:r>
          </a:p>
          <a:p>
            <a:pPr marL="801370" lvl="2" indent="-342900">
              <a:lnSpc>
                <a:spcPct val="100000"/>
              </a:lnSpc>
              <a:spcBef>
                <a:spcPts val="1200"/>
              </a:spcBef>
              <a:buFont typeface="Courier New" panose="02070309020205020404" pitchFamily="49" charset="0"/>
              <a:buChar char="o"/>
            </a:pPr>
            <a:r>
              <a:rPr lang="en-US" sz="2400" dirty="0"/>
              <a:t>Refinement</a:t>
            </a:r>
          </a:p>
          <a:p>
            <a:pPr marL="801370" lvl="2" indent="-342900">
              <a:lnSpc>
                <a:spcPct val="100000"/>
              </a:lnSpc>
              <a:spcBef>
                <a:spcPts val="1200"/>
              </a:spcBef>
              <a:buFont typeface="Courier New" panose="02070309020205020404" pitchFamily="49" charset="0"/>
              <a:buChar char="o"/>
            </a:pPr>
            <a:r>
              <a:rPr lang="en-US" sz="2400" dirty="0"/>
              <a:t>Reduction</a:t>
            </a:r>
          </a:p>
        </p:txBody>
      </p:sp>
      <p:sp>
        <p:nvSpPr>
          <p:cNvPr id="2" name="Title 1">
            <a:extLst>
              <a:ext uri="{FF2B5EF4-FFF2-40B4-BE49-F238E27FC236}">
                <a16:creationId xmlns:a16="http://schemas.microsoft.com/office/drawing/2014/main" id="{C43E52BB-FC25-F8D1-F8F1-C9C1B7920A26}"/>
              </a:ext>
            </a:extLst>
          </p:cNvPr>
          <p:cNvSpPr>
            <a:spLocks noGrp="1"/>
          </p:cNvSpPr>
          <p:nvPr>
            <p:ph type="title"/>
          </p:nvPr>
        </p:nvSpPr>
        <p:spPr/>
        <p:txBody>
          <a:bodyPr anchor="t">
            <a:normAutofit/>
          </a:bodyPr>
          <a:lstStyle/>
          <a:p>
            <a:r>
              <a:rPr lang="en-US"/>
              <a:t>Legal, Institutional, and Moral Frameworks</a:t>
            </a:r>
          </a:p>
        </p:txBody>
      </p:sp>
    </p:spTree>
    <p:extLst>
      <p:ext uri="{BB962C8B-B14F-4D97-AF65-F5344CB8AC3E}">
        <p14:creationId xmlns:p14="http://schemas.microsoft.com/office/powerpoint/2010/main" val="756262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1D390-2D34-FEEF-5D9F-878BBE9C9B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1ED8EC-C46E-C2DA-FE69-F28B0225419C}"/>
              </a:ext>
            </a:extLst>
          </p:cNvPr>
          <p:cNvSpPr>
            <a:spLocks noGrp="1"/>
          </p:cNvSpPr>
          <p:nvPr>
            <p:ph type="body" sz="quarter" idx="108"/>
          </p:nvPr>
        </p:nvSpPr>
        <p:spPr/>
        <p:txBody>
          <a:bodyPr vert="horz" lIns="91440" tIns="45720" rIns="91440" bIns="45720" rtlCol="0">
            <a:normAutofit/>
          </a:bodyPr>
          <a:lstStyle/>
          <a:p>
            <a:pPr marL="342900" indent="-342900">
              <a:lnSpc>
                <a:spcPct val="100000"/>
              </a:lnSpc>
              <a:spcBef>
                <a:spcPts val="1200"/>
              </a:spcBef>
              <a:buFont typeface="Arial" charset="0"/>
              <a:buChar char="•"/>
            </a:pPr>
            <a:r>
              <a:rPr lang="en-US" sz="2400" dirty="0"/>
              <a:t>Many animals, as demonstrated by the Cambridge Declaration of Consciousness (2012), are sentient and capable of experiencing pain, emotion, and consciousness. </a:t>
            </a:r>
          </a:p>
          <a:p>
            <a:pPr marL="342900" indent="-342900">
              <a:lnSpc>
                <a:spcPct val="100000"/>
              </a:lnSpc>
              <a:spcBef>
                <a:spcPts val="1200"/>
              </a:spcBef>
              <a:buFont typeface="Arial" charset="0"/>
              <a:buChar char="•"/>
            </a:pPr>
            <a:r>
              <a:rPr lang="en-US" sz="2400" dirty="0"/>
              <a:t>Modern frameworks, such as those proposed by DeGrazia and Beauchamp (2019), emphasize two core values:</a:t>
            </a:r>
          </a:p>
          <a:p>
            <a:pPr lvl="1" indent="-342900">
              <a:spcBef>
                <a:spcPts val="1200"/>
              </a:spcBef>
              <a:buFont typeface="Arial" charset="0"/>
              <a:buChar char="•"/>
            </a:pPr>
            <a:r>
              <a:rPr lang="en-US" sz="2400" dirty="0"/>
              <a:t>Social benefit </a:t>
            </a:r>
          </a:p>
          <a:p>
            <a:pPr lvl="1" indent="-342900">
              <a:spcBef>
                <a:spcPts val="1200"/>
              </a:spcBef>
              <a:buFont typeface="Arial" charset="0"/>
              <a:buChar char="•"/>
            </a:pPr>
            <a:r>
              <a:rPr lang="en-US" sz="2400" dirty="0"/>
              <a:t>Animal welfare</a:t>
            </a:r>
          </a:p>
        </p:txBody>
      </p:sp>
      <p:sp>
        <p:nvSpPr>
          <p:cNvPr id="2" name="Title 1">
            <a:extLst>
              <a:ext uri="{FF2B5EF4-FFF2-40B4-BE49-F238E27FC236}">
                <a16:creationId xmlns:a16="http://schemas.microsoft.com/office/drawing/2014/main" id="{35AB104D-DF33-ACD6-A532-1A2DB17AB819}"/>
              </a:ext>
            </a:extLst>
          </p:cNvPr>
          <p:cNvSpPr>
            <a:spLocks noGrp="1"/>
          </p:cNvSpPr>
          <p:nvPr>
            <p:ph type="title"/>
          </p:nvPr>
        </p:nvSpPr>
        <p:spPr/>
        <p:txBody>
          <a:bodyPr anchor="t">
            <a:normAutofit/>
          </a:bodyPr>
          <a:lstStyle/>
          <a:p>
            <a:r>
              <a:rPr lang="en-US"/>
              <a:t>Legal, Institutional, and Moral Frameworks</a:t>
            </a:r>
          </a:p>
        </p:txBody>
      </p:sp>
    </p:spTree>
    <p:extLst>
      <p:ext uri="{BB962C8B-B14F-4D97-AF65-F5344CB8AC3E}">
        <p14:creationId xmlns:p14="http://schemas.microsoft.com/office/powerpoint/2010/main" val="2172345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D4BEE-E5EE-F210-F5EA-8C6BCE120AE0}"/>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C0BED9B-4E83-C6CB-D1C6-D25AA046334A}"/>
              </a:ext>
            </a:extLst>
          </p:cNvPr>
          <p:cNvSpPr>
            <a:spLocks noGrp="1"/>
          </p:cNvSpPr>
          <p:nvPr>
            <p:ph type="body" sz="quarter" idx="108"/>
          </p:nvPr>
        </p:nvSpPr>
        <p:spPr/>
        <p:txBody>
          <a:bodyPr>
            <a:normAutofit/>
          </a:bodyPr>
          <a:lstStyle/>
          <a:p>
            <a:pPr marL="342900" indent="-342900">
              <a:spcBef>
                <a:spcPts val="1200"/>
              </a:spcBef>
              <a:buFont typeface="Arial" charset="0"/>
              <a:buChar char="•"/>
            </a:pPr>
            <a:r>
              <a:rPr lang="en-US" dirty="0"/>
              <a:t>Ethical decision making requires a balance of priorities.</a:t>
            </a:r>
            <a:endParaRPr lang="en-US"/>
          </a:p>
          <a:p>
            <a:pPr marL="342900" indent="-342900">
              <a:spcBef>
                <a:spcPts val="1200"/>
              </a:spcBef>
              <a:buFont typeface="Arial" charset="0"/>
              <a:buChar char="•"/>
            </a:pPr>
            <a:r>
              <a:rPr lang="en-US" dirty="0"/>
              <a:t>We need to weigh the potential harm to human or animal participants against what the knowledge gained from the research will contribute to society.</a:t>
            </a:r>
            <a:endParaRPr lang="en-US"/>
          </a:p>
        </p:txBody>
      </p:sp>
      <p:sp>
        <p:nvSpPr>
          <p:cNvPr id="2" name="Title 1">
            <a:extLst>
              <a:ext uri="{FF2B5EF4-FFF2-40B4-BE49-F238E27FC236}">
                <a16:creationId xmlns:a16="http://schemas.microsoft.com/office/drawing/2014/main" id="{1D8ECBFC-3323-6976-9CF7-3145646DDDE3}"/>
              </a:ext>
            </a:extLst>
          </p:cNvPr>
          <p:cNvSpPr>
            <a:spLocks noGrp="1"/>
          </p:cNvSpPr>
          <p:nvPr>
            <p:ph type="title"/>
          </p:nvPr>
        </p:nvSpPr>
        <p:spPr/>
        <p:txBody>
          <a:bodyPr anchor="t">
            <a:normAutofit/>
          </a:bodyPr>
          <a:lstStyle/>
          <a:p>
            <a:r>
              <a:rPr lang="en-US" dirty="0"/>
              <a:t>Ethical Decision Making: A Thoughtful Balance</a:t>
            </a:r>
          </a:p>
        </p:txBody>
      </p:sp>
    </p:spTree>
    <p:extLst>
      <p:ext uri="{BB962C8B-B14F-4D97-AF65-F5344CB8AC3E}">
        <p14:creationId xmlns:p14="http://schemas.microsoft.com/office/powerpoint/2010/main" val="463902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4DF5F1-7A8B-8D25-BB4A-8EE9DCD2C1F5}"/>
              </a:ext>
            </a:extLst>
          </p:cNvPr>
          <p:cNvSpPr>
            <a:spLocks noGrp="1"/>
          </p:cNvSpPr>
          <p:nvPr>
            <p:ph type="body" sz="quarter" idx="106"/>
          </p:nvPr>
        </p:nvSpPr>
        <p:spPr/>
        <p:txBody>
          <a:bodyPr/>
          <a:lstStyle/>
          <a:p>
            <a:pPr marL="0" indent="0">
              <a:buNone/>
            </a:pPr>
            <a:r>
              <a:rPr lang="en-US" b="1" dirty="0"/>
              <a:t>Before Next Class(es):</a:t>
            </a:r>
            <a:endParaRPr lang="en-US" dirty="0"/>
          </a:p>
          <a:p>
            <a:pPr lvl="0"/>
            <a:r>
              <a:rPr lang="en-US" dirty="0"/>
              <a:t>Read Chapter 4 and complete </a:t>
            </a:r>
            <a:r>
              <a:rPr lang="en-US" dirty="0" err="1"/>
              <a:t>Ebook</a:t>
            </a:r>
            <a:r>
              <a:rPr lang="en-US" dirty="0"/>
              <a:t>: Chapter 4 assignment</a:t>
            </a:r>
          </a:p>
          <a:p>
            <a:pPr lvl="1"/>
            <a:r>
              <a:rPr lang="en-US" dirty="0"/>
              <a:t>Due 9/18 at 11:59 pm</a:t>
            </a:r>
          </a:p>
          <a:p>
            <a:pPr lvl="0"/>
            <a:r>
              <a:rPr lang="en-US" dirty="0"/>
              <a:t>Complete InQuizitive: Chapter 4</a:t>
            </a:r>
          </a:p>
          <a:p>
            <a:pPr lvl="1"/>
            <a:r>
              <a:rPr lang="en-US" dirty="0"/>
              <a:t>Due 9/18 at 11:59 pm</a:t>
            </a:r>
          </a:p>
          <a:p>
            <a:endParaRPr lang="en-US" dirty="0"/>
          </a:p>
        </p:txBody>
      </p:sp>
      <p:sp>
        <p:nvSpPr>
          <p:cNvPr id="2" name="Text Placeholder 1">
            <a:extLst>
              <a:ext uri="{FF2B5EF4-FFF2-40B4-BE49-F238E27FC236}">
                <a16:creationId xmlns:a16="http://schemas.microsoft.com/office/drawing/2014/main" id="{67515C91-71C4-54B6-24D6-BA9D0AF77DB8}"/>
              </a:ext>
            </a:extLst>
          </p:cNvPr>
          <p:cNvSpPr>
            <a:spLocks noGrp="1"/>
          </p:cNvSpPr>
          <p:nvPr>
            <p:ph type="body" sz="quarter" idx="107"/>
          </p:nvPr>
        </p:nvSpPr>
        <p:spPr/>
        <p:txBody>
          <a:bodyPr/>
          <a:lstStyle/>
          <a:p>
            <a:pPr marL="0" indent="0">
              <a:buNone/>
            </a:pPr>
            <a:r>
              <a:rPr lang="en-US" b="1" dirty="0"/>
              <a:t>Next Class:</a:t>
            </a:r>
            <a:endParaRPr lang="en-US" dirty="0"/>
          </a:p>
          <a:p>
            <a:r>
              <a:rPr lang="en-US" dirty="0"/>
              <a:t>Exam 1 Review</a:t>
            </a:r>
          </a:p>
        </p:txBody>
      </p:sp>
      <p:sp>
        <p:nvSpPr>
          <p:cNvPr id="5" name="Title 4">
            <a:extLst>
              <a:ext uri="{FF2B5EF4-FFF2-40B4-BE49-F238E27FC236}">
                <a16:creationId xmlns:a16="http://schemas.microsoft.com/office/drawing/2014/main" id="{7102B905-D5A8-B4AA-6358-45B56454E729}"/>
              </a:ext>
            </a:extLst>
          </p:cNvPr>
          <p:cNvSpPr>
            <a:spLocks noGrp="1"/>
          </p:cNvSpPr>
          <p:nvPr>
            <p:ph type="title"/>
          </p:nvPr>
        </p:nvSpPr>
        <p:spPr/>
        <p:txBody>
          <a:bodyPr/>
          <a:lstStyle/>
          <a:p>
            <a:r>
              <a:rPr lang="en-US" dirty="0"/>
              <a:t>Next Time on PSY 270…</a:t>
            </a:r>
          </a:p>
        </p:txBody>
      </p:sp>
    </p:spTree>
    <p:extLst>
      <p:ext uri="{BB962C8B-B14F-4D97-AF65-F5344CB8AC3E}">
        <p14:creationId xmlns:p14="http://schemas.microsoft.com/office/powerpoint/2010/main" val="1900947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3.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1493</TotalTime>
  <Words>1427</Words>
  <Application>Microsoft Office PowerPoint</Application>
  <PresentationFormat>Widescreen</PresentationFormat>
  <Paragraphs>157</Paragraphs>
  <Slides>26</Slides>
  <Notes>26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Britannic Bold</vt:lpstr>
      <vt:lpstr>Courier New</vt:lpstr>
      <vt:lpstr>Office Theme</vt:lpstr>
      <vt:lpstr>Chapter 4</vt:lpstr>
      <vt:lpstr>Reminders</vt:lpstr>
      <vt:lpstr>Agenda</vt:lpstr>
      <vt:lpstr>Historical Examples of Unethical Research</vt:lpstr>
      <vt:lpstr>The Tuskegee Syphilis Study</vt:lpstr>
      <vt:lpstr>The Tuskegee Syphilis Study</vt:lpstr>
      <vt:lpstr>Belmont Report</vt:lpstr>
      <vt:lpstr>The Milgram Obedience Studies</vt:lpstr>
      <vt:lpstr>The Milgram Obedience Studies</vt:lpstr>
      <vt:lpstr>APA &amp; The War on Terror</vt:lpstr>
      <vt:lpstr>The Pushback</vt:lpstr>
      <vt:lpstr>The Ethical Reform</vt:lpstr>
      <vt:lpstr>Ethical Principles</vt:lpstr>
      <vt:lpstr>Guidelines for Psychologists: APA Ethical Principles</vt:lpstr>
      <vt:lpstr>Three Core Principles of Belmont Report</vt:lpstr>
      <vt:lpstr>The APA Ethical Principles</vt:lpstr>
      <vt:lpstr>Belmont Plus Two: APA’s Five General Principles</vt:lpstr>
      <vt:lpstr>Ethical Practices for Psychologists: APA and CPA Ethics Codes</vt:lpstr>
      <vt:lpstr>Ethical Practices for Psychologists: APA and CPA Ethics Codes</vt:lpstr>
      <vt:lpstr>Animal Research Practices</vt:lpstr>
      <vt:lpstr>Examples of Animal Research</vt:lpstr>
      <vt:lpstr>Legal, Institutional, and Moral Frameworks</vt:lpstr>
      <vt:lpstr>Legal, Institutional, and Moral Frameworks</vt:lpstr>
      <vt:lpstr>Legal, Institutional, and Moral Frameworks</vt:lpstr>
      <vt:lpstr>Ethical Decision Making: A Thoughtful Balance</vt:lpstr>
      <vt:lpstr>Next Time on PSY 270…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14</cp:revision>
  <dcterms:created xsi:type="dcterms:W3CDTF">2026-08-20T19:50:46Z</dcterms:created>
  <dcterms:modified xsi:type="dcterms:W3CDTF">2026-09-14T12:16:00Z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