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6"/>
  </p:notesMasterIdLst>
  <p:sldIdLst>
    <p:sldId id="256" r:id="rId5"/>
    <p:sldId id="259" r:id="rId6"/>
    <p:sldId id="385" r:id="rId7"/>
    <p:sldId id="398" r:id="rId8"/>
    <p:sldId id="296" r:id="rId9"/>
    <p:sldId id="389" r:id="rId10"/>
    <p:sldId id="387" r:id="rId11"/>
    <p:sldId id="390" r:id="rId12"/>
    <p:sldId id="391" r:id="rId13"/>
    <p:sldId id="392" r:id="rId14"/>
    <p:sldId id="393" r:id="rId15"/>
    <p:sldId id="394" r:id="rId16"/>
    <p:sldId id="377" r:id="rId17"/>
    <p:sldId id="388" r:id="rId18"/>
    <p:sldId id="395" r:id="rId19"/>
    <p:sldId id="396" r:id="rId20"/>
    <p:sldId id="397" r:id="rId21"/>
    <p:sldId id="363" r:id="rId22"/>
    <p:sldId id="381" r:id="rId23"/>
    <p:sldId id="326" r:id="rId24"/>
    <p:sldId id="327"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B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8" autoAdjust="0"/>
    <p:restoredTop sz="64780" autoAdjust="0"/>
  </p:normalViewPr>
  <p:slideViewPr>
    <p:cSldViewPr snapToGrid="0" snapToObjects="1">
      <p:cViewPr varScale="1">
        <p:scale>
          <a:sx n="72" d="100"/>
          <a:sy n="72" d="100"/>
        </p:scale>
        <p:origin x="155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image" Target="../media/image7.svg"/></Relationships>
</file>

<file path=ppt/diagrams/_rels/drawing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B69760-7F6E-4091-B821-1BEC02EFE85D}"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05E4722E-6088-4D5C-94B1-A2B5CC599EE8}">
      <dgm:prSet/>
      <dgm:spPr/>
      <dgm:t>
        <a:bodyPr/>
        <a:lstStyle/>
        <a:p>
          <a:pPr>
            <a:defRPr b="1"/>
          </a:pPr>
          <a:r>
            <a:rPr lang="en-US"/>
            <a:t>In a frequency claim, external validity is a priority.</a:t>
          </a:r>
        </a:p>
      </dgm:t>
    </dgm:pt>
    <dgm:pt modelId="{46095A32-07F3-4E71-AEAB-19680D985ABA}" type="parTrans" cxnId="{5003109E-67E7-4A56-85C2-5E00BB609391}">
      <dgm:prSet/>
      <dgm:spPr/>
      <dgm:t>
        <a:bodyPr/>
        <a:lstStyle/>
        <a:p>
          <a:endParaRPr lang="en-US"/>
        </a:p>
      </dgm:t>
    </dgm:pt>
    <dgm:pt modelId="{9E6950D0-EA77-4332-93F7-EBF024C47F5A}" type="sibTrans" cxnId="{5003109E-67E7-4A56-85C2-5E00BB609391}">
      <dgm:prSet/>
      <dgm:spPr/>
      <dgm:t>
        <a:bodyPr/>
        <a:lstStyle/>
        <a:p>
          <a:endParaRPr lang="en-US"/>
        </a:p>
      </dgm:t>
    </dgm:pt>
    <dgm:pt modelId="{081E7BAC-2FD7-4880-93A4-B07938E2A2A8}">
      <dgm:prSet/>
      <dgm:spPr/>
      <dgm:t>
        <a:bodyPr/>
        <a:lstStyle/>
        <a:p>
          <a:pPr>
            <a:defRPr b="1"/>
          </a:pPr>
          <a:r>
            <a:rPr lang="en-US"/>
            <a:t>Cases where external validity is a lower priority </a:t>
          </a:r>
        </a:p>
      </dgm:t>
    </dgm:pt>
    <dgm:pt modelId="{91CCC56E-9666-4B23-BAFD-C2132C11881A}" type="parTrans" cxnId="{31EECE2A-7F7B-4006-B2FF-56DE0181368B}">
      <dgm:prSet/>
      <dgm:spPr/>
      <dgm:t>
        <a:bodyPr/>
        <a:lstStyle/>
        <a:p>
          <a:endParaRPr lang="en-US"/>
        </a:p>
      </dgm:t>
    </dgm:pt>
    <dgm:pt modelId="{17ECBFFC-5F41-426C-B217-592088CCFE18}" type="sibTrans" cxnId="{31EECE2A-7F7B-4006-B2FF-56DE0181368B}">
      <dgm:prSet/>
      <dgm:spPr/>
      <dgm:t>
        <a:bodyPr/>
        <a:lstStyle/>
        <a:p>
          <a:endParaRPr lang="en-US"/>
        </a:p>
      </dgm:t>
    </dgm:pt>
    <dgm:pt modelId="{2A7172C5-13B5-4DC4-B8F6-825E873F92EB}">
      <dgm:prSet/>
      <dgm:spPr/>
      <dgm:t>
        <a:bodyPr/>
        <a:lstStyle/>
        <a:p>
          <a:r>
            <a:rPr lang="en-US"/>
            <a:t>Nonprobability samples in the real world</a:t>
          </a:r>
        </a:p>
      </dgm:t>
    </dgm:pt>
    <dgm:pt modelId="{88DC045D-6202-4920-8ADE-9FDAFD97412A}" type="parTrans" cxnId="{2265F270-692E-4FD4-B45C-6306B55104C5}">
      <dgm:prSet/>
      <dgm:spPr/>
      <dgm:t>
        <a:bodyPr/>
        <a:lstStyle/>
        <a:p>
          <a:endParaRPr lang="en-US"/>
        </a:p>
      </dgm:t>
    </dgm:pt>
    <dgm:pt modelId="{CA607233-F148-4819-B3AC-3732E42C9F20}" type="sibTrans" cxnId="{2265F270-692E-4FD4-B45C-6306B55104C5}">
      <dgm:prSet/>
      <dgm:spPr/>
      <dgm:t>
        <a:bodyPr/>
        <a:lstStyle/>
        <a:p>
          <a:endParaRPr lang="en-US"/>
        </a:p>
      </dgm:t>
    </dgm:pt>
    <dgm:pt modelId="{6D0E4BC6-2017-4A48-AFC2-29EABAED1E3F}">
      <dgm:prSet/>
      <dgm:spPr/>
      <dgm:t>
        <a:bodyPr/>
        <a:lstStyle/>
        <a:p>
          <a:r>
            <a:rPr lang="en-US"/>
            <a:t>Nonprobability samples in research studies</a:t>
          </a:r>
        </a:p>
      </dgm:t>
    </dgm:pt>
    <dgm:pt modelId="{6A8567A2-1D1F-490F-911F-FA1EC06570BC}" type="parTrans" cxnId="{05899894-AC6C-4AF2-AD24-94147CDD5680}">
      <dgm:prSet/>
      <dgm:spPr/>
      <dgm:t>
        <a:bodyPr/>
        <a:lstStyle/>
        <a:p>
          <a:endParaRPr lang="en-US"/>
        </a:p>
      </dgm:t>
    </dgm:pt>
    <dgm:pt modelId="{945176F9-FC8C-49CC-8BFC-8BEFACB02292}" type="sibTrans" cxnId="{05899894-AC6C-4AF2-AD24-94147CDD5680}">
      <dgm:prSet/>
      <dgm:spPr/>
      <dgm:t>
        <a:bodyPr/>
        <a:lstStyle/>
        <a:p>
          <a:endParaRPr lang="en-US"/>
        </a:p>
      </dgm:t>
    </dgm:pt>
    <dgm:pt modelId="{C38C6788-0A10-4F43-BB24-EFA141E80598}" type="pres">
      <dgm:prSet presAssocID="{D2B69760-7F6E-4091-B821-1BEC02EFE85D}" presName="root" presStyleCnt="0">
        <dgm:presLayoutVars>
          <dgm:dir/>
          <dgm:resizeHandles val="exact"/>
        </dgm:presLayoutVars>
      </dgm:prSet>
      <dgm:spPr/>
    </dgm:pt>
    <dgm:pt modelId="{CD2E0DB8-34B1-40A8-A10E-7C51B7F4C11E}" type="pres">
      <dgm:prSet presAssocID="{05E4722E-6088-4D5C-94B1-A2B5CC599EE8}" presName="compNode" presStyleCnt="0"/>
      <dgm:spPr/>
    </dgm:pt>
    <dgm:pt modelId="{60091B67-6DDC-414B-A300-B02F49129835}" type="pres">
      <dgm:prSet presAssocID="{05E4722E-6088-4D5C-94B1-A2B5CC599EE8}" presName="iconRect" presStyleLbl="node1" presStyleIdx="0" presStyleCnt="2"/>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Priorities outline"/>
        </a:ext>
      </dgm:extLst>
    </dgm:pt>
    <dgm:pt modelId="{1B49D973-15F4-40FF-B0D4-2436F44C3C7D}" type="pres">
      <dgm:prSet presAssocID="{05E4722E-6088-4D5C-94B1-A2B5CC599EE8}" presName="iconSpace" presStyleCnt="0"/>
      <dgm:spPr/>
    </dgm:pt>
    <dgm:pt modelId="{C9DD205F-53B7-49C1-BA3F-65FFC2B7E5A0}" type="pres">
      <dgm:prSet presAssocID="{05E4722E-6088-4D5C-94B1-A2B5CC599EE8}" presName="parTx" presStyleLbl="revTx" presStyleIdx="0" presStyleCnt="4">
        <dgm:presLayoutVars>
          <dgm:chMax val="0"/>
          <dgm:chPref val="0"/>
        </dgm:presLayoutVars>
      </dgm:prSet>
      <dgm:spPr/>
    </dgm:pt>
    <dgm:pt modelId="{53875B4F-805C-4017-8814-754E57C20779}" type="pres">
      <dgm:prSet presAssocID="{05E4722E-6088-4D5C-94B1-A2B5CC599EE8}" presName="txSpace" presStyleCnt="0"/>
      <dgm:spPr/>
    </dgm:pt>
    <dgm:pt modelId="{22560A32-69AB-49E1-AB90-55CFFAF5C050}" type="pres">
      <dgm:prSet presAssocID="{05E4722E-6088-4D5C-94B1-A2B5CC599EE8}" presName="desTx" presStyleLbl="revTx" presStyleIdx="1" presStyleCnt="4">
        <dgm:presLayoutVars/>
      </dgm:prSet>
      <dgm:spPr/>
    </dgm:pt>
    <dgm:pt modelId="{0F84582C-85AA-4B2B-A436-521B448F0F3B}" type="pres">
      <dgm:prSet presAssocID="{9E6950D0-EA77-4332-93F7-EBF024C47F5A}" presName="sibTrans" presStyleCnt="0"/>
      <dgm:spPr/>
    </dgm:pt>
    <dgm:pt modelId="{BAFE72DF-E3FF-4C9A-BE30-CD68C0A4EBDE}" type="pres">
      <dgm:prSet presAssocID="{081E7BAC-2FD7-4880-93A4-B07938E2A2A8}" presName="compNode" presStyleCnt="0"/>
      <dgm:spPr/>
    </dgm:pt>
    <dgm:pt modelId="{2CBAD12B-4114-4E9F-83DB-E6A008C32735}" type="pres">
      <dgm:prSet presAssocID="{081E7BAC-2FD7-4880-93A4-B07938E2A2A8}" presName="iconRect" presStyleLbl="node1" presStyleIdx="1" presStyleCnt="2"/>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riorities outline"/>
        </a:ext>
      </dgm:extLst>
    </dgm:pt>
    <dgm:pt modelId="{0BF176C4-08B2-4A33-A08B-FA0E67110058}" type="pres">
      <dgm:prSet presAssocID="{081E7BAC-2FD7-4880-93A4-B07938E2A2A8}" presName="iconSpace" presStyleCnt="0"/>
      <dgm:spPr/>
    </dgm:pt>
    <dgm:pt modelId="{2FC9C233-9EF1-4B5E-BA64-7865A1B283FE}" type="pres">
      <dgm:prSet presAssocID="{081E7BAC-2FD7-4880-93A4-B07938E2A2A8}" presName="parTx" presStyleLbl="revTx" presStyleIdx="2" presStyleCnt="4">
        <dgm:presLayoutVars>
          <dgm:chMax val="0"/>
          <dgm:chPref val="0"/>
        </dgm:presLayoutVars>
      </dgm:prSet>
      <dgm:spPr/>
    </dgm:pt>
    <dgm:pt modelId="{71BB1EE3-191B-4322-910A-6C35B07A83A9}" type="pres">
      <dgm:prSet presAssocID="{081E7BAC-2FD7-4880-93A4-B07938E2A2A8}" presName="txSpace" presStyleCnt="0"/>
      <dgm:spPr/>
    </dgm:pt>
    <dgm:pt modelId="{94CDA0A3-F2B7-4CEF-B86F-8834D89D20A6}" type="pres">
      <dgm:prSet presAssocID="{081E7BAC-2FD7-4880-93A4-B07938E2A2A8}" presName="desTx" presStyleLbl="revTx" presStyleIdx="3" presStyleCnt="4">
        <dgm:presLayoutVars/>
      </dgm:prSet>
      <dgm:spPr/>
    </dgm:pt>
  </dgm:ptLst>
  <dgm:cxnLst>
    <dgm:cxn modelId="{C0A88323-2B16-4236-BCEB-4B2FD3D902F4}" type="presOf" srcId="{2A7172C5-13B5-4DC4-B8F6-825E873F92EB}" destId="{94CDA0A3-F2B7-4CEF-B86F-8834D89D20A6}" srcOrd="0" destOrd="0" presId="urn:microsoft.com/office/officeart/2018/2/layout/IconLabelDescriptionList"/>
    <dgm:cxn modelId="{50168D27-A40D-4483-9129-7D33533B44AF}" type="presOf" srcId="{081E7BAC-2FD7-4880-93A4-B07938E2A2A8}" destId="{2FC9C233-9EF1-4B5E-BA64-7865A1B283FE}" srcOrd="0" destOrd="0" presId="urn:microsoft.com/office/officeart/2018/2/layout/IconLabelDescriptionList"/>
    <dgm:cxn modelId="{31EECE2A-7F7B-4006-B2FF-56DE0181368B}" srcId="{D2B69760-7F6E-4091-B821-1BEC02EFE85D}" destId="{081E7BAC-2FD7-4880-93A4-B07938E2A2A8}" srcOrd="1" destOrd="0" parTransId="{91CCC56E-9666-4B23-BAFD-C2132C11881A}" sibTransId="{17ECBFFC-5F41-426C-B217-592088CCFE18}"/>
    <dgm:cxn modelId="{9E3FA244-B91F-40B1-96E4-31E84E088C24}" type="presOf" srcId="{D2B69760-7F6E-4091-B821-1BEC02EFE85D}" destId="{C38C6788-0A10-4F43-BB24-EFA141E80598}" srcOrd="0" destOrd="0" presId="urn:microsoft.com/office/officeart/2018/2/layout/IconLabelDescriptionList"/>
    <dgm:cxn modelId="{2265F270-692E-4FD4-B45C-6306B55104C5}" srcId="{081E7BAC-2FD7-4880-93A4-B07938E2A2A8}" destId="{2A7172C5-13B5-4DC4-B8F6-825E873F92EB}" srcOrd="0" destOrd="0" parTransId="{88DC045D-6202-4920-8ADE-9FDAFD97412A}" sibTransId="{CA607233-F148-4819-B3AC-3732E42C9F20}"/>
    <dgm:cxn modelId="{05899894-AC6C-4AF2-AD24-94147CDD5680}" srcId="{081E7BAC-2FD7-4880-93A4-B07938E2A2A8}" destId="{6D0E4BC6-2017-4A48-AFC2-29EABAED1E3F}" srcOrd="1" destOrd="0" parTransId="{6A8567A2-1D1F-490F-911F-FA1EC06570BC}" sibTransId="{945176F9-FC8C-49CC-8BFC-8BEFACB02292}"/>
    <dgm:cxn modelId="{5003109E-67E7-4A56-85C2-5E00BB609391}" srcId="{D2B69760-7F6E-4091-B821-1BEC02EFE85D}" destId="{05E4722E-6088-4D5C-94B1-A2B5CC599EE8}" srcOrd="0" destOrd="0" parTransId="{46095A32-07F3-4E71-AEAB-19680D985ABA}" sibTransId="{9E6950D0-EA77-4332-93F7-EBF024C47F5A}"/>
    <dgm:cxn modelId="{DE319BE6-23CD-40B5-A6CC-6E9E3B76FB88}" type="presOf" srcId="{6D0E4BC6-2017-4A48-AFC2-29EABAED1E3F}" destId="{94CDA0A3-F2B7-4CEF-B86F-8834D89D20A6}" srcOrd="0" destOrd="1" presId="urn:microsoft.com/office/officeart/2018/2/layout/IconLabelDescriptionList"/>
    <dgm:cxn modelId="{6E7F51F9-B73C-4D2A-B8A7-ADFBCAF58082}" type="presOf" srcId="{05E4722E-6088-4D5C-94B1-A2B5CC599EE8}" destId="{C9DD205F-53B7-49C1-BA3F-65FFC2B7E5A0}" srcOrd="0" destOrd="0" presId="urn:microsoft.com/office/officeart/2018/2/layout/IconLabelDescriptionList"/>
    <dgm:cxn modelId="{519B008A-89C6-476D-8225-1028D8C34696}" type="presParOf" srcId="{C38C6788-0A10-4F43-BB24-EFA141E80598}" destId="{CD2E0DB8-34B1-40A8-A10E-7C51B7F4C11E}" srcOrd="0" destOrd="0" presId="urn:microsoft.com/office/officeart/2018/2/layout/IconLabelDescriptionList"/>
    <dgm:cxn modelId="{B8146A66-0F02-4CF2-923E-E86DC78FFAA1}" type="presParOf" srcId="{CD2E0DB8-34B1-40A8-A10E-7C51B7F4C11E}" destId="{60091B67-6DDC-414B-A300-B02F49129835}" srcOrd="0" destOrd="0" presId="urn:microsoft.com/office/officeart/2018/2/layout/IconLabelDescriptionList"/>
    <dgm:cxn modelId="{933D739A-B7E0-4ABD-A22E-1320EE773C41}" type="presParOf" srcId="{CD2E0DB8-34B1-40A8-A10E-7C51B7F4C11E}" destId="{1B49D973-15F4-40FF-B0D4-2436F44C3C7D}" srcOrd="1" destOrd="0" presId="urn:microsoft.com/office/officeart/2018/2/layout/IconLabelDescriptionList"/>
    <dgm:cxn modelId="{DA69F77B-D44D-459E-987E-6CF73AD334BA}" type="presParOf" srcId="{CD2E0DB8-34B1-40A8-A10E-7C51B7F4C11E}" destId="{C9DD205F-53B7-49C1-BA3F-65FFC2B7E5A0}" srcOrd="2" destOrd="0" presId="urn:microsoft.com/office/officeart/2018/2/layout/IconLabelDescriptionList"/>
    <dgm:cxn modelId="{BAD92A28-C40F-4E78-A376-2FE61884533C}" type="presParOf" srcId="{CD2E0DB8-34B1-40A8-A10E-7C51B7F4C11E}" destId="{53875B4F-805C-4017-8814-754E57C20779}" srcOrd="3" destOrd="0" presId="urn:microsoft.com/office/officeart/2018/2/layout/IconLabelDescriptionList"/>
    <dgm:cxn modelId="{9092700E-7907-47A3-BBFE-8693963A6E78}" type="presParOf" srcId="{CD2E0DB8-34B1-40A8-A10E-7C51B7F4C11E}" destId="{22560A32-69AB-49E1-AB90-55CFFAF5C050}" srcOrd="4" destOrd="0" presId="urn:microsoft.com/office/officeart/2018/2/layout/IconLabelDescriptionList"/>
    <dgm:cxn modelId="{615331ED-A28A-440E-AFFF-F2316CC5123C}" type="presParOf" srcId="{C38C6788-0A10-4F43-BB24-EFA141E80598}" destId="{0F84582C-85AA-4B2B-A436-521B448F0F3B}" srcOrd="1" destOrd="0" presId="urn:microsoft.com/office/officeart/2018/2/layout/IconLabelDescriptionList"/>
    <dgm:cxn modelId="{2A24A610-FD96-4096-924B-95D34FBA6587}" type="presParOf" srcId="{C38C6788-0A10-4F43-BB24-EFA141E80598}" destId="{BAFE72DF-E3FF-4C9A-BE30-CD68C0A4EBDE}" srcOrd="2" destOrd="0" presId="urn:microsoft.com/office/officeart/2018/2/layout/IconLabelDescriptionList"/>
    <dgm:cxn modelId="{40AEC6D3-6237-4B1D-80C4-776868CD16C6}" type="presParOf" srcId="{BAFE72DF-E3FF-4C9A-BE30-CD68C0A4EBDE}" destId="{2CBAD12B-4114-4E9F-83DB-E6A008C32735}" srcOrd="0" destOrd="0" presId="urn:microsoft.com/office/officeart/2018/2/layout/IconLabelDescriptionList"/>
    <dgm:cxn modelId="{C7797F32-D399-4E57-8EAA-08D2504EA09B}" type="presParOf" srcId="{BAFE72DF-E3FF-4C9A-BE30-CD68C0A4EBDE}" destId="{0BF176C4-08B2-4A33-A08B-FA0E67110058}" srcOrd="1" destOrd="0" presId="urn:microsoft.com/office/officeart/2018/2/layout/IconLabelDescriptionList"/>
    <dgm:cxn modelId="{5D65472F-7C50-4520-8A6E-5A6884C0B826}" type="presParOf" srcId="{BAFE72DF-E3FF-4C9A-BE30-CD68C0A4EBDE}" destId="{2FC9C233-9EF1-4B5E-BA64-7865A1B283FE}" srcOrd="2" destOrd="0" presId="urn:microsoft.com/office/officeart/2018/2/layout/IconLabelDescriptionList"/>
    <dgm:cxn modelId="{F20F01BD-B37E-424E-B8D0-1EF2D34375AA}" type="presParOf" srcId="{BAFE72DF-E3FF-4C9A-BE30-CD68C0A4EBDE}" destId="{71BB1EE3-191B-4322-910A-6C35B07A83A9}" srcOrd="3" destOrd="0" presId="urn:microsoft.com/office/officeart/2018/2/layout/IconLabelDescriptionList"/>
    <dgm:cxn modelId="{A2DA245B-94E0-4414-B25F-CBC36C4C7BA3}" type="presParOf" srcId="{BAFE72DF-E3FF-4C9A-BE30-CD68C0A4EBDE}" destId="{94CDA0A3-F2B7-4CEF-B86F-8834D89D20A6}"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091B67-6DDC-414B-A300-B02F49129835}">
      <dsp:nvSpPr>
        <dsp:cNvPr id="0" name=""/>
        <dsp:cNvSpPr/>
      </dsp:nvSpPr>
      <dsp:spPr>
        <a:xfrm>
          <a:off x="391524" y="299742"/>
          <a:ext cx="1512000" cy="1512000"/>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DD205F-53B7-49C1-BA3F-65FFC2B7E5A0}">
      <dsp:nvSpPr>
        <dsp:cNvPr id="0" name=""/>
        <dsp:cNvSpPr/>
      </dsp:nvSpPr>
      <dsp:spPr>
        <a:xfrm>
          <a:off x="391524" y="194051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90000"/>
            </a:lnSpc>
            <a:spcBef>
              <a:spcPct val="0"/>
            </a:spcBef>
            <a:spcAft>
              <a:spcPct val="35000"/>
            </a:spcAft>
            <a:buNone/>
            <a:defRPr b="1"/>
          </a:pPr>
          <a:r>
            <a:rPr lang="en-US" sz="2300" kern="1200"/>
            <a:t>In a frequency claim, external validity is a priority.</a:t>
          </a:r>
        </a:p>
      </dsp:txBody>
      <dsp:txXfrm>
        <a:off x="391524" y="1940510"/>
        <a:ext cx="4320000" cy="648000"/>
      </dsp:txXfrm>
    </dsp:sp>
    <dsp:sp modelId="{22560A32-69AB-49E1-AB90-55CFFAF5C050}">
      <dsp:nvSpPr>
        <dsp:cNvPr id="0" name=""/>
        <dsp:cNvSpPr/>
      </dsp:nvSpPr>
      <dsp:spPr>
        <a:xfrm>
          <a:off x="391524" y="2648403"/>
          <a:ext cx="4320000" cy="645954"/>
        </a:xfrm>
        <a:prstGeom prst="rect">
          <a:avLst/>
        </a:prstGeom>
        <a:noFill/>
        <a:ln>
          <a:noFill/>
        </a:ln>
        <a:effectLst/>
      </dsp:spPr>
      <dsp:style>
        <a:lnRef idx="0">
          <a:scrgbClr r="0" g="0" b="0"/>
        </a:lnRef>
        <a:fillRef idx="0">
          <a:scrgbClr r="0" g="0" b="0"/>
        </a:fillRef>
        <a:effectRef idx="0">
          <a:scrgbClr r="0" g="0" b="0"/>
        </a:effectRef>
        <a:fontRef idx="minor"/>
      </dsp:style>
    </dsp:sp>
    <dsp:sp modelId="{2CBAD12B-4114-4E9F-83DB-E6A008C32735}">
      <dsp:nvSpPr>
        <dsp:cNvPr id="0" name=""/>
        <dsp:cNvSpPr/>
      </dsp:nvSpPr>
      <dsp:spPr>
        <a:xfrm>
          <a:off x="5467525" y="299742"/>
          <a:ext cx="1512000" cy="1512000"/>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C9C233-9EF1-4B5E-BA64-7865A1B283FE}">
      <dsp:nvSpPr>
        <dsp:cNvPr id="0" name=""/>
        <dsp:cNvSpPr/>
      </dsp:nvSpPr>
      <dsp:spPr>
        <a:xfrm>
          <a:off x="5467525" y="194051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90000"/>
            </a:lnSpc>
            <a:spcBef>
              <a:spcPct val="0"/>
            </a:spcBef>
            <a:spcAft>
              <a:spcPct val="35000"/>
            </a:spcAft>
            <a:buNone/>
            <a:defRPr b="1"/>
          </a:pPr>
          <a:r>
            <a:rPr lang="en-US" sz="2300" kern="1200"/>
            <a:t>Cases where external validity is a lower priority </a:t>
          </a:r>
        </a:p>
      </dsp:txBody>
      <dsp:txXfrm>
        <a:off x="5467525" y="1940510"/>
        <a:ext cx="4320000" cy="648000"/>
      </dsp:txXfrm>
    </dsp:sp>
    <dsp:sp modelId="{94CDA0A3-F2B7-4CEF-B86F-8834D89D20A6}">
      <dsp:nvSpPr>
        <dsp:cNvPr id="0" name=""/>
        <dsp:cNvSpPr/>
      </dsp:nvSpPr>
      <dsp:spPr>
        <a:xfrm>
          <a:off x="5467525" y="2648403"/>
          <a:ext cx="4320000" cy="645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Nonprobability samples in the real world</a:t>
          </a:r>
        </a:p>
        <a:p>
          <a:pPr marL="0" lvl="0" indent="0" algn="l" defTabSz="755650">
            <a:lnSpc>
              <a:spcPct val="90000"/>
            </a:lnSpc>
            <a:spcBef>
              <a:spcPct val="0"/>
            </a:spcBef>
            <a:spcAft>
              <a:spcPct val="35000"/>
            </a:spcAft>
            <a:buNone/>
          </a:pPr>
          <a:r>
            <a:rPr lang="en-US" sz="1700" kern="1200"/>
            <a:t>Nonprobability samples in research studies</a:t>
          </a:r>
        </a:p>
      </dsp:txBody>
      <dsp:txXfrm>
        <a:off x="5467525" y="2648403"/>
        <a:ext cx="4320000" cy="645954"/>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4480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2580534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840915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040410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F88D3-DF08-BF32-EA8C-A35EAD6D88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209144-260F-CC07-21E3-E596B7D81871}"/>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0836153-CA38-6A5C-351F-842AD73FE4D5}"/>
              </a:ext>
            </a:extLst>
          </p:cNvPr>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6745951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522295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526483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42228127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1562756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229088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1549249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53662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7557810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9340488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8927046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3083987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1152271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2964665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CD853-B93B-50CF-E633-FAB8BDE151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AD420F-5568-BE0F-234F-DBAA00CC20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3E1764-C6D3-794D-AF82-D46BC7EF1647}"/>
              </a:ext>
            </a:extLst>
          </p:cNvPr>
          <p:cNvSpPr>
            <a:spLocks noGrp="1"/>
          </p:cNvSpPr>
          <p:nvPr>
            <p:ph type="body" idx="1"/>
          </p:nvPr>
        </p:nvSpPr>
        <p:spPr/>
        <p:txBody>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4" name="Slide Number Placeholder 3">
            <a:extLst>
              <a:ext uri="{FF2B5EF4-FFF2-40B4-BE49-F238E27FC236}">
                <a16:creationId xmlns:a16="http://schemas.microsoft.com/office/drawing/2014/main" id="{8E634498-5B72-31C9-3C12-16EB596B607A}"/>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5659701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5765701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9751095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136272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M_Title">
    <p:bg>
      <p:bgPr>
        <a:solidFill>
          <a:srgbClr val="F8FBFE"/>
        </a:solidFill>
        <a:effectLst/>
      </p:bgPr>
    </p:bg>
    <p:spTree>
      <p:nvGrpSpPr>
        <p:cNvPr id="1" name=""/>
        <p:cNvGrpSpPr/>
        <p:nvPr/>
      </p:nvGrpSpPr>
      <p:grpSpPr>
        <a:xfrm>
          <a:off x="0" y="0"/>
          <a:ext cx="0" cy="0"/>
          <a:chOff x="0" y="0"/>
          <a:chExt cx="0" cy="0"/>
        </a:xfrm>
      </p:grpSpPr>
      <p:pic>
        <p:nvPicPr>
          <p:cNvPr id="9" name="Picture 8" descr="Canvas Banner.png (1983×793)">
            <a:extLst>
              <a:ext uri="{FF2B5EF4-FFF2-40B4-BE49-F238E27FC236}">
                <a16:creationId xmlns:a16="http://schemas.microsoft.com/office/drawing/2014/main" id="{CF1D1F45-544E-1E4A-0F49-6BDEB9C7CCFF}"/>
              </a:ext>
            </a:extLst>
          </p:cNvPr>
          <p:cNvPicPr>
            <a:picLocks noChangeAspect="1"/>
          </p:cNvPicPr>
          <p:nvPr userDrawn="1"/>
        </p:nvPicPr>
        <p:blipFill>
          <a:blip r:embed="rId2">
            <a:alphaModFix amt="51000"/>
          </a:blip>
          <a:srcRect l="29448"/>
          <a:stretch>
            <a:fillRect/>
          </a:stretch>
        </p:blipFill>
        <p:spPr>
          <a:xfrm>
            <a:off x="0" y="-26329"/>
            <a:ext cx="12192000" cy="6910657"/>
          </a:xfrm>
          <a:prstGeom prst="rect">
            <a:avLst/>
          </a:prstGeom>
        </p:spPr>
      </p:pic>
      <p:sp>
        <p:nvSpPr>
          <p:cNvPr id="3" name="Shape 1"/>
          <p:cNvSpPr/>
          <p:nvPr/>
        </p:nvSpPr>
        <p:spPr>
          <a:xfrm>
            <a:off x="320040" y="320040"/>
            <a:ext cx="2834640" cy="914400"/>
          </a:xfrm>
          <a:prstGeom prst="rect">
            <a:avLst/>
          </a:prstGeom>
          <a:solidFill>
            <a:srgbClr val="D9E6F2">
              <a:alpha val="82000"/>
            </a:srgbClr>
          </a:solidFill>
          <a:ln w="12700">
            <a:solidFill>
              <a:srgbClr val="D9E6F2">
                <a:alpha val="0"/>
              </a:srgbClr>
            </a:solidFill>
            <a:prstDash val="solid"/>
          </a:ln>
        </p:spPr>
        <p:txBody>
          <a:bodyPr/>
          <a:lstStyle/>
          <a:p>
            <a:endParaRPr lang="en-US"/>
          </a:p>
        </p:txBody>
      </p:sp>
      <p:sp>
        <p:nvSpPr>
          <p:cNvPr id="4" name="Shape 2"/>
          <p:cNvSpPr/>
          <p:nvPr/>
        </p:nvSpPr>
        <p:spPr>
          <a:xfrm>
            <a:off x="9098280" y="5440680"/>
            <a:ext cx="2651760" cy="960120"/>
          </a:xfrm>
          <a:prstGeom prst="rect">
            <a:avLst/>
          </a:prstGeom>
          <a:solidFill>
            <a:srgbClr val="C9DAEA">
              <a:alpha val="72000"/>
            </a:srgbClr>
          </a:solidFill>
          <a:ln w="12700">
            <a:solidFill>
              <a:srgbClr val="C9DAEA">
                <a:alpha val="0"/>
              </a:srgbClr>
            </a:solidFill>
            <a:prstDash val="solid"/>
          </a:ln>
        </p:spPr>
        <p:txBody>
          <a:bodyPr/>
          <a:lstStyle/>
          <a:p>
            <a:endParaRPr lang="en-US"/>
          </a:p>
        </p:txBody>
      </p:sp>
      <p:sp>
        <p:nvSpPr>
          <p:cNvPr id="5" name="Shape 3"/>
          <p:cNvSpPr/>
          <p:nvPr/>
        </p:nvSpPr>
        <p:spPr>
          <a:xfrm>
            <a:off x="594360" y="5989320"/>
            <a:ext cx="3840480" cy="0"/>
          </a:xfrm>
          <a:prstGeom prst="line">
            <a:avLst/>
          </a:prstGeom>
          <a:noFill/>
          <a:ln w="15240">
            <a:solidFill>
              <a:srgbClr val="B79A67">
                <a:alpha val="80000"/>
              </a:srgbClr>
            </a:solidFill>
            <a:prstDash val="solid"/>
          </a:ln>
        </p:spPr>
        <p:txBody>
          <a:bodyPr/>
          <a:lstStyle/>
          <a:p>
            <a:endParaRPr lang="en-US"/>
          </a:p>
        </p:txBody>
      </p:sp>
      <p:sp>
        <p:nvSpPr>
          <p:cNvPr id="8" name="Text 4"/>
          <p:cNvSpPr/>
          <p:nvPr/>
        </p:nvSpPr>
        <p:spPr>
          <a:xfrm>
            <a:off x="822960" y="6172200"/>
            <a:ext cx="2926080" cy="228600"/>
          </a:xfrm>
          <a:prstGeom prst="rect">
            <a:avLst/>
          </a:prstGeom>
          <a:noFill/>
          <a:ln/>
        </p:spPr>
        <p:txBody>
          <a:bodyPr wrap="square" lIns="0" tIns="0" rIns="0" bIns="0" rtlCol="0" anchor="ctr"/>
          <a:lstStyle/>
          <a:p>
            <a:pPr marL="0" indent="0">
              <a:buNone/>
            </a:pPr>
            <a:r>
              <a:rPr lang="en-US" sz="900" b="1" dirty="0">
                <a:solidFill>
                  <a:srgbClr val="526F92"/>
                </a:solidFill>
                <a:latin typeface="Aptos" pitchFamily="34" charset="0"/>
                <a:ea typeface="Aptos" pitchFamily="34" charset="-122"/>
                <a:cs typeface="Aptos" pitchFamily="34" charset="-120"/>
              </a:rPr>
              <a:t>RESEARCH METHODS</a:t>
            </a:r>
            <a:endParaRPr lang="en-US" sz="900" dirty="0"/>
          </a:p>
        </p:txBody>
      </p:sp>
      <p:sp>
        <p:nvSpPr>
          <p:cNvPr id="2" name="Title 1">
            <a:extLst>
              <a:ext uri="{FF2B5EF4-FFF2-40B4-BE49-F238E27FC236}">
                <a16:creationId xmlns:a16="http://schemas.microsoft.com/office/drawing/2014/main" id="{F86770DB-7284-A1F7-43CD-35A95A644A30}"/>
              </a:ext>
            </a:extLst>
          </p:cNvPr>
          <p:cNvSpPr>
            <a:spLocks noGrp="1"/>
          </p:cNvSpPr>
          <p:nvPr>
            <p:ph type="title"/>
          </p:nvPr>
        </p:nvSpPr>
        <p:spPr>
          <a:xfrm>
            <a:off x="2046191" y="863353"/>
            <a:ext cx="5869901" cy="1799292"/>
          </a:xfrm>
          <a:prstGeom prst="rect">
            <a:avLst/>
          </a:prstGeom>
          <a:solidFill>
            <a:srgbClr val="F8FBFE"/>
          </a:solidFill>
        </p:spPr>
        <p:txBody>
          <a:bodyPr anchor="ctr"/>
          <a:lstStyle>
            <a:lvl1pPr>
              <a:defRPr>
                <a:latin typeface="Britannic Bold" panose="020B0903060703020204" pitchFamily="34" charset="0"/>
              </a:defRPr>
            </a:lvl1pPr>
          </a:lstStyle>
          <a:p>
            <a:r>
              <a:rPr lang="en-US"/>
              <a:t>Click to edit Master title style</a:t>
            </a:r>
            <a:endParaRPr lang="en-US" dirty="0"/>
          </a:p>
        </p:txBody>
      </p:sp>
      <p:sp>
        <p:nvSpPr>
          <p:cNvPr id="11" name="Content Placeholder 10">
            <a:extLst>
              <a:ext uri="{FF2B5EF4-FFF2-40B4-BE49-F238E27FC236}">
                <a16:creationId xmlns:a16="http://schemas.microsoft.com/office/drawing/2014/main" id="{C4C6ACB4-35EC-85AB-E81B-5923C3447E22}"/>
              </a:ext>
            </a:extLst>
          </p:cNvPr>
          <p:cNvSpPr>
            <a:spLocks noGrp="1"/>
          </p:cNvSpPr>
          <p:nvPr>
            <p:ph sz="quarter" idx="10" hasCustomPrompt="1"/>
          </p:nvPr>
        </p:nvSpPr>
        <p:spPr>
          <a:xfrm>
            <a:off x="2286000" y="3178175"/>
            <a:ext cx="6378575" cy="1516063"/>
          </a:xfrm>
          <a:prstGeom prst="rect">
            <a:avLst/>
          </a:prstGeom>
          <a:solidFill>
            <a:srgbClr val="F8FBFE"/>
          </a:solidFill>
        </p:spPr>
        <p:txBody>
          <a:bodyPr anchor="ctr"/>
          <a:lstStyle>
            <a:lvl1pPr algn="ctr">
              <a:buNone/>
              <a:defRPr sz="2800">
                <a:latin typeface="Aptos Display" panose="020B0004020202020204" pitchFamily="34" charset="0"/>
              </a:defRPr>
            </a:lvl1pPr>
          </a:lstStyle>
          <a:p>
            <a:pPr lvl="0"/>
            <a:r>
              <a:rPr lang="en-US" dirty="0"/>
              <a:t>Click to edit subtitle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M_Content">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2743"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0" name="Text 6"/>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2" name="Text Placeholder 11">
            <a:extLst>
              <a:ext uri="{FF2B5EF4-FFF2-40B4-BE49-F238E27FC236}">
                <a16:creationId xmlns:a16="http://schemas.microsoft.com/office/drawing/2014/main" id="{DAD61541-17FC-087B-60E7-BDBB1FA62185}"/>
              </a:ext>
            </a:extLst>
          </p:cNvPr>
          <p:cNvSpPr>
            <a:spLocks noGrp="1"/>
          </p:cNvSpPr>
          <p:nvPr>
            <p:ph type="body" sz="quarter" idx="108"/>
          </p:nvPr>
        </p:nvSpPr>
        <p:spPr>
          <a:xfrm>
            <a:off x="496388" y="1252729"/>
            <a:ext cx="11418243" cy="4974332"/>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14">
            <a:extLst>
              <a:ext uri="{FF2B5EF4-FFF2-40B4-BE49-F238E27FC236}">
                <a16:creationId xmlns:a16="http://schemas.microsoft.com/office/drawing/2014/main" id="{711B608B-7FB0-CE35-BE98-D665E1D5F79A}"/>
              </a:ext>
            </a:extLst>
          </p:cNvPr>
          <p:cNvSpPr>
            <a:spLocks noGrp="1"/>
          </p:cNvSpPr>
          <p:nvPr>
            <p:ph type="title"/>
          </p:nvPr>
        </p:nvSpPr>
        <p:spPr>
          <a:xfrm>
            <a:off x="838200" y="365126"/>
            <a:ext cx="10515600" cy="801824"/>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M_Section">
    <p:bg>
      <p:bgPr>
        <a:solidFill>
          <a:srgbClr val="F8FBFE"/>
        </a:solidFill>
        <a:effectLst/>
      </p:bgPr>
    </p:bg>
    <p:spTree>
      <p:nvGrpSpPr>
        <p:cNvPr id="1" name=""/>
        <p:cNvGrpSpPr/>
        <p:nvPr/>
      </p:nvGrpSpPr>
      <p:grpSpPr>
        <a:xfrm>
          <a:off x="0" y="0"/>
          <a:ext cx="0" cy="0"/>
          <a:chOff x="0" y="0"/>
          <a:chExt cx="0" cy="0"/>
        </a:xfrm>
      </p:grpSpPr>
      <p:pic>
        <p:nvPicPr>
          <p:cNvPr id="11" name="Picture 10" descr="Canvas Banner.png (1983×793)">
            <a:extLst>
              <a:ext uri="{FF2B5EF4-FFF2-40B4-BE49-F238E27FC236}">
                <a16:creationId xmlns:a16="http://schemas.microsoft.com/office/drawing/2014/main" id="{3412E6C6-0632-85B7-5BFE-F876EAE3A5F6}"/>
              </a:ext>
            </a:extLst>
          </p:cNvPr>
          <p:cNvPicPr>
            <a:picLocks noChangeAspect="1"/>
          </p:cNvPicPr>
          <p:nvPr userDrawn="1"/>
        </p:nvPicPr>
        <p:blipFill>
          <a:blip r:embed="rId2">
            <a:alphaModFix amt="62000"/>
          </a:blip>
          <a:srcRect t="14218" r="39015"/>
          <a:stretch>
            <a:fillRect/>
          </a:stretch>
        </p:blipFill>
        <p:spPr>
          <a:xfrm>
            <a:off x="305" y="-4467"/>
            <a:ext cx="12191695" cy="6858000"/>
          </a:xfrm>
          <a:prstGeom prst="rect">
            <a:avLst/>
          </a:prstGeom>
        </p:spPr>
      </p:pic>
      <p:sp>
        <p:nvSpPr>
          <p:cNvPr id="3" name="Shape 1"/>
          <p:cNvSpPr/>
          <p:nvPr/>
        </p:nvSpPr>
        <p:spPr>
          <a:xfrm>
            <a:off x="2407920" y="338329"/>
            <a:ext cx="3688080" cy="2464202"/>
          </a:xfrm>
          <a:prstGeom prst="rect">
            <a:avLst/>
          </a:prstGeom>
          <a:solidFill>
            <a:srgbClr val="DCE9F4">
              <a:alpha val="92000"/>
            </a:srgbClr>
          </a:solidFill>
          <a:ln w="12700">
            <a:solidFill>
              <a:srgbClr val="DCE9F4">
                <a:alpha val="0"/>
              </a:srgbClr>
            </a:solidFill>
            <a:prstDash val="solid"/>
          </a:ln>
        </p:spPr>
        <p:txBody>
          <a:bodyPr/>
          <a:lstStyle/>
          <a:p>
            <a:endParaRPr lang="en-US"/>
          </a:p>
        </p:txBody>
      </p:sp>
      <p:sp>
        <p:nvSpPr>
          <p:cNvPr id="5" name="Shape 3"/>
          <p:cNvSpPr/>
          <p:nvPr/>
        </p:nvSpPr>
        <p:spPr>
          <a:xfrm>
            <a:off x="8092440" y="566928"/>
            <a:ext cx="3429000" cy="1051560"/>
          </a:xfrm>
          <a:prstGeom prst="rect">
            <a:avLst/>
          </a:prstGeom>
          <a:solidFill>
            <a:srgbClr val="AFC8E0">
              <a:alpha val="65000"/>
            </a:srgbClr>
          </a:solidFill>
          <a:ln w="12700">
            <a:solidFill>
              <a:srgbClr val="AFC8E0">
                <a:alpha val="0"/>
              </a:srgbClr>
            </a:solidFill>
            <a:prstDash val="solid"/>
          </a:ln>
        </p:spPr>
        <p:txBody>
          <a:bodyPr/>
          <a:lstStyle/>
          <a:p>
            <a:endParaRPr lang="en-US"/>
          </a:p>
        </p:txBody>
      </p:sp>
      <p:sp>
        <p:nvSpPr>
          <p:cNvPr id="6" name="Shape 4"/>
          <p:cNvSpPr/>
          <p:nvPr/>
        </p:nvSpPr>
        <p:spPr>
          <a:xfrm>
            <a:off x="8823960" y="4526280"/>
            <a:ext cx="2423160" cy="1353312"/>
          </a:xfrm>
          <a:prstGeom prst="rect">
            <a:avLst/>
          </a:prstGeom>
          <a:solidFill>
            <a:srgbClr val="8EADD0">
              <a:alpha val="52000"/>
            </a:srgbClr>
          </a:solidFill>
          <a:ln w="12700">
            <a:solidFill>
              <a:srgbClr val="8EADD0">
                <a:alpha val="0"/>
              </a:srgbClr>
            </a:solidFill>
            <a:prstDash val="solid"/>
          </a:ln>
        </p:spPr>
        <p:txBody>
          <a:bodyPr/>
          <a:lstStyle/>
          <a:p>
            <a:endParaRPr lang="en-US"/>
          </a:p>
        </p:txBody>
      </p:sp>
      <p:sp>
        <p:nvSpPr>
          <p:cNvPr id="7" name="Shape 5"/>
          <p:cNvSpPr/>
          <p:nvPr/>
        </p:nvSpPr>
        <p:spPr>
          <a:xfrm>
            <a:off x="777240" y="5102352"/>
            <a:ext cx="9784080" cy="0"/>
          </a:xfrm>
          <a:prstGeom prst="line">
            <a:avLst/>
          </a:prstGeom>
          <a:noFill/>
          <a:ln w="15240">
            <a:solidFill>
              <a:srgbClr val="B79A67">
                <a:alpha val="70000"/>
              </a:srgbClr>
            </a:solidFill>
            <a:prstDash val="solid"/>
          </a:ln>
        </p:spPr>
        <p:txBody>
          <a:bodyPr/>
          <a:lstStyle/>
          <a:p>
            <a:endParaRPr lang="en-US"/>
          </a:p>
        </p:txBody>
      </p:sp>
      <p:sp>
        <p:nvSpPr>
          <p:cNvPr id="10" name="Text 6"/>
          <p:cNvSpPr/>
          <p:nvPr/>
        </p:nvSpPr>
        <p:spPr>
          <a:xfrm>
            <a:off x="822960" y="6327648"/>
            <a:ext cx="2743200" cy="201168"/>
          </a:xfrm>
          <a:prstGeom prst="rect">
            <a:avLst/>
          </a:prstGeom>
          <a:noFill/>
          <a:ln/>
        </p:spPr>
        <p:txBody>
          <a:bodyPr wrap="square" lIns="0" tIns="0" rIns="0" bIns="0" rtlCol="0" anchor="ctr"/>
          <a:lstStyle/>
          <a:p>
            <a:pPr marL="0" indent="0">
              <a:buNone/>
            </a:pPr>
            <a:r>
              <a:rPr lang="en-US" sz="900" b="1" dirty="0">
                <a:solidFill>
                  <a:srgbClr val="526F92"/>
                </a:solidFill>
                <a:latin typeface="Aptos" pitchFamily="34" charset="0"/>
                <a:ea typeface="Aptos" pitchFamily="34" charset="-122"/>
                <a:cs typeface="Aptos" pitchFamily="34" charset="-120"/>
              </a:rPr>
              <a:t>RESEARCH METHODS</a:t>
            </a:r>
            <a:endParaRPr lang="en-US" sz="900" dirty="0"/>
          </a:p>
        </p:txBody>
      </p:sp>
      <p:sp>
        <p:nvSpPr>
          <p:cNvPr id="2" name="Title 1">
            <a:extLst>
              <a:ext uri="{FF2B5EF4-FFF2-40B4-BE49-F238E27FC236}">
                <a16:creationId xmlns:a16="http://schemas.microsoft.com/office/drawing/2014/main" id="{7789266B-3939-095B-B9C7-1439EBFB47E8}"/>
              </a:ext>
            </a:extLst>
          </p:cNvPr>
          <p:cNvSpPr>
            <a:spLocks noGrp="1"/>
          </p:cNvSpPr>
          <p:nvPr>
            <p:ph type="title" hasCustomPrompt="1"/>
          </p:nvPr>
        </p:nvSpPr>
        <p:spPr>
          <a:xfrm>
            <a:off x="914077" y="759150"/>
            <a:ext cx="5869901" cy="1799292"/>
          </a:xfrm>
          <a:prstGeom prst="rect">
            <a:avLst/>
          </a:prstGeom>
          <a:solidFill>
            <a:srgbClr val="F8FBFE"/>
          </a:solidFill>
        </p:spPr>
        <p:txBody>
          <a:bodyPr anchor="ctr"/>
          <a:lstStyle>
            <a:lvl1pPr>
              <a:defRPr>
                <a:latin typeface="Britannic Bold" panose="020B0903060703020204" pitchFamily="34" charset="0"/>
              </a:defRPr>
            </a:lvl1pPr>
          </a:lstStyle>
          <a:p>
            <a:r>
              <a:rPr lang="en-US" dirty="0"/>
              <a:t>Click to edit Section title</a:t>
            </a:r>
          </a:p>
        </p:txBody>
      </p:sp>
      <p:sp>
        <p:nvSpPr>
          <p:cNvPr id="4" name="Content Placeholder 10">
            <a:extLst>
              <a:ext uri="{FF2B5EF4-FFF2-40B4-BE49-F238E27FC236}">
                <a16:creationId xmlns:a16="http://schemas.microsoft.com/office/drawing/2014/main" id="{9F245541-793E-CEF5-B4ED-364FBC3BCECE}"/>
              </a:ext>
            </a:extLst>
          </p:cNvPr>
          <p:cNvSpPr>
            <a:spLocks noGrp="1"/>
          </p:cNvSpPr>
          <p:nvPr>
            <p:ph sz="quarter" idx="10" hasCustomPrompt="1"/>
          </p:nvPr>
        </p:nvSpPr>
        <p:spPr>
          <a:xfrm>
            <a:off x="4689792" y="3498395"/>
            <a:ext cx="6378575" cy="1516063"/>
          </a:xfrm>
          <a:prstGeom prst="rect">
            <a:avLst/>
          </a:prstGeom>
          <a:solidFill>
            <a:srgbClr val="F8FBFE"/>
          </a:solidFill>
        </p:spPr>
        <p:txBody>
          <a:bodyPr anchor="ctr"/>
          <a:lstStyle>
            <a:lvl1pPr algn="ctr">
              <a:buNone/>
              <a:defRPr sz="2800">
                <a:latin typeface="Aptos Display" panose="020B0004020202020204" pitchFamily="34" charset="0"/>
              </a:defRPr>
            </a:lvl1pPr>
          </a:lstStyle>
          <a:p>
            <a:pPr lvl="0"/>
            <a:r>
              <a:rPr lang="en-US" dirty="0"/>
              <a:t>Click to edit subtitle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M_TwoColumn">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0" name="Shape 6"/>
          <p:cNvSpPr/>
          <p:nvPr/>
        </p:nvSpPr>
        <p:spPr>
          <a:xfrm>
            <a:off x="6080760" y="1600200"/>
            <a:ext cx="0" cy="4160520"/>
          </a:xfrm>
          <a:prstGeom prst="line">
            <a:avLst/>
          </a:prstGeom>
          <a:noFill/>
          <a:ln w="12700">
            <a:solidFill>
              <a:srgbClr val="C1D4E6"/>
            </a:solidFill>
            <a:prstDash val="solid"/>
          </a:ln>
        </p:spPr>
        <p:txBody>
          <a:bodyPr/>
          <a:lstStyle/>
          <a:p>
            <a:endParaRPr lang="en-US"/>
          </a:p>
        </p:txBody>
      </p:sp>
      <p:sp>
        <p:nvSpPr>
          <p:cNvPr id="12" name="Text 7"/>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4" name="Text Placeholder 13">
            <a:extLst>
              <a:ext uri="{FF2B5EF4-FFF2-40B4-BE49-F238E27FC236}">
                <a16:creationId xmlns:a16="http://schemas.microsoft.com/office/drawing/2014/main" id="{35572D28-5674-68F1-D0DD-039C6D2A219C}"/>
              </a:ext>
            </a:extLst>
          </p:cNvPr>
          <p:cNvSpPr>
            <a:spLocks noGrp="1"/>
          </p:cNvSpPr>
          <p:nvPr>
            <p:ph type="body" sz="quarter" idx="106"/>
          </p:nvPr>
        </p:nvSpPr>
        <p:spPr>
          <a:xfrm>
            <a:off x="658369" y="1600200"/>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3">
            <a:extLst>
              <a:ext uri="{FF2B5EF4-FFF2-40B4-BE49-F238E27FC236}">
                <a16:creationId xmlns:a16="http://schemas.microsoft.com/office/drawing/2014/main" id="{410FB711-34F9-3DC6-8A30-BF6163D2415B}"/>
              </a:ext>
            </a:extLst>
          </p:cNvPr>
          <p:cNvSpPr>
            <a:spLocks noGrp="1"/>
          </p:cNvSpPr>
          <p:nvPr>
            <p:ph type="body" sz="quarter" idx="107"/>
          </p:nvPr>
        </p:nvSpPr>
        <p:spPr>
          <a:xfrm>
            <a:off x="6191251" y="160137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itle 15">
            <a:extLst>
              <a:ext uri="{FF2B5EF4-FFF2-40B4-BE49-F238E27FC236}">
                <a16:creationId xmlns:a16="http://schemas.microsoft.com/office/drawing/2014/main" id="{0F5CC367-37BB-9924-6D35-6E9961E654F2}"/>
              </a:ext>
            </a:extLst>
          </p:cNvPr>
          <p:cNvSpPr>
            <a:spLocks noGrp="1"/>
          </p:cNvSpPr>
          <p:nvPr>
            <p:ph type="title"/>
          </p:nvPr>
        </p:nvSpPr>
        <p:spPr>
          <a:xfrm>
            <a:off x="658369" y="329184"/>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M_ImageText">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1" name="Text 6"/>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2" name="Title 15">
            <a:extLst>
              <a:ext uri="{FF2B5EF4-FFF2-40B4-BE49-F238E27FC236}">
                <a16:creationId xmlns:a16="http://schemas.microsoft.com/office/drawing/2014/main" id="{C11B853E-E4F2-75CB-89D7-214A00F03365}"/>
              </a:ext>
            </a:extLst>
          </p:cNvPr>
          <p:cNvSpPr>
            <a:spLocks noGrp="1"/>
          </p:cNvSpPr>
          <p:nvPr>
            <p:ph type="title"/>
          </p:nvPr>
        </p:nvSpPr>
        <p:spPr>
          <a:xfrm>
            <a:off x="658368" y="364018"/>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
        <p:nvSpPr>
          <p:cNvPr id="13" name="Text Placeholder 13">
            <a:extLst>
              <a:ext uri="{FF2B5EF4-FFF2-40B4-BE49-F238E27FC236}">
                <a16:creationId xmlns:a16="http://schemas.microsoft.com/office/drawing/2014/main" id="{C2B9465C-288F-C4AE-8A48-56102A506263}"/>
              </a:ext>
            </a:extLst>
          </p:cNvPr>
          <p:cNvSpPr>
            <a:spLocks noGrp="1"/>
          </p:cNvSpPr>
          <p:nvPr>
            <p:ph type="body" sz="quarter" idx="106"/>
          </p:nvPr>
        </p:nvSpPr>
        <p:spPr>
          <a:xfrm>
            <a:off x="658368" y="143763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Online Image Placeholder 14">
            <a:extLst>
              <a:ext uri="{FF2B5EF4-FFF2-40B4-BE49-F238E27FC236}">
                <a16:creationId xmlns:a16="http://schemas.microsoft.com/office/drawing/2014/main" id="{3D7082FD-BAF6-29B8-3332-2A2E51DF4F49}"/>
              </a:ext>
            </a:extLst>
          </p:cNvPr>
          <p:cNvSpPr>
            <a:spLocks noGrp="1"/>
          </p:cNvSpPr>
          <p:nvPr>
            <p:ph type="clipArt" sz="quarter" idx="107"/>
          </p:nvPr>
        </p:nvSpPr>
        <p:spPr>
          <a:xfrm>
            <a:off x="6191252" y="1437639"/>
            <a:ext cx="5342382" cy="4655186"/>
          </a:xfrm>
          <a:prstGeom prst="rect">
            <a:avLst/>
          </a:prstGeom>
        </p:spPr>
        <p:txBody>
          <a:bodyPr/>
          <a:lstStyle/>
          <a:p>
            <a:r>
              <a:rPr lang="en-US"/>
              <a:t>Click icon to add online image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2" name="Title 15">
            <a:extLst>
              <a:ext uri="{FF2B5EF4-FFF2-40B4-BE49-F238E27FC236}">
                <a16:creationId xmlns:a16="http://schemas.microsoft.com/office/drawing/2014/main" id="{C11B853E-E4F2-75CB-89D7-214A00F03365}"/>
              </a:ext>
            </a:extLst>
          </p:cNvPr>
          <p:cNvSpPr>
            <a:spLocks noGrp="1"/>
          </p:cNvSpPr>
          <p:nvPr>
            <p:ph type="title" hasCustomPrompt="1"/>
          </p:nvPr>
        </p:nvSpPr>
        <p:spPr>
          <a:xfrm>
            <a:off x="2132245" y="721303"/>
            <a:ext cx="3393232" cy="732155"/>
          </a:xfrm>
          <a:prstGeom prst="rect">
            <a:avLst/>
          </a:prstGeom>
        </p:spPr>
        <p:txBody>
          <a:bodyPr/>
          <a:lstStyle>
            <a:lvl1pPr>
              <a:defRPr sz="3600">
                <a:latin typeface="Britannic Bold" panose="020B0903060703020204" pitchFamily="34" charset="0"/>
              </a:defRPr>
            </a:lvl1pPr>
          </a:lstStyle>
          <a:p>
            <a:r>
              <a:rPr lang="en-US" dirty="0"/>
              <a:t>Agenda</a:t>
            </a:r>
          </a:p>
        </p:txBody>
      </p:sp>
      <p:sp>
        <p:nvSpPr>
          <p:cNvPr id="13" name="Text Placeholder 13">
            <a:extLst>
              <a:ext uri="{FF2B5EF4-FFF2-40B4-BE49-F238E27FC236}">
                <a16:creationId xmlns:a16="http://schemas.microsoft.com/office/drawing/2014/main" id="{C2B9465C-288F-C4AE-8A48-56102A506263}"/>
              </a:ext>
            </a:extLst>
          </p:cNvPr>
          <p:cNvSpPr>
            <a:spLocks noGrp="1"/>
          </p:cNvSpPr>
          <p:nvPr>
            <p:ph type="body" sz="quarter" idx="106"/>
          </p:nvPr>
        </p:nvSpPr>
        <p:spPr>
          <a:xfrm>
            <a:off x="5904738" y="154277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46F1788F-9A5A-4012-A54A-A045B7E887CF}"/>
              </a:ext>
            </a:extLst>
          </p:cNvPr>
          <p:cNvPicPr>
            <a:picLocks noChangeAspect="1"/>
          </p:cNvPicPr>
          <p:nvPr userDrawn="1"/>
        </p:nvPicPr>
        <p:blipFill>
          <a:blip r:embed="rId2">
            <a:alphaModFix amt="66000"/>
          </a:blip>
          <a:stretch>
            <a:fillRect/>
          </a:stretch>
        </p:blipFill>
        <p:spPr>
          <a:xfrm>
            <a:off x="-35168" y="1087381"/>
            <a:ext cx="8850923" cy="5900615"/>
          </a:xfrm>
          <a:prstGeom prst="rect">
            <a:avLst/>
          </a:prstGeom>
        </p:spPr>
      </p:pic>
    </p:spTree>
    <p:extLst>
      <p:ext uri="{BB962C8B-B14F-4D97-AF65-F5344CB8AC3E}">
        <p14:creationId xmlns:p14="http://schemas.microsoft.com/office/powerpoint/2010/main" val="427377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M_Activity">
    <p:bg>
      <p:bgPr>
        <a:solidFill>
          <a:srgbClr val="F8FB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E"/>
          </a:solidFill>
          <a:ln w="12700">
            <a:solidFill>
              <a:srgbClr val="F8FBFE"/>
            </a:solidFill>
            <a:prstDash val="solid"/>
          </a:ln>
        </p:spPr>
        <p:txBody>
          <a:bodyPr/>
          <a:lstStyle/>
          <a:p>
            <a:endParaRPr lang="en-US"/>
          </a:p>
        </p:txBody>
      </p:sp>
      <p:sp>
        <p:nvSpPr>
          <p:cNvPr id="3" name="Shape 1"/>
          <p:cNvSpPr/>
          <p:nvPr/>
        </p:nvSpPr>
        <p:spPr>
          <a:xfrm>
            <a:off x="0" y="0"/>
            <a:ext cx="12191695" cy="1234440"/>
          </a:xfrm>
          <a:prstGeom prst="rect">
            <a:avLst/>
          </a:prstGeom>
          <a:solidFill>
            <a:srgbClr val="D7E6F2"/>
          </a:solidFill>
          <a:ln w="12700">
            <a:solidFill>
              <a:srgbClr val="D7E6F2"/>
            </a:solidFill>
            <a:prstDash val="solid"/>
          </a:ln>
        </p:spPr>
        <p:txBody>
          <a:bodyPr/>
          <a:lstStyle/>
          <a:p>
            <a:endParaRPr lang="en-US" dirty="0"/>
          </a:p>
        </p:txBody>
      </p:sp>
      <p:sp>
        <p:nvSpPr>
          <p:cNvPr id="4" name="Shape 2"/>
          <p:cNvSpPr/>
          <p:nvPr/>
        </p:nvSpPr>
        <p:spPr>
          <a:xfrm>
            <a:off x="9966960" y="164592"/>
            <a:ext cx="1691640" cy="713232"/>
          </a:xfrm>
          <a:prstGeom prst="rect">
            <a:avLst/>
          </a:prstGeom>
          <a:solidFill>
            <a:srgbClr val="B8D0E5">
              <a:alpha val="82000"/>
            </a:srgbClr>
          </a:solidFill>
          <a:ln w="12700">
            <a:solidFill>
              <a:srgbClr val="B8D0E5">
                <a:alpha val="0"/>
              </a:srgbClr>
            </a:solidFill>
            <a:prstDash val="solid"/>
          </a:ln>
        </p:spPr>
        <p:txBody>
          <a:bodyPr/>
          <a:lstStyle/>
          <a:p>
            <a:endParaRPr lang="en-US"/>
          </a:p>
        </p:txBody>
      </p:sp>
      <p:sp>
        <p:nvSpPr>
          <p:cNvPr id="5" name="Shape 3"/>
          <p:cNvSpPr/>
          <p:nvPr/>
        </p:nvSpPr>
        <p:spPr>
          <a:xfrm>
            <a:off x="9646920" y="1005840"/>
            <a:ext cx="1828800" cy="0"/>
          </a:xfrm>
          <a:prstGeom prst="line">
            <a:avLst/>
          </a:prstGeom>
          <a:noFill/>
          <a:ln w="13970">
            <a:solidFill>
              <a:srgbClr val="B79A67">
                <a:alpha val="75000"/>
              </a:srgbClr>
            </a:solidFill>
            <a:prstDash val="solid"/>
          </a:ln>
        </p:spPr>
        <p:txBody>
          <a:bodyPr/>
          <a:lstStyle/>
          <a:p>
            <a:endParaRPr lang="en-US"/>
          </a:p>
        </p:txBody>
      </p:sp>
      <p:sp>
        <p:nvSpPr>
          <p:cNvPr id="8" name="Text 4"/>
          <p:cNvSpPr/>
          <p:nvPr/>
        </p:nvSpPr>
        <p:spPr>
          <a:xfrm>
            <a:off x="713232"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9" name="Title 15">
            <a:extLst>
              <a:ext uri="{FF2B5EF4-FFF2-40B4-BE49-F238E27FC236}">
                <a16:creationId xmlns:a16="http://schemas.microsoft.com/office/drawing/2014/main" id="{466CA2B8-6B15-974C-DB19-EBBA9B4635BE}"/>
              </a:ext>
            </a:extLst>
          </p:cNvPr>
          <p:cNvSpPr>
            <a:spLocks noGrp="1"/>
          </p:cNvSpPr>
          <p:nvPr>
            <p:ph type="title"/>
          </p:nvPr>
        </p:nvSpPr>
        <p:spPr>
          <a:xfrm>
            <a:off x="533400" y="281287"/>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346F889F-5D26-430A-A54D-726297CBF349}"/>
              </a:ext>
            </a:extLst>
          </p:cNvPr>
          <p:cNvSpPr>
            <a:spLocks noGrp="1"/>
          </p:cNvSpPr>
          <p:nvPr>
            <p:ph type="body" sz="quarter" idx="108"/>
          </p:nvPr>
        </p:nvSpPr>
        <p:spPr>
          <a:xfrm>
            <a:off x="386725" y="1396855"/>
            <a:ext cx="11418243" cy="4974332"/>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RM_Blank">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7" name="Text 5"/>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normAutofit/>
          </a:bodyPr>
          <a:lstStyle>
            <a:lvl1pPr>
              <a:defRPr sz="32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Text Placeholder 5">
            <a:extLst>
              <a:ext uri="{FF2B5EF4-FFF2-40B4-BE49-F238E27FC236}">
                <a16:creationId xmlns:a16="http://schemas.microsoft.com/office/drawing/2014/main" id="{64618B05-C18C-4A3D-9DA2-FBF373BE54C4}"/>
              </a:ext>
            </a:extLst>
          </p:cNvPr>
          <p:cNvSpPr>
            <a:spLocks noGrp="1"/>
          </p:cNvSpPr>
          <p:nvPr>
            <p:ph type="body" sz="quarter" idx="12"/>
          </p:nvPr>
        </p:nvSpPr>
        <p:spPr>
          <a:xfrm>
            <a:off x="3987800" y="6673850"/>
            <a:ext cx="7315200" cy="160338"/>
          </a:xfrm>
        </p:spPr>
        <p:txBody>
          <a:bodyPr>
            <a:noAutofit/>
          </a:bodyPr>
          <a:lstStyle>
            <a:lvl1pPr algn="r">
              <a:defRPr sz="800"/>
            </a:lvl1pPr>
          </a:lstStyle>
          <a:p>
            <a:pPr lvl="0"/>
            <a:r>
              <a:rPr lang="en-US"/>
              <a:t>Click to edit Master text styles</a:t>
            </a:r>
          </a:p>
        </p:txBody>
      </p:sp>
      <p:sp>
        <p:nvSpPr>
          <p:cNvPr id="10" name="Text Placeholder 9">
            <a:extLst>
              <a:ext uri="{FF2B5EF4-FFF2-40B4-BE49-F238E27FC236}">
                <a16:creationId xmlns:a16="http://schemas.microsoft.com/office/drawing/2014/main" id="{7B7177C8-4702-4D0B-A3DF-D9A2B23B19AB}"/>
              </a:ext>
            </a:extLst>
          </p:cNvPr>
          <p:cNvSpPr>
            <a:spLocks noGrp="1"/>
          </p:cNvSpPr>
          <p:nvPr>
            <p:ph type="body" sz="quarter" idx="13"/>
          </p:nvPr>
        </p:nvSpPr>
        <p:spPr>
          <a:xfrm>
            <a:off x="3927475" y="6348414"/>
            <a:ext cx="4337051" cy="193675"/>
          </a:xfrm>
        </p:spPr>
        <p:txBody>
          <a:bodyPr anchor="ctr">
            <a:noAutofit/>
          </a:bodyPr>
          <a:lstStyle>
            <a:lvl1pPr algn="ctr">
              <a:defRPr sz="900"/>
            </a:lvl1pPr>
          </a:lstStyle>
          <a:p>
            <a:pPr lvl="0"/>
            <a:r>
              <a:rPr lang="en-US"/>
              <a:t>Click to edit Master text styles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16F4155F-77C3-4412-81E5-2AD0BD7DA5C1}" type="slidenum">
              <a:rPr lang="en-US" smtClean="0"/>
              <a:t>‹#›</a:t>
            </a:fld>
            <a:endParaRPr lang="en-US"/>
          </a:p>
        </p:txBody>
      </p:sp>
    </p:spTree>
    <p:extLst>
      <p:ext uri="{BB962C8B-B14F-4D97-AF65-F5344CB8AC3E}">
        <p14:creationId xmlns:p14="http://schemas.microsoft.com/office/powerpoint/2010/main" val="182150586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4521D7EE-3C93-41FB-A39B-E7EF2453623E}" type="datetimeFigureOut">
              <a:rPr lang="en-US" smtClean="0"/>
              <a:t>10/9/2026</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16F4155F-77C3-4412-81E5-2AD0BD7DA5C1}"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00337581"/>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39"/>
        <p:cNvGrpSpPr/>
        <p:nvPr/>
      </p:nvGrpSpPr>
      <p:grpSpPr>
        <a:xfrm>
          <a:off x="0" y="0"/>
          <a:ext cx="0" cy="0"/>
          <a:chOff x="0" y="0"/>
          <a:chExt cx="0" cy="0"/>
        </a:xfrm>
      </p:grpSpPr>
      <p:sp>
        <p:nvSpPr>
          <p:cNvPr id="40" name="Google Shape;40;p30"/>
          <p:cNvSpPr txBox="1">
            <a:spLocks noGrp="1"/>
          </p:cNvSpPr>
          <p:nvPr>
            <p:ph type="title"/>
          </p:nvPr>
        </p:nvSpPr>
        <p:spPr>
          <a:xfrm>
            <a:off x="1568449" y="915988"/>
            <a:ext cx="9065683" cy="13033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0"/>
          <p:cNvSpPr txBox="1">
            <a:spLocks noGrp="1"/>
          </p:cNvSpPr>
          <p:nvPr>
            <p:ph type="body" idx="1"/>
          </p:nvPr>
        </p:nvSpPr>
        <p:spPr>
          <a:xfrm>
            <a:off x="1568449" y="2490788"/>
            <a:ext cx="9065683" cy="3444875"/>
          </a:xfrm>
          <a:prstGeom prst="rect">
            <a:avLst/>
          </a:prstGeom>
          <a:noFill/>
          <a:ln>
            <a:noFill/>
          </a:ln>
        </p:spPr>
        <p:txBody>
          <a:bodyPr spcFirstLastPara="1" wrap="square" lIns="91425" tIns="45700" rIns="91425" bIns="45700" anchor="t" anchorCtr="0">
            <a:noAutofit/>
          </a:bodyPr>
          <a:lstStyle>
            <a:lvl1pPr marL="457200" lvl="0" indent="-360045" algn="l">
              <a:lnSpc>
                <a:spcPct val="100000"/>
              </a:lnSpc>
              <a:spcBef>
                <a:spcPts val="360"/>
              </a:spcBef>
              <a:spcAft>
                <a:spcPts val="0"/>
              </a:spcAft>
              <a:buSzPts val="2070"/>
              <a:buChar char="•"/>
              <a:defRPr/>
            </a:lvl1pPr>
            <a:lvl2pPr marL="914400" lvl="1" indent="-360044" algn="l">
              <a:lnSpc>
                <a:spcPct val="100000"/>
              </a:lnSpc>
              <a:spcBef>
                <a:spcPts val="600"/>
              </a:spcBef>
              <a:spcAft>
                <a:spcPts val="0"/>
              </a:spcAft>
              <a:buSzPts val="2070"/>
              <a:buChar char="•"/>
              <a:defRPr/>
            </a:lvl2pPr>
            <a:lvl3pPr marL="1371600" lvl="2" indent="-360044" algn="l">
              <a:lnSpc>
                <a:spcPct val="100000"/>
              </a:lnSpc>
              <a:spcBef>
                <a:spcPts val="600"/>
              </a:spcBef>
              <a:spcAft>
                <a:spcPts val="0"/>
              </a:spcAft>
              <a:buSzPts val="2070"/>
              <a:buChar char="•"/>
              <a:defRPr/>
            </a:lvl3pPr>
            <a:lvl4pPr marL="1828800" lvl="3" indent="-360044"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a:endParaRPr/>
          </a:p>
        </p:txBody>
      </p:sp>
      <p:sp>
        <p:nvSpPr>
          <p:cNvPr id="42" name="Google Shape;42;p30"/>
          <p:cNvSpPr txBox="1">
            <a:spLocks noGrp="1"/>
          </p:cNvSpPr>
          <p:nvPr>
            <p:ph type="dt" idx="10"/>
          </p:nvPr>
        </p:nvSpPr>
        <p:spPr>
          <a:xfrm>
            <a:off x="8475133" y="5961062"/>
            <a:ext cx="1532467"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000">
                <a:latin typeface="Garamond"/>
                <a:ea typeface="Garamond"/>
                <a:cs typeface="Garamond"/>
                <a:sym typeface="Garamon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0"/>
          <p:cNvSpPr txBox="1">
            <a:spLocks noGrp="1"/>
          </p:cNvSpPr>
          <p:nvPr>
            <p:ph type="ftr" idx="11"/>
          </p:nvPr>
        </p:nvSpPr>
        <p:spPr>
          <a:xfrm>
            <a:off x="1568449" y="5961062"/>
            <a:ext cx="68072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0"/>
          <p:cNvSpPr txBox="1">
            <a:spLocks noGrp="1"/>
          </p:cNvSpPr>
          <p:nvPr>
            <p:ph type="sldNum" idx="12"/>
          </p:nvPr>
        </p:nvSpPr>
        <p:spPr>
          <a:xfrm>
            <a:off x="10107084" y="5961062"/>
            <a:ext cx="527049"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1127742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picTx">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txBody>
          <a:bodyPr/>
          <a:lstStyle/>
          <a:p>
            <a:endParaRPr lang="en-US"/>
          </a:p>
        </p:txBody>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F33A816C-0C56-4851-AC0D-B4A9E756F225}" type="datetimeFigureOut">
              <a:rPr lang="en-US" smtClean="0"/>
              <a:t>10/9/2026</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4AAAA856-4423-4828-83BC-9DD5E742DAF8}" type="slidenum">
              <a:rPr lang="en-US" smtClean="0"/>
              <a:t>‹#›</a:t>
            </a:fld>
            <a:endParaRPr lang="en-US"/>
          </a:p>
        </p:txBody>
      </p:sp>
    </p:spTree>
    <p:extLst>
      <p:ext uri="{BB962C8B-B14F-4D97-AF65-F5344CB8AC3E}">
        <p14:creationId xmlns:p14="http://schemas.microsoft.com/office/powerpoint/2010/main" val="134975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33A816C-0C56-4851-AC0D-B4A9E756F225}"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AA856-4423-4828-83BC-9DD5E742DAF8}" type="slidenum">
              <a:rPr lang="en-US" smtClean="0"/>
              <a:t>‹#›</a:t>
            </a:fld>
            <a:endParaRPr lang="en-US"/>
          </a:p>
        </p:txBody>
      </p:sp>
    </p:spTree>
    <p:extLst>
      <p:ext uri="{BB962C8B-B14F-4D97-AF65-F5344CB8AC3E}">
        <p14:creationId xmlns:p14="http://schemas.microsoft.com/office/powerpoint/2010/main" val="55423889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5" r:id="rId8"/>
    <p:sldLayoutId id="2147483656" r:id="rId9"/>
    <p:sldLayoutId id="2147483660" r:id="rId10"/>
    <p:sldLayoutId id="2147483662" r:id="rId11"/>
    <p:sldLayoutId id="2147483663" r:id="rId12"/>
    <p:sldLayoutId id="2147483664" r:id="rId13"/>
    <p:sldLayoutId id="2147483665"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onlinestatbook.com/stat_sim/sampling_dist/"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9D10E-15BC-6992-8E4E-5EFA55454732}"/>
              </a:ext>
            </a:extLst>
          </p:cNvPr>
          <p:cNvSpPr>
            <a:spLocks noGrp="1"/>
          </p:cNvSpPr>
          <p:nvPr>
            <p:ph type="title"/>
          </p:nvPr>
        </p:nvSpPr>
        <p:spPr/>
        <p:txBody>
          <a:bodyPr/>
          <a:lstStyle/>
          <a:p>
            <a:r>
              <a:rPr lang="en-US" dirty="0"/>
              <a:t>Chapter 7</a:t>
            </a:r>
          </a:p>
        </p:txBody>
      </p:sp>
      <p:sp>
        <p:nvSpPr>
          <p:cNvPr id="3" name="Content Placeholder 2">
            <a:extLst>
              <a:ext uri="{FF2B5EF4-FFF2-40B4-BE49-F238E27FC236}">
                <a16:creationId xmlns:a16="http://schemas.microsoft.com/office/drawing/2014/main" id="{34EC1EDE-B354-C748-0304-543114C1ED73}"/>
              </a:ext>
            </a:extLst>
          </p:cNvPr>
          <p:cNvSpPr>
            <a:spLocks noGrp="1"/>
          </p:cNvSpPr>
          <p:nvPr>
            <p:ph sz="quarter" idx="10"/>
          </p:nvPr>
        </p:nvSpPr>
        <p:spPr/>
        <p:txBody>
          <a:bodyPr/>
          <a:lstStyle/>
          <a:p>
            <a:r>
              <a:rPr lang="en-US" dirty="0"/>
              <a:t>Sampling</a:t>
            </a:r>
          </a:p>
        </p:txBody>
      </p:sp>
    </p:spTree>
    <p:extLst>
      <p:ext uri="{BB962C8B-B14F-4D97-AF65-F5344CB8AC3E}">
        <p14:creationId xmlns:p14="http://schemas.microsoft.com/office/powerpoint/2010/main" val="2885848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84739C-B3B3-D952-B689-AE00151FCBB0}"/>
              </a:ext>
            </a:extLst>
          </p:cNvPr>
          <p:cNvSpPr>
            <a:spLocks noGrp="1"/>
          </p:cNvSpPr>
          <p:nvPr>
            <p:ph type="title"/>
          </p:nvPr>
        </p:nvSpPr>
        <p:spPr/>
        <p:txBody>
          <a:bodyPr/>
          <a:lstStyle/>
          <a:p>
            <a:r>
              <a:rPr lang="en-US" dirty="0"/>
              <a:t>Agenda</a:t>
            </a:r>
          </a:p>
        </p:txBody>
      </p:sp>
      <p:sp>
        <p:nvSpPr>
          <p:cNvPr id="5" name="Text Placeholder 4">
            <a:extLst>
              <a:ext uri="{FF2B5EF4-FFF2-40B4-BE49-F238E27FC236}">
                <a16:creationId xmlns:a16="http://schemas.microsoft.com/office/drawing/2014/main" id="{C0F6BAC2-1345-E959-24F0-DA7E6920FE27}"/>
              </a:ext>
            </a:extLst>
          </p:cNvPr>
          <p:cNvSpPr>
            <a:spLocks noGrp="1"/>
          </p:cNvSpPr>
          <p:nvPr>
            <p:ph type="body" sz="quarter" idx="106"/>
          </p:nvPr>
        </p:nvSpPr>
        <p:spPr>
          <a:xfrm>
            <a:off x="5155474" y="1542779"/>
            <a:ext cx="6296297" cy="4654550"/>
          </a:xfrm>
        </p:spPr>
        <p:txBody>
          <a:bodyPr/>
          <a:lstStyle/>
          <a:p>
            <a:r>
              <a:rPr lang="en-US" dirty="0"/>
              <a:t>Populations and samples</a:t>
            </a:r>
          </a:p>
          <a:p>
            <a:r>
              <a:rPr lang="en-US" dirty="0"/>
              <a:t>Probability sampling techniques</a:t>
            </a:r>
          </a:p>
          <a:p>
            <a:r>
              <a:rPr lang="en-US" dirty="0"/>
              <a:t>Biased sampling techniques</a:t>
            </a:r>
          </a:p>
          <a:p>
            <a:r>
              <a:rPr lang="en-US" dirty="0"/>
              <a:t>Determining priorities </a:t>
            </a:r>
          </a:p>
          <a:p>
            <a:r>
              <a:rPr lang="en-US" dirty="0"/>
              <a:t>Next time on PSY 270… </a:t>
            </a:r>
          </a:p>
          <a:p>
            <a:endParaRPr lang="en-US" dirty="0"/>
          </a:p>
          <a:p>
            <a:endParaRPr lang="en-US" dirty="0"/>
          </a:p>
        </p:txBody>
      </p:sp>
    </p:spTree>
    <p:extLst>
      <p:ext uri="{BB962C8B-B14F-4D97-AF65-F5344CB8AC3E}">
        <p14:creationId xmlns:p14="http://schemas.microsoft.com/office/powerpoint/2010/main" val="190842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542F13-0E4A-185F-3A66-A2C864DD7E42}"/>
              </a:ext>
            </a:extLst>
          </p:cNvPr>
          <p:cNvSpPr>
            <a:spLocks noGrp="1"/>
          </p:cNvSpPr>
          <p:nvPr>
            <p:ph type="body" sz="quarter" idx="108"/>
          </p:nvPr>
        </p:nvSpPr>
        <p:spPr/>
        <p:txBody>
          <a:bodyPr/>
          <a:lstStyle/>
          <a:p>
            <a:r>
              <a:rPr lang="en-US" b="1" dirty="0"/>
              <a:t>Population </a:t>
            </a:r>
            <a:r>
              <a:rPr lang="en-US" dirty="0"/>
              <a:t>– This is the entire set of people or things in which you are interested</a:t>
            </a:r>
          </a:p>
          <a:p>
            <a:pPr lvl="1"/>
            <a:r>
              <a:rPr lang="en-US" dirty="0"/>
              <a:t>Ex: all freshman currently enrolled at UNK</a:t>
            </a:r>
          </a:p>
          <a:p>
            <a:r>
              <a:rPr lang="en-US" b="1" dirty="0"/>
              <a:t>Sample </a:t>
            </a:r>
            <a:r>
              <a:rPr lang="en-US" dirty="0"/>
              <a:t>– This is a smaller set of people or things that is taken from the population</a:t>
            </a:r>
          </a:p>
          <a:p>
            <a:pPr lvl="1"/>
            <a:r>
              <a:rPr lang="en-US" dirty="0"/>
              <a:t>Ex: 100 freshman currently enrolled at UNK</a:t>
            </a:r>
          </a:p>
          <a:p>
            <a:r>
              <a:rPr lang="en-US" b="1" dirty="0"/>
              <a:t>Census </a:t>
            </a:r>
            <a:r>
              <a:rPr lang="en-US" dirty="0"/>
              <a:t>– If you sample every member of the population </a:t>
            </a:r>
          </a:p>
          <a:p>
            <a:r>
              <a:rPr lang="en-US" b="1" dirty="0"/>
              <a:t>Generalizability </a:t>
            </a:r>
            <a:r>
              <a:rPr lang="en-US" dirty="0"/>
              <a:t>– To what extent does the sample represent the population?</a:t>
            </a:r>
          </a:p>
          <a:p>
            <a:endParaRPr lang="en-US" dirty="0"/>
          </a:p>
          <a:p>
            <a:endParaRPr lang="en-US" dirty="0"/>
          </a:p>
        </p:txBody>
      </p:sp>
      <p:sp>
        <p:nvSpPr>
          <p:cNvPr id="3" name="Title 2">
            <a:extLst>
              <a:ext uri="{FF2B5EF4-FFF2-40B4-BE49-F238E27FC236}">
                <a16:creationId xmlns:a16="http://schemas.microsoft.com/office/drawing/2014/main" id="{46A8F693-F6C3-9CB9-6EDA-054544E07ABB}"/>
              </a:ext>
            </a:extLst>
          </p:cNvPr>
          <p:cNvSpPr>
            <a:spLocks noGrp="1"/>
          </p:cNvSpPr>
          <p:nvPr>
            <p:ph type="title"/>
          </p:nvPr>
        </p:nvSpPr>
        <p:spPr/>
        <p:txBody>
          <a:bodyPr/>
          <a:lstStyle/>
          <a:p>
            <a:r>
              <a:rPr lang="en-US" dirty="0"/>
              <a:t>Populations and Samples</a:t>
            </a:r>
          </a:p>
        </p:txBody>
      </p:sp>
    </p:spTree>
    <p:extLst>
      <p:ext uri="{BB962C8B-B14F-4D97-AF65-F5344CB8AC3E}">
        <p14:creationId xmlns:p14="http://schemas.microsoft.com/office/powerpoint/2010/main" val="2123243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6B3BF-8358-A5C3-3DCE-FCE6F85A7FA2}"/>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B2DFDDB9-C979-71F9-9ABA-DD117743825B}"/>
              </a:ext>
            </a:extLst>
          </p:cNvPr>
          <p:cNvSpPr>
            <a:spLocks noGrp="1"/>
          </p:cNvSpPr>
          <p:nvPr>
            <p:ph type="body" sz="quarter" idx="108"/>
          </p:nvPr>
        </p:nvSpPr>
        <p:spPr/>
        <p:txBody>
          <a:bodyPr/>
          <a:lstStyle/>
          <a:p>
            <a:r>
              <a:rPr lang="en-US" dirty="0"/>
              <a:t>Does our sample generalize to our population?</a:t>
            </a:r>
          </a:p>
          <a:p>
            <a:r>
              <a:rPr lang="en-US" dirty="0"/>
              <a:t>Does our sample represent the variability in our population?</a:t>
            </a:r>
          </a:p>
          <a:p>
            <a:endParaRPr lang="en-US" dirty="0"/>
          </a:p>
          <a:p>
            <a:r>
              <a:rPr lang="en-US" dirty="0"/>
              <a:t>Why do we need a large (enough) sample size?</a:t>
            </a:r>
          </a:p>
          <a:p>
            <a:pPr lvl="1"/>
            <a:r>
              <a:rPr lang="en-US" dirty="0">
                <a:hlinkClick r:id="rId3"/>
              </a:rPr>
              <a:t>https://onlinestatbook.com/stat_sim/sampling_dist/</a:t>
            </a:r>
            <a:r>
              <a:rPr lang="en-US" dirty="0"/>
              <a:t> </a:t>
            </a:r>
          </a:p>
        </p:txBody>
      </p:sp>
      <p:sp>
        <p:nvSpPr>
          <p:cNvPr id="4" name="Title 3">
            <a:extLst>
              <a:ext uri="{FF2B5EF4-FFF2-40B4-BE49-F238E27FC236}">
                <a16:creationId xmlns:a16="http://schemas.microsoft.com/office/drawing/2014/main" id="{7C27E255-CFD3-9B56-DFC5-529827CF214C}"/>
              </a:ext>
            </a:extLst>
          </p:cNvPr>
          <p:cNvSpPr>
            <a:spLocks noGrp="1"/>
          </p:cNvSpPr>
          <p:nvPr>
            <p:ph type="title"/>
          </p:nvPr>
        </p:nvSpPr>
        <p:spPr/>
        <p:txBody>
          <a:bodyPr/>
          <a:lstStyle/>
          <a:p>
            <a:r>
              <a:rPr lang="en-US" dirty="0"/>
              <a:t>Populations and Samples</a:t>
            </a:r>
          </a:p>
        </p:txBody>
      </p:sp>
    </p:spTree>
    <p:extLst>
      <p:ext uri="{BB962C8B-B14F-4D97-AF65-F5344CB8AC3E}">
        <p14:creationId xmlns:p14="http://schemas.microsoft.com/office/powerpoint/2010/main" val="4170087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7F7F0-B9C7-6744-ABC7-0DD3BB51A428}"/>
              </a:ext>
            </a:extLst>
          </p:cNvPr>
          <p:cNvSpPr>
            <a:spLocks noGrp="1"/>
          </p:cNvSpPr>
          <p:nvPr>
            <p:ph type="title"/>
          </p:nvPr>
        </p:nvSpPr>
        <p:spPr/>
        <p:txBody>
          <a:bodyPr>
            <a:noAutofit/>
          </a:bodyPr>
          <a:lstStyle/>
          <a:p>
            <a:r>
              <a:rPr lang="en-US" sz="4800" dirty="0"/>
              <a:t>Coming from a Population Versus Generalizing to That Population</a:t>
            </a:r>
          </a:p>
        </p:txBody>
      </p:sp>
      <p:pic>
        <p:nvPicPr>
          <p:cNvPr id="4" name="Picture 3" descr="A table titled, Biased and Unbiased Samples of Different Populations of Interest. Detailed table information is available in the accessible content.">
            <a:extLst>
              <a:ext uri="{FF2B5EF4-FFF2-40B4-BE49-F238E27FC236}">
                <a16:creationId xmlns:a16="http://schemas.microsoft.com/office/drawing/2014/main" id="{1C74C164-22B3-3C77-5CDB-C41A72AA1C25}"/>
              </a:ext>
            </a:extLst>
          </p:cNvPr>
          <p:cNvPicPr>
            <a:picLocks noChangeAspect="1"/>
          </p:cNvPicPr>
          <p:nvPr/>
        </p:nvPicPr>
        <p:blipFill>
          <a:blip r:embed="rId3"/>
          <a:stretch>
            <a:fillRect/>
          </a:stretch>
        </p:blipFill>
        <p:spPr>
          <a:xfrm>
            <a:off x="1251678" y="2210418"/>
            <a:ext cx="10240277" cy="3593591"/>
          </a:xfrm>
          <a:prstGeom prst="rect">
            <a:avLst/>
          </a:prstGeom>
        </p:spPr>
      </p:pic>
    </p:spTree>
    <p:extLst>
      <p:ext uri="{BB962C8B-B14F-4D97-AF65-F5344CB8AC3E}">
        <p14:creationId xmlns:p14="http://schemas.microsoft.com/office/powerpoint/2010/main" val="229304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B667D-5AAC-451E-A8B3-201A485B84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2B6B8AF-F6BD-E773-FF0A-689C73B83264}"/>
              </a:ext>
            </a:extLst>
          </p:cNvPr>
          <p:cNvSpPr>
            <a:spLocks noGrp="1"/>
          </p:cNvSpPr>
          <p:nvPr>
            <p:ph type="title"/>
          </p:nvPr>
        </p:nvSpPr>
        <p:spPr/>
        <p:txBody>
          <a:bodyPr/>
          <a:lstStyle/>
          <a:p>
            <a:r>
              <a:rPr lang="en-US" dirty="0"/>
              <a:t>Probability Sampling</a:t>
            </a:r>
          </a:p>
        </p:txBody>
      </p:sp>
    </p:spTree>
    <p:extLst>
      <p:ext uri="{BB962C8B-B14F-4D97-AF65-F5344CB8AC3E}">
        <p14:creationId xmlns:p14="http://schemas.microsoft.com/office/powerpoint/2010/main" val="1922860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4D7C65-6514-7989-FE21-85C0310286BF}"/>
              </a:ext>
            </a:extLst>
          </p:cNvPr>
          <p:cNvSpPr>
            <a:spLocks noGrp="1"/>
          </p:cNvSpPr>
          <p:nvPr>
            <p:ph type="body" sz="quarter" idx="108"/>
          </p:nvPr>
        </p:nvSpPr>
        <p:spPr/>
        <p:txBody>
          <a:bodyPr/>
          <a:lstStyle/>
          <a:p>
            <a:r>
              <a:rPr lang="en-US" b="1" dirty="0"/>
              <a:t>Probability sampling </a:t>
            </a:r>
            <a:r>
              <a:rPr lang="en-US" dirty="0"/>
              <a:t>(also called random sampling) – Every member of the population of interest has an equal chance of being selected for the sample. </a:t>
            </a:r>
          </a:p>
          <a:p>
            <a:r>
              <a:rPr lang="en-US" b="1" dirty="0"/>
              <a:t>Simple random sampling</a:t>
            </a:r>
            <a:r>
              <a:rPr lang="en-US" dirty="0"/>
              <a:t> – randomly sampling without any specific “rules” applied</a:t>
            </a:r>
          </a:p>
          <a:p>
            <a:pPr lvl="1"/>
            <a:r>
              <a:rPr lang="en-US" dirty="0"/>
              <a:t>Ex: Putting every member’s name of your population of interest in a pool and then randomly selecting a predetermined number of names from the pool to include in your sample</a:t>
            </a:r>
          </a:p>
          <a:p>
            <a:r>
              <a:rPr lang="en-US" b="1" dirty="0"/>
              <a:t>Systematic sampling</a:t>
            </a:r>
            <a:r>
              <a:rPr lang="en-US" dirty="0"/>
              <a:t> – creating “rules” for how you will randomly select participants</a:t>
            </a:r>
          </a:p>
          <a:p>
            <a:pPr lvl="1"/>
            <a:r>
              <a:rPr lang="en-US" dirty="0"/>
              <a:t>Ex: If I wanted to systematically sample this class, I could roll two dice. Let’s say one lands on five and the other lands on three. I would start at the fifth person in the class and then choose every third person until the sample reached the desired size.</a:t>
            </a:r>
          </a:p>
        </p:txBody>
      </p:sp>
      <p:sp>
        <p:nvSpPr>
          <p:cNvPr id="3" name="Title 2">
            <a:extLst>
              <a:ext uri="{FF2B5EF4-FFF2-40B4-BE49-F238E27FC236}">
                <a16:creationId xmlns:a16="http://schemas.microsoft.com/office/drawing/2014/main" id="{BB6D5697-7AC1-993A-2040-D6AEBC091C63}"/>
              </a:ext>
            </a:extLst>
          </p:cNvPr>
          <p:cNvSpPr>
            <a:spLocks noGrp="1"/>
          </p:cNvSpPr>
          <p:nvPr>
            <p:ph type="title"/>
          </p:nvPr>
        </p:nvSpPr>
        <p:spPr/>
        <p:txBody>
          <a:bodyPr/>
          <a:lstStyle/>
          <a:p>
            <a:r>
              <a:rPr lang="en-US" dirty="0"/>
              <a:t>Probability Sampling</a:t>
            </a:r>
          </a:p>
        </p:txBody>
      </p:sp>
    </p:spTree>
    <p:extLst>
      <p:ext uri="{BB962C8B-B14F-4D97-AF65-F5344CB8AC3E}">
        <p14:creationId xmlns:p14="http://schemas.microsoft.com/office/powerpoint/2010/main" val="3040711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4FCE72-0128-3DA0-5233-A5FC13D63805}"/>
              </a:ext>
            </a:extLst>
          </p:cNvPr>
          <p:cNvSpPr>
            <a:spLocks noGrp="1"/>
          </p:cNvSpPr>
          <p:nvPr>
            <p:ph type="body" sz="quarter" idx="108"/>
          </p:nvPr>
        </p:nvSpPr>
        <p:spPr/>
        <p:txBody>
          <a:bodyPr/>
          <a:lstStyle/>
          <a:p>
            <a:r>
              <a:rPr lang="en-US" b="1" dirty="0"/>
              <a:t>Cluster sampling</a:t>
            </a:r>
            <a:r>
              <a:rPr lang="en-US" dirty="0"/>
              <a:t> – Clusters of participants within a population of interest are randomly selected, and then all individuals in each selected cluster are used. </a:t>
            </a:r>
          </a:p>
          <a:p>
            <a:pPr lvl="1"/>
            <a:r>
              <a:rPr lang="en-US" dirty="0"/>
              <a:t>Ex: If a researcher wanted to randomly sample high school students in the state of Pennsylvania, for example, he could start with a list of the 952 public high schools (clusters) in that state, randomly select 100 of those high schools (clusters), and then include every student from each of those 100 schools in the sample.</a:t>
            </a:r>
          </a:p>
          <a:p>
            <a:endParaRPr lang="en-US" dirty="0"/>
          </a:p>
        </p:txBody>
      </p:sp>
      <p:sp>
        <p:nvSpPr>
          <p:cNvPr id="3" name="Title 2">
            <a:extLst>
              <a:ext uri="{FF2B5EF4-FFF2-40B4-BE49-F238E27FC236}">
                <a16:creationId xmlns:a16="http://schemas.microsoft.com/office/drawing/2014/main" id="{72563ED0-72F4-5118-97C7-3E0A9FD93DED}"/>
              </a:ext>
            </a:extLst>
          </p:cNvPr>
          <p:cNvSpPr>
            <a:spLocks noGrp="1"/>
          </p:cNvSpPr>
          <p:nvPr>
            <p:ph type="title"/>
          </p:nvPr>
        </p:nvSpPr>
        <p:spPr/>
        <p:txBody>
          <a:bodyPr/>
          <a:lstStyle/>
          <a:p>
            <a:r>
              <a:rPr lang="en-US" dirty="0"/>
              <a:t>Probability Sampling</a:t>
            </a:r>
          </a:p>
        </p:txBody>
      </p:sp>
    </p:spTree>
    <p:extLst>
      <p:ext uri="{BB962C8B-B14F-4D97-AF65-F5344CB8AC3E}">
        <p14:creationId xmlns:p14="http://schemas.microsoft.com/office/powerpoint/2010/main" val="3035232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11AE8-0550-CFD3-70F5-7BC28CB62BE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6146563-41E2-9D90-8B0C-95C238D4BCAD}"/>
              </a:ext>
            </a:extLst>
          </p:cNvPr>
          <p:cNvSpPr>
            <a:spLocks noGrp="1"/>
          </p:cNvSpPr>
          <p:nvPr>
            <p:ph type="body" sz="quarter" idx="108"/>
          </p:nvPr>
        </p:nvSpPr>
        <p:spPr/>
        <p:txBody>
          <a:bodyPr/>
          <a:lstStyle/>
          <a:p>
            <a:r>
              <a:rPr lang="en-US" b="1" dirty="0"/>
              <a:t>Multistage sampling</a:t>
            </a:r>
            <a:r>
              <a:rPr lang="en-US" dirty="0"/>
              <a:t> – When the randomization occurs at multiple steps (typically in 2 stages). Stage 1: A random sample of clusters is selected from your population of interest. Stage 2: From those selected clusters, a random sample of people is chosen. </a:t>
            </a:r>
          </a:p>
          <a:p>
            <a:pPr lvl="1"/>
            <a:r>
              <a:rPr lang="en-US" dirty="0"/>
              <a:t>For example, a researcher starts with a list of high schools (clusters) in the state and selects a random 100 of those schools. Then, instead of selecting all students at each school, she selects a random sample of students from each of the 100 selected schools.</a:t>
            </a:r>
          </a:p>
        </p:txBody>
      </p:sp>
      <p:sp>
        <p:nvSpPr>
          <p:cNvPr id="3" name="Title 2">
            <a:extLst>
              <a:ext uri="{FF2B5EF4-FFF2-40B4-BE49-F238E27FC236}">
                <a16:creationId xmlns:a16="http://schemas.microsoft.com/office/drawing/2014/main" id="{57127600-7B53-C64D-EB96-575481603B54}"/>
              </a:ext>
            </a:extLst>
          </p:cNvPr>
          <p:cNvSpPr>
            <a:spLocks noGrp="1"/>
          </p:cNvSpPr>
          <p:nvPr>
            <p:ph type="title"/>
          </p:nvPr>
        </p:nvSpPr>
        <p:spPr/>
        <p:txBody>
          <a:bodyPr/>
          <a:lstStyle/>
          <a:p>
            <a:r>
              <a:rPr lang="en-US" dirty="0"/>
              <a:t>Probability Sampling</a:t>
            </a:r>
          </a:p>
        </p:txBody>
      </p:sp>
    </p:spTree>
    <p:extLst>
      <p:ext uri="{BB962C8B-B14F-4D97-AF65-F5344CB8AC3E}">
        <p14:creationId xmlns:p14="http://schemas.microsoft.com/office/powerpoint/2010/main" val="1464923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AF2CB-E651-C826-6C6B-22798470420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CFAE1A5-6A73-10AA-60EF-E58111708DB3}"/>
              </a:ext>
            </a:extLst>
          </p:cNvPr>
          <p:cNvSpPr>
            <a:spLocks noGrp="1"/>
          </p:cNvSpPr>
          <p:nvPr>
            <p:ph type="body" sz="quarter" idx="108"/>
          </p:nvPr>
        </p:nvSpPr>
        <p:spPr/>
        <p:txBody>
          <a:bodyPr/>
          <a:lstStyle/>
          <a:p>
            <a:r>
              <a:rPr lang="en-US" b="1" dirty="0"/>
              <a:t>Stratified random sampling </a:t>
            </a:r>
            <a:r>
              <a:rPr lang="en-US" dirty="0"/>
              <a:t>– A multistage technique in which the researcher selects specific demographic categories (such as race or gender) and then randomly selects individuals from each of the categories. </a:t>
            </a:r>
          </a:p>
          <a:p>
            <a:pPr lvl="1"/>
            <a:r>
              <a:rPr lang="en-US" dirty="0"/>
              <a:t>Ex: a group of researchers might want to be sure their sample of 1,000 Canadians includes people of South Asian descent in the same proportion as in the Canadian population (which is 4%). Thus, they might have two categories (strata) in their population: South Asian Canadians and other Canadians.</a:t>
            </a:r>
          </a:p>
          <a:p>
            <a:r>
              <a:rPr lang="en-US" b="1" dirty="0"/>
              <a:t>Oversampling </a:t>
            </a:r>
            <a:r>
              <a:rPr lang="en-US" dirty="0"/>
              <a:t>– a variation of stratified random sampling in which a researcher over represents one or more groups. </a:t>
            </a:r>
          </a:p>
          <a:p>
            <a:pPr lvl="1"/>
            <a:r>
              <a:rPr lang="en-US" dirty="0"/>
              <a:t>For the example, it could mean increasing the proportion of South Asian participants to 10%</a:t>
            </a:r>
          </a:p>
          <a:p>
            <a:endParaRPr lang="en-US" dirty="0"/>
          </a:p>
        </p:txBody>
      </p:sp>
      <p:sp>
        <p:nvSpPr>
          <p:cNvPr id="3" name="Title 2">
            <a:extLst>
              <a:ext uri="{FF2B5EF4-FFF2-40B4-BE49-F238E27FC236}">
                <a16:creationId xmlns:a16="http://schemas.microsoft.com/office/drawing/2014/main" id="{68237E21-0D46-CEDB-DA18-B99E96817710}"/>
              </a:ext>
            </a:extLst>
          </p:cNvPr>
          <p:cNvSpPr>
            <a:spLocks noGrp="1"/>
          </p:cNvSpPr>
          <p:nvPr>
            <p:ph type="title"/>
          </p:nvPr>
        </p:nvSpPr>
        <p:spPr/>
        <p:txBody>
          <a:bodyPr/>
          <a:lstStyle/>
          <a:p>
            <a:r>
              <a:rPr lang="en-US" dirty="0"/>
              <a:t>Probability Sampling</a:t>
            </a:r>
          </a:p>
        </p:txBody>
      </p:sp>
    </p:spTree>
    <p:extLst>
      <p:ext uri="{BB962C8B-B14F-4D97-AF65-F5344CB8AC3E}">
        <p14:creationId xmlns:p14="http://schemas.microsoft.com/office/powerpoint/2010/main" val="3070041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82BE60-3589-433C-02CF-0EB801CB6ABC}"/>
              </a:ext>
            </a:extLst>
          </p:cNvPr>
          <p:cNvSpPr>
            <a:spLocks noGrp="1"/>
          </p:cNvSpPr>
          <p:nvPr>
            <p:ph type="title"/>
          </p:nvPr>
        </p:nvSpPr>
        <p:spPr>
          <a:xfrm>
            <a:off x="221255" y="2626338"/>
            <a:ext cx="4992687" cy="801824"/>
          </a:xfrm>
        </p:spPr>
        <p:txBody>
          <a:bodyPr/>
          <a:lstStyle/>
          <a:p>
            <a:r>
              <a:rPr lang="en-US" dirty="0"/>
              <a:t>Probability Sampling</a:t>
            </a:r>
          </a:p>
        </p:txBody>
      </p:sp>
      <p:pic>
        <p:nvPicPr>
          <p:cNvPr id="5" name="Picture 2" descr="Three common forms of probability sampling. Figure a illustrates simple random sampling. There are 30 individual people, with arrows pointing to persons 2, 4, 6, 12, 13, 14, 18, 22, and 23 as selected using Research Randomizer. Figure b illustrates cluster sampling. There are 10 houses labeled 1 through 10. Each house contains several people. Arrows point to houses 3, 5, 6, and 10. Figure c illustrates stratified random sampling. There are three differently colored and differently sized groups of people. Arrows points to randomly selected individuals within each group.">
            <a:extLst>
              <a:ext uri="{FF2B5EF4-FFF2-40B4-BE49-F238E27FC236}">
                <a16:creationId xmlns:a16="http://schemas.microsoft.com/office/drawing/2014/main" id="{699B397F-54FB-40A6-FC41-CD6F03E5F1D5}"/>
              </a:ext>
            </a:extLst>
          </p:cNvPr>
          <p:cNvPicPr>
            <a:picLocks noChangeAspect="1"/>
          </p:cNvPicPr>
          <p:nvPr/>
        </p:nvPicPr>
        <p:blipFill>
          <a:blip r:embed="rId3"/>
          <a:stretch>
            <a:fillRect/>
          </a:stretch>
        </p:blipFill>
        <p:spPr>
          <a:xfrm>
            <a:off x="5551868" y="321714"/>
            <a:ext cx="5907380" cy="6618913"/>
          </a:xfrm>
          <a:prstGeom prst="rect">
            <a:avLst/>
          </a:prstGeom>
        </p:spPr>
      </p:pic>
    </p:spTree>
    <p:extLst>
      <p:ext uri="{BB962C8B-B14F-4D97-AF65-F5344CB8AC3E}">
        <p14:creationId xmlns:p14="http://schemas.microsoft.com/office/powerpoint/2010/main" val="3777656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7A11AF4-F9D4-E8EA-97B9-0BCD37A7AE08}"/>
              </a:ext>
            </a:extLst>
          </p:cNvPr>
          <p:cNvSpPr>
            <a:spLocks noGrp="1"/>
          </p:cNvSpPr>
          <p:nvPr>
            <p:ph type="body" sz="quarter" idx="108"/>
          </p:nvPr>
        </p:nvSpPr>
        <p:spPr/>
        <p:txBody>
          <a:bodyPr/>
          <a:lstStyle/>
          <a:p>
            <a:r>
              <a:rPr lang="en-US" b="1" dirty="0"/>
              <a:t>Random sampling</a:t>
            </a:r>
            <a:r>
              <a:rPr lang="en-US" dirty="0"/>
              <a:t> – creating a sample using some random method so that each member of the population of interest has an equal chance of being in the sample; this method increases external validity. </a:t>
            </a:r>
          </a:p>
          <a:p>
            <a:pPr lvl="1"/>
            <a:r>
              <a:rPr lang="en-US" dirty="0"/>
              <a:t>Increases external validity</a:t>
            </a:r>
          </a:p>
          <a:p>
            <a:r>
              <a:rPr lang="en-US" b="1" dirty="0"/>
              <a:t>Random assignment</a:t>
            </a:r>
            <a:r>
              <a:rPr lang="en-US" dirty="0"/>
              <a:t> – only used in experiments; participants are randomly put into different groups (usually a treatment group and a comparison group); this method increases internal validity.</a:t>
            </a:r>
          </a:p>
          <a:p>
            <a:pPr lvl="1"/>
            <a:r>
              <a:rPr lang="en-US" dirty="0"/>
              <a:t>Increases internal validity</a:t>
            </a:r>
          </a:p>
        </p:txBody>
      </p:sp>
      <p:sp>
        <p:nvSpPr>
          <p:cNvPr id="3" name="Title 2">
            <a:extLst>
              <a:ext uri="{FF2B5EF4-FFF2-40B4-BE49-F238E27FC236}">
                <a16:creationId xmlns:a16="http://schemas.microsoft.com/office/drawing/2014/main" id="{EE16E3C9-ABFC-AB6E-D9B5-E27DF0336679}"/>
              </a:ext>
            </a:extLst>
          </p:cNvPr>
          <p:cNvSpPr>
            <a:spLocks noGrp="1"/>
          </p:cNvSpPr>
          <p:nvPr>
            <p:ph type="title"/>
          </p:nvPr>
        </p:nvSpPr>
        <p:spPr/>
        <p:txBody>
          <a:bodyPr/>
          <a:lstStyle/>
          <a:p>
            <a:r>
              <a:rPr lang="en-US" dirty="0"/>
              <a:t>A Quick Note on Terminology</a:t>
            </a:r>
          </a:p>
        </p:txBody>
      </p:sp>
    </p:spTree>
    <p:extLst>
      <p:ext uri="{BB962C8B-B14F-4D97-AF65-F5344CB8AC3E}">
        <p14:creationId xmlns:p14="http://schemas.microsoft.com/office/powerpoint/2010/main" val="2654889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81BF71-1724-9F57-F683-5876388422EC}"/>
              </a:ext>
            </a:extLst>
          </p:cNvPr>
          <p:cNvSpPr>
            <a:spLocks noGrp="1"/>
          </p:cNvSpPr>
          <p:nvPr>
            <p:ph type="title"/>
          </p:nvPr>
        </p:nvSpPr>
        <p:spPr/>
        <p:txBody>
          <a:bodyPr/>
          <a:lstStyle/>
          <a:p>
            <a:r>
              <a:rPr lang="en-US" dirty="0"/>
              <a:t>Biased Sampling</a:t>
            </a:r>
          </a:p>
        </p:txBody>
      </p:sp>
    </p:spTree>
    <p:extLst>
      <p:ext uri="{BB962C8B-B14F-4D97-AF65-F5344CB8AC3E}">
        <p14:creationId xmlns:p14="http://schemas.microsoft.com/office/powerpoint/2010/main" val="344004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7B5CDA-DE9D-E449-B733-2A182F170216}"/>
              </a:ext>
            </a:extLst>
          </p:cNvPr>
          <p:cNvSpPr>
            <a:spLocks noGrp="1"/>
          </p:cNvSpPr>
          <p:nvPr>
            <p:ph type="body" sz="quarter" idx="108"/>
          </p:nvPr>
        </p:nvSpPr>
        <p:spPr/>
        <p:txBody>
          <a:bodyPr/>
          <a:lstStyle/>
          <a:p>
            <a:r>
              <a:rPr lang="en-US" b="1" dirty="0"/>
              <a:t>Convenience sampling</a:t>
            </a:r>
            <a:r>
              <a:rPr lang="en-US" dirty="0"/>
              <a:t> – Sampling only those who are easy to contact</a:t>
            </a:r>
          </a:p>
          <a:p>
            <a:r>
              <a:rPr lang="en-US" b="1" dirty="0"/>
              <a:t>Self-selection</a:t>
            </a:r>
            <a:r>
              <a:rPr lang="en-US" dirty="0"/>
              <a:t> – Sampling only those who volunteer</a:t>
            </a:r>
          </a:p>
          <a:p>
            <a:endParaRPr lang="en-US" b="1" dirty="0"/>
          </a:p>
          <a:p>
            <a:endParaRPr lang="en-US" b="1" dirty="0"/>
          </a:p>
          <a:p>
            <a:r>
              <a:rPr lang="en-US" b="1" dirty="0"/>
              <a:t>Important note</a:t>
            </a:r>
            <a:r>
              <a:rPr lang="en-US" dirty="0"/>
              <a:t>: Biased does NOT always equal bad. Remember, certain claims have different priorities in validities</a:t>
            </a:r>
          </a:p>
          <a:p>
            <a:pPr lvl="1"/>
            <a:r>
              <a:rPr lang="en-US" dirty="0"/>
              <a:t>For a frequency claim, it is very important that your sample is unbiased (prioritizing external validity)</a:t>
            </a:r>
          </a:p>
          <a:p>
            <a:pPr lvl="1"/>
            <a:r>
              <a:rPr lang="en-US" dirty="0"/>
              <a:t>For a causal claim, internal validity is the priority. There will be many more scenarios where you choose to have a biased sample on purpose</a:t>
            </a:r>
          </a:p>
          <a:p>
            <a:pPr lvl="1"/>
            <a:r>
              <a:rPr lang="en-US" dirty="0"/>
              <a:t>The key is to understand what kind of claim you are making, and what you should prioritize accordingly</a:t>
            </a:r>
          </a:p>
        </p:txBody>
      </p:sp>
      <p:sp>
        <p:nvSpPr>
          <p:cNvPr id="3" name="Title 2">
            <a:extLst>
              <a:ext uri="{FF2B5EF4-FFF2-40B4-BE49-F238E27FC236}">
                <a16:creationId xmlns:a16="http://schemas.microsoft.com/office/drawing/2014/main" id="{56D50D19-06FC-0F22-C8E6-D6147955AD63}"/>
              </a:ext>
            </a:extLst>
          </p:cNvPr>
          <p:cNvSpPr>
            <a:spLocks noGrp="1"/>
          </p:cNvSpPr>
          <p:nvPr>
            <p:ph type="title"/>
          </p:nvPr>
        </p:nvSpPr>
        <p:spPr/>
        <p:txBody>
          <a:bodyPr/>
          <a:lstStyle/>
          <a:p>
            <a:r>
              <a:rPr lang="en-US" dirty="0"/>
              <a:t>Biased Sampling</a:t>
            </a:r>
          </a:p>
        </p:txBody>
      </p:sp>
    </p:spTree>
    <p:extLst>
      <p:ext uri="{BB962C8B-B14F-4D97-AF65-F5344CB8AC3E}">
        <p14:creationId xmlns:p14="http://schemas.microsoft.com/office/powerpoint/2010/main" val="826499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5C37D7F-C999-97E2-79D0-7C7BF5CCD660}"/>
              </a:ext>
            </a:extLst>
          </p:cNvPr>
          <p:cNvSpPr>
            <a:spLocks noGrp="1"/>
          </p:cNvSpPr>
          <p:nvPr>
            <p:ph type="body" sz="quarter" idx="108"/>
          </p:nvPr>
        </p:nvSpPr>
        <p:spPr/>
        <p:txBody>
          <a:bodyPr/>
          <a:lstStyle/>
          <a:p>
            <a:r>
              <a:rPr lang="en-US" b="1" dirty="0"/>
              <a:t>Purposive sampling</a:t>
            </a:r>
            <a:r>
              <a:rPr lang="en-US" dirty="0"/>
              <a:t> – A sampling technique used when you want to study certain kinds of people, so you only recruit those types of participants. </a:t>
            </a:r>
          </a:p>
          <a:p>
            <a:pPr lvl="1"/>
            <a:r>
              <a:rPr lang="en-US" dirty="0"/>
              <a:t>Ex: if you wanted to recruit smokers, you might recruit participants from a tobacco store. </a:t>
            </a:r>
          </a:p>
          <a:p>
            <a:endParaRPr lang="en-US" dirty="0"/>
          </a:p>
          <a:p>
            <a:r>
              <a:rPr lang="en-US" b="1" dirty="0"/>
              <a:t>Snowball sampling</a:t>
            </a:r>
            <a:r>
              <a:rPr lang="en-US" dirty="0"/>
              <a:t> – A variation on purposive sampling in which participants are asked to recommend other participants for the study. </a:t>
            </a:r>
          </a:p>
          <a:p>
            <a:pPr lvl="1"/>
            <a:r>
              <a:rPr lang="en-US" dirty="0"/>
              <a:t>Ex: if you wanted to recruit cancer survivors, you might ask a participant to recruit the survivors they know, then have their friends help recruit (and so on and so on)</a:t>
            </a:r>
          </a:p>
          <a:p>
            <a:endParaRPr lang="en-US" dirty="0"/>
          </a:p>
        </p:txBody>
      </p:sp>
      <p:sp>
        <p:nvSpPr>
          <p:cNvPr id="3" name="Title 2">
            <a:extLst>
              <a:ext uri="{FF2B5EF4-FFF2-40B4-BE49-F238E27FC236}">
                <a16:creationId xmlns:a16="http://schemas.microsoft.com/office/drawing/2014/main" id="{EA98477C-420D-82A0-734D-46C6F7979CF6}"/>
              </a:ext>
            </a:extLst>
          </p:cNvPr>
          <p:cNvSpPr>
            <a:spLocks noGrp="1"/>
          </p:cNvSpPr>
          <p:nvPr>
            <p:ph type="title"/>
          </p:nvPr>
        </p:nvSpPr>
        <p:spPr/>
        <p:txBody>
          <a:bodyPr/>
          <a:lstStyle/>
          <a:p>
            <a:r>
              <a:rPr lang="en-US" dirty="0"/>
              <a:t>Biased Sampling Techniques</a:t>
            </a:r>
          </a:p>
        </p:txBody>
      </p:sp>
    </p:spTree>
    <p:extLst>
      <p:ext uri="{BB962C8B-B14F-4D97-AF65-F5344CB8AC3E}">
        <p14:creationId xmlns:p14="http://schemas.microsoft.com/office/powerpoint/2010/main" val="2252589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59E17-E931-1235-38B9-B030BB6E4DE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2F61D18-B914-E3B5-CB2F-61EC33C13758}"/>
              </a:ext>
            </a:extLst>
          </p:cNvPr>
          <p:cNvSpPr>
            <a:spLocks noGrp="1"/>
          </p:cNvSpPr>
          <p:nvPr>
            <p:ph type="body" sz="quarter" idx="108"/>
          </p:nvPr>
        </p:nvSpPr>
        <p:spPr/>
        <p:txBody>
          <a:bodyPr/>
          <a:lstStyle/>
          <a:p>
            <a:r>
              <a:rPr lang="en-US" b="1" dirty="0"/>
              <a:t>Quota sampling</a:t>
            </a:r>
            <a:r>
              <a:rPr lang="en-US" dirty="0"/>
              <a:t> – A technique similar to stratified random sampling; the researcher identifies subsets of the population and then sets a target number (i.e., a quota) for each category in the sample. Then she uses nonrandom sampling until the quotas are filled. </a:t>
            </a:r>
          </a:p>
          <a:p>
            <a:pPr lvl="1"/>
            <a:r>
              <a:rPr lang="en-US" dirty="0"/>
              <a:t>Ex: you would like to have 20 college freshman, 20 sophomores, 20 juniors, and 20 seniors in your sample. You know some people in each of these categories but not 20 of each, so you might use snowball sampling until you meet your quota of 20 in each subset.</a:t>
            </a:r>
          </a:p>
          <a:p>
            <a:endParaRPr lang="en-US" dirty="0"/>
          </a:p>
        </p:txBody>
      </p:sp>
      <p:sp>
        <p:nvSpPr>
          <p:cNvPr id="3" name="Title 2">
            <a:extLst>
              <a:ext uri="{FF2B5EF4-FFF2-40B4-BE49-F238E27FC236}">
                <a16:creationId xmlns:a16="http://schemas.microsoft.com/office/drawing/2014/main" id="{06FCD1CD-258B-C87B-9BB9-B5557EE4A666}"/>
              </a:ext>
            </a:extLst>
          </p:cNvPr>
          <p:cNvSpPr>
            <a:spLocks noGrp="1"/>
          </p:cNvSpPr>
          <p:nvPr>
            <p:ph type="title"/>
          </p:nvPr>
        </p:nvSpPr>
        <p:spPr/>
        <p:txBody>
          <a:bodyPr/>
          <a:lstStyle/>
          <a:p>
            <a:r>
              <a:rPr lang="en-US" dirty="0"/>
              <a:t>Biased Sampling Techniques</a:t>
            </a:r>
          </a:p>
        </p:txBody>
      </p:sp>
    </p:spTree>
    <p:extLst>
      <p:ext uri="{BB962C8B-B14F-4D97-AF65-F5344CB8AC3E}">
        <p14:creationId xmlns:p14="http://schemas.microsoft.com/office/powerpoint/2010/main" val="2649104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6F3BD3-FC4A-22CE-9B60-5D1B5DF9CB8B}"/>
              </a:ext>
            </a:extLst>
          </p:cNvPr>
          <p:cNvSpPr>
            <a:spLocks noGrp="1"/>
          </p:cNvSpPr>
          <p:nvPr>
            <p:ph type="title"/>
          </p:nvPr>
        </p:nvSpPr>
        <p:spPr/>
        <p:txBody>
          <a:bodyPr/>
          <a:lstStyle/>
          <a:p>
            <a:r>
              <a:rPr lang="en-US" dirty="0"/>
              <a:t>Combining Techniques</a:t>
            </a:r>
          </a:p>
        </p:txBody>
      </p:sp>
      <p:pic>
        <p:nvPicPr>
          <p:cNvPr id="5" name="Picture 2" descr="A flowchart showing probability and non-probability sampling techniques. The process begins with the identification of a population of interest. In probability sampling, all members of the population of interest have an equal and known chance of being selected. In nonprobability sampling, by contrast, some types of people are systematically left out. Probability sampling may involve a simple random sample, an oversample, a stratified random sample, a cluster sample or multistage sample, or a systematic sample. Nonprobability sampling may involve a convenience sample, a quota sample, a snowball sample, or a purposive sample.">
            <a:extLst>
              <a:ext uri="{FF2B5EF4-FFF2-40B4-BE49-F238E27FC236}">
                <a16:creationId xmlns:a16="http://schemas.microsoft.com/office/drawing/2014/main" id="{E06D89B6-0672-28FF-54B0-BED11390BD1B}"/>
              </a:ext>
            </a:extLst>
          </p:cNvPr>
          <p:cNvPicPr>
            <a:picLocks noChangeAspect="1"/>
          </p:cNvPicPr>
          <p:nvPr/>
        </p:nvPicPr>
        <p:blipFill>
          <a:blip r:embed="rId3"/>
          <a:srcRect b="6172"/>
          <a:stretch/>
        </p:blipFill>
        <p:spPr>
          <a:xfrm>
            <a:off x="1839438" y="1166950"/>
            <a:ext cx="9098482" cy="5454187"/>
          </a:xfrm>
          <a:prstGeom prst="rect">
            <a:avLst/>
          </a:prstGeom>
        </p:spPr>
      </p:pic>
    </p:spTree>
    <p:extLst>
      <p:ext uri="{BB962C8B-B14F-4D97-AF65-F5344CB8AC3E}">
        <p14:creationId xmlns:p14="http://schemas.microsoft.com/office/powerpoint/2010/main" val="1555363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0ACC-64DD-AF3C-33A3-5CA583E6C6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637D4B-83C8-ECCD-8E28-124816E26E0E}"/>
              </a:ext>
            </a:extLst>
          </p:cNvPr>
          <p:cNvSpPr>
            <a:spLocks noGrp="1"/>
          </p:cNvSpPr>
          <p:nvPr>
            <p:ph type="body" sz="quarter" idx="108"/>
          </p:nvPr>
        </p:nvSpPr>
        <p:spPr/>
        <p:txBody>
          <a:bodyPr>
            <a:normAutofit/>
          </a:bodyPr>
          <a:lstStyle/>
          <a:p>
            <a:pPr marL="58738" indent="0">
              <a:spcAft>
                <a:spcPts val="3500"/>
              </a:spcAft>
              <a:buNone/>
              <a:defRPr/>
            </a:pPr>
            <a:r>
              <a:rPr lang="en-US" altLang="en-US" sz="2400" dirty="0"/>
              <a:t>Discuss with A Partner:</a:t>
            </a:r>
          </a:p>
          <a:p>
            <a:pPr marL="744538" indent="-457200">
              <a:buFontTx/>
              <a:buAutoNum type="arabicPeriod"/>
              <a:defRPr/>
            </a:pPr>
            <a:r>
              <a:rPr lang="en-US" altLang="en-US" sz="2400" dirty="0"/>
              <a:t>What problems do you see in this survey? </a:t>
            </a:r>
          </a:p>
          <a:p>
            <a:pPr marL="744538" indent="-457200">
              <a:buFontTx/>
              <a:buAutoNum type="arabicPeriod"/>
              <a:defRPr/>
            </a:pPr>
            <a:r>
              <a:rPr lang="en-US" altLang="en-US" sz="2400" dirty="0"/>
              <a:t>What principles from Chapter 6 can you find in these problems?</a:t>
            </a:r>
          </a:p>
          <a:p>
            <a:pPr marL="744538" indent="-457200">
              <a:buFontTx/>
              <a:buAutoNum type="arabicPeriod"/>
              <a:defRPr/>
            </a:pPr>
            <a:r>
              <a:rPr lang="en-US" altLang="en-US" sz="2400" dirty="0"/>
              <a:t>How might you revise the questions to make them more appropriate? </a:t>
            </a:r>
          </a:p>
        </p:txBody>
      </p:sp>
      <p:sp>
        <p:nvSpPr>
          <p:cNvPr id="2" name="Title 1">
            <a:extLst>
              <a:ext uri="{FF2B5EF4-FFF2-40B4-BE49-F238E27FC236}">
                <a16:creationId xmlns:a16="http://schemas.microsoft.com/office/drawing/2014/main" id="{B8149444-4889-C16C-F1FD-569891634171}"/>
              </a:ext>
            </a:extLst>
          </p:cNvPr>
          <p:cNvSpPr>
            <a:spLocks noGrp="1"/>
          </p:cNvSpPr>
          <p:nvPr>
            <p:ph type="title"/>
          </p:nvPr>
        </p:nvSpPr>
        <p:spPr/>
        <p:txBody>
          <a:bodyPr>
            <a:normAutofit fontScale="90000"/>
          </a:bodyPr>
          <a:lstStyle/>
          <a:p>
            <a:r>
              <a:rPr lang="en-US" sz="5400" dirty="0">
                <a:cs typeface="+mj-cs"/>
              </a:rPr>
              <a:t>Survey of My Amazing Class</a:t>
            </a:r>
            <a:endParaRPr lang="en-US" sz="8000" dirty="0"/>
          </a:p>
        </p:txBody>
      </p:sp>
    </p:spTree>
    <p:extLst>
      <p:ext uri="{BB962C8B-B14F-4D97-AF65-F5344CB8AC3E}">
        <p14:creationId xmlns:p14="http://schemas.microsoft.com/office/powerpoint/2010/main" val="3032430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C6BA6-CE07-0F14-1CEE-E776A170719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2180C3D-01A4-72AD-BC70-A3AB6E2E7ACC}"/>
              </a:ext>
            </a:extLst>
          </p:cNvPr>
          <p:cNvSpPr>
            <a:spLocks noGrp="1"/>
          </p:cNvSpPr>
          <p:nvPr>
            <p:ph type="title"/>
          </p:nvPr>
        </p:nvSpPr>
        <p:spPr/>
        <p:txBody>
          <a:bodyPr/>
          <a:lstStyle/>
          <a:p>
            <a:r>
              <a:rPr lang="en-US" dirty="0"/>
              <a:t>Determining Priorities</a:t>
            </a:r>
          </a:p>
        </p:txBody>
      </p:sp>
    </p:spTree>
    <p:extLst>
      <p:ext uri="{BB962C8B-B14F-4D97-AF65-F5344CB8AC3E}">
        <p14:creationId xmlns:p14="http://schemas.microsoft.com/office/powerpoint/2010/main" val="33411876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7F7F0-B9C7-6744-ABC7-0DD3BB51A428}"/>
              </a:ext>
            </a:extLst>
          </p:cNvPr>
          <p:cNvSpPr>
            <a:spLocks noGrp="1"/>
          </p:cNvSpPr>
          <p:nvPr>
            <p:ph type="title"/>
          </p:nvPr>
        </p:nvSpPr>
        <p:spPr/>
        <p:txBody>
          <a:bodyPr anchor="ctr">
            <a:normAutofit/>
          </a:bodyPr>
          <a:lstStyle/>
          <a:p>
            <a:r>
              <a:rPr lang="en-US">
                <a:ea typeface="Calibri"/>
                <a:cs typeface="Calibri"/>
              </a:rPr>
              <a:t>Interrogating External Validity: What Matters Most? </a:t>
            </a:r>
          </a:p>
        </p:txBody>
      </p:sp>
      <p:graphicFrame>
        <p:nvGraphicFramePr>
          <p:cNvPr id="5" name="Content Placeholder 2">
            <a:extLst>
              <a:ext uri="{FF2B5EF4-FFF2-40B4-BE49-F238E27FC236}">
                <a16:creationId xmlns:a16="http://schemas.microsoft.com/office/drawing/2014/main" id="{EA78968B-A2E4-55E3-A1F6-25120A545C45}"/>
              </a:ext>
            </a:extLst>
          </p:cNvPr>
          <p:cNvGraphicFramePr>
            <a:graphicFrameLocks noGrp="1"/>
          </p:cNvGraphicFramePr>
          <p:nvPr>
            <p:ph idx="4294967295"/>
            <p:extLst>
              <p:ext uri="{D42A27DB-BD31-4B8C-83A1-F6EECF244321}">
                <p14:modId xmlns:p14="http://schemas.microsoft.com/office/powerpoint/2010/main" val="533454345"/>
              </p:ext>
            </p:extLst>
          </p:nvPr>
        </p:nvGraphicFramePr>
        <p:xfrm>
          <a:off x="1089220" y="1828800"/>
          <a:ext cx="10179050" cy="3594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66374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214502-DB3D-3944-A435-D86EB02849CE}"/>
              </a:ext>
            </a:extLst>
          </p:cNvPr>
          <p:cNvSpPr>
            <a:spLocks noGrp="1"/>
          </p:cNvSpPr>
          <p:nvPr>
            <p:ph type="body" sz="quarter" idx="108"/>
          </p:nvPr>
        </p:nvSpPr>
        <p:spPr/>
        <p:txBody>
          <a:bodyPr>
            <a:noAutofit/>
          </a:bodyPr>
          <a:lstStyle/>
          <a:p>
            <a:pPr marL="342900" lvl="1" indent="-342900">
              <a:lnSpc>
                <a:spcPct val="120000"/>
              </a:lnSpc>
              <a:spcBef>
                <a:spcPts val="1200"/>
              </a:spcBef>
              <a:buFont typeface="Arial" charset="0"/>
              <a:buChar char="•"/>
            </a:pPr>
            <a:r>
              <a:rPr lang="en-US" sz="2800" dirty="0"/>
              <a:t>Sampling technique, not sample size, determines external validity.</a:t>
            </a:r>
          </a:p>
          <a:p>
            <a:pPr marL="742950" lvl="2" indent="-342900">
              <a:lnSpc>
                <a:spcPct val="120000"/>
              </a:lnSpc>
              <a:spcBef>
                <a:spcPts val="0"/>
              </a:spcBef>
              <a:buFont typeface="Arial" charset="0"/>
              <a:buChar char="•"/>
            </a:pPr>
            <a:r>
              <a:rPr lang="en-US" sz="2400" dirty="0"/>
              <a:t>Increasing sample size narrows us in on our point estimate (smaller margin of error)</a:t>
            </a:r>
          </a:p>
          <a:p>
            <a:pPr marL="742950" lvl="2" indent="-342900">
              <a:lnSpc>
                <a:spcPct val="120000"/>
              </a:lnSpc>
              <a:spcBef>
                <a:spcPts val="0"/>
              </a:spcBef>
              <a:buFont typeface="Arial" charset="0"/>
              <a:buChar char="•"/>
            </a:pPr>
            <a:r>
              <a:rPr lang="en-US" sz="2400" dirty="0"/>
              <a:t>The sample technique makes the point estimate more generalizable</a:t>
            </a:r>
          </a:p>
        </p:txBody>
      </p:sp>
      <p:sp>
        <p:nvSpPr>
          <p:cNvPr id="8" name="Title 1">
            <a:extLst>
              <a:ext uri="{FF2B5EF4-FFF2-40B4-BE49-F238E27FC236}">
                <a16:creationId xmlns:a16="http://schemas.microsoft.com/office/drawing/2014/main" id="{BA4E6056-58C7-3B37-CCC3-B952AF6FA25C}"/>
              </a:ext>
            </a:extLst>
          </p:cNvPr>
          <p:cNvSpPr>
            <a:spLocks noGrp="1"/>
          </p:cNvSpPr>
          <p:nvPr>
            <p:ph type="title"/>
          </p:nvPr>
        </p:nvSpPr>
        <p:spPr/>
        <p:txBody>
          <a:bodyPr anchor="b">
            <a:noAutofit/>
          </a:bodyPr>
          <a:lstStyle/>
          <a:p>
            <a:r>
              <a:rPr lang="en-US" dirty="0">
                <a:ea typeface="Calibri"/>
                <a:cs typeface="Calibri"/>
              </a:rPr>
              <a:t>Interrogating External Validity: What Matters Most?</a:t>
            </a:r>
            <a:endParaRPr lang="en-US" sz="2400" dirty="0">
              <a:ea typeface="Calibri"/>
              <a:cs typeface="Calibri"/>
            </a:endParaRPr>
          </a:p>
        </p:txBody>
      </p:sp>
      <p:pic>
        <p:nvPicPr>
          <p:cNvPr id="10" name="Picture 2" descr="A Straight from the Source Graph with different estimates of vaccination rates. The horizontal axis shows the months January through May of 2021. The vertical axis shows the percentage of persons who have received at last one vaccine dose. The C D C benchmark line crosses the 50 percent threshold in early April. The line for the Axios Ipsos poll, which had a sample size of about 1 thousand, has large vertical error bars but coincides almost perfectly with the C D C line, running just slightly higher in April and May. Only at the very end is the error outside the error bar. The line for the Census Household Pulse poll, with a sample size of about 75 thousand, has much smaller vertical error bars but runs above the C D C line by mid February, with an error well outside the small error bars. It crosses the 50 percent threshold at the start of April. The line for the Delphi Facebook poll, with a sample size of about 250 thousand, has no visible error bars. It runs even farther above the C D C line and differs from it right from the start. It crosses the 50 percent threshold in late March.">
            <a:extLst>
              <a:ext uri="{FF2B5EF4-FFF2-40B4-BE49-F238E27FC236}">
                <a16:creationId xmlns:a16="http://schemas.microsoft.com/office/drawing/2014/main" id="{05627128-97EF-A177-427A-24C122B3BB7A}"/>
              </a:ext>
            </a:extLst>
          </p:cNvPr>
          <p:cNvPicPr>
            <a:picLocks noChangeAspect="1"/>
          </p:cNvPicPr>
          <p:nvPr/>
        </p:nvPicPr>
        <p:blipFill>
          <a:blip r:embed="rId3"/>
          <a:stretch>
            <a:fillRect/>
          </a:stretch>
        </p:blipFill>
        <p:spPr>
          <a:xfrm>
            <a:off x="5499802" y="3453158"/>
            <a:ext cx="3262343" cy="3039716"/>
          </a:xfrm>
          <a:prstGeom prst="rect">
            <a:avLst/>
          </a:prstGeom>
        </p:spPr>
      </p:pic>
      <p:pic>
        <p:nvPicPr>
          <p:cNvPr id="9" name="Picture 4" descr="A table titled, Margins of Error Associated with Different Random Sample Sizes. Detailed table information is available in the accessible content.">
            <a:extLst>
              <a:ext uri="{FF2B5EF4-FFF2-40B4-BE49-F238E27FC236}">
                <a16:creationId xmlns:a16="http://schemas.microsoft.com/office/drawing/2014/main" id="{2B93DA52-1024-A4FF-695A-254DB3D948F1}"/>
              </a:ext>
            </a:extLst>
          </p:cNvPr>
          <p:cNvPicPr>
            <a:picLocks noChangeAspect="1"/>
          </p:cNvPicPr>
          <p:nvPr/>
        </p:nvPicPr>
        <p:blipFill>
          <a:blip r:embed="rId4"/>
          <a:stretch>
            <a:fillRect/>
          </a:stretch>
        </p:blipFill>
        <p:spPr>
          <a:xfrm>
            <a:off x="8966718" y="3260770"/>
            <a:ext cx="3152486" cy="3217042"/>
          </a:xfrm>
          <a:prstGeom prst="rect">
            <a:avLst/>
          </a:prstGeom>
        </p:spPr>
      </p:pic>
    </p:spTree>
    <p:extLst>
      <p:ext uri="{BB962C8B-B14F-4D97-AF65-F5344CB8AC3E}">
        <p14:creationId xmlns:p14="http://schemas.microsoft.com/office/powerpoint/2010/main" val="36468336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search Methods PowerPoint Template" id="{686830E0-B0B3-4EA3-80EF-56D80DF1C852}" vid="{A74170DD-4976-48CF-B0A5-4C379B0B47A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aa7cd2ac-fcc1-473f-afe1-3dcd267d5ab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8245B5271EE2142B482725BAA8B1869" ma:contentTypeVersion="10" ma:contentTypeDescription="Create a new document." ma:contentTypeScope="" ma:versionID="f1cfe03f77ad3ae8d1e620901e874987">
  <xsd:schema xmlns:xsd="http://www.w3.org/2001/XMLSchema" xmlns:xs="http://www.w3.org/2001/XMLSchema" xmlns:p="http://schemas.microsoft.com/office/2006/metadata/properties" xmlns:ns3="aa7cd2ac-fcc1-473f-afe1-3dcd267d5ab1" targetNamespace="http://schemas.microsoft.com/office/2006/metadata/properties" ma:root="true" ma:fieldsID="e14f2987a2decab48755e31a12e153b6" ns3:_="">
    <xsd:import namespace="aa7cd2ac-fcc1-473f-afe1-3dcd267d5ab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7cd2ac-fcc1-473f-afe1-3dcd267d5ab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1606FE1-1CE5-4690-93E4-B98A3E3FB743}">
  <ds:schemaRefs>
    <ds:schemaRef ds:uri="http://schemas.microsoft.com/sharepoint/v3/contenttype/forms"/>
  </ds:schemaRefs>
</ds:datastoreItem>
</file>

<file path=customXml/itemProps2.xml><?xml version="1.0" encoding="utf-8"?>
<ds:datastoreItem xmlns:ds="http://schemas.openxmlformats.org/officeDocument/2006/customXml" ds:itemID="{F2B576E7-7FD4-410C-B7E5-05F5AABCB4D9}">
  <ds:schemaRefs>
    <ds:schemaRef ds:uri="http://purl.org/dc/elements/1.1/"/>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 ds:uri="http://purl.org/dc/terms/"/>
    <ds:schemaRef ds:uri="aa7cd2ac-fcc1-473f-afe1-3dcd267d5ab1"/>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DA1EECEA-41B6-4122-BFA0-9250238934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7cd2ac-fcc1-473f-afe1-3dcd267d5ab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Research Methods PowerPoint Template</Template>
  <TotalTime>2156</TotalTime>
  <Words>1145</Words>
  <Application>Microsoft Office PowerPoint</Application>
  <PresentationFormat>Widescreen</PresentationFormat>
  <Paragraphs>81</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Aptos Display</vt:lpstr>
      <vt:lpstr>Arial</vt:lpstr>
      <vt:lpstr>Britannic Bold</vt:lpstr>
      <vt:lpstr>Calibri</vt:lpstr>
      <vt:lpstr>Garamond</vt:lpstr>
      <vt:lpstr>Office Theme</vt:lpstr>
      <vt:lpstr>Chapter 7</vt:lpstr>
      <vt:lpstr>Agenda</vt:lpstr>
      <vt:lpstr>Populations and Samples</vt:lpstr>
      <vt:lpstr>Populations and Samples</vt:lpstr>
      <vt:lpstr>Coming from a Population Versus Generalizing to That Population</vt:lpstr>
      <vt:lpstr>Probability Sampling</vt:lpstr>
      <vt:lpstr>Probability Sampling</vt:lpstr>
      <vt:lpstr>Probability Sampling</vt:lpstr>
      <vt:lpstr>Probability Sampling</vt:lpstr>
      <vt:lpstr>Probability Sampling</vt:lpstr>
      <vt:lpstr>Probability Sampling</vt:lpstr>
      <vt:lpstr>A Quick Note on Terminology</vt:lpstr>
      <vt:lpstr>Biased Sampling</vt:lpstr>
      <vt:lpstr>Biased Sampling</vt:lpstr>
      <vt:lpstr>Biased Sampling Techniques</vt:lpstr>
      <vt:lpstr>Biased Sampling Techniques</vt:lpstr>
      <vt:lpstr>Combining Techniques</vt:lpstr>
      <vt:lpstr>Survey of My Amazing Class</vt:lpstr>
      <vt:lpstr>Determining Priorities</vt:lpstr>
      <vt:lpstr>Interrogating External Validity: What Matters Most? </vt:lpstr>
      <vt:lpstr>Interrogating External Validity: What Matters Most?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Research Methods teaching template</dc:subject>
  <dc:creator>Bryanna Scheuler</dc:creator>
  <cp:lastModifiedBy>Bryanna Scheuler</cp:lastModifiedBy>
  <cp:revision>30</cp:revision>
  <dcterms:created xsi:type="dcterms:W3CDTF">2026-08-20T19:50:46Z</dcterms:created>
  <dcterms:modified xsi:type="dcterms:W3CDTF">2026-10-09T12:41:30Z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0x01010058245B5271EE2142B482725BAA8B1869</vt:lpwstr>
  </property>
</Properties>
</file>