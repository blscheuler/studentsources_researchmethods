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59" r:id="rId6"/>
    <p:sldId id="312" r:id="rId7"/>
    <p:sldId id="310" r:id="rId8"/>
    <p:sldId id="311" r:id="rId9"/>
    <p:sldId id="308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30" r:id="rId18"/>
    <p:sldId id="320" r:id="rId19"/>
    <p:sldId id="322" r:id="rId20"/>
    <p:sldId id="321" r:id="rId21"/>
    <p:sldId id="323" r:id="rId22"/>
    <p:sldId id="325" r:id="rId23"/>
    <p:sldId id="324" r:id="rId24"/>
    <p:sldId id="326" r:id="rId25"/>
    <p:sldId id="327" r:id="rId26"/>
    <p:sldId id="328" r:id="rId27"/>
    <p:sldId id="329" r:id="rId28"/>
    <p:sldId id="334" r:id="rId29"/>
    <p:sldId id="333" r:id="rId30"/>
    <p:sldId id="335" r:id="rId31"/>
    <p:sldId id="336" r:id="rId32"/>
    <p:sldId id="337" r:id="rId33"/>
    <p:sldId id="339" r:id="rId34"/>
    <p:sldId id="338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64780" autoAdjust="0"/>
  </p:normalViewPr>
  <p:slideViewPr>
    <p:cSldViewPr snapToGrid="0" snapToObjects="1">
      <p:cViewPr varScale="1">
        <p:scale>
          <a:sx n="103" d="100"/>
          <a:sy n="103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480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79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19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44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407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6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49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5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357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05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75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527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67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830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293CF-9710-1153-2FDB-7A3EB345C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5AFE1-5549-D846-3E48-0D8326773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930D9-9754-74C8-203A-D033CCEF9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527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581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633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73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548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DA63E-E890-7C1C-18AE-5D2583594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F7848-D8C0-4C32-5153-622601DE7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1A0FA-84E0-FBF3-CDE7-38E861545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805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436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13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694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3009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422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470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794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2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982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205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91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06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M_Title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anvas Banner.png (1983×793)">
            <a:extLst>
              <a:ext uri="{FF2B5EF4-FFF2-40B4-BE49-F238E27FC236}">
                <a16:creationId xmlns:a16="http://schemas.microsoft.com/office/drawing/2014/main" id="{CF1D1F45-544E-1E4A-0F49-6BDEB9C7C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1000"/>
          </a:blip>
          <a:srcRect l="29448"/>
          <a:stretch>
            <a:fillRect/>
          </a:stretch>
        </p:blipFill>
        <p:spPr>
          <a:xfrm>
            <a:off x="0" y="-26329"/>
            <a:ext cx="12192000" cy="6910657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" y="320040"/>
            <a:ext cx="2834640" cy="914400"/>
          </a:xfrm>
          <a:prstGeom prst="rect">
            <a:avLst/>
          </a:prstGeom>
          <a:solidFill>
            <a:srgbClr val="D9E6F2">
              <a:alpha val="82000"/>
            </a:srgbClr>
          </a:solidFill>
          <a:ln w="12700">
            <a:solidFill>
              <a:srgbClr val="D9E6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98280" y="5440680"/>
            <a:ext cx="2651760" cy="960120"/>
          </a:xfrm>
          <a:prstGeom prst="rect">
            <a:avLst/>
          </a:prstGeom>
          <a:solidFill>
            <a:srgbClr val="C9DAEA">
              <a:alpha val="72000"/>
            </a:srgbClr>
          </a:solidFill>
          <a:ln w="12700">
            <a:solidFill>
              <a:srgbClr val="C9DA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5989320"/>
            <a:ext cx="3840480" cy="0"/>
          </a:xfrm>
          <a:prstGeom prst="line">
            <a:avLst/>
          </a:prstGeom>
          <a:noFill/>
          <a:ln w="15240">
            <a:solidFill>
              <a:srgbClr val="B79A6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22960" y="6172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METHODS</a:t>
            </a: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6770DB-7284-A1F7-43CD-35A95A64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6191" y="863353"/>
            <a:ext cx="5869901" cy="1799292"/>
          </a:xfrm>
          <a:prstGeom prst="rect">
            <a:avLst/>
          </a:prstGeom>
          <a:solidFill>
            <a:srgbClr val="F8FBFE"/>
          </a:solidFill>
        </p:spPr>
        <p:txBody>
          <a:bodyPr anchor="ctr"/>
          <a:lstStyle>
            <a:lvl1pPr>
              <a:defRPr>
                <a:latin typeface="Britannic Bold" panose="020B09030607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4C6ACB4-35EC-85AB-E81B-5923C3447E2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3178175"/>
            <a:ext cx="6378575" cy="1516063"/>
          </a:xfrm>
          <a:prstGeom prst="rect">
            <a:avLst/>
          </a:prstGeom>
          <a:solidFill>
            <a:srgbClr val="F8FBFE"/>
          </a:solidFill>
        </p:spPr>
        <p:txBody>
          <a:bodyPr anchor="ctr"/>
          <a:lstStyle>
            <a:lvl1pPr algn="ctr">
              <a:buNone/>
              <a:defRPr sz="2800">
                <a:latin typeface="Aptos Display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M_Content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" y="0"/>
            <a:ext cx="12191695" cy="68580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71632" y="0"/>
            <a:ext cx="1417320" cy="658368"/>
          </a:xfrm>
          <a:prstGeom prst="rect">
            <a:avLst/>
          </a:prstGeom>
          <a:solidFill>
            <a:srgbClr val="C7DAEB">
              <a:alpha val="95000"/>
            </a:srgbClr>
          </a:solidFill>
          <a:ln w="12700">
            <a:solidFill>
              <a:srgbClr val="C7DA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47120" y="530352"/>
            <a:ext cx="941832" cy="530352"/>
          </a:xfrm>
          <a:prstGeom prst="rect">
            <a:avLst/>
          </a:prstGeom>
          <a:solidFill>
            <a:srgbClr val="AFC8E0">
              <a:alpha val="82000"/>
            </a:srgbClr>
          </a:solidFill>
          <a:ln w="12700">
            <a:solidFill>
              <a:srgbClr val="AFC8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52760" y="850392"/>
            <a:ext cx="1261872" cy="0"/>
          </a:xfrm>
          <a:prstGeom prst="line">
            <a:avLst/>
          </a:prstGeom>
          <a:noFill/>
          <a:ln w="13970">
            <a:solidFill>
              <a:srgbClr val="B79A6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35640" y="960120"/>
            <a:ext cx="1143000" cy="0"/>
          </a:xfrm>
          <a:prstGeom prst="line">
            <a:avLst/>
          </a:prstGeom>
          <a:noFill/>
          <a:ln w="12700">
            <a:solidFill>
              <a:srgbClr val="6E94B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8368" y="1097280"/>
            <a:ext cx="1143000" cy="0"/>
          </a:xfrm>
          <a:prstGeom prst="line">
            <a:avLst/>
          </a:prstGeom>
          <a:noFill/>
          <a:ln w="17780">
            <a:solidFill>
              <a:srgbClr val="B79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58368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89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METHODS</a:t>
            </a:r>
            <a:endParaRPr lang="en-US" sz="85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D61541-17FC-087B-60E7-BDBB1FA62185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496388" y="1252729"/>
            <a:ext cx="11418243" cy="497433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11B608B-7FB0-CE35-BE98-D665E1D5F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824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Britannic Bold" panose="020B09030607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M_Section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anvas Banner.png (1983×793)">
            <a:extLst>
              <a:ext uri="{FF2B5EF4-FFF2-40B4-BE49-F238E27FC236}">
                <a16:creationId xmlns:a16="http://schemas.microsoft.com/office/drawing/2014/main" id="{3412E6C6-0632-85B7-5BFE-F876EAE3A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2000"/>
          </a:blip>
          <a:srcRect t="14218" r="39015"/>
          <a:stretch>
            <a:fillRect/>
          </a:stretch>
        </p:blipFill>
        <p:spPr>
          <a:xfrm>
            <a:off x="305" y="-4467"/>
            <a:ext cx="12191695" cy="6858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2407920" y="338329"/>
            <a:ext cx="3688080" cy="2464202"/>
          </a:xfrm>
          <a:prstGeom prst="rect">
            <a:avLst/>
          </a:prstGeom>
          <a:solidFill>
            <a:srgbClr val="DCE9F4">
              <a:alpha val="92000"/>
            </a:srgbClr>
          </a:solidFill>
          <a:ln w="12700">
            <a:solidFill>
              <a:srgbClr val="DCE9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92440" y="566928"/>
            <a:ext cx="3429000" cy="1051560"/>
          </a:xfrm>
          <a:prstGeom prst="rect">
            <a:avLst/>
          </a:prstGeom>
          <a:solidFill>
            <a:srgbClr val="AFC8E0">
              <a:alpha val="65000"/>
            </a:srgbClr>
          </a:solidFill>
          <a:ln w="12700">
            <a:solidFill>
              <a:srgbClr val="AFC8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23960" y="4526280"/>
            <a:ext cx="2423160" cy="1353312"/>
          </a:xfrm>
          <a:prstGeom prst="rect">
            <a:avLst/>
          </a:prstGeom>
          <a:solidFill>
            <a:srgbClr val="8EADD0">
              <a:alpha val="52000"/>
            </a:srgbClr>
          </a:solidFill>
          <a:ln w="12700">
            <a:solidFill>
              <a:srgbClr val="8EAD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5102352"/>
            <a:ext cx="9784080" cy="0"/>
          </a:xfrm>
          <a:prstGeom prst="line">
            <a:avLst/>
          </a:prstGeom>
          <a:noFill/>
          <a:ln w="15240">
            <a:solidFill>
              <a:srgbClr val="B79A6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2960" y="6327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METHODS</a:t>
            </a: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9266B-3939-095B-B9C7-1439EBFB47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077" y="759150"/>
            <a:ext cx="5869901" cy="1799292"/>
          </a:xfrm>
          <a:prstGeom prst="rect">
            <a:avLst/>
          </a:prstGeom>
          <a:solidFill>
            <a:srgbClr val="F8FBFE"/>
          </a:solidFill>
        </p:spPr>
        <p:txBody>
          <a:bodyPr anchor="ctr"/>
          <a:lstStyle>
            <a:lvl1pPr>
              <a:defRPr>
                <a:latin typeface="Britannic Bold" panose="020B0903060703020204" pitchFamily="34" charset="0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F245541-793E-CEF5-B4ED-364FBC3BCEC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89792" y="3498395"/>
            <a:ext cx="6378575" cy="1516063"/>
          </a:xfrm>
          <a:prstGeom prst="rect">
            <a:avLst/>
          </a:prstGeom>
          <a:solidFill>
            <a:srgbClr val="F8FBFE"/>
          </a:solidFill>
        </p:spPr>
        <p:txBody>
          <a:bodyPr anchor="ctr"/>
          <a:lstStyle>
            <a:lvl1pPr algn="ctr">
              <a:buNone/>
              <a:defRPr sz="2800">
                <a:latin typeface="Aptos Display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M_TwoColumn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71632" y="0"/>
            <a:ext cx="1417320" cy="658368"/>
          </a:xfrm>
          <a:prstGeom prst="rect">
            <a:avLst/>
          </a:prstGeom>
          <a:solidFill>
            <a:srgbClr val="C7DAEB">
              <a:alpha val="95000"/>
            </a:srgbClr>
          </a:solidFill>
          <a:ln w="12700">
            <a:solidFill>
              <a:srgbClr val="C7DA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47120" y="530352"/>
            <a:ext cx="941832" cy="530352"/>
          </a:xfrm>
          <a:prstGeom prst="rect">
            <a:avLst/>
          </a:prstGeom>
          <a:solidFill>
            <a:srgbClr val="AFC8E0">
              <a:alpha val="82000"/>
            </a:srgbClr>
          </a:solidFill>
          <a:ln w="12700">
            <a:solidFill>
              <a:srgbClr val="AFC8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52760" y="850392"/>
            <a:ext cx="1261872" cy="0"/>
          </a:xfrm>
          <a:prstGeom prst="line">
            <a:avLst/>
          </a:prstGeom>
          <a:noFill/>
          <a:ln w="13970">
            <a:solidFill>
              <a:srgbClr val="B79A6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35640" y="960120"/>
            <a:ext cx="1143000" cy="0"/>
          </a:xfrm>
          <a:prstGeom prst="line">
            <a:avLst/>
          </a:prstGeom>
          <a:noFill/>
          <a:ln w="12700">
            <a:solidFill>
              <a:srgbClr val="6E94B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8368" y="1097280"/>
            <a:ext cx="1143000" cy="0"/>
          </a:xfrm>
          <a:prstGeom prst="line">
            <a:avLst/>
          </a:prstGeom>
          <a:noFill/>
          <a:ln w="17780">
            <a:solidFill>
              <a:srgbClr val="B79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080760" y="1600200"/>
            <a:ext cx="0" cy="4160520"/>
          </a:xfrm>
          <a:prstGeom prst="line">
            <a:avLst/>
          </a:prstGeom>
          <a:noFill/>
          <a:ln w="12700">
            <a:solidFill>
              <a:srgbClr val="C1D4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58368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89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METHODS</a:t>
            </a:r>
            <a:endParaRPr lang="en-US" sz="85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5572D28-5674-68F1-D0DD-039C6D2A219C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658369" y="1600200"/>
            <a:ext cx="5342382" cy="46545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10FB711-34F9-3DC6-8A30-BF6163D2415B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>
          <a:xfrm>
            <a:off x="6191251" y="1601379"/>
            <a:ext cx="5342382" cy="46545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F5CC367-37BB-9924-6D35-6E9961E65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9" y="329184"/>
            <a:ext cx="10515600" cy="73215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Britannic Bold" panose="020B09030607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M_ImageText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71632" y="0"/>
            <a:ext cx="1417320" cy="658368"/>
          </a:xfrm>
          <a:prstGeom prst="rect">
            <a:avLst/>
          </a:prstGeom>
          <a:solidFill>
            <a:srgbClr val="C7DAEB">
              <a:alpha val="95000"/>
            </a:srgbClr>
          </a:solidFill>
          <a:ln w="12700">
            <a:solidFill>
              <a:srgbClr val="C7DA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47120" y="530352"/>
            <a:ext cx="941832" cy="530352"/>
          </a:xfrm>
          <a:prstGeom prst="rect">
            <a:avLst/>
          </a:prstGeom>
          <a:solidFill>
            <a:srgbClr val="AFC8E0">
              <a:alpha val="82000"/>
            </a:srgbClr>
          </a:solidFill>
          <a:ln w="12700">
            <a:solidFill>
              <a:srgbClr val="AFC8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52760" y="850392"/>
            <a:ext cx="1261872" cy="0"/>
          </a:xfrm>
          <a:prstGeom prst="line">
            <a:avLst/>
          </a:prstGeom>
          <a:noFill/>
          <a:ln w="13970">
            <a:solidFill>
              <a:srgbClr val="B79A6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35640" y="960120"/>
            <a:ext cx="1143000" cy="0"/>
          </a:xfrm>
          <a:prstGeom prst="line">
            <a:avLst/>
          </a:prstGeom>
          <a:noFill/>
          <a:ln w="12700">
            <a:solidFill>
              <a:srgbClr val="6E94B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8368" y="1097280"/>
            <a:ext cx="1143000" cy="0"/>
          </a:xfrm>
          <a:prstGeom prst="line">
            <a:avLst/>
          </a:prstGeom>
          <a:noFill/>
          <a:ln w="17780">
            <a:solidFill>
              <a:srgbClr val="B79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658368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89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METHODS</a:t>
            </a:r>
            <a:endParaRPr lang="en-US" sz="850" dirty="0"/>
          </a:p>
        </p:txBody>
      </p:sp>
      <p:sp>
        <p:nvSpPr>
          <p:cNvPr id="12" name="Title 15">
            <a:extLst>
              <a:ext uri="{FF2B5EF4-FFF2-40B4-BE49-F238E27FC236}">
                <a16:creationId xmlns:a16="http://schemas.microsoft.com/office/drawing/2014/main" id="{C11B853E-E4F2-75CB-89D7-214A00F03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364018"/>
            <a:ext cx="10515600" cy="73215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Britannic Bold" panose="020B09030607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C2B9465C-288F-C4AE-8A48-56102A506263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658368" y="1437639"/>
            <a:ext cx="5342382" cy="46545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Online Image Placeholder 14">
            <a:extLst>
              <a:ext uri="{FF2B5EF4-FFF2-40B4-BE49-F238E27FC236}">
                <a16:creationId xmlns:a16="http://schemas.microsoft.com/office/drawing/2014/main" id="{3D7082FD-BAF6-29B8-3332-2A2E51DF4F49}"/>
              </a:ext>
            </a:extLst>
          </p:cNvPr>
          <p:cNvSpPr>
            <a:spLocks noGrp="1"/>
          </p:cNvSpPr>
          <p:nvPr>
            <p:ph type="clipArt" sz="quarter" idx="107"/>
          </p:nvPr>
        </p:nvSpPr>
        <p:spPr>
          <a:xfrm>
            <a:off x="6191252" y="1437639"/>
            <a:ext cx="5342382" cy="465518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online image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71632" y="0"/>
            <a:ext cx="1417320" cy="658368"/>
          </a:xfrm>
          <a:prstGeom prst="rect">
            <a:avLst/>
          </a:prstGeom>
          <a:solidFill>
            <a:srgbClr val="C7DAEB">
              <a:alpha val="95000"/>
            </a:srgbClr>
          </a:solidFill>
          <a:ln w="12700">
            <a:solidFill>
              <a:srgbClr val="C7DA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47120" y="530352"/>
            <a:ext cx="941832" cy="530352"/>
          </a:xfrm>
          <a:prstGeom prst="rect">
            <a:avLst/>
          </a:prstGeom>
          <a:solidFill>
            <a:srgbClr val="AFC8E0">
              <a:alpha val="82000"/>
            </a:srgbClr>
          </a:solidFill>
          <a:ln w="12700">
            <a:solidFill>
              <a:srgbClr val="AFC8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52760" y="850392"/>
            <a:ext cx="1261872" cy="0"/>
          </a:xfrm>
          <a:prstGeom prst="line">
            <a:avLst/>
          </a:prstGeom>
          <a:noFill/>
          <a:ln w="13970">
            <a:solidFill>
              <a:srgbClr val="B79A6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35640" y="960120"/>
            <a:ext cx="1143000" cy="0"/>
          </a:xfrm>
          <a:prstGeom prst="line">
            <a:avLst/>
          </a:prstGeom>
          <a:noFill/>
          <a:ln w="12700">
            <a:solidFill>
              <a:srgbClr val="6E94B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8368" y="1097280"/>
            <a:ext cx="1143000" cy="0"/>
          </a:xfrm>
          <a:prstGeom prst="line">
            <a:avLst/>
          </a:prstGeom>
          <a:noFill/>
          <a:ln w="17780">
            <a:solidFill>
              <a:srgbClr val="B79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itle 15">
            <a:extLst>
              <a:ext uri="{FF2B5EF4-FFF2-40B4-BE49-F238E27FC236}">
                <a16:creationId xmlns:a16="http://schemas.microsoft.com/office/drawing/2014/main" id="{C11B853E-E4F2-75CB-89D7-214A00F03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2245" y="721303"/>
            <a:ext cx="3393232" cy="73215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Britannic Bold" panose="020B09030607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C2B9465C-288F-C4AE-8A48-56102A506263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5904738" y="1542779"/>
            <a:ext cx="5342382" cy="46545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F1788F-9A5A-4012-A54A-A045B7E88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</a:blip>
          <a:stretch>
            <a:fillRect/>
          </a:stretch>
        </p:blipFill>
        <p:spPr>
          <a:xfrm>
            <a:off x="-35168" y="1087381"/>
            <a:ext cx="8850923" cy="590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M_Activity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E"/>
          </a:solidFill>
          <a:ln w="12700">
            <a:solidFill>
              <a:srgbClr val="F8F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D7E6F2"/>
          </a:solidFill>
          <a:ln w="1270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966960" y="164592"/>
            <a:ext cx="1691640" cy="713232"/>
          </a:xfrm>
          <a:prstGeom prst="rect">
            <a:avLst/>
          </a:prstGeom>
          <a:solidFill>
            <a:srgbClr val="B8D0E5">
              <a:alpha val="82000"/>
            </a:srgbClr>
          </a:solidFill>
          <a:ln w="12700">
            <a:solidFill>
              <a:srgbClr val="B8D0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46920" y="1005840"/>
            <a:ext cx="1828800" cy="0"/>
          </a:xfrm>
          <a:prstGeom prst="line">
            <a:avLst/>
          </a:prstGeom>
          <a:noFill/>
          <a:ln w="13970">
            <a:solidFill>
              <a:srgbClr val="B79A6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13232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89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METHODS</a:t>
            </a:r>
            <a:endParaRPr lang="en-US" sz="850" dirty="0"/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466CA2B8-6B15-974C-DB19-EBBA9B46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1287"/>
            <a:ext cx="10515600" cy="73215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Britannic Bold" panose="020B09030607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6F889F-5D26-430A-A54D-726297CBF349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386725" y="1396855"/>
            <a:ext cx="11418243" cy="497433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M_Blank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71632" y="0"/>
            <a:ext cx="1417320" cy="658368"/>
          </a:xfrm>
          <a:prstGeom prst="rect">
            <a:avLst/>
          </a:prstGeom>
          <a:solidFill>
            <a:srgbClr val="C7DAEB">
              <a:alpha val="95000"/>
            </a:srgbClr>
          </a:solidFill>
          <a:ln w="12700">
            <a:solidFill>
              <a:srgbClr val="C7DA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47120" y="530352"/>
            <a:ext cx="941832" cy="530352"/>
          </a:xfrm>
          <a:prstGeom prst="rect">
            <a:avLst/>
          </a:prstGeom>
          <a:solidFill>
            <a:srgbClr val="AFC8E0">
              <a:alpha val="82000"/>
            </a:srgbClr>
          </a:solidFill>
          <a:ln w="12700">
            <a:solidFill>
              <a:srgbClr val="AFC8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52760" y="850392"/>
            <a:ext cx="1261872" cy="0"/>
          </a:xfrm>
          <a:prstGeom prst="line">
            <a:avLst/>
          </a:prstGeom>
          <a:noFill/>
          <a:ln w="13970">
            <a:solidFill>
              <a:srgbClr val="B79A6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35640" y="960120"/>
            <a:ext cx="1143000" cy="0"/>
          </a:xfrm>
          <a:prstGeom prst="line">
            <a:avLst/>
          </a:prstGeom>
          <a:noFill/>
          <a:ln w="12700">
            <a:solidFill>
              <a:srgbClr val="6E94B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89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METHODS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618B05-C18C-4A3D-9DA2-FBF373BE5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7800" y="6673850"/>
            <a:ext cx="7315200" cy="16033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7177C8-4702-4D0B-A3DF-D9A2B23B19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27475" y="6348414"/>
            <a:ext cx="4337051" cy="193675"/>
          </a:xfrm>
        </p:spPr>
        <p:txBody>
          <a:bodyPr anchor="ctr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F4155F-77C3-4412-81E5-2AD0BD7DA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05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521D7EE-3C93-41FB-A39B-E7EF2453623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6F4155F-77C3-4412-81E5-2AD0BD7DA5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337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 txBox="1">
            <a:spLocks noGrp="1"/>
          </p:cNvSpPr>
          <p:nvPr>
            <p:ph type="title"/>
          </p:nvPr>
        </p:nvSpPr>
        <p:spPr>
          <a:xfrm>
            <a:off x="1568449" y="915988"/>
            <a:ext cx="9065683" cy="130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1"/>
          </p:nvPr>
        </p:nvSpPr>
        <p:spPr>
          <a:xfrm>
            <a:off x="1568449" y="2490788"/>
            <a:ext cx="9065683" cy="344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dt" idx="10"/>
          </p:nvPr>
        </p:nvSpPr>
        <p:spPr>
          <a:xfrm>
            <a:off x="8475133" y="5961062"/>
            <a:ext cx="1532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ftr" idx="11"/>
          </p:nvPr>
        </p:nvSpPr>
        <p:spPr>
          <a:xfrm>
            <a:off x="1568449" y="5961062"/>
            <a:ext cx="6807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10107084" y="5961062"/>
            <a:ext cx="527049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74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33A816C-0C56-4851-AC0D-B4A9E756F225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AAAA856-4423-4828-83BC-9DD5E742D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5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816C-0C56-4851-AC0D-B4A9E756F225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A856-4423-4828-83BC-9DD5E742D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38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  <p:sldLayoutId id="2147483655" r:id="rId8"/>
    <p:sldLayoutId id="2147483656" r:id="rId9"/>
    <p:sldLayoutId id="2147483660" r:id="rId10"/>
    <p:sldLayoutId id="2147483662" r:id="rId11"/>
    <p:sldLayoutId id="2147483663" r:id="rId12"/>
    <p:sldLayoutId id="2147483664" r:id="rId13"/>
    <p:sldLayoutId id="2147483665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D10E-15BC-6992-8E4E-5EFA55454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C1EDE-B354-C748-0304-543114C1ED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Multivariate Correlational Research</a:t>
            </a:r>
          </a:p>
        </p:txBody>
      </p:sp>
    </p:spTree>
    <p:extLst>
      <p:ext uri="{BB962C8B-B14F-4D97-AF65-F5344CB8AC3E}">
        <p14:creationId xmlns:p14="http://schemas.microsoft.com/office/powerpoint/2010/main" val="288584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84739C-B3B3-D952-B689-AE00151FC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6BAC2-1345-E959-24F0-DA7E6920FE27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5155474" y="1542779"/>
            <a:ext cx="6296297" cy="4654550"/>
          </a:xfrm>
        </p:spPr>
        <p:txBody>
          <a:bodyPr/>
          <a:lstStyle/>
          <a:p>
            <a:r>
              <a:rPr lang="en-US" dirty="0"/>
              <a:t>Refresher</a:t>
            </a:r>
          </a:p>
          <a:p>
            <a:r>
              <a:rPr lang="en-US" dirty="0"/>
              <a:t>Longitudinal Designs</a:t>
            </a:r>
          </a:p>
          <a:p>
            <a:r>
              <a:rPr lang="en-US" dirty="0"/>
              <a:t>Multiple Regression</a:t>
            </a:r>
          </a:p>
          <a:p>
            <a:r>
              <a:rPr lang="en-US" dirty="0"/>
              <a:t>Mediators &amp; Moderators</a:t>
            </a:r>
          </a:p>
          <a:p>
            <a:r>
              <a:rPr lang="en-US" dirty="0"/>
              <a:t>The Big Four Validities </a:t>
            </a:r>
          </a:p>
          <a:p>
            <a:r>
              <a:rPr lang="en-US" dirty="0"/>
              <a:t>Next time on PSY 270…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BF9658-FEE3-EFD4-519C-AEAEEB9DA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78" y="759150"/>
            <a:ext cx="4917556" cy="2525226"/>
          </a:xfrm>
        </p:spPr>
        <p:txBody>
          <a:bodyPr/>
          <a:lstStyle/>
          <a:p>
            <a:r>
              <a:rPr lang="en-US" dirty="0"/>
              <a:t>Multivariate Correlational Research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EC375E-31D3-C6A4-B70B-AFC2526FCA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9792" y="3498395"/>
            <a:ext cx="6378575" cy="2295915"/>
          </a:xfrm>
        </p:spPr>
        <p:txBody>
          <a:bodyPr/>
          <a:lstStyle/>
          <a:p>
            <a:r>
              <a:rPr lang="en-US" dirty="0"/>
              <a:t>How many variables do you think are included in multivariate research?</a:t>
            </a:r>
          </a:p>
          <a:p>
            <a:r>
              <a:rPr lang="en-US" dirty="0"/>
              <a:t>Are those variables measured or manipulated?</a:t>
            </a:r>
          </a:p>
        </p:txBody>
      </p:sp>
    </p:spTree>
    <p:extLst>
      <p:ext uri="{BB962C8B-B14F-4D97-AF65-F5344CB8AC3E}">
        <p14:creationId xmlns:p14="http://schemas.microsoft.com/office/powerpoint/2010/main" val="117491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485930-73CC-6875-C5D6-6120332B3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050" y="1561583"/>
            <a:ext cx="8313899" cy="2833136"/>
          </a:xfrm>
        </p:spPr>
        <p:txBody>
          <a:bodyPr/>
          <a:lstStyle/>
          <a:p>
            <a:r>
              <a:rPr lang="en-US" dirty="0"/>
              <a:t>So, why can’t bivariate correlational studies establish causation?</a:t>
            </a:r>
          </a:p>
        </p:txBody>
      </p:sp>
    </p:spTree>
    <p:extLst>
      <p:ext uri="{BB962C8B-B14F-4D97-AF65-F5344CB8AC3E}">
        <p14:creationId xmlns:p14="http://schemas.microsoft.com/office/powerpoint/2010/main" val="278121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4894-520A-F392-F714-00FDD1CA0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77" y="759150"/>
            <a:ext cx="8735715" cy="1799292"/>
          </a:xfrm>
        </p:spPr>
        <p:txBody>
          <a:bodyPr/>
          <a:lstStyle/>
          <a:p>
            <a:r>
              <a:rPr lang="en-US" dirty="0"/>
              <a:t>Problem 1: Temporal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2A020-9B97-DA4E-C189-0D3644C62E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332653" y="3498395"/>
            <a:ext cx="8735715" cy="1516063"/>
          </a:xfrm>
        </p:spPr>
        <p:txBody>
          <a:bodyPr/>
          <a:lstStyle/>
          <a:p>
            <a:r>
              <a:rPr lang="en-US" dirty="0"/>
              <a:t>Can’t establish temporal precedence -&gt; Try including time?</a:t>
            </a:r>
          </a:p>
        </p:txBody>
      </p:sp>
    </p:spTree>
    <p:extLst>
      <p:ext uri="{BB962C8B-B14F-4D97-AF65-F5344CB8AC3E}">
        <p14:creationId xmlns:p14="http://schemas.microsoft.com/office/powerpoint/2010/main" val="2093212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719D4-4997-D632-5CEC-2BC80DA6DF69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b="1" dirty="0"/>
              <a:t>Longitudinal research</a:t>
            </a:r>
            <a:r>
              <a:rPr lang="en-US" dirty="0"/>
              <a:t> – Studies that measure the same variables over time</a:t>
            </a:r>
          </a:p>
          <a:p>
            <a:r>
              <a:rPr lang="en-US" b="1" dirty="0"/>
              <a:t>Cross-sectional research</a:t>
            </a:r>
            <a:r>
              <a:rPr lang="en-US" dirty="0"/>
              <a:t> – Research that evaluates the same variables in two different groups of people at the same time</a:t>
            </a:r>
          </a:p>
          <a:p>
            <a:r>
              <a:rPr lang="en-US" b="1" dirty="0"/>
              <a:t>Longitudinal cross-sectional research</a:t>
            </a:r>
            <a:r>
              <a:rPr lang="en-US" dirty="0"/>
              <a:t> – Research that evaluates the same variables in two different groups of people over time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851675-767F-0EE2-E2CD-8BF767A7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Longitudinal Studies</a:t>
            </a:r>
          </a:p>
        </p:txBody>
      </p:sp>
    </p:spTree>
    <p:extLst>
      <p:ext uri="{BB962C8B-B14F-4D97-AF65-F5344CB8AC3E}">
        <p14:creationId xmlns:p14="http://schemas.microsoft.com/office/powerpoint/2010/main" val="929518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E2BC3A-3E73-E5FB-327B-711670E0DD2A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b="1" dirty="0"/>
              <a:t>Cross-sectional correlations</a:t>
            </a:r>
            <a:r>
              <a:rPr lang="en-US" dirty="0"/>
              <a:t> – An analysis of the correlation between two variables at the same point in time</a:t>
            </a: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1FB5A8-05D7-073A-D4E1-565700F17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Cross-Sectional Correlations</a:t>
            </a:r>
          </a:p>
        </p:txBody>
      </p:sp>
      <p:pic>
        <p:nvPicPr>
          <p:cNvPr id="6" name="Picture 5" descr="Image preview">
            <a:extLst>
              <a:ext uri="{FF2B5EF4-FFF2-40B4-BE49-F238E27FC236}">
                <a16:creationId xmlns:a16="http://schemas.microsoft.com/office/drawing/2014/main" id="{E0409668-2224-633C-AFA0-612AAB4FAB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094"/>
          <a:stretch>
            <a:fillRect/>
          </a:stretch>
        </p:blipFill>
        <p:spPr>
          <a:xfrm>
            <a:off x="561617" y="2547476"/>
            <a:ext cx="11068765" cy="238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5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7D3CB7-F61E-03B0-4E92-04331ACE597C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b="1" dirty="0"/>
              <a:t>Autocorrelations</a:t>
            </a:r>
            <a:r>
              <a:rPr lang="en-US" dirty="0"/>
              <a:t> – The correlation of one variable with itself, measured at multiple times</a:t>
            </a: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CA6336-5519-13DE-DFD3-9B97054E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Autocorrelations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B30DA-C6A9-0713-D717-722DA1A453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959"/>
          <a:stretch>
            <a:fillRect/>
          </a:stretch>
        </p:blipFill>
        <p:spPr>
          <a:xfrm>
            <a:off x="556996" y="2493184"/>
            <a:ext cx="11078008" cy="249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74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530D8C-D2BF-D446-FC05-61914F4FAC73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b="1" dirty="0"/>
              <a:t>Cross-lag correlations</a:t>
            </a:r>
            <a:r>
              <a:rPr lang="en-US" dirty="0"/>
              <a:t> – The correlation of one variable with a second variable at the following time point</a:t>
            </a: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68E0F9-9A8D-71A9-CC26-C96DF32B6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Cross-Lag Correlations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8D1E83-67D3-CB16-49FD-87B7092DAE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93"/>
          <a:stretch>
            <a:fillRect/>
          </a:stretch>
        </p:blipFill>
        <p:spPr>
          <a:xfrm>
            <a:off x="555700" y="2514845"/>
            <a:ext cx="11080600" cy="245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41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FDB72A-D9E0-B8D3-4BE2-B9F2204CC330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dirty="0"/>
              <a:t>Variable A-Time 1 is correlated with Variable B-Time 2</a:t>
            </a:r>
          </a:p>
          <a:p>
            <a:pPr lvl="1"/>
            <a:r>
              <a:rPr lang="en-US" dirty="0"/>
              <a:t>Ex: Stress-Time 1 is correlated with Sleep-Time 2</a:t>
            </a:r>
          </a:p>
          <a:p>
            <a:pPr lvl="1"/>
            <a:r>
              <a:rPr lang="en-US" dirty="0"/>
              <a:t>Interpret: High stress may predict poor sleep</a:t>
            </a:r>
          </a:p>
          <a:p>
            <a:r>
              <a:rPr lang="en-US" dirty="0"/>
              <a:t>Variable B-Time 1 is correlated with Variable A-Time 2</a:t>
            </a:r>
          </a:p>
          <a:p>
            <a:pPr lvl="1"/>
            <a:r>
              <a:rPr lang="en-US" dirty="0"/>
              <a:t>Ex: Sleep-Time 1 is correlated with Stress-Time 2</a:t>
            </a:r>
          </a:p>
          <a:p>
            <a:pPr lvl="1"/>
            <a:r>
              <a:rPr lang="en-US" dirty="0"/>
              <a:t>Interpret: Poor sleep may predict higher stress</a:t>
            </a:r>
          </a:p>
          <a:p>
            <a:r>
              <a:rPr lang="en-US" dirty="0"/>
              <a:t>Variable A-Time 1 is correlated with Variable B-Time 2 AND Variable B-Time 1 is correlated with Variable A-Time 2</a:t>
            </a:r>
          </a:p>
          <a:p>
            <a:pPr lvl="1"/>
            <a:r>
              <a:rPr lang="en-US" dirty="0"/>
              <a:t>Ex: Stress-Time 1 is correlated with Sleep-Time 2 AND Sleep-Time 1 is correlated with Stress-Time 2</a:t>
            </a:r>
          </a:p>
          <a:p>
            <a:pPr lvl="1"/>
            <a:r>
              <a:rPr lang="en-US" dirty="0"/>
              <a:t>Interpret: Poor sleep and high stress are in a reinforcing cycle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B77BE5-8112-0E0C-A7FA-22EF0BE0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Cross-Lag Correlations</a:t>
            </a:r>
          </a:p>
        </p:txBody>
      </p:sp>
    </p:spTree>
    <p:extLst>
      <p:ext uri="{BB962C8B-B14F-4D97-AF65-F5344CB8AC3E}">
        <p14:creationId xmlns:p14="http://schemas.microsoft.com/office/powerpoint/2010/main" val="572346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82CC-1619-F2EE-B4BA-B7119D58C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B28A8-96F7-6FC4-C4A1-9321546F0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77" y="759150"/>
            <a:ext cx="8735715" cy="1799292"/>
          </a:xfrm>
        </p:spPr>
        <p:txBody>
          <a:bodyPr/>
          <a:lstStyle/>
          <a:p>
            <a:r>
              <a:rPr lang="en-US" dirty="0"/>
              <a:t>Problem 1: Temporal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86312-40F1-C2CA-D0DC-A735560870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123" y="3541527"/>
            <a:ext cx="8735715" cy="1516063"/>
          </a:xfrm>
        </p:spPr>
        <p:txBody>
          <a:bodyPr/>
          <a:lstStyle/>
          <a:p>
            <a:r>
              <a:rPr lang="en-US" dirty="0"/>
              <a:t>Have we established temporal precedence?</a:t>
            </a:r>
          </a:p>
        </p:txBody>
      </p:sp>
    </p:spTree>
    <p:extLst>
      <p:ext uri="{BB962C8B-B14F-4D97-AF65-F5344CB8AC3E}">
        <p14:creationId xmlns:p14="http://schemas.microsoft.com/office/powerpoint/2010/main" val="238210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036B4-4209-076F-26CB-6467566E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81C4-A6FD-3EA4-336C-081AE3316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77" y="759150"/>
            <a:ext cx="8735715" cy="1799292"/>
          </a:xfrm>
        </p:spPr>
        <p:txBody>
          <a:bodyPr/>
          <a:lstStyle/>
          <a:p>
            <a:r>
              <a:rPr lang="en-US" dirty="0"/>
              <a:t>Problem 2: Internal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3C390-B0A6-C8D1-B6C5-275126C7FAD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332653" y="3498395"/>
            <a:ext cx="9227976" cy="1516063"/>
          </a:xfrm>
        </p:spPr>
        <p:txBody>
          <a:bodyPr/>
          <a:lstStyle/>
          <a:p>
            <a:r>
              <a:rPr lang="en-US" dirty="0"/>
              <a:t>Can’t rule out the third variable-&gt; Try including more variables?</a:t>
            </a:r>
          </a:p>
        </p:txBody>
      </p:sp>
    </p:spTree>
    <p:extLst>
      <p:ext uri="{BB962C8B-B14F-4D97-AF65-F5344CB8AC3E}">
        <p14:creationId xmlns:p14="http://schemas.microsoft.com/office/powerpoint/2010/main" val="2529463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4E2B4-AE0C-BF59-D20A-1BFCBFCBFDC4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496388" y="1252728"/>
            <a:ext cx="5599612" cy="5390667"/>
          </a:xfrm>
        </p:spPr>
        <p:txBody>
          <a:bodyPr/>
          <a:lstStyle/>
          <a:p>
            <a:r>
              <a:rPr lang="en-US" b="1" dirty="0"/>
              <a:t>Correlation</a:t>
            </a:r>
            <a:r>
              <a:rPr lang="en-US" dirty="0"/>
              <a:t> – the strength and direction of a relationship (</a:t>
            </a:r>
            <a:r>
              <a:rPr lang="en-US" i="1" dirty="0"/>
              <a:t>r</a:t>
            </a:r>
            <a:r>
              <a:rPr lang="en-US" dirty="0"/>
              <a:t>)</a:t>
            </a:r>
            <a:endParaRPr lang="en-US" b="1" dirty="0"/>
          </a:p>
          <a:p>
            <a:r>
              <a:rPr lang="en-US" b="1" dirty="0"/>
              <a:t>Linear regression</a:t>
            </a:r>
            <a:r>
              <a:rPr lang="en-US" dirty="0"/>
              <a:t> – how well we can predict one variable with another variable (</a:t>
            </a:r>
            <a:r>
              <a:rPr lang="en-US" i="1" dirty="0"/>
              <a:t>r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r² = 0 → No shared variance (0%)​</a:t>
            </a:r>
          </a:p>
          <a:p>
            <a:pPr lvl="1"/>
            <a:r>
              <a:rPr lang="en-US" dirty="0"/>
              <a:t>r² = 1 → Perfectly predicted variance (100%)</a:t>
            </a:r>
          </a:p>
          <a:p>
            <a:r>
              <a:rPr lang="en-US" dirty="0"/>
              <a:t>So, if r² = .80, then 80% of the variation in Y is explained by the variation in X</a:t>
            </a:r>
          </a:p>
          <a:p>
            <a:pPr lvl="1"/>
            <a:r>
              <a:rPr lang="en-US" dirty="0"/>
              <a:t>General thresholds for strength of prediction:</a:t>
            </a:r>
          </a:p>
          <a:p>
            <a:pPr lvl="1"/>
            <a:r>
              <a:rPr lang="en-US" dirty="0"/>
              <a:t>&lt; 0.3 = weak</a:t>
            </a:r>
          </a:p>
          <a:p>
            <a:pPr lvl="1"/>
            <a:r>
              <a:rPr lang="en-US" dirty="0"/>
              <a:t>0.3 – 0.7 = moderate</a:t>
            </a:r>
          </a:p>
          <a:p>
            <a:pPr lvl="1"/>
            <a:r>
              <a:rPr lang="en-US" dirty="0"/>
              <a:t>0.7+ = strong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FCD889-FFAF-8FB8-B071-7DA206F7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pic>
        <p:nvPicPr>
          <p:cNvPr id="9" name="Picture 5" descr="A Venn Diagram about fast food. The area of the left circle that doesn't overlap the right circle represents &quot;Variance associated solely with order mistakes equals 70%.&quot; Sources of variance unique to ONLY order mistakes are a disgruntled cook is making mistakes on purpose, the restaurant’s employee bonus system rewards speed but not accuracy, and there is a general trend to promote very accurate employees to management positions, thus lowering accuracy rates at the drive-through window.&quot; The area of the right circle that doesn't overlap the left circle represents, &quot;Variance associated solely with drive-through time equals 70%.&quot; Sources of variance unique to ONLY drive-through time are customers are distracted by their phones and not going through the lines as quickly as possible, the font on the menu board in the drive-through lane is small and difficult to read, and the credit-card reader for the drive-through cash register is malfunctioning, and cards are frequently rescanned.&quot; The overlapping middle section says &quot;Shared Variance equals 30%. Source of variance that can influence both error rate and seconds spent in the drive-through are restaurant employees are highly dissatisfied and the restaurant just implemented a new computer system to which all employees are adjusting.">
            <a:extLst>
              <a:ext uri="{FF2B5EF4-FFF2-40B4-BE49-F238E27FC236}">
                <a16:creationId xmlns:a16="http://schemas.microsoft.com/office/drawing/2014/main" id="{6E52781E-D720-D701-BE23-4E71C77ED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975" y="1685731"/>
            <a:ext cx="5848540" cy="4524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67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65A8-FC79-B24B-20E5-B43BB980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84370-39A7-D482-25C5-E9DAFC833BA8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496387" y="1252728"/>
            <a:ext cx="5409891" cy="5390667"/>
          </a:xfrm>
        </p:spPr>
        <p:txBody>
          <a:bodyPr/>
          <a:lstStyle/>
          <a:p>
            <a:r>
              <a:rPr lang="en-US" dirty="0"/>
              <a:t>Regression is often also discussed as a line of best fit, trying to fit a line to the data that minimizes the difference between the actual values and the predicted values</a:t>
            </a:r>
          </a:p>
          <a:p>
            <a:pPr lvl="1"/>
            <a:r>
              <a:rPr lang="en-US" dirty="0"/>
              <a:t>Y = 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 err="1"/>
              <a:t>b</a:t>
            </a:r>
            <a:r>
              <a:rPr lang="en-US" dirty="0" err="1"/>
              <a:t>X</a:t>
            </a:r>
            <a:endParaRPr lang="en-US" dirty="0"/>
          </a:p>
          <a:p>
            <a:pPr lvl="2"/>
            <a:r>
              <a:rPr lang="en-US" i="1" dirty="0"/>
              <a:t>X </a:t>
            </a:r>
            <a:r>
              <a:rPr lang="en-US" dirty="0"/>
              <a:t>= predictor variable</a:t>
            </a:r>
          </a:p>
          <a:p>
            <a:pPr lvl="2"/>
            <a:r>
              <a:rPr lang="en-US" i="1" dirty="0"/>
              <a:t>Y</a:t>
            </a:r>
            <a:r>
              <a:rPr lang="en-US" dirty="0"/>
              <a:t> = outcome variable</a:t>
            </a:r>
            <a:endParaRPr lang="en-US" i="1" dirty="0"/>
          </a:p>
          <a:p>
            <a:pPr lvl="2"/>
            <a:r>
              <a:rPr lang="en-US" i="1" dirty="0"/>
              <a:t>a</a:t>
            </a:r>
            <a:r>
              <a:rPr lang="en-US" dirty="0"/>
              <a:t> = intercept</a:t>
            </a:r>
          </a:p>
          <a:p>
            <a:pPr lvl="2"/>
            <a:r>
              <a:rPr lang="en-US" i="1" dirty="0"/>
              <a:t>b</a:t>
            </a:r>
            <a:r>
              <a:rPr lang="en-US" dirty="0"/>
              <a:t> = slope for predictor variable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079C4B-A6A9-93B2-F4DF-C8425381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76C9CA-F9D3-9356-9BE2-BB17D1A70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80319"/>
            <a:ext cx="5754095" cy="429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73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929D77E-339F-4DBC-54FB-80DB17F41FC1}"/>
                  </a:ext>
                </a:extLst>
              </p:cNvPr>
              <p:cNvSpPr>
                <a:spLocks noGrp="1"/>
              </p:cNvSpPr>
              <p:nvPr>
                <p:ph type="body" sz="quarter" idx="108"/>
              </p:nvPr>
            </p:nvSpPr>
            <p:spPr/>
            <p:txBody>
              <a:bodyPr/>
              <a:lstStyle/>
              <a:p>
                <a:r>
                  <a:rPr lang="en-US" b="1" dirty="0"/>
                  <a:t>Multiple Regression</a:t>
                </a:r>
                <a:r>
                  <a:rPr lang="en-US" dirty="0"/>
                  <a:t> (aka: multivariate regression) – A form of regression with more than 2 variables</a:t>
                </a:r>
              </a:p>
              <a:p>
                <a:pPr lvl="1"/>
                <a:r>
                  <a:rPr lang="en-US" dirty="0"/>
                  <a:t>Ex: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means you can measure as many third variables as you want/ can justify</a:t>
                </a:r>
              </a:p>
              <a:p>
                <a:r>
                  <a:rPr lang="en-US" dirty="0"/>
                  <a:t>A slope (</a:t>
                </a:r>
                <a:r>
                  <a:rPr lang="en-US" i="1" dirty="0"/>
                  <a:t>b</a:t>
                </a:r>
                <a:r>
                  <a:rPr lang="en-US" dirty="0"/>
                  <a:t>) can be standardized into what we call a “beta” (</a:t>
                </a:r>
                <a:r>
                  <a:rPr lang="el-GR" i="1" dirty="0"/>
                  <a:t>β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In other words, instead of being in the units of the original data, it’s in standardized units</a:t>
                </a:r>
              </a:p>
              <a:p>
                <a:pPr lvl="2"/>
                <a:r>
                  <a:rPr lang="en-US" dirty="0"/>
                  <a:t>This is like going from a person’s raw score to a person’s z-score</a:t>
                </a:r>
              </a:p>
              <a:p>
                <a:pPr lvl="1"/>
                <a:r>
                  <a:rPr lang="en-US" dirty="0"/>
                  <a:t>For both </a:t>
                </a:r>
                <a:r>
                  <a:rPr lang="en-US" i="1" dirty="0"/>
                  <a:t>b</a:t>
                </a:r>
                <a:r>
                  <a:rPr lang="en-US" dirty="0"/>
                  <a:t> and </a:t>
                </a:r>
                <a:r>
                  <a:rPr lang="el-GR" i="1" dirty="0"/>
                  <a:t>β</a:t>
                </a:r>
                <a:r>
                  <a:rPr lang="en-US" dirty="0"/>
                  <a:t>, a positive value indicate a positive relationship, while a negative value indicates a negative relationship</a:t>
                </a:r>
              </a:p>
              <a:p>
                <a:pPr lvl="1"/>
                <a:r>
                  <a:rPr lang="en-US" dirty="0"/>
                  <a:t>What makes </a:t>
                </a:r>
                <a:r>
                  <a:rPr lang="el-GR" i="1" dirty="0"/>
                  <a:t>β</a:t>
                </a:r>
                <a:r>
                  <a:rPr lang="en-US" i="1" dirty="0"/>
                  <a:t> </a:t>
                </a:r>
                <a:r>
                  <a:rPr lang="en-US" dirty="0"/>
                  <a:t>special: It can be compared across other </a:t>
                </a:r>
                <a:r>
                  <a:rPr lang="el-GR" i="1" dirty="0"/>
                  <a:t>β</a:t>
                </a:r>
                <a:r>
                  <a:rPr lang="en-US" i="1" dirty="0"/>
                  <a:t> </a:t>
                </a:r>
                <a:r>
                  <a:rPr lang="en-US" dirty="0"/>
                  <a:t>from the same analysis, to determine which variable has the strongest relationship with the outcome variable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929D77E-339F-4DBC-54FB-80DB17F41F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8"/>
              </p:nvPr>
            </p:nvSpPr>
            <p:spPr>
              <a:blipFill>
                <a:blip r:embed="rId3"/>
                <a:stretch>
                  <a:fillRect l="-694" t="-982" r="-1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53A5291-E9A7-AC6B-02FE-4053AC46D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Regression</a:t>
            </a:r>
          </a:p>
        </p:txBody>
      </p:sp>
    </p:spTree>
    <p:extLst>
      <p:ext uri="{BB962C8B-B14F-4D97-AF65-F5344CB8AC3E}">
        <p14:creationId xmlns:p14="http://schemas.microsoft.com/office/powerpoint/2010/main" val="227107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A4A227-9D81-0C6E-2B64-BFEAF8B3EB49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496388" y="1252729"/>
            <a:ext cx="6342951" cy="4974332"/>
          </a:xfrm>
        </p:spPr>
        <p:txBody>
          <a:bodyPr/>
          <a:lstStyle/>
          <a:p>
            <a:r>
              <a:rPr lang="en-US" dirty="0"/>
              <a:t>The larger the beta, the stronger the relationship with the outcome variable</a:t>
            </a:r>
          </a:p>
          <a:p>
            <a:r>
              <a:rPr lang="en-US" dirty="0"/>
              <a:t>If the 95% CI does not include 0, then the relationship is significant</a:t>
            </a:r>
          </a:p>
          <a:p>
            <a:r>
              <a:rPr lang="en-US" dirty="0"/>
              <a:t>If the </a:t>
            </a:r>
            <a:r>
              <a:rPr lang="en-US" i="1" dirty="0"/>
              <a:t>p</a:t>
            </a:r>
            <a:r>
              <a:rPr lang="en-US" dirty="0"/>
              <a:t>-value is low enough (ex: &lt; .05), then the relationship is significant</a:t>
            </a:r>
          </a:p>
          <a:p>
            <a:r>
              <a:rPr lang="en-US" dirty="0"/>
              <a:t>Ex: evaluating exposure to sex on TV, age, and teen pregnancy</a:t>
            </a:r>
          </a:p>
          <a:p>
            <a:pPr lvl="1"/>
            <a:r>
              <a:rPr lang="en-US" dirty="0"/>
              <a:t>Can exposure to sex on TV predict teen pregnancy?</a:t>
            </a:r>
          </a:p>
          <a:p>
            <a:pPr lvl="1"/>
            <a:r>
              <a:rPr lang="en-US" dirty="0"/>
              <a:t>Can age predict teen pregnancy?</a:t>
            </a:r>
          </a:p>
          <a:p>
            <a:pPr lvl="1"/>
            <a:r>
              <a:rPr lang="en-US" dirty="0"/>
              <a:t>Which is the stronger predictor?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755943-D013-6B9D-B1E4-E79F42BF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Multiple Regression</a:t>
            </a:r>
          </a:p>
        </p:txBody>
      </p:sp>
      <p:pic>
        <p:nvPicPr>
          <p:cNvPr id="5" name="Picture 4" descr="A table titled, Multiple-Regression Results from a Study Predicting Pregnancy from Sexual Content on TV and Age. Detailed table information is available in the accessible content.">
            <a:extLst>
              <a:ext uri="{FF2B5EF4-FFF2-40B4-BE49-F238E27FC236}">
                <a16:creationId xmlns:a16="http://schemas.microsoft.com/office/drawing/2014/main" id="{5CF777EA-A529-2EBE-C104-DDFCB3EDA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290" y="1403350"/>
            <a:ext cx="5029200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91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DF56F7-12C3-577A-9DAA-6DBD47FFC664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496388" y="1252729"/>
            <a:ext cx="5829767" cy="4974332"/>
          </a:xfrm>
        </p:spPr>
        <p:txBody>
          <a:bodyPr/>
          <a:lstStyle/>
          <a:p>
            <a:r>
              <a:rPr lang="en-US" dirty="0"/>
              <a:t>When you add more variables, it adjusts the betas for all other variables</a:t>
            </a:r>
          </a:p>
          <a:p>
            <a:r>
              <a:rPr lang="en-US" dirty="0"/>
              <a:t>What is the relationship for each variable? Is it significant?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D2BCDD-644A-8CF4-0659-3F4469A1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6" y="299811"/>
            <a:ext cx="6783354" cy="801824"/>
          </a:xfrm>
        </p:spPr>
        <p:txBody>
          <a:bodyPr/>
          <a:lstStyle/>
          <a:p>
            <a:r>
              <a:rPr lang="en-US" dirty="0"/>
              <a:t>Interpreting Multiple Regression</a:t>
            </a:r>
          </a:p>
        </p:txBody>
      </p:sp>
      <p:pic>
        <p:nvPicPr>
          <p:cNvPr id="5" name="Picture 4" descr="A table titled, Multiple-Regression Results from a Study Predicting Pregnancy from Exposure to Sex on TV and Other Variables. Detailed table information is available in the accessible content.">
            <a:extLst>
              <a:ext uri="{FF2B5EF4-FFF2-40B4-BE49-F238E27FC236}">
                <a16:creationId xmlns:a16="http://schemas.microsoft.com/office/drawing/2014/main" id="{067FA064-8185-5735-9D97-9773C6910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334" y="183012"/>
            <a:ext cx="4718278" cy="651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37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BD5B50-5C14-602E-20B6-228A0EE8C3D1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496389" y="1252729"/>
            <a:ext cx="5276450" cy="4974332"/>
          </a:xfrm>
        </p:spPr>
        <p:txBody>
          <a:bodyPr/>
          <a:lstStyle/>
          <a:p>
            <a:r>
              <a:rPr lang="en-US" dirty="0"/>
              <a:t>Key words:</a:t>
            </a:r>
          </a:p>
          <a:p>
            <a:r>
              <a:rPr lang="en-US" dirty="0"/>
              <a:t>“Controlled for”</a:t>
            </a:r>
          </a:p>
          <a:p>
            <a:r>
              <a:rPr lang="en-US" dirty="0"/>
              <a:t>“Adjusting for”</a:t>
            </a:r>
          </a:p>
          <a:p>
            <a:r>
              <a:rPr lang="en-US" dirty="0"/>
              <a:t>“Considering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07B4D1-FF3A-9FA5-4CDD-567A4C9F7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Regression in Media</a:t>
            </a:r>
          </a:p>
        </p:txBody>
      </p:sp>
      <p:pic>
        <p:nvPicPr>
          <p:cNvPr id="5" name="Picture 4" descr="A piece of chocolate on a notebook. The caption reads: The chocolate diet? Since so many complicating factors can influence results, it is difficult to pinpoint cause and effect. But the researchers adjusted their results for a number of variables, including age, gender, depression, vegetable consumption, and fat and calorie intake.">
            <a:extLst>
              <a:ext uri="{FF2B5EF4-FFF2-40B4-BE49-F238E27FC236}">
                <a16:creationId xmlns:a16="http://schemas.microsoft.com/office/drawing/2014/main" id="{8ABBE940-052A-86B3-DE44-1689B9F43D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4609" y="1650447"/>
            <a:ext cx="8214161" cy="4254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5989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52BF-6245-5407-6D3F-7EFB3A65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A1B0-1BF1-BCBF-2F06-070C63A36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77" y="759150"/>
            <a:ext cx="8735715" cy="1799292"/>
          </a:xfrm>
        </p:spPr>
        <p:txBody>
          <a:bodyPr/>
          <a:lstStyle/>
          <a:p>
            <a:r>
              <a:rPr lang="en-US" dirty="0"/>
              <a:t>Problem 2: Internal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D77D3-ADB7-7073-96D8-F7DFA422F0C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123" y="3541527"/>
            <a:ext cx="8735715" cy="1516063"/>
          </a:xfrm>
        </p:spPr>
        <p:txBody>
          <a:bodyPr/>
          <a:lstStyle/>
          <a:p>
            <a:r>
              <a:rPr lang="en-US" dirty="0"/>
              <a:t>Have we established internal validity?</a:t>
            </a:r>
          </a:p>
        </p:txBody>
      </p:sp>
    </p:spTree>
    <p:extLst>
      <p:ext uri="{BB962C8B-B14F-4D97-AF65-F5344CB8AC3E}">
        <p14:creationId xmlns:p14="http://schemas.microsoft.com/office/powerpoint/2010/main" val="1155257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B24F08-5327-6ACD-4EC7-2D260D89048A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dirty="0"/>
              <a:t>Regression looks at PREDICTION</a:t>
            </a:r>
          </a:p>
          <a:p>
            <a:r>
              <a:rPr lang="en-US" dirty="0"/>
              <a:t>Prediction ≠ Causation</a:t>
            </a:r>
          </a:p>
          <a:p>
            <a:pPr lvl="1"/>
            <a:r>
              <a:rPr lang="en-US" dirty="0"/>
              <a:t>I CAN say ice cream sales predict sunburns</a:t>
            </a:r>
          </a:p>
          <a:p>
            <a:pPr lvl="1"/>
            <a:r>
              <a:rPr lang="en-US" dirty="0"/>
              <a:t>I CANNOT say ice cream sales cause sunburns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6B98DA-B90E-1BC2-B029-A68075EA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and Third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FC2C2-E5AA-BA75-319C-60D065A10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179" y="2886858"/>
            <a:ext cx="8851641" cy="353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7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6937CF-A921-82A4-A7D9-F0BE74355C35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dirty="0"/>
              <a:t>In correlational/ regression research, we are only measuring the variables we GUESSED might impact the outcome variable, not all possible third variables</a:t>
            </a:r>
          </a:p>
          <a:p>
            <a:r>
              <a:rPr lang="en-US" dirty="0"/>
              <a:t>If we can’t know all possible third variables, we need a way to eliminate them without knowing what they are</a:t>
            </a:r>
          </a:p>
          <a:p>
            <a:r>
              <a:rPr lang="en-US" dirty="0"/>
              <a:t>AKA… we need randomization (so each group should have an equal chance of the third variable in both groups, so the third variable is cancelled out)</a:t>
            </a:r>
          </a:p>
          <a:p>
            <a:r>
              <a:rPr lang="en-US" dirty="0"/>
              <a:t>To have random assignment to a condition, we need an experiment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293DEE-DCD4-A688-A19F-C9F904420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Third Variables</a:t>
            </a:r>
          </a:p>
        </p:txBody>
      </p:sp>
    </p:spTree>
    <p:extLst>
      <p:ext uri="{BB962C8B-B14F-4D97-AF65-F5344CB8AC3E}">
        <p14:creationId xmlns:p14="http://schemas.microsoft.com/office/powerpoint/2010/main" val="555983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A251CC-2E1E-39AD-842F-F4BFFDA1581D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dirty="0"/>
              <a:t>So, what if random assignment isn’t available? (For example, if it’s impossible or unethical to force someone into a group)</a:t>
            </a:r>
          </a:p>
          <a:p>
            <a:r>
              <a:rPr lang="en-US" dirty="0"/>
              <a:t>Answer: we use the rule of parsimony to get as close as we can</a:t>
            </a:r>
          </a:p>
          <a:p>
            <a:r>
              <a:rPr lang="en-US" b="1" dirty="0"/>
              <a:t>Parsimony</a:t>
            </a:r>
            <a:r>
              <a:rPr lang="en-US" dirty="0"/>
              <a:t> – the simplest explanation is the best explanation</a:t>
            </a:r>
          </a:p>
          <a:p>
            <a:r>
              <a:rPr lang="en-US" dirty="0"/>
              <a:t>In action, we evaluate as many predictions related to the same theory as possible, so that the only shared answer is the most likely cause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B3D1EA-E207-DD2E-94A2-D0DFB6816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Third Variables</a:t>
            </a:r>
          </a:p>
        </p:txBody>
      </p:sp>
    </p:spTree>
    <p:extLst>
      <p:ext uri="{BB962C8B-B14F-4D97-AF65-F5344CB8AC3E}">
        <p14:creationId xmlns:p14="http://schemas.microsoft.com/office/powerpoint/2010/main" val="1217911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6B6EC6-4E5B-E94C-E96B-93E60722ECEC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dirty="0"/>
              <a:t>Consider the scenario where we want to know if long-term cigarette use causing lung cancer</a:t>
            </a:r>
          </a:p>
          <a:p>
            <a:r>
              <a:rPr lang="en-US" dirty="0"/>
              <a:t>We separately (and repeatedly, if possible) test each of these predictions:</a:t>
            </a:r>
          </a:p>
          <a:p>
            <a:pPr lvl="1"/>
            <a:r>
              <a:rPr lang="en-US" dirty="0"/>
              <a:t>The longer a person has smoked cigarettes, the greater are the chances of getting cancer.</a:t>
            </a:r>
          </a:p>
          <a:p>
            <a:pPr lvl="1"/>
            <a:r>
              <a:rPr lang="en-US" dirty="0"/>
              <a:t>People who stop smoking have lower cancer rates than people who continue smoking.</a:t>
            </a:r>
          </a:p>
          <a:p>
            <a:pPr lvl="1"/>
            <a:r>
              <a:rPr lang="en-US" dirty="0"/>
              <a:t>Smokers’ cancers tend to be in the lungs and of a particular type.</a:t>
            </a:r>
          </a:p>
          <a:p>
            <a:pPr lvl="1"/>
            <a:r>
              <a:rPr lang="en-US" dirty="0"/>
              <a:t>Smokers who use filtered cigarettes have a somewhat lower rate of cancer than smokers of unfiltered cigarettes.</a:t>
            </a:r>
          </a:p>
          <a:p>
            <a:pPr lvl="1"/>
            <a:r>
              <a:rPr lang="en-US" dirty="0"/>
              <a:t>People who live with smokers will also have higher rates of cancer because of their passive exposure to the same chemicals.</a:t>
            </a:r>
          </a:p>
          <a:p>
            <a:r>
              <a:rPr lang="en-US" dirty="0"/>
              <a:t>By the rule of parsimony, if we can narrow it down to just the theory that smoking causes lung cancer, we can treat it similar to a causal claim</a:t>
            </a:r>
          </a:p>
          <a:p>
            <a:pPr lvl="1"/>
            <a:r>
              <a:rPr lang="en-US" dirty="0"/>
              <a:t>As a reminder, theory ≠ law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D45835-5EC7-29BC-7FDE-80B74FCA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Third Variables</a:t>
            </a:r>
          </a:p>
        </p:txBody>
      </p:sp>
    </p:spTree>
    <p:extLst>
      <p:ext uri="{BB962C8B-B14F-4D97-AF65-F5344CB8AC3E}">
        <p14:creationId xmlns:p14="http://schemas.microsoft.com/office/powerpoint/2010/main" val="1252569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E06793-25FE-F528-36C8-3408A6FBE316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dirty="0"/>
              <a:t>Journalists do not always fairly represent pattern and parsimony.</a:t>
            </a:r>
          </a:p>
          <a:p>
            <a:r>
              <a:rPr lang="en-US" dirty="0"/>
              <a:t>When journalists report only one study at a time, they are selectively presenting only part of the scientific process.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7DC003-3F26-33E4-1C3E-22B07ADF0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Pattern, Parsimony, and Popular Media</a:t>
            </a:r>
          </a:p>
        </p:txBody>
      </p:sp>
    </p:spTree>
    <p:extLst>
      <p:ext uri="{BB962C8B-B14F-4D97-AF65-F5344CB8AC3E}">
        <p14:creationId xmlns:p14="http://schemas.microsoft.com/office/powerpoint/2010/main" val="4148575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294830-EC06-46BE-1A0B-671CA78C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77" y="759150"/>
            <a:ext cx="7828707" cy="2161332"/>
          </a:xfrm>
        </p:spPr>
        <p:txBody>
          <a:bodyPr/>
          <a:lstStyle/>
          <a:p>
            <a:r>
              <a:rPr lang="en-US" dirty="0"/>
              <a:t>Mediation and Moderation</a:t>
            </a:r>
          </a:p>
        </p:txBody>
      </p:sp>
    </p:spTree>
    <p:extLst>
      <p:ext uri="{BB962C8B-B14F-4D97-AF65-F5344CB8AC3E}">
        <p14:creationId xmlns:p14="http://schemas.microsoft.com/office/powerpoint/2010/main" val="3308157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3A74D0-D009-2745-14A8-C519BF0096BE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dirty="0"/>
              <a:t>If you want to know more information about your third variables, you can test if it is a mediator or a moderator</a:t>
            </a:r>
          </a:p>
          <a:p>
            <a:pPr lvl="1"/>
            <a:r>
              <a:rPr lang="en-US" dirty="0"/>
              <a:t>You can do these with correlational research or experimental research</a:t>
            </a:r>
          </a:p>
          <a:p>
            <a:r>
              <a:rPr lang="en-US" b="1" dirty="0"/>
              <a:t>Mediation</a:t>
            </a:r>
            <a:r>
              <a:rPr lang="en-US" dirty="0"/>
              <a:t> – A proposed explanation for a relationship, where a third variable is potentially driving the relationship between X and Y</a:t>
            </a:r>
          </a:p>
          <a:p>
            <a:pPr lvl="1"/>
            <a:r>
              <a:rPr lang="en-US" dirty="0"/>
              <a:t>Tests why or how X and Y are related</a:t>
            </a:r>
          </a:p>
          <a:p>
            <a:r>
              <a:rPr lang="en-US" b="1" dirty="0"/>
              <a:t>Moderation</a:t>
            </a:r>
            <a:r>
              <a:rPr lang="en-US" dirty="0"/>
              <a:t> – Explains how a third variable is altering the strength or direction of the relationship</a:t>
            </a:r>
          </a:p>
          <a:p>
            <a:pPr lvl="1"/>
            <a:r>
              <a:rPr lang="en-US" dirty="0"/>
              <a:t>Tests when or for whom X and Y are related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FB0268-C8A2-CAEC-AF53-6FADCF7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Mediation and Moderation</a:t>
            </a:r>
          </a:p>
        </p:txBody>
      </p:sp>
    </p:spTree>
    <p:extLst>
      <p:ext uri="{BB962C8B-B14F-4D97-AF65-F5344CB8AC3E}">
        <p14:creationId xmlns:p14="http://schemas.microsoft.com/office/powerpoint/2010/main" val="1048343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A5B8A3-9E7D-9142-9D77-5B4AE934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38DF5A-1C99-7E38-46E3-5681E2F3FFB1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496388" y="1252729"/>
            <a:ext cx="11418243" cy="893312"/>
          </a:xfrm>
        </p:spPr>
        <p:txBody>
          <a:bodyPr/>
          <a:lstStyle/>
          <a:p>
            <a:r>
              <a:rPr lang="en-US" dirty="0"/>
              <a:t>Mediation: why are two variables related?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0F4C5-714D-6269-147B-6D5F12382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88" y="2146041"/>
            <a:ext cx="4829175" cy="3105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9A9995-9248-2424-FEA1-7D54A3F04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70" y="1885997"/>
            <a:ext cx="4634787" cy="386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41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711C17-E1A5-9D4A-5D3A-ED889F2F22DF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496388" y="1252729"/>
            <a:ext cx="11418243" cy="911973"/>
          </a:xfrm>
        </p:spPr>
        <p:txBody>
          <a:bodyPr/>
          <a:lstStyle/>
          <a:p>
            <a:r>
              <a:rPr lang="en-US" dirty="0"/>
              <a:t>Moderation: Are there certain groups or situations for which the two variables are more strongly related?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40D50-BFFB-A038-225E-000856686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3D52C7-E8F5-2E5A-DA75-B01A41216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88" y="2500121"/>
            <a:ext cx="5114925" cy="3105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C7CF4-4A7D-C558-7BA2-35CC07134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614" y="2038158"/>
            <a:ext cx="51149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757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59A308-D6BE-A69A-DA6A-3D000E16D27E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dirty="0"/>
              <a:t>Things get “weird” because we are not rid of the third variable problem, even though mediation is relying on some level of causation</a:t>
            </a:r>
          </a:p>
          <a:p>
            <a:r>
              <a:rPr lang="en-US" dirty="0"/>
              <a:t>For mediation in regression research, we have to acknowledge that we might see a relationship, but another explanation could explain the causal aspect (thus, experiments that manipulate the mediator  can make much stronger causal claims)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F93A48-F8EB-F3FD-B19D-606D05AA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Third Variable Problem</a:t>
            </a:r>
          </a:p>
        </p:txBody>
      </p:sp>
      <p:pic>
        <p:nvPicPr>
          <p:cNvPr id="4" name="Picture 3" descr="Third-variable example diagram">
            <a:extLst>
              <a:ext uri="{FF2B5EF4-FFF2-40B4-BE49-F238E27FC236}">
                <a16:creationId xmlns:a16="http://schemas.microsoft.com/office/drawing/2014/main" id="{0A835C24-6998-448C-6875-520BBDAD3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790" y="3308674"/>
            <a:ext cx="4295775" cy="3105150"/>
          </a:xfrm>
          <a:prstGeom prst="rect">
            <a:avLst/>
          </a:prstGeom>
        </p:spPr>
      </p:pic>
      <p:pic>
        <p:nvPicPr>
          <p:cNvPr id="5" name="Picture 4" descr="Third-variable example scenario">
            <a:extLst>
              <a:ext uri="{FF2B5EF4-FFF2-40B4-BE49-F238E27FC236}">
                <a16:creationId xmlns:a16="http://schemas.microsoft.com/office/drawing/2014/main" id="{D1F61157-FCB6-9526-72CD-7639C5CE7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539" y="3222521"/>
            <a:ext cx="3486830" cy="327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00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751330-ABFF-F08A-DF88-A9A53365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77" y="759150"/>
            <a:ext cx="7959335" cy="2935772"/>
          </a:xfrm>
        </p:spPr>
        <p:txBody>
          <a:bodyPr/>
          <a:lstStyle/>
          <a:p>
            <a:r>
              <a:rPr lang="en-US" dirty="0"/>
              <a:t>The Big 4 Validities in Multivariate Correlational Research</a:t>
            </a:r>
          </a:p>
        </p:txBody>
      </p:sp>
    </p:spTree>
    <p:extLst>
      <p:ext uri="{BB962C8B-B14F-4D97-AF65-F5344CB8AC3E}">
        <p14:creationId xmlns:p14="http://schemas.microsoft.com/office/powerpoint/2010/main" val="4197123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5F3E6C-0B3A-D582-B6DC-CA59E1C34701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/>
          <a:lstStyle/>
          <a:p>
            <a:r>
              <a:rPr lang="en-US" dirty="0"/>
              <a:t>Scenario: Evaluating the ability of relationship drama and degree program difficulty to predict student stress?</a:t>
            </a:r>
          </a:p>
          <a:p>
            <a:r>
              <a:rPr lang="en-US" dirty="0"/>
              <a:t>We’ve already discussed internal validity (a LOT), but what could we look at to evaluate…</a:t>
            </a:r>
          </a:p>
          <a:p>
            <a:r>
              <a:rPr lang="en-US" dirty="0"/>
              <a:t>Construct validity?</a:t>
            </a:r>
          </a:p>
          <a:p>
            <a:r>
              <a:rPr lang="en-US" dirty="0"/>
              <a:t>Statistical validity?</a:t>
            </a:r>
          </a:p>
          <a:p>
            <a:r>
              <a:rPr lang="en-US" dirty="0"/>
              <a:t>External validity?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B58CEA-7AA5-57F6-5686-C0E18BA3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Four Validities</a:t>
            </a:r>
          </a:p>
        </p:txBody>
      </p:sp>
    </p:spTree>
    <p:extLst>
      <p:ext uri="{BB962C8B-B14F-4D97-AF65-F5344CB8AC3E}">
        <p14:creationId xmlns:p14="http://schemas.microsoft.com/office/powerpoint/2010/main" val="2653192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search Methods PowerPoint Template" id="{686830E0-B0B3-4EA3-80EF-56D80DF1C852}" vid="{A74170DD-4976-48CF-B0A5-4C379B0B47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a7cd2ac-fcc1-473f-afe1-3dcd267d5ab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245B5271EE2142B482725BAA8B1869" ma:contentTypeVersion="10" ma:contentTypeDescription="Create a new document." ma:contentTypeScope="" ma:versionID="f1cfe03f77ad3ae8d1e620901e874987">
  <xsd:schema xmlns:xsd="http://www.w3.org/2001/XMLSchema" xmlns:xs="http://www.w3.org/2001/XMLSchema" xmlns:p="http://schemas.microsoft.com/office/2006/metadata/properties" xmlns:ns3="aa7cd2ac-fcc1-473f-afe1-3dcd267d5ab1" targetNamespace="http://schemas.microsoft.com/office/2006/metadata/properties" ma:root="true" ma:fieldsID="e14f2987a2decab48755e31a12e153b6" ns3:_="">
    <xsd:import namespace="aa7cd2ac-fcc1-473f-afe1-3dcd267d5ab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cd2ac-fcc1-473f-afe1-3dcd267d5ab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606FE1-1CE5-4690-93E4-B98A3E3FB7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B576E7-7FD4-410C-B7E5-05F5AABCB4D9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aa7cd2ac-fcc1-473f-afe1-3dcd267d5ab1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A1EECEA-41B6-4122-BFA0-9250238934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7cd2ac-fcc1-473f-afe1-3dcd267d5a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Research Methods PowerPoint Template</Template>
  <TotalTime>2844</TotalTime>
  <Words>1387</Words>
  <Application>Microsoft Office PowerPoint</Application>
  <PresentationFormat>Widescreen</PresentationFormat>
  <Paragraphs>134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Britannic Bold</vt:lpstr>
      <vt:lpstr>Cambria Math</vt:lpstr>
      <vt:lpstr>Garamond</vt:lpstr>
      <vt:lpstr>Office Theme</vt:lpstr>
      <vt:lpstr>Chapter 9</vt:lpstr>
      <vt:lpstr>Agenda</vt:lpstr>
      <vt:lpstr>Multivariate Correlational Research</vt:lpstr>
      <vt:lpstr>So, why can’t bivariate correlational studies establish causation?</vt:lpstr>
      <vt:lpstr>Problem 1: Temporal Precedence</vt:lpstr>
      <vt:lpstr>Longitudinal Studies</vt:lpstr>
      <vt:lpstr>Cross-Sectional Correlations</vt:lpstr>
      <vt:lpstr>Autocorrelations</vt:lpstr>
      <vt:lpstr>Cross-Lag Correlations</vt:lpstr>
      <vt:lpstr>Interpreting Cross-Lag Correlations</vt:lpstr>
      <vt:lpstr>Problem 1: Temporal Precedence</vt:lpstr>
      <vt:lpstr>Problem 2: Internal Validity</vt:lpstr>
      <vt:lpstr>Regression</vt:lpstr>
      <vt:lpstr>Regression</vt:lpstr>
      <vt:lpstr>Multiple Regression</vt:lpstr>
      <vt:lpstr>Interpreting Multiple Regression</vt:lpstr>
      <vt:lpstr>Interpreting Multiple Regression</vt:lpstr>
      <vt:lpstr>Multiple Regression in Media</vt:lpstr>
      <vt:lpstr>Problem 2: Internal Validity</vt:lpstr>
      <vt:lpstr>Regression and Third Variables</vt:lpstr>
      <vt:lpstr>Handling Third Variables</vt:lpstr>
      <vt:lpstr>Handling Third Variables</vt:lpstr>
      <vt:lpstr>Handling Third Variables</vt:lpstr>
      <vt:lpstr>Pattern, Parsimony, and Popular Media</vt:lpstr>
      <vt:lpstr>Mediation and Moderation</vt:lpstr>
      <vt:lpstr>Mediation and Moderation</vt:lpstr>
      <vt:lpstr>Mediation</vt:lpstr>
      <vt:lpstr>Moderation</vt:lpstr>
      <vt:lpstr>The Third Variable Problem</vt:lpstr>
      <vt:lpstr>The Big 4 Validities in Multivariate Correlational Research</vt:lpstr>
      <vt:lpstr>The Big Four Validities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Research Methods teaching template</dc:subject>
  <dc:creator>Bryanna Scheuler</dc:creator>
  <cp:lastModifiedBy>Bryanna Scheuler</cp:lastModifiedBy>
  <cp:revision>43</cp:revision>
  <dcterms:created xsi:type="dcterms:W3CDTF">2026-08-20T19:50:46Z</dcterms:created>
  <dcterms:modified xsi:type="dcterms:W3CDTF">2026-10-30T06:32:02Z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0x01010058245B5271EE2142B482725BAA8B1869</vt:lpwstr>
  </property>
</Properties>
</file>