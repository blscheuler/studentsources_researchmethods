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sldIdLst>
    <p:sldId id="256" r:id="rId5"/>
    <p:sldId id="259" r:id="rId6"/>
    <p:sldId id="309" r:id="rId7"/>
    <p:sldId id="385" r:id="rId8"/>
    <p:sldId id="387" r:id="rId9"/>
    <p:sldId id="386" r:id="rId10"/>
    <p:sldId id="388" r:id="rId11"/>
    <p:sldId id="389" r:id="rId12"/>
    <p:sldId id="390" r:id="rId13"/>
    <p:sldId id="391" r:id="rId14"/>
    <p:sldId id="392" r:id="rId15"/>
    <p:sldId id="394" r:id="rId16"/>
    <p:sldId id="395" r:id="rId17"/>
    <p:sldId id="393" r:id="rId18"/>
    <p:sldId id="398" r:id="rId19"/>
    <p:sldId id="357" r:id="rId20"/>
    <p:sldId id="399" r:id="rId21"/>
    <p:sldId id="400" r:id="rId22"/>
    <p:sldId id="401" r:id="rId23"/>
    <p:sldId id="402" r:id="rId24"/>
    <p:sldId id="403" r:id="rId25"/>
    <p:sldId id="404" r:id="rId26"/>
    <p:sldId id="405" r:id="rId27"/>
    <p:sldId id="407" r:id="rId28"/>
    <p:sldId id="406" r:id="rId29"/>
    <p:sldId id="408" r:id="rId30"/>
    <p:sldId id="409" r:id="rId31"/>
    <p:sldId id="411" r:id="rId32"/>
    <p:sldId id="412"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B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64780" autoAdjust="0"/>
  </p:normalViewPr>
  <p:slideViewPr>
    <p:cSldViewPr snapToGrid="0" snapToObjects="1">
      <p:cViewPr varScale="1">
        <p:scale>
          <a:sx n="70" d="100"/>
          <a:sy n="70" d="100"/>
        </p:scale>
        <p:origin x="37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1950E7-5FA9-4677-8A97-4D531455CD77}" type="doc">
      <dgm:prSet loTypeId="urn:microsoft.com/office/officeart/2016/7/layout/LinearBlockProcessNumbered" loCatId="process" qsTypeId="urn:microsoft.com/office/officeart/2005/8/quickstyle/simple2" qsCatId="simple" csTypeId="urn:microsoft.com/office/officeart/2005/8/colors/accent3_2" csCatId="accent3"/>
      <dgm:spPr/>
      <dgm:t>
        <a:bodyPr/>
        <a:lstStyle/>
        <a:p>
          <a:endParaRPr lang="en-US"/>
        </a:p>
      </dgm:t>
    </dgm:pt>
    <dgm:pt modelId="{E2EBCA32-EB6F-401E-88E4-7D3028EA0575}">
      <dgm:prSet/>
      <dgm:spPr/>
      <dgm:t>
        <a:bodyPr/>
        <a:lstStyle/>
        <a:p>
          <a:r>
            <a:rPr lang="en-US" b="1" dirty="0"/>
            <a:t>Construct validity</a:t>
          </a:r>
          <a:r>
            <a:rPr lang="en-US" dirty="0"/>
            <a:t>: How well was each variable measured?</a:t>
          </a:r>
        </a:p>
      </dgm:t>
    </dgm:pt>
    <dgm:pt modelId="{BAA389B9-BAF7-4DA0-AC5D-A152CA954882}" type="parTrans" cxnId="{1C2B87B5-5B13-4FCB-A3B6-2C78619DB70E}">
      <dgm:prSet/>
      <dgm:spPr/>
      <dgm:t>
        <a:bodyPr/>
        <a:lstStyle/>
        <a:p>
          <a:endParaRPr lang="en-US"/>
        </a:p>
      </dgm:t>
    </dgm:pt>
    <dgm:pt modelId="{D2FF13B8-2127-41B3-B6C9-7BC192C3EBC0}" type="sibTrans" cxnId="{1C2B87B5-5B13-4FCB-A3B6-2C78619DB70E}">
      <dgm:prSet phldrT="01" phldr="0"/>
      <dgm:spPr/>
      <dgm:t>
        <a:bodyPr/>
        <a:lstStyle/>
        <a:p>
          <a:r>
            <a:rPr lang="en-US"/>
            <a:t>01</a:t>
          </a:r>
        </a:p>
      </dgm:t>
    </dgm:pt>
    <dgm:pt modelId="{3F644452-AB3A-4FAA-9C91-D6204A1AAD78}">
      <dgm:prSet/>
      <dgm:spPr/>
      <dgm:t>
        <a:bodyPr/>
        <a:lstStyle/>
        <a:p>
          <a:r>
            <a:rPr lang="en-US" b="1" dirty="0"/>
            <a:t>Statistical validity</a:t>
          </a:r>
          <a:r>
            <a:rPr lang="en-US" dirty="0"/>
            <a:t>: How well do the data support the conclusion?</a:t>
          </a:r>
        </a:p>
      </dgm:t>
    </dgm:pt>
    <dgm:pt modelId="{56B5CE66-8541-4EF7-AAAB-3219D7D31E8B}" type="parTrans" cxnId="{0D259E1A-4677-4912-B17E-A9A96EBC9526}">
      <dgm:prSet/>
      <dgm:spPr/>
      <dgm:t>
        <a:bodyPr/>
        <a:lstStyle/>
        <a:p>
          <a:endParaRPr lang="en-US"/>
        </a:p>
      </dgm:t>
    </dgm:pt>
    <dgm:pt modelId="{7FE3FF9F-C2D6-4BBF-A5C4-6DE9EF951890}" type="sibTrans" cxnId="{0D259E1A-4677-4912-B17E-A9A96EBC9526}">
      <dgm:prSet phldrT="02" phldr="0"/>
      <dgm:spPr/>
      <dgm:t>
        <a:bodyPr/>
        <a:lstStyle/>
        <a:p>
          <a:r>
            <a:rPr lang="en-US" dirty="0"/>
            <a:t>02</a:t>
          </a:r>
        </a:p>
      </dgm:t>
    </dgm:pt>
    <dgm:pt modelId="{3E8C95D7-2401-4199-8B6C-3C7ECDBF79CB}">
      <dgm:prSet/>
      <dgm:spPr/>
      <dgm:t>
        <a:bodyPr/>
        <a:lstStyle/>
        <a:p>
          <a:r>
            <a:rPr lang="en-US" b="1" dirty="0"/>
            <a:t>Internal validity</a:t>
          </a:r>
          <a:r>
            <a:rPr lang="en-US" dirty="0"/>
            <a:t>: Can we make a causal inference from an association?</a:t>
          </a:r>
        </a:p>
      </dgm:t>
    </dgm:pt>
    <dgm:pt modelId="{2AFFBF26-A856-42D3-B96C-252CFECF456C}" type="parTrans" cxnId="{C542CA45-723E-4738-A63B-00A070024E52}">
      <dgm:prSet/>
      <dgm:spPr/>
      <dgm:t>
        <a:bodyPr/>
        <a:lstStyle/>
        <a:p>
          <a:endParaRPr lang="en-US"/>
        </a:p>
      </dgm:t>
    </dgm:pt>
    <dgm:pt modelId="{D24CDF28-9B51-4B72-A295-96916AAE7B61}" type="sibTrans" cxnId="{C542CA45-723E-4738-A63B-00A070024E52}">
      <dgm:prSet phldrT="03" phldr="0"/>
      <dgm:spPr/>
      <dgm:t>
        <a:bodyPr/>
        <a:lstStyle/>
        <a:p>
          <a:r>
            <a:rPr lang="en-US"/>
            <a:t>03</a:t>
          </a:r>
        </a:p>
      </dgm:t>
    </dgm:pt>
    <dgm:pt modelId="{629D1483-EA2C-4128-A674-8AB1BE661984}">
      <dgm:prSet/>
      <dgm:spPr/>
      <dgm:t>
        <a:bodyPr/>
        <a:lstStyle/>
        <a:p>
          <a:r>
            <a:rPr lang="en-US" b="1" dirty="0"/>
            <a:t>External validity</a:t>
          </a:r>
          <a:r>
            <a:rPr lang="en-US" dirty="0"/>
            <a:t>: To whom can the association be generalized?</a:t>
          </a:r>
        </a:p>
      </dgm:t>
    </dgm:pt>
    <dgm:pt modelId="{F6F4AEBE-E042-4CA2-9A65-C70EC479CD07}" type="parTrans" cxnId="{33DA3964-7249-4493-BCD9-8DA5258E795F}">
      <dgm:prSet/>
      <dgm:spPr/>
      <dgm:t>
        <a:bodyPr/>
        <a:lstStyle/>
        <a:p>
          <a:endParaRPr lang="en-US"/>
        </a:p>
      </dgm:t>
    </dgm:pt>
    <dgm:pt modelId="{037170AD-5512-4596-B751-3BC8A4212CA8}" type="sibTrans" cxnId="{33DA3964-7249-4493-BCD9-8DA5258E795F}">
      <dgm:prSet phldrT="04" phldr="0"/>
      <dgm:spPr/>
      <dgm:t>
        <a:bodyPr/>
        <a:lstStyle/>
        <a:p>
          <a:r>
            <a:rPr lang="en-US"/>
            <a:t>04</a:t>
          </a:r>
        </a:p>
      </dgm:t>
    </dgm:pt>
    <dgm:pt modelId="{907B8856-649C-4595-9CB7-7D4046DE77CA}" type="pres">
      <dgm:prSet presAssocID="{7A1950E7-5FA9-4677-8A97-4D531455CD77}" presName="Name0" presStyleCnt="0">
        <dgm:presLayoutVars>
          <dgm:animLvl val="lvl"/>
          <dgm:resizeHandles val="exact"/>
        </dgm:presLayoutVars>
      </dgm:prSet>
      <dgm:spPr/>
    </dgm:pt>
    <dgm:pt modelId="{0E39F1AD-5079-4059-8024-E6C944079E28}" type="pres">
      <dgm:prSet presAssocID="{E2EBCA32-EB6F-401E-88E4-7D3028EA0575}" presName="compositeNode" presStyleCnt="0">
        <dgm:presLayoutVars>
          <dgm:bulletEnabled val="1"/>
        </dgm:presLayoutVars>
      </dgm:prSet>
      <dgm:spPr/>
    </dgm:pt>
    <dgm:pt modelId="{07AAD0FC-DE36-4B89-8F5B-6B3F35B0BDE1}" type="pres">
      <dgm:prSet presAssocID="{E2EBCA32-EB6F-401E-88E4-7D3028EA0575}" presName="bgRect" presStyleLbl="alignNode1" presStyleIdx="0" presStyleCnt="4"/>
      <dgm:spPr/>
    </dgm:pt>
    <dgm:pt modelId="{D1C748D8-572F-4C87-B6C9-85E401F3AD31}" type="pres">
      <dgm:prSet presAssocID="{D2FF13B8-2127-41B3-B6C9-7BC192C3EBC0}" presName="sibTransNodeRect" presStyleLbl="alignNode1" presStyleIdx="0" presStyleCnt="4">
        <dgm:presLayoutVars>
          <dgm:chMax val="0"/>
          <dgm:bulletEnabled val="1"/>
        </dgm:presLayoutVars>
      </dgm:prSet>
      <dgm:spPr/>
    </dgm:pt>
    <dgm:pt modelId="{122FD201-5E22-452D-B204-644EF5F3E5A2}" type="pres">
      <dgm:prSet presAssocID="{E2EBCA32-EB6F-401E-88E4-7D3028EA0575}" presName="nodeRect" presStyleLbl="alignNode1" presStyleIdx="0" presStyleCnt="4">
        <dgm:presLayoutVars>
          <dgm:bulletEnabled val="1"/>
        </dgm:presLayoutVars>
      </dgm:prSet>
      <dgm:spPr/>
    </dgm:pt>
    <dgm:pt modelId="{043AFB35-0A09-4961-A219-F4E5375785A0}" type="pres">
      <dgm:prSet presAssocID="{D2FF13B8-2127-41B3-B6C9-7BC192C3EBC0}" presName="sibTrans" presStyleCnt="0"/>
      <dgm:spPr/>
    </dgm:pt>
    <dgm:pt modelId="{A3C20D33-D753-4F75-A3F1-0F68D32A111A}" type="pres">
      <dgm:prSet presAssocID="{3F644452-AB3A-4FAA-9C91-D6204A1AAD78}" presName="compositeNode" presStyleCnt="0">
        <dgm:presLayoutVars>
          <dgm:bulletEnabled val="1"/>
        </dgm:presLayoutVars>
      </dgm:prSet>
      <dgm:spPr/>
    </dgm:pt>
    <dgm:pt modelId="{B4B9DF4D-E042-4F2A-82F4-56C405F7CA99}" type="pres">
      <dgm:prSet presAssocID="{3F644452-AB3A-4FAA-9C91-D6204A1AAD78}" presName="bgRect" presStyleLbl="alignNode1" presStyleIdx="1" presStyleCnt="4"/>
      <dgm:spPr/>
    </dgm:pt>
    <dgm:pt modelId="{F5742DFA-CBF3-42D1-8FC7-D19E7DD8818A}" type="pres">
      <dgm:prSet presAssocID="{7FE3FF9F-C2D6-4BBF-A5C4-6DE9EF951890}" presName="sibTransNodeRect" presStyleLbl="alignNode1" presStyleIdx="1" presStyleCnt="4">
        <dgm:presLayoutVars>
          <dgm:chMax val="0"/>
          <dgm:bulletEnabled val="1"/>
        </dgm:presLayoutVars>
      </dgm:prSet>
      <dgm:spPr/>
    </dgm:pt>
    <dgm:pt modelId="{5C37B48E-C282-4EBD-A8DB-646A164DAA3B}" type="pres">
      <dgm:prSet presAssocID="{3F644452-AB3A-4FAA-9C91-D6204A1AAD78}" presName="nodeRect" presStyleLbl="alignNode1" presStyleIdx="1" presStyleCnt="4">
        <dgm:presLayoutVars>
          <dgm:bulletEnabled val="1"/>
        </dgm:presLayoutVars>
      </dgm:prSet>
      <dgm:spPr/>
    </dgm:pt>
    <dgm:pt modelId="{756D0CC5-AA3F-4058-95D6-25AB677BDB8E}" type="pres">
      <dgm:prSet presAssocID="{7FE3FF9F-C2D6-4BBF-A5C4-6DE9EF951890}" presName="sibTrans" presStyleCnt="0"/>
      <dgm:spPr/>
    </dgm:pt>
    <dgm:pt modelId="{911FFBA5-DD34-41D2-B3A5-008F4DEC705C}" type="pres">
      <dgm:prSet presAssocID="{3E8C95D7-2401-4199-8B6C-3C7ECDBF79CB}" presName="compositeNode" presStyleCnt="0">
        <dgm:presLayoutVars>
          <dgm:bulletEnabled val="1"/>
        </dgm:presLayoutVars>
      </dgm:prSet>
      <dgm:spPr/>
    </dgm:pt>
    <dgm:pt modelId="{541E63B6-6F89-4972-BCCF-CD8B60994C0E}" type="pres">
      <dgm:prSet presAssocID="{3E8C95D7-2401-4199-8B6C-3C7ECDBF79CB}" presName="bgRect" presStyleLbl="alignNode1" presStyleIdx="2" presStyleCnt="4"/>
      <dgm:spPr/>
    </dgm:pt>
    <dgm:pt modelId="{8EA229AA-7D59-4BA8-94E2-5E110B40414E}" type="pres">
      <dgm:prSet presAssocID="{D24CDF28-9B51-4B72-A295-96916AAE7B61}" presName="sibTransNodeRect" presStyleLbl="alignNode1" presStyleIdx="2" presStyleCnt="4">
        <dgm:presLayoutVars>
          <dgm:chMax val="0"/>
          <dgm:bulletEnabled val="1"/>
        </dgm:presLayoutVars>
      </dgm:prSet>
      <dgm:spPr/>
    </dgm:pt>
    <dgm:pt modelId="{FC1211EF-46F3-4E9D-B95A-B8C7CF311D6C}" type="pres">
      <dgm:prSet presAssocID="{3E8C95D7-2401-4199-8B6C-3C7ECDBF79CB}" presName="nodeRect" presStyleLbl="alignNode1" presStyleIdx="2" presStyleCnt="4">
        <dgm:presLayoutVars>
          <dgm:bulletEnabled val="1"/>
        </dgm:presLayoutVars>
      </dgm:prSet>
      <dgm:spPr/>
    </dgm:pt>
    <dgm:pt modelId="{589DE572-7672-45FE-BEA8-AA5054494F09}" type="pres">
      <dgm:prSet presAssocID="{D24CDF28-9B51-4B72-A295-96916AAE7B61}" presName="sibTrans" presStyleCnt="0"/>
      <dgm:spPr/>
    </dgm:pt>
    <dgm:pt modelId="{C00D5A00-8A4C-4208-847E-710078E4A06D}" type="pres">
      <dgm:prSet presAssocID="{629D1483-EA2C-4128-A674-8AB1BE661984}" presName="compositeNode" presStyleCnt="0">
        <dgm:presLayoutVars>
          <dgm:bulletEnabled val="1"/>
        </dgm:presLayoutVars>
      </dgm:prSet>
      <dgm:spPr/>
    </dgm:pt>
    <dgm:pt modelId="{A7B38E1A-C637-4C12-8674-2FA3F58FD32C}" type="pres">
      <dgm:prSet presAssocID="{629D1483-EA2C-4128-A674-8AB1BE661984}" presName="bgRect" presStyleLbl="alignNode1" presStyleIdx="3" presStyleCnt="4"/>
      <dgm:spPr/>
    </dgm:pt>
    <dgm:pt modelId="{A1BDFA59-FB44-4868-9659-7D0BDD886154}" type="pres">
      <dgm:prSet presAssocID="{037170AD-5512-4596-B751-3BC8A4212CA8}" presName="sibTransNodeRect" presStyleLbl="alignNode1" presStyleIdx="3" presStyleCnt="4">
        <dgm:presLayoutVars>
          <dgm:chMax val="0"/>
          <dgm:bulletEnabled val="1"/>
        </dgm:presLayoutVars>
      </dgm:prSet>
      <dgm:spPr/>
    </dgm:pt>
    <dgm:pt modelId="{4064E9DD-6A9C-416D-B2BB-001C9F64E52A}" type="pres">
      <dgm:prSet presAssocID="{629D1483-EA2C-4128-A674-8AB1BE661984}" presName="nodeRect" presStyleLbl="alignNode1" presStyleIdx="3" presStyleCnt="4">
        <dgm:presLayoutVars>
          <dgm:bulletEnabled val="1"/>
        </dgm:presLayoutVars>
      </dgm:prSet>
      <dgm:spPr/>
    </dgm:pt>
  </dgm:ptLst>
  <dgm:cxnLst>
    <dgm:cxn modelId="{0D259E1A-4677-4912-B17E-A9A96EBC9526}" srcId="{7A1950E7-5FA9-4677-8A97-4D531455CD77}" destId="{3F644452-AB3A-4FAA-9C91-D6204A1AAD78}" srcOrd="1" destOrd="0" parTransId="{56B5CE66-8541-4EF7-AAAB-3219D7D31E8B}" sibTransId="{7FE3FF9F-C2D6-4BBF-A5C4-6DE9EF951890}"/>
    <dgm:cxn modelId="{33DA3964-7249-4493-BCD9-8DA5258E795F}" srcId="{7A1950E7-5FA9-4677-8A97-4D531455CD77}" destId="{629D1483-EA2C-4128-A674-8AB1BE661984}" srcOrd="3" destOrd="0" parTransId="{F6F4AEBE-E042-4CA2-9A65-C70EC479CD07}" sibTransId="{037170AD-5512-4596-B751-3BC8A4212CA8}"/>
    <dgm:cxn modelId="{C542CA45-723E-4738-A63B-00A070024E52}" srcId="{7A1950E7-5FA9-4677-8A97-4D531455CD77}" destId="{3E8C95D7-2401-4199-8B6C-3C7ECDBF79CB}" srcOrd="2" destOrd="0" parTransId="{2AFFBF26-A856-42D3-B96C-252CFECF456C}" sibTransId="{D24CDF28-9B51-4B72-A295-96916AAE7B61}"/>
    <dgm:cxn modelId="{1CA7B847-0362-49EF-828B-39BDD9E59F3D}" type="presOf" srcId="{3F644452-AB3A-4FAA-9C91-D6204A1AAD78}" destId="{5C37B48E-C282-4EBD-A8DB-646A164DAA3B}" srcOrd="1" destOrd="0" presId="urn:microsoft.com/office/officeart/2016/7/layout/LinearBlockProcessNumbered"/>
    <dgm:cxn modelId="{3260D86B-4AB0-4228-B4EC-44E527A39662}" type="presOf" srcId="{3E8C95D7-2401-4199-8B6C-3C7ECDBF79CB}" destId="{FC1211EF-46F3-4E9D-B95A-B8C7CF311D6C}" srcOrd="1" destOrd="0" presId="urn:microsoft.com/office/officeart/2016/7/layout/LinearBlockProcessNumbered"/>
    <dgm:cxn modelId="{924CAE87-7CCB-493F-8E4C-0536956440BE}" type="presOf" srcId="{629D1483-EA2C-4128-A674-8AB1BE661984}" destId="{A7B38E1A-C637-4C12-8674-2FA3F58FD32C}" srcOrd="0" destOrd="0" presId="urn:microsoft.com/office/officeart/2016/7/layout/LinearBlockProcessNumbered"/>
    <dgm:cxn modelId="{F2E3BB9E-F4EA-4713-844C-4A6012EB8F89}" type="presOf" srcId="{3F644452-AB3A-4FAA-9C91-D6204A1AAD78}" destId="{B4B9DF4D-E042-4F2A-82F4-56C405F7CA99}" srcOrd="0" destOrd="0" presId="urn:microsoft.com/office/officeart/2016/7/layout/LinearBlockProcessNumbered"/>
    <dgm:cxn modelId="{C25DBDAA-4FDE-4111-8D16-92868D223992}" type="presOf" srcId="{E2EBCA32-EB6F-401E-88E4-7D3028EA0575}" destId="{07AAD0FC-DE36-4B89-8F5B-6B3F35B0BDE1}" srcOrd="0" destOrd="0" presId="urn:microsoft.com/office/officeart/2016/7/layout/LinearBlockProcessNumbered"/>
    <dgm:cxn modelId="{E5EDB3AD-7571-4F64-BDC9-6F9580455C8F}" type="presOf" srcId="{629D1483-EA2C-4128-A674-8AB1BE661984}" destId="{4064E9DD-6A9C-416D-B2BB-001C9F64E52A}" srcOrd="1" destOrd="0" presId="urn:microsoft.com/office/officeart/2016/7/layout/LinearBlockProcessNumbered"/>
    <dgm:cxn modelId="{3F5DFAB0-271D-43AB-87EE-AB3F5E3C7AD7}" type="presOf" srcId="{3E8C95D7-2401-4199-8B6C-3C7ECDBF79CB}" destId="{541E63B6-6F89-4972-BCCF-CD8B60994C0E}" srcOrd="0" destOrd="0" presId="urn:microsoft.com/office/officeart/2016/7/layout/LinearBlockProcessNumbered"/>
    <dgm:cxn modelId="{1C2B87B5-5B13-4FCB-A3B6-2C78619DB70E}" srcId="{7A1950E7-5FA9-4677-8A97-4D531455CD77}" destId="{E2EBCA32-EB6F-401E-88E4-7D3028EA0575}" srcOrd="0" destOrd="0" parTransId="{BAA389B9-BAF7-4DA0-AC5D-A152CA954882}" sibTransId="{D2FF13B8-2127-41B3-B6C9-7BC192C3EBC0}"/>
    <dgm:cxn modelId="{51936FCC-1854-4A4F-A375-C1892300FBD6}" type="presOf" srcId="{7FE3FF9F-C2D6-4BBF-A5C4-6DE9EF951890}" destId="{F5742DFA-CBF3-42D1-8FC7-D19E7DD8818A}" srcOrd="0" destOrd="0" presId="urn:microsoft.com/office/officeart/2016/7/layout/LinearBlockProcessNumbered"/>
    <dgm:cxn modelId="{4086D0CF-1FC2-48CB-ADFD-960C62AFE555}" type="presOf" srcId="{037170AD-5512-4596-B751-3BC8A4212CA8}" destId="{A1BDFA59-FB44-4868-9659-7D0BDD886154}" srcOrd="0" destOrd="0" presId="urn:microsoft.com/office/officeart/2016/7/layout/LinearBlockProcessNumbered"/>
    <dgm:cxn modelId="{3D4752D4-3877-4B23-908C-09004DD7D962}" type="presOf" srcId="{E2EBCA32-EB6F-401E-88E4-7D3028EA0575}" destId="{122FD201-5E22-452D-B204-644EF5F3E5A2}" srcOrd="1" destOrd="0" presId="urn:microsoft.com/office/officeart/2016/7/layout/LinearBlockProcessNumbered"/>
    <dgm:cxn modelId="{CB28E9EC-5B52-444D-8101-BE4E59745FB2}" type="presOf" srcId="{D2FF13B8-2127-41B3-B6C9-7BC192C3EBC0}" destId="{D1C748D8-572F-4C87-B6C9-85E401F3AD31}" srcOrd="0" destOrd="0" presId="urn:microsoft.com/office/officeart/2016/7/layout/LinearBlockProcessNumbered"/>
    <dgm:cxn modelId="{2B2D05F7-0A21-4955-A2D4-97342B651EDA}" type="presOf" srcId="{D24CDF28-9B51-4B72-A295-96916AAE7B61}" destId="{8EA229AA-7D59-4BA8-94E2-5E110B40414E}" srcOrd="0" destOrd="0" presId="urn:microsoft.com/office/officeart/2016/7/layout/LinearBlockProcessNumbered"/>
    <dgm:cxn modelId="{45F63DFD-C031-404F-84F1-3DE3B3166DF2}" type="presOf" srcId="{7A1950E7-5FA9-4677-8A97-4D531455CD77}" destId="{907B8856-649C-4595-9CB7-7D4046DE77CA}" srcOrd="0" destOrd="0" presId="urn:microsoft.com/office/officeart/2016/7/layout/LinearBlockProcessNumbered"/>
    <dgm:cxn modelId="{88E0ED2C-6D5E-481A-AB7E-E4B210CC43D3}" type="presParOf" srcId="{907B8856-649C-4595-9CB7-7D4046DE77CA}" destId="{0E39F1AD-5079-4059-8024-E6C944079E28}" srcOrd="0" destOrd="0" presId="urn:microsoft.com/office/officeart/2016/7/layout/LinearBlockProcessNumbered"/>
    <dgm:cxn modelId="{22A7690B-30CA-4ABE-8A65-A3696FF60FC8}" type="presParOf" srcId="{0E39F1AD-5079-4059-8024-E6C944079E28}" destId="{07AAD0FC-DE36-4B89-8F5B-6B3F35B0BDE1}" srcOrd="0" destOrd="0" presId="urn:microsoft.com/office/officeart/2016/7/layout/LinearBlockProcessNumbered"/>
    <dgm:cxn modelId="{E30E4518-4461-46F5-8829-F0327BE9DCA4}" type="presParOf" srcId="{0E39F1AD-5079-4059-8024-E6C944079E28}" destId="{D1C748D8-572F-4C87-B6C9-85E401F3AD31}" srcOrd="1" destOrd="0" presId="urn:microsoft.com/office/officeart/2016/7/layout/LinearBlockProcessNumbered"/>
    <dgm:cxn modelId="{CE0D0EFB-623D-4AB8-B57F-13CE2AEDEEFD}" type="presParOf" srcId="{0E39F1AD-5079-4059-8024-E6C944079E28}" destId="{122FD201-5E22-452D-B204-644EF5F3E5A2}" srcOrd="2" destOrd="0" presId="urn:microsoft.com/office/officeart/2016/7/layout/LinearBlockProcessNumbered"/>
    <dgm:cxn modelId="{3C6D92CB-FF91-4F97-A21F-CE589BD33978}" type="presParOf" srcId="{907B8856-649C-4595-9CB7-7D4046DE77CA}" destId="{043AFB35-0A09-4961-A219-F4E5375785A0}" srcOrd="1" destOrd="0" presId="urn:microsoft.com/office/officeart/2016/7/layout/LinearBlockProcessNumbered"/>
    <dgm:cxn modelId="{F62817E2-8AA2-4D4D-93F0-150647FB4B97}" type="presParOf" srcId="{907B8856-649C-4595-9CB7-7D4046DE77CA}" destId="{A3C20D33-D753-4F75-A3F1-0F68D32A111A}" srcOrd="2" destOrd="0" presId="urn:microsoft.com/office/officeart/2016/7/layout/LinearBlockProcessNumbered"/>
    <dgm:cxn modelId="{3ECBCAE1-E019-4BDB-8D9B-65CD2736FDEA}" type="presParOf" srcId="{A3C20D33-D753-4F75-A3F1-0F68D32A111A}" destId="{B4B9DF4D-E042-4F2A-82F4-56C405F7CA99}" srcOrd="0" destOrd="0" presId="urn:microsoft.com/office/officeart/2016/7/layout/LinearBlockProcessNumbered"/>
    <dgm:cxn modelId="{2656CFDB-ABFD-49CE-9D51-3F72319AA0AC}" type="presParOf" srcId="{A3C20D33-D753-4F75-A3F1-0F68D32A111A}" destId="{F5742DFA-CBF3-42D1-8FC7-D19E7DD8818A}" srcOrd="1" destOrd="0" presId="urn:microsoft.com/office/officeart/2016/7/layout/LinearBlockProcessNumbered"/>
    <dgm:cxn modelId="{3628A874-32BA-474D-BA46-B3FA95A2534B}" type="presParOf" srcId="{A3C20D33-D753-4F75-A3F1-0F68D32A111A}" destId="{5C37B48E-C282-4EBD-A8DB-646A164DAA3B}" srcOrd="2" destOrd="0" presId="urn:microsoft.com/office/officeart/2016/7/layout/LinearBlockProcessNumbered"/>
    <dgm:cxn modelId="{9367A72E-650B-4DC9-A1A7-35B5514CC9B4}" type="presParOf" srcId="{907B8856-649C-4595-9CB7-7D4046DE77CA}" destId="{756D0CC5-AA3F-4058-95D6-25AB677BDB8E}" srcOrd="3" destOrd="0" presId="urn:microsoft.com/office/officeart/2016/7/layout/LinearBlockProcessNumbered"/>
    <dgm:cxn modelId="{F5120D97-51FC-4057-A209-990BD57A3EAF}" type="presParOf" srcId="{907B8856-649C-4595-9CB7-7D4046DE77CA}" destId="{911FFBA5-DD34-41D2-B3A5-008F4DEC705C}" srcOrd="4" destOrd="0" presId="urn:microsoft.com/office/officeart/2016/7/layout/LinearBlockProcessNumbered"/>
    <dgm:cxn modelId="{FECB68D7-00EC-44E4-8C71-B5B42E1F4574}" type="presParOf" srcId="{911FFBA5-DD34-41D2-B3A5-008F4DEC705C}" destId="{541E63B6-6F89-4972-BCCF-CD8B60994C0E}" srcOrd="0" destOrd="0" presId="urn:microsoft.com/office/officeart/2016/7/layout/LinearBlockProcessNumbered"/>
    <dgm:cxn modelId="{8CC4AB0E-30D1-4B67-83B5-A614B8855F58}" type="presParOf" srcId="{911FFBA5-DD34-41D2-B3A5-008F4DEC705C}" destId="{8EA229AA-7D59-4BA8-94E2-5E110B40414E}" srcOrd="1" destOrd="0" presId="urn:microsoft.com/office/officeart/2016/7/layout/LinearBlockProcessNumbered"/>
    <dgm:cxn modelId="{6C0B7E50-A590-4F15-AF18-0722AA12E556}" type="presParOf" srcId="{911FFBA5-DD34-41D2-B3A5-008F4DEC705C}" destId="{FC1211EF-46F3-4E9D-B95A-B8C7CF311D6C}" srcOrd="2" destOrd="0" presId="urn:microsoft.com/office/officeart/2016/7/layout/LinearBlockProcessNumbered"/>
    <dgm:cxn modelId="{8477C142-ECF3-4B00-A7A4-6C351F463230}" type="presParOf" srcId="{907B8856-649C-4595-9CB7-7D4046DE77CA}" destId="{589DE572-7672-45FE-BEA8-AA5054494F09}" srcOrd="5" destOrd="0" presId="urn:microsoft.com/office/officeart/2016/7/layout/LinearBlockProcessNumbered"/>
    <dgm:cxn modelId="{65CA01AD-2512-44D1-9291-4D7987FBFB21}" type="presParOf" srcId="{907B8856-649C-4595-9CB7-7D4046DE77CA}" destId="{C00D5A00-8A4C-4208-847E-710078E4A06D}" srcOrd="6" destOrd="0" presId="urn:microsoft.com/office/officeart/2016/7/layout/LinearBlockProcessNumbered"/>
    <dgm:cxn modelId="{632E17FC-AEB5-4D6B-B7E1-BD1BCDC9BED1}" type="presParOf" srcId="{C00D5A00-8A4C-4208-847E-710078E4A06D}" destId="{A7B38E1A-C637-4C12-8674-2FA3F58FD32C}" srcOrd="0" destOrd="0" presId="urn:microsoft.com/office/officeart/2016/7/layout/LinearBlockProcessNumbered"/>
    <dgm:cxn modelId="{A93BB658-25F8-43AE-A5AC-8BBDA4E8285B}" type="presParOf" srcId="{C00D5A00-8A4C-4208-847E-710078E4A06D}" destId="{A1BDFA59-FB44-4868-9659-7D0BDD886154}" srcOrd="1" destOrd="0" presId="urn:microsoft.com/office/officeart/2016/7/layout/LinearBlockProcessNumbered"/>
    <dgm:cxn modelId="{61BE6681-9DE8-4FE9-8398-90419B6CBDD3}" type="presParOf" srcId="{C00D5A00-8A4C-4208-847E-710078E4A06D}" destId="{4064E9DD-6A9C-416D-B2BB-001C9F64E52A}"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AAD0FC-DE36-4B89-8F5B-6B3F35B0BDE1}">
      <dsp:nvSpPr>
        <dsp:cNvPr id="0" name=""/>
        <dsp:cNvSpPr/>
      </dsp:nvSpPr>
      <dsp:spPr>
        <a:xfrm>
          <a:off x="198" y="356674"/>
          <a:ext cx="2400625" cy="288075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37128" tIns="0" rIns="237128" bIns="330200" numCol="1" spcCol="1270" anchor="t" anchorCtr="0">
          <a:noAutofit/>
        </a:bodyPr>
        <a:lstStyle/>
        <a:p>
          <a:pPr marL="0" lvl="0" indent="0" algn="l" defTabSz="889000">
            <a:lnSpc>
              <a:spcPct val="90000"/>
            </a:lnSpc>
            <a:spcBef>
              <a:spcPct val="0"/>
            </a:spcBef>
            <a:spcAft>
              <a:spcPct val="35000"/>
            </a:spcAft>
            <a:buNone/>
          </a:pPr>
          <a:r>
            <a:rPr lang="en-US" sz="2000" b="1" kern="1200" dirty="0"/>
            <a:t>Construct validity</a:t>
          </a:r>
          <a:r>
            <a:rPr lang="en-US" sz="2000" kern="1200" dirty="0"/>
            <a:t>: How well was each variable measured?</a:t>
          </a:r>
        </a:p>
      </dsp:txBody>
      <dsp:txXfrm>
        <a:off x="198" y="1508974"/>
        <a:ext cx="2400625" cy="1728450"/>
      </dsp:txXfrm>
    </dsp:sp>
    <dsp:sp modelId="{D1C748D8-572F-4C87-B6C9-85E401F3AD31}">
      <dsp:nvSpPr>
        <dsp:cNvPr id="0" name=""/>
        <dsp:cNvSpPr/>
      </dsp:nvSpPr>
      <dsp:spPr>
        <a:xfrm>
          <a:off x="198" y="356674"/>
          <a:ext cx="2400625" cy="1152300"/>
        </a:xfrm>
        <a:prstGeom prst="rect">
          <a:avLst/>
        </a:prstGeom>
        <a:noFill/>
        <a:ln w="1270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7128" tIns="165100" rIns="237128" bIns="165100" numCol="1" spcCol="1270" anchor="ctr" anchorCtr="0">
          <a:noAutofit/>
        </a:bodyPr>
        <a:lstStyle/>
        <a:p>
          <a:pPr marL="0" lvl="0" indent="0" algn="l" defTabSz="2578100">
            <a:lnSpc>
              <a:spcPct val="90000"/>
            </a:lnSpc>
            <a:spcBef>
              <a:spcPct val="0"/>
            </a:spcBef>
            <a:spcAft>
              <a:spcPct val="35000"/>
            </a:spcAft>
            <a:buNone/>
          </a:pPr>
          <a:r>
            <a:rPr lang="en-US" sz="5800" kern="1200"/>
            <a:t>01</a:t>
          </a:r>
        </a:p>
      </dsp:txBody>
      <dsp:txXfrm>
        <a:off x="198" y="356674"/>
        <a:ext cx="2400625" cy="1152300"/>
      </dsp:txXfrm>
    </dsp:sp>
    <dsp:sp modelId="{B4B9DF4D-E042-4F2A-82F4-56C405F7CA99}">
      <dsp:nvSpPr>
        <dsp:cNvPr id="0" name=""/>
        <dsp:cNvSpPr/>
      </dsp:nvSpPr>
      <dsp:spPr>
        <a:xfrm>
          <a:off x="2592874" y="356674"/>
          <a:ext cx="2400625" cy="288075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37128" tIns="0" rIns="237128" bIns="330200" numCol="1" spcCol="1270" anchor="t" anchorCtr="0">
          <a:noAutofit/>
        </a:bodyPr>
        <a:lstStyle/>
        <a:p>
          <a:pPr marL="0" lvl="0" indent="0" algn="l" defTabSz="889000">
            <a:lnSpc>
              <a:spcPct val="90000"/>
            </a:lnSpc>
            <a:spcBef>
              <a:spcPct val="0"/>
            </a:spcBef>
            <a:spcAft>
              <a:spcPct val="35000"/>
            </a:spcAft>
            <a:buNone/>
          </a:pPr>
          <a:r>
            <a:rPr lang="en-US" sz="2000" b="1" kern="1200" dirty="0"/>
            <a:t>Statistical validity</a:t>
          </a:r>
          <a:r>
            <a:rPr lang="en-US" sz="2000" kern="1200" dirty="0"/>
            <a:t>: How well do the data support the conclusion?</a:t>
          </a:r>
        </a:p>
      </dsp:txBody>
      <dsp:txXfrm>
        <a:off x="2592874" y="1508974"/>
        <a:ext cx="2400625" cy="1728450"/>
      </dsp:txXfrm>
    </dsp:sp>
    <dsp:sp modelId="{F5742DFA-CBF3-42D1-8FC7-D19E7DD8818A}">
      <dsp:nvSpPr>
        <dsp:cNvPr id="0" name=""/>
        <dsp:cNvSpPr/>
      </dsp:nvSpPr>
      <dsp:spPr>
        <a:xfrm>
          <a:off x="2592874" y="356674"/>
          <a:ext cx="2400625" cy="1152300"/>
        </a:xfrm>
        <a:prstGeom prst="rect">
          <a:avLst/>
        </a:prstGeom>
        <a:noFill/>
        <a:ln w="1270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7128" tIns="165100" rIns="237128" bIns="165100" numCol="1" spcCol="1270" anchor="ctr" anchorCtr="0">
          <a:noAutofit/>
        </a:bodyPr>
        <a:lstStyle/>
        <a:p>
          <a:pPr marL="0" lvl="0" indent="0" algn="l" defTabSz="2578100">
            <a:lnSpc>
              <a:spcPct val="90000"/>
            </a:lnSpc>
            <a:spcBef>
              <a:spcPct val="0"/>
            </a:spcBef>
            <a:spcAft>
              <a:spcPct val="35000"/>
            </a:spcAft>
            <a:buNone/>
          </a:pPr>
          <a:r>
            <a:rPr lang="en-US" sz="5800" kern="1200" dirty="0"/>
            <a:t>02</a:t>
          </a:r>
        </a:p>
      </dsp:txBody>
      <dsp:txXfrm>
        <a:off x="2592874" y="356674"/>
        <a:ext cx="2400625" cy="1152300"/>
      </dsp:txXfrm>
    </dsp:sp>
    <dsp:sp modelId="{541E63B6-6F89-4972-BCCF-CD8B60994C0E}">
      <dsp:nvSpPr>
        <dsp:cNvPr id="0" name=""/>
        <dsp:cNvSpPr/>
      </dsp:nvSpPr>
      <dsp:spPr>
        <a:xfrm>
          <a:off x="5185550" y="356674"/>
          <a:ext cx="2400625" cy="288075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37128" tIns="0" rIns="237128" bIns="330200" numCol="1" spcCol="1270" anchor="t" anchorCtr="0">
          <a:noAutofit/>
        </a:bodyPr>
        <a:lstStyle/>
        <a:p>
          <a:pPr marL="0" lvl="0" indent="0" algn="l" defTabSz="889000">
            <a:lnSpc>
              <a:spcPct val="90000"/>
            </a:lnSpc>
            <a:spcBef>
              <a:spcPct val="0"/>
            </a:spcBef>
            <a:spcAft>
              <a:spcPct val="35000"/>
            </a:spcAft>
            <a:buNone/>
          </a:pPr>
          <a:r>
            <a:rPr lang="en-US" sz="2000" b="1" kern="1200" dirty="0"/>
            <a:t>Internal validity</a:t>
          </a:r>
          <a:r>
            <a:rPr lang="en-US" sz="2000" kern="1200" dirty="0"/>
            <a:t>: Can we make a causal inference from an association?</a:t>
          </a:r>
        </a:p>
      </dsp:txBody>
      <dsp:txXfrm>
        <a:off x="5185550" y="1508974"/>
        <a:ext cx="2400625" cy="1728450"/>
      </dsp:txXfrm>
    </dsp:sp>
    <dsp:sp modelId="{8EA229AA-7D59-4BA8-94E2-5E110B40414E}">
      <dsp:nvSpPr>
        <dsp:cNvPr id="0" name=""/>
        <dsp:cNvSpPr/>
      </dsp:nvSpPr>
      <dsp:spPr>
        <a:xfrm>
          <a:off x="5185550" y="356674"/>
          <a:ext cx="2400625" cy="1152300"/>
        </a:xfrm>
        <a:prstGeom prst="rect">
          <a:avLst/>
        </a:prstGeom>
        <a:noFill/>
        <a:ln w="1270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7128" tIns="165100" rIns="237128" bIns="165100" numCol="1" spcCol="1270" anchor="ctr" anchorCtr="0">
          <a:noAutofit/>
        </a:bodyPr>
        <a:lstStyle/>
        <a:p>
          <a:pPr marL="0" lvl="0" indent="0" algn="l" defTabSz="2578100">
            <a:lnSpc>
              <a:spcPct val="90000"/>
            </a:lnSpc>
            <a:spcBef>
              <a:spcPct val="0"/>
            </a:spcBef>
            <a:spcAft>
              <a:spcPct val="35000"/>
            </a:spcAft>
            <a:buNone/>
          </a:pPr>
          <a:r>
            <a:rPr lang="en-US" sz="5800" kern="1200"/>
            <a:t>03</a:t>
          </a:r>
        </a:p>
      </dsp:txBody>
      <dsp:txXfrm>
        <a:off x="5185550" y="356674"/>
        <a:ext cx="2400625" cy="1152300"/>
      </dsp:txXfrm>
    </dsp:sp>
    <dsp:sp modelId="{A7B38E1A-C637-4C12-8674-2FA3F58FD32C}">
      <dsp:nvSpPr>
        <dsp:cNvPr id="0" name=""/>
        <dsp:cNvSpPr/>
      </dsp:nvSpPr>
      <dsp:spPr>
        <a:xfrm>
          <a:off x="7778225" y="356674"/>
          <a:ext cx="2400625" cy="288075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37128" tIns="0" rIns="237128" bIns="330200" numCol="1" spcCol="1270" anchor="t" anchorCtr="0">
          <a:noAutofit/>
        </a:bodyPr>
        <a:lstStyle/>
        <a:p>
          <a:pPr marL="0" lvl="0" indent="0" algn="l" defTabSz="889000">
            <a:lnSpc>
              <a:spcPct val="90000"/>
            </a:lnSpc>
            <a:spcBef>
              <a:spcPct val="0"/>
            </a:spcBef>
            <a:spcAft>
              <a:spcPct val="35000"/>
            </a:spcAft>
            <a:buNone/>
          </a:pPr>
          <a:r>
            <a:rPr lang="en-US" sz="2000" b="1" kern="1200" dirty="0"/>
            <a:t>External validity</a:t>
          </a:r>
          <a:r>
            <a:rPr lang="en-US" sz="2000" kern="1200" dirty="0"/>
            <a:t>: To whom can the association be generalized?</a:t>
          </a:r>
        </a:p>
      </dsp:txBody>
      <dsp:txXfrm>
        <a:off x="7778225" y="1508974"/>
        <a:ext cx="2400625" cy="1728450"/>
      </dsp:txXfrm>
    </dsp:sp>
    <dsp:sp modelId="{A1BDFA59-FB44-4868-9659-7D0BDD886154}">
      <dsp:nvSpPr>
        <dsp:cNvPr id="0" name=""/>
        <dsp:cNvSpPr/>
      </dsp:nvSpPr>
      <dsp:spPr>
        <a:xfrm>
          <a:off x="7778225" y="356674"/>
          <a:ext cx="2400625" cy="1152300"/>
        </a:xfrm>
        <a:prstGeom prst="rect">
          <a:avLst/>
        </a:prstGeom>
        <a:noFill/>
        <a:ln w="1270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37128" tIns="165100" rIns="237128" bIns="165100" numCol="1" spcCol="1270" anchor="ctr" anchorCtr="0">
          <a:noAutofit/>
        </a:bodyPr>
        <a:lstStyle/>
        <a:p>
          <a:pPr marL="0" lvl="0" indent="0" algn="l" defTabSz="2578100">
            <a:lnSpc>
              <a:spcPct val="90000"/>
            </a:lnSpc>
            <a:spcBef>
              <a:spcPct val="0"/>
            </a:spcBef>
            <a:spcAft>
              <a:spcPct val="35000"/>
            </a:spcAft>
            <a:buNone/>
          </a:pPr>
          <a:r>
            <a:rPr lang="en-US" sz="5800" kern="1200"/>
            <a:t>04</a:t>
          </a:r>
        </a:p>
      </dsp:txBody>
      <dsp:txXfrm>
        <a:off x="7778225" y="356674"/>
        <a:ext cx="2400625" cy="1152300"/>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480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507513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65463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634848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974340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950803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229659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393172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016224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820051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370505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581662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882C2-99B0-F831-6BDD-A696AF42FA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875CA4-1B56-2DCC-294B-84F682708518}"/>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984E5AE-5318-5F2B-EE6D-B00D6415A3C0}"/>
              </a:ext>
            </a:extLst>
          </p:cNvPr>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971401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CA9CD-9906-8CDF-5BBA-FEB0003C23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712D2-A7EA-3898-65E6-1802761ACBC1}"/>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1D43B3C-C43E-350C-680B-23528C2DB0E9}"/>
              </a:ext>
            </a:extLst>
          </p:cNvPr>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129009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342900" marR="0" lvl="0" indent="-3429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a:p>
        </p:txBody>
      </p:sp>
    </p:spTree>
    <p:extLst>
      <p:ext uri="{BB962C8B-B14F-4D97-AF65-F5344CB8AC3E}">
        <p14:creationId xmlns:p14="http://schemas.microsoft.com/office/powerpoint/2010/main" val="20804754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646145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C0461-7E73-0D89-BDA4-8154DB1DC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9F8AA-D143-F47A-54F8-F1545B35B9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178C6-032D-8F11-3E15-F15456E647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52B2EC-F6D4-8CF2-0A84-56A380DE3D5F}"/>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111163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284308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5493624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8105880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1451921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35098529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6940327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0290763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7534133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42079160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12407945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6167052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8439171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338479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M_Title">
    <p:bg>
      <p:bgPr>
        <a:solidFill>
          <a:srgbClr val="F8FBFE"/>
        </a:solidFill>
        <a:effectLst/>
      </p:bgPr>
    </p:bg>
    <p:spTree>
      <p:nvGrpSpPr>
        <p:cNvPr id="1" name=""/>
        <p:cNvGrpSpPr/>
        <p:nvPr/>
      </p:nvGrpSpPr>
      <p:grpSpPr>
        <a:xfrm>
          <a:off x="0" y="0"/>
          <a:ext cx="0" cy="0"/>
          <a:chOff x="0" y="0"/>
          <a:chExt cx="0" cy="0"/>
        </a:xfrm>
      </p:grpSpPr>
      <p:pic>
        <p:nvPicPr>
          <p:cNvPr id="9" name="Picture 8" descr="Canvas Banner.png (1983×793)">
            <a:extLst>
              <a:ext uri="{FF2B5EF4-FFF2-40B4-BE49-F238E27FC236}">
                <a16:creationId xmlns:a16="http://schemas.microsoft.com/office/drawing/2014/main" id="{CF1D1F45-544E-1E4A-0F49-6BDEB9C7CCFF}"/>
              </a:ext>
            </a:extLst>
          </p:cNvPr>
          <p:cNvPicPr>
            <a:picLocks noChangeAspect="1"/>
          </p:cNvPicPr>
          <p:nvPr userDrawn="1"/>
        </p:nvPicPr>
        <p:blipFill>
          <a:blip r:embed="rId2">
            <a:alphaModFix amt="51000"/>
          </a:blip>
          <a:srcRect l="29448"/>
          <a:stretch>
            <a:fillRect/>
          </a:stretch>
        </p:blipFill>
        <p:spPr>
          <a:xfrm>
            <a:off x="0" y="-26329"/>
            <a:ext cx="12192000" cy="6910657"/>
          </a:xfrm>
          <a:prstGeom prst="rect">
            <a:avLst/>
          </a:prstGeom>
        </p:spPr>
      </p:pic>
      <p:sp>
        <p:nvSpPr>
          <p:cNvPr id="3" name="Shape 1"/>
          <p:cNvSpPr/>
          <p:nvPr/>
        </p:nvSpPr>
        <p:spPr>
          <a:xfrm>
            <a:off x="320040" y="320040"/>
            <a:ext cx="2834640" cy="914400"/>
          </a:xfrm>
          <a:prstGeom prst="rect">
            <a:avLst/>
          </a:prstGeom>
          <a:solidFill>
            <a:srgbClr val="D9E6F2">
              <a:alpha val="82000"/>
            </a:srgbClr>
          </a:solidFill>
          <a:ln w="12700">
            <a:solidFill>
              <a:srgbClr val="D9E6F2">
                <a:alpha val="0"/>
              </a:srgbClr>
            </a:solidFill>
            <a:prstDash val="solid"/>
          </a:ln>
        </p:spPr>
        <p:txBody>
          <a:bodyPr/>
          <a:lstStyle/>
          <a:p>
            <a:endParaRPr lang="en-US"/>
          </a:p>
        </p:txBody>
      </p:sp>
      <p:sp>
        <p:nvSpPr>
          <p:cNvPr id="4" name="Shape 2"/>
          <p:cNvSpPr/>
          <p:nvPr/>
        </p:nvSpPr>
        <p:spPr>
          <a:xfrm>
            <a:off x="9098280" y="5440680"/>
            <a:ext cx="2651760" cy="960120"/>
          </a:xfrm>
          <a:prstGeom prst="rect">
            <a:avLst/>
          </a:prstGeom>
          <a:solidFill>
            <a:srgbClr val="C9DAEA">
              <a:alpha val="72000"/>
            </a:srgbClr>
          </a:solidFill>
          <a:ln w="12700">
            <a:solidFill>
              <a:srgbClr val="C9DAEA">
                <a:alpha val="0"/>
              </a:srgbClr>
            </a:solidFill>
            <a:prstDash val="solid"/>
          </a:ln>
        </p:spPr>
        <p:txBody>
          <a:bodyPr/>
          <a:lstStyle/>
          <a:p>
            <a:endParaRPr lang="en-US"/>
          </a:p>
        </p:txBody>
      </p:sp>
      <p:sp>
        <p:nvSpPr>
          <p:cNvPr id="5" name="Shape 3"/>
          <p:cNvSpPr/>
          <p:nvPr/>
        </p:nvSpPr>
        <p:spPr>
          <a:xfrm>
            <a:off x="594360" y="5989320"/>
            <a:ext cx="3840480" cy="0"/>
          </a:xfrm>
          <a:prstGeom prst="line">
            <a:avLst/>
          </a:prstGeom>
          <a:noFill/>
          <a:ln w="15240">
            <a:solidFill>
              <a:srgbClr val="B79A67">
                <a:alpha val="80000"/>
              </a:srgbClr>
            </a:solidFill>
            <a:prstDash val="solid"/>
          </a:ln>
        </p:spPr>
        <p:txBody>
          <a:bodyPr/>
          <a:lstStyle/>
          <a:p>
            <a:endParaRPr lang="en-US"/>
          </a:p>
        </p:txBody>
      </p:sp>
      <p:sp>
        <p:nvSpPr>
          <p:cNvPr id="8" name="Text 4"/>
          <p:cNvSpPr/>
          <p:nvPr/>
        </p:nvSpPr>
        <p:spPr>
          <a:xfrm>
            <a:off x="822960" y="6172200"/>
            <a:ext cx="2926080" cy="228600"/>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F86770DB-7284-A1F7-43CD-35A95A644A30}"/>
              </a:ext>
            </a:extLst>
          </p:cNvPr>
          <p:cNvSpPr>
            <a:spLocks noGrp="1"/>
          </p:cNvSpPr>
          <p:nvPr>
            <p:ph type="title"/>
          </p:nvPr>
        </p:nvSpPr>
        <p:spPr>
          <a:xfrm>
            <a:off x="2046191" y="863353"/>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C4C6ACB4-35EC-85AB-E81B-5923C3447E22}"/>
              </a:ext>
            </a:extLst>
          </p:cNvPr>
          <p:cNvSpPr>
            <a:spLocks noGrp="1"/>
          </p:cNvSpPr>
          <p:nvPr>
            <p:ph sz="quarter" idx="10" hasCustomPrompt="1"/>
          </p:nvPr>
        </p:nvSpPr>
        <p:spPr>
          <a:xfrm>
            <a:off x="2286000" y="317817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M_Conten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2743"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ext Placeholder 11">
            <a:extLst>
              <a:ext uri="{FF2B5EF4-FFF2-40B4-BE49-F238E27FC236}">
                <a16:creationId xmlns:a16="http://schemas.microsoft.com/office/drawing/2014/main" id="{DAD61541-17FC-087B-60E7-BDBB1FA62185}"/>
              </a:ext>
            </a:extLst>
          </p:cNvPr>
          <p:cNvSpPr>
            <a:spLocks noGrp="1"/>
          </p:cNvSpPr>
          <p:nvPr>
            <p:ph type="body" sz="quarter" idx="108"/>
          </p:nvPr>
        </p:nvSpPr>
        <p:spPr>
          <a:xfrm>
            <a:off x="496388" y="1252729"/>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a:extLst>
              <a:ext uri="{FF2B5EF4-FFF2-40B4-BE49-F238E27FC236}">
                <a16:creationId xmlns:a16="http://schemas.microsoft.com/office/drawing/2014/main" id="{711B608B-7FB0-CE35-BE98-D665E1D5F79A}"/>
              </a:ext>
            </a:extLst>
          </p:cNvPr>
          <p:cNvSpPr>
            <a:spLocks noGrp="1"/>
          </p:cNvSpPr>
          <p:nvPr>
            <p:ph type="title"/>
          </p:nvPr>
        </p:nvSpPr>
        <p:spPr>
          <a:xfrm>
            <a:off x="838200" y="365126"/>
            <a:ext cx="10515600" cy="801824"/>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M_Section">
    <p:bg>
      <p:bgPr>
        <a:solidFill>
          <a:srgbClr val="F8FBFE"/>
        </a:solidFill>
        <a:effectLst/>
      </p:bgPr>
    </p:bg>
    <p:spTree>
      <p:nvGrpSpPr>
        <p:cNvPr id="1" name=""/>
        <p:cNvGrpSpPr/>
        <p:nvPr/>
      </p:nvGrpSpPr>
      <p:grpSpPr>
        <a:xfrm>
          <a:off x="0" y="0"/>
          <a:ext cx="0" cy="0"/>
          <a:chOff x="0" y="0"/>
          <a:chExt cx="0" cy="0"/>
        </a:xfrm>
      </p:grpSpPr>
      <p:pic>
        <p:nvPicPr>
          <p:cNvPr id="11" name="Picture 10" descr="Canvas Banner.png (1983×793)">
            <a:extLst>
              <a:ext uri="{FF2B5EF4-FFF2-40B4-BE49-F238E27FC236}">
                <a16:creationId xmlns:a16="http://schemas.microsoft.com/office/drawing/2014/main" id="{3412E6C6-0632-85B7-5BFE-F876EAE3A5F6}"/>
              </a:ext>
            </a:extLst>
          </p:cNvPr>
          <p:cNvPicPr>
            <a:picLocks noChangeAspect="1"/>
          </p:cNvPicPr>
          <p:nvPr userDrawn="1"/>
        </p:nvPicPr>
        <p:blipFill>
          <a:blip r:embed="rId2">
            <a:alphaModFix amt="62000"/>
          </a:blip>
          <a:srcRect t="14218" r="39015"/>
          <a:stretch>
            <a:fillRect/>
          </a:stretch>
        </p:blipFill>
        <p:spPr>
          <a:xfrm>
            <a:off x="305" y="-4467"/>
            <a:ext cx="12191695" cy="6858000"/>
          </a:xfrm>
          <a:prstGeom prst="rect">
            <a:avLst/>
          </a:prstGeom>
        </p:spPr>
      </p:pic>
      <p:sp>
        <p:nvSpPr>
          <p:cNvPr id="3" name="Shape 1"/>
          <p:cNvSpPr/>
          <p:nvPr/>
        </p:nvSpPr>
        <p:spPr>
          <a:xfrm>
            <a:off x="2407920" y="338329"/>
            <a:ext cx="3688080" cy="2464202"/>
          </a:xfrm>
          <a:prstGeom prst="rect">
            <a:avLst/>
          </a:prstGeom>
          <a:solidFill>
            <a:srgbClr val="DCE9F4">
              <a:alpha val="92000"/>
            </a:srgbClr>
          </a:solidFill>
          <a:ln w="12700">
            <a:solidFill>
              <a:srgbClr val="DCE9F4">
                <a:alpha val="0"/>
              </a:srgbClr>
            </a:solidFill>
            <a:prstDash val="solid"/>
          </a:ln>
        </p:spPr>
        <p:txBody>
          <a:bodyPr/>
          <a:lstStyle/>
          <a:p>
            <a:endParaRPr lang="en-US"/>
          </a:p>
        </p:txBody>
      </p:sp>
      <p:sp>
        <p:nvSpPr>
          <p:cNvPr id="5" name="Shape 3"/>
          <p:cNvSpPr/>
          <p:nvPr/>
        </p:nvSpPr>
        <p:spPr>
          <a:xfrm>
            <a:off x="8092440" y="566928"/>
            <a:ext cx="3429000" cy="1051560"/>
          </a:xfrm>
          <a:prstGeom prst="rect">
            <a:avLst/>
          </a:prstGeom>
          <a:solidFill>
            <a:srgbClr val="AFC8E0">
              <a:alpha val="65000"/>
            </a:srgbClr>
          </a:solidFill>
          <a:ln w="12700">
            <a:solidFill>
              <a:srgbClr val="AFC8E0">
                <a:alpha val="0"/>
              </a:srgbClr>
            </a:solidFill>
            <a:prstDash val="solid"/>
          </a:ln>
        </p:spPr>
        <p:txBody>
          <a:bodyPr/>
          <a:lstStyle/>
          <a:p>
            <a:endParaRPr lang="en-US"/>
          </a:p>
        </p:txBody>
      </p:sp>
      <p:sp>
        <p:nvSpPr>
          <p:cNvPr id="6" name="Shape 4"/>
          <p:cNvSpPr/>
          <p:nvPr/>
        </p:nvSpPr>
        <p:spPr>
          <a:xfrm>
            <a:off x="8823960" y="4526280"/>
            <a:ext cx="2423160" cy="1353312"/>
          </a:xfrm>
          <a:prstGeom prst="rect">
            <a:avLst/>
          </a:prstGeom>
          <a:solidFill>
            <a:srgbClr val="8EADD0">
              <a:alpha val="52000"/>
            </a:srgbClr>
          </a:solidFill>
          <a:ln w="12700">
            <a:solidFill>
              <a:srgbClr val="8EADD0">
                <a:alpha val="0"/>
              </a:srgbClr>
            </a:solidFill>
            <a:prstDash val="solid"/>
          </a:ln>
        </p:spPr>
        <p:txBody>
          <a:bodyPr/>
          <a:lstStyle/>
          <a:p>
            <a:endParaRPr lang="en-US"/>
          </a:p>
        </p:txBody>
      </p:sp>
      <p:sp>
        <p:nvSpPr>
          <p:cNvPr id="7" name="Shape 5"/>
          <p:cNvSpPr/>
          <p:nvPr/>
        </p:nvSpPr>
        <p:spPr>
          <a:xfrm>
            <a:off x="777240" y="5102352"/>
            <a:ext cx="9784080" cy="0"/>
          </a:xfrm>
          <a:prstGeom prst="line">
            <a:avLst/>
          </a:prstGeom>
          <a:noFill/>
          <a:ln w="15240">
            <a:solidFill>
              <a:srgbClr val="B79A67">
                <a:alpha val="70000"/>
              </a:srgbClr>
            </a:solidFill>
            <a:prstDash val="solid"/>
          </a:ln>
        </p:spPr>
        <p:txBody>
          <a:bodyPr/>
          <a:lstStyle/>
          <a:p>
            <a:endParaRPr lang="en-US"/>
          </a:p>
        </p:txBody>
      </p:sp>
      <p:sp>
        <p:nvSpPr>
          <p:cNvPr id="10" name="Text 6"/>
          <p:cNvSpPr/>
          <p:nvPr/>
        </p:nvSpPr>
        <p:spPr>
          <a:xfrm>
            <a:off x="822960" y="6327648"/>
            <a:ext cx="2743200" cy="201168"/>
          </a:xfrm>
          <a:prstGeom prst="rect">
            <a:avLst/>
          </a:prstGeom>
          <a:noFill/>
          <a:ln/>
        </p:spPr>
        <p:txBody>
          <a:bodyPr wrap="square" lIns="0" tIns="0" rIns="0" bIns="0" rtlCol="0" anchor="ctr"/>
          <a:lstStyle/>
          <a:p>
            <a:pPr marL="0" indent="0">
              <a:buNone/>
            </a:pPr>
            <a:r>
              <a:rPr lang="en-US" sz="900" b="1" dirty="0">
                <a:solidFill>
                  <a:srgbClr val="526F92"/>
                </a:solidFill>
                <a:latin typeface="Aptos" pitchFamily="34" charset="0"/>
                <a:ea typeface="Aptos" pitchFamily="34" charset="-122"/>
                <a:cs typeface="Aptos" pitchFamily="34" charset="-120"/>
              </a:rPr>
              <a:t>RESEARCH METHODS</a:t>
            </a:r>
            <a:endParaRPr lang="en-US" sz="900" dirty="0"/>
          </a:p>
        </p:txBody>
      </p:sp>
      <p:sp>
        <p:nvSpPr>
          <p:cNvPr id="2" name="Title 1">
            <a:extLst>
              <a:ext uri="{FF2B5EF4-FFF2-40B4-BE49-F238E27FC236}">
                <a16:creationId xmlns:a16="http://schemas.microsoft.com/office/drawing/2014/main" id="{7789266B-3939-095B-B9C7-1439EBFB47E8}"/>
              </a:ext>
            </a:extLst>
          </p:cNvPr>
          <p:cNvSpPr>
            <a:spLocks noGrp="1"/>
          </p:cNvSpPr>
          <p:nvPr>
            <p:ph type="title" hasCustomPrompt="1"/>
          </p:nvPr>
        </p:nvSpPr>
        <p:spPr>
          <a:xfrm>
            <a:off x="914077" y="759150"/>
            <a:ext cx="5869901" cy="1799292"/>
          </a:xfrm>
          <a:prstGeom prst="rect">
            <a:avLst/>
          </a:prstGeom>
          <a:solidFill>
            <a:srgbClr val="F8FBFE"/>
          </a:solidFill>
        </p:spPr>
        <p:txBody>
          <a:bodyPr anchor="ctr"/>
          <a:lstStyle>
            <a:lvl1pPr>
              <a:defRPr>
                <a:latin typeface="Britannic Bold" panose="020B0903060703020204" pitchFamily="34" charset="0"/>
              </a:defRPr>
            </a:lvl1pPr>
          </a:lstStyle>
          <a:p>
            <a:r>
              <a:rPr lang="en-US" dirty="0"/>
              <a:t>Click to edit Section title</a:t>
            </a:r>
          </a:p>
        </p:txBody>
      </p:sp>
      <p:sp>
        <p:nvSpPr>
          <p:cNvPr id="4" name="Content Placeholder 10">
            <a:extLst>
              <a:ext uri="{FF2B5EF4-FFF2-40B4-BE49-F238E27FC236}">
                <a16:creationId xmlns:a16="http://schemas.microsoft.com/office/drawing/2014/main" id="{9F245541-793E-CEF5-B4ED-364FBC3BCECE}"/>
              </a:ext>
            </a:extLst>
          </p:cNvPr>
          <p:cNvSpPr>
            <a:spLocks noGrp="1"/>
          </p:cNvSpPr>
          <p:nvPr>
            <p:ph sz="quarter" idx="10" hasCustomPrompt="1"/>
          </p:nvPr>
        </p:nvSpPr>
        <p:spPr>
          <a:xfrm>
            <a:off x="4689792" y="3498395"/>
            <a:ext cx="6378575" cy="1516063"/>
          </a:xfrm>
          <a:prstGeom prst="rect">
            <a:avLst/>
          </a:prstGeom>
          <a:solidFill>
            <a:srgbClr val="F8FBFE"/>
          </a:solidFill>
        </p:spPr>
        <p:txBody>
          <a:bodyPr anchor="ctr"/>
          <a:lstStyle>
            <a:lvl1pPr algn="ctr">
              <a:buNone/>
              <a:defRPr sz="2800">
                <a:latin typeface="Aptos Display" panose="020B0004020202020204" pitchFamily="34" charset="0"/>
              </a:defRPr>
            </a:lvl1pPr>
          </a:lstStyle>
          <a:p>
            <a:pPr lvl="0"/>
            <a:r>
              <a:rPr lang="en-US" dirty="0"/>
              <a:t>Click to edit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M_TwoColumn">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0" name="Shape 6"/>
          <p:cNvSpPr/>
          <p:nvPr/>
        </p:nvSpPr>
        <p:spPr>
          <a:xfrm>
            <a:off x="6080760" y="1600200"/>
            <a:ext cx="0" cy="4160520"/>
          </a:xfrm>
          <a:prstGeom prst="line">
            <a:avLst/>
          </a:prstGeom>
          <a:noFill/>
          <a:ln w="12700">
            <a:solidFill>
              <a:srgbClr val="C1D4E6"/>
            </a:solidFill>
            <a:prstDash val="solid"/>
          </a:ln>
        </p:spPr>
        <p:txBody>
          <a:bodyPr/>
          <a:lstStyle/>
          <a:p>
            <a:endParaRPr lang="en-US"/>
          </a:p>
        </p:txBody>
      </p:sp>
      <p:sp>
        <p:nvSpPr>
          <p:cNvPr id="12" name="Text 7"/>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4" name="Text Placeholder 13">
            <a:extLst>
              <a:ext uri="{FF2B5EF4-FFF2-40B4-BE49-F238E27FC236}">
                <a16:creationId xmlns:a16="http://schemas.microsoft.com/office/drawing/2014/main" id="{35572D28-5674-68F1-D0DD-039C6D2A219C}"/>
              </a:ext>
            </a:extLst>
          </p:cNvPr>
          <p:cNvSpPr>
            <a:spLocks noGrp="1"/>
          </p:cNvSpPr>
          <p:nvPr>
            <p:ph type="body" sz="quarter" idx="106"/>
          </p:nvPr>
        </p:nvSpPr>
        <p:spPr>
          <a:xfrm>
            <a:off x="658369" y="1600200"/>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3">
            <a:extLst>
              <a:ext uri="{FF2B5EF4-FFF2-40B4-BE49-F238E27FC236}">
                <a16:creationId xmlns:a16="http://schemas.microsoft.com/office/drawing/2014/main" id="{410FB711-34F9-3DC6-8A30-BF6163D2415B}"/>
              </a:ext>
            </a:extLst>
          </p:cNvPr>
          <p:cNvSpPr>
            <a:spLocks noGrp="1"/>
          </p:cNvSpPr>
          <p:nvPr>
            <p:ph type="body" sz="quarter" idx="107"/>
          </p:nvPr>
        </p:nvSpPr>
        <p:spPr>
          <a:xfrm>
            <a:off x="6191251" y="16013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itle 15">
            <a:extLst>
              <a:ext uri="{FF2B5EF4-FFF2-40B4-BE49-F238E27FC236}">
                <a16:creationId xmlns:a16="http://schemas.microsoft.com/office/drawing/2014/main" id="{0F5CC367-37BB-9924-6D35-6E9961E654F2}"/>
              </a:ext>
            </a:extLst>
          </p:cNvPr>
          <p:cNvSpPr>
            <a:spLocks noGrp="1"/>
          </p:cNvSpPr>
          <p:nvPr>
            <p:ph type="title"/>
          </p:nvPr>
        </p:nvSpPr>
        <p:spPr>
          <a:xfrm>
            <a:off x="658369" y="329184"/>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M_ImageText">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1" name="Text 6"/>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12" name="Title 15">
            <a:extLst>
              <a:ext uri="{FF2B5EF4-FFF2-40B4-BE49-F238E27FC236}">
                <a16:creationId xmlns:a16="http://schemas.microsoft.com/office/drawing/2014/main" id="{C11B853E-E4F2-75CB-89D7-214A00F03365}"/>
              </a:ext>
            </a:extLst>
          </p:cNvPr>
          <p:cNvSpPr>
            <a:spLocks noGrp="1"/>
          </p:cNvSpPr>
          <p:nvPr>
            <p:ph type="title"/>
          </p:nvPr>
        </p:nvSpPr>
        <p:spPr>
          <a:xfrm>
            <a:off x="658368" y="364018"/>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658368" y="143763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Online Image Placeholder 14">
            <a:extLst>
              <a:ext uri="{FF2B5EF4-FFF2-40B4-BE49-F238E27FC236}">
                <a16:creationId xmlns:a16="http://schemas.microsoft.com/office/drawing/2014/main" id="{3D7082FD-BAF6-29B8-3332-2A2E51DF4F49}"/>
              </a:ext>
            </a:extLst>
          </p:cNvPr>
          <p:cNvSpPr>
            <a:spLocks noGrp="1"/>
          </p:cNvSpPr>
          <p:nvPr>
            <p:ph type="clipArt" sz="quarter" idx="107"/>
          </p:nvPr>
        </p:nvSpPr>
        <p:spPr>
          <a:xfrm>
            <a:off x="6191252" y="1437639"/>
            <a:ext cx="5342382" cy="4655186"/>
          </a:xfrm>
          <a:prstGeom prst="rect">
            <a:avLst/>
          </a:prstGeom>
        </p:spPr>
        <p:txBody>
          <a:bodyPr/>
          <a:lstStyle/>
          <a:p>
            <a:r>
              <a:rPr lang="en-US"/>
              <a:t>Click icon to add online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8" name="Shape 5"/>
          <p:cNvSpPr/>
          <p:nvPr/>
        </p:nvSpPr>
        <p:spPr>
          <a:xfrm>
            <a:off x="658368" y="1097280"/>
            <a:ext cx="1143000" cy="0"/>
          </a:xfrm>
          <a:prstGeom prst="line">
            <a:avLst/>
          </a:prstGeom>
          <a:noFill/>
          <a:ln w="17780">
            <a:solidFill>
              <a:srgbClr val="B79A67"/>
            </a:solidFill>
            <a:prstDash val="solid"/>
          </a:ln>
        </p:spPr>
        <p:txBody>
          <a:bodyPr/>
          <a:lstStyle/>
          <a:p>
            <a:endParaRPr lang="en-US"/>
          </a:p>
        </p:txBody>
      </p:sp>
      <p:sp>
        <p:nvSpPr>
          <p:cNvPr id="12" name="Title 15">
            <a:extLst>
              <a:ext uri="{FF2B5EF4-FFF2-40B4-BE49-F238E27FC236}">
                <a16:creationId xmlns:a16="http://schemas.microsoft.com/office/drawing/2014/main" id="{C11B853E-E4F2-75CB-89D7-214A00F03365}"/>
              </a:ext>
            </a:extLst>
          </p:cNvPr>
          <p:cNvSpPr>
            <a:spLocks noGrp="1"/>
          </p:cNvSpPr>
          <p:nvPr>
            <p:ph type="title" hasCustomPrompt="1"/>
          </p:nvPr>
        </p:nvSpPr>
        <p:spPr>
          <a:xfrm>
            <a:off x="2132245" y="721303"/>
            <a:ext cx="3393232" cy="732155"/>
          </a:xfrm>
          <a:prstGeom prst="rect">
            <a:avLst/>
          </a:prstGeom>
        </p:spPr>
        <p:txBody>
          <a:bodyPr/>
          <a:lstStyle>
            <a:lvl1pPr>
              <a:defRPr sz="3600">
                <a:latin typeface="Britannic Bold" panose="020B0903060703020204" pitchFamily="34" charset="0"/>
              </a:defRPr>
            </a:lvl1pPr>
          </a:lstStyle>
          <a:p>
            <a:r>
              <a:rPr lang="en-US" dirty="0"/>
              <a:t>Agenda</a:t>
            </a:r>
          </a:p>
        </p:txBody>
      </p:sp>
      <p:sp>
        <p:nvSpPr>
          <p:cNvPr id="13" name="Text Placeholder 13">
            <a:extLst>
              <a:ext uri="{FF2B5EF4-FFF2-40B4-BE49-F238E27FC236}">
                <a16:creationId xmlns:a16="http://schemas.microsoft.com/office/drawing/2014/main" id="{C2B9465C-288F-C4AE-8A48-56102A506263}"/>
              </a:ext>
            </a:extLst>
          </p:cNvPr>
          <p:cNvSpPr>
            <a:spLocks noGrp="1"/>
          </p:cNvSpPr>
          <p:nvPr>
            <p:ph type="body" sz="quarter" idx="106"/>
          </p:nvPr>
        </p:nvSpPr>
        <p:spPr>
          <a:xfrm>
            <a:off x="5904738" y="1542779"/>
            <a:ext cx="5342382" cy="4654550"/>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46F1788F-9A5A-4012-A54A-A045B7E887CF}"/>
              </a:ext>
            </a:extLst>
          </p:cNvPr>
          <p:cNvPicPr>
            <a:picLocks noChangeAspect="1"/>
          </p:cNvPicPr>
          <p:nvPr userDrawn="1"/>
        </p:nvPicPr>
        <p:blipFill>
          <a:blip r:embed="rId2">
            <a:alphaModFix amt="66000"/>
          </a:blip>
          <a:stretch>
            <a:fillRect/>
          </a:stretch>
        </p:blipFill>
        <p:spPr>
          <a:xfrm>
            <a:off x="-35168" y="1087381"/>
            <a:ext cx="8850923" cy="5900615"/>
          </a:xfrm>
          <a:prstGeom prst="rect">
            <a:avLst/>
          </a:prstGeom>
        </p:spPr>
      </p:pic>
    </p:spTree>
    <p:extLst>
      <p:ext uri="{BB962C8B-B14F-4D97-AF65-F5344CB8AC3E}">
        <p14:creationId xmlns:p14="http://schemas.microsoft.com/office/powerpoint/2010/main" val="42737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M_Activity">
    <p:bg>
      <p:bgPr>
        <a:solidFill>
          <a:srgbClr val="F8FBFE"/>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E"/>
          </a:solidFill>
          <a:ln w="12700">
            <a:solidFill>
              <a:srgbClr val="F8FBFE"/>
            </a:solidFill>
            <a:prstDash val="solid"/>
          </a:ln>
        </p:spPr>
        <p:txBody>
          <a:bodyPr/>
          <a:lstStyle/>
          <a:p>
            <a:endParaRPr lang="en-US"/>
          </a:p>
        </p:txBody>
      </p:sp>
      <p:sp>
        <p:nvSpPr>
          <p:cNvPr id="3" name="Shape 1"/>
          <p:cNvSpPr/>
          <p:nvPr/>
        </p:nvSpPr>
        <p:spPr>
          <a:xfrm>
            <a:off x="0" y="0"/>
            <a:ext cx="12191695" cy="1234440"/>
          </a:xfrm>
          <a:prstGeom prst="rect">
            <a:avLst/>
          </a:prstGeom>
          <a:solidFill>
            <a:srgbClr val="D7E6F2"/>
          </a:solidFill>
          <a:ln w="12700">
            <a:solidFill>
              <a:srgbClr val="D7E6F2"/>
            </a:solidFill>
            <a:prstDash val="solid"/>
          </a:ln>
        </p:spPr>
        <p:txBody>
          <a:bodyPr/>
          <a:lstStyle/>
          <a:p>
            <a:endParaRPr lang="en-US" dirty="0"/>
          </a:p>
        </p:txBody>
      </p:sp>
      <p:sp>
        <p:nvSpPr>
          <p:cNvPr id="4" name="Shape 2"/>
          <p:cNvSpPr/>
          <p:nvPr/>
        </p:nvSpPr>
        <p:spPr>
          <a:xfrm>
            <a:off x="9966960" y="164592"/>
            <a:ext cx="1691640" cy="713232"/>
          </a:xfrm>
          <a:prstGeom prst="rect">
            <a:avLst/>
          </a:prstGeom>
          <a:solidFill>
            <a:srgbClr val="B8D0E5">
              <a:alpha val="82000"/>
            </a:srgbClr>
          </a:solidFill>
          <a:ln w="12700">
            <a:solidFill>
              <a:srgbClr val="B8D0E5">
                <a:alpha val="0"/>
              </a:srgbClr>
            </a:solidFill>
            <a:prstDash val="solid"/>
          </a:ln>
        </p:spPr>
        <p:txBody>
          <a:bodyPr/>
          <a:lstStyle/>
          <a:p>
            <a:endParaRPr lang="en-US"/>
          </a:p>
        </p:txBody>
      </p:sp>
      <p:sp>
        <p:nvSpPr>
          <p:cNvPr id="5" name="Shape 3"/>
          <p:cNvSpPr/>
          <p:nvPr/>
        </p:nvSpPr>
        <p:spPr>
          <a:xfrm>
            <a:off x="9646920" y="1005840"/>
            <a:ext cx="1828800" cy="0"/>
          </a:xfrm>
          <a:prstGeom prst="line">
            <a:avLst/>
          </a:prstGeom>
          <a:noFill/>
          <a:ln w="13970">
            <a:solidFill>
              <a:srgbClr val="B79A67">
                <a:alpha val="75000"/>
              </a:srgbClr>
            </a:solidFill>
            <a:prstDash val="solid"/>
          </a:ln>
        </p:spPr>
        <p:txBody>
          <a:bodyPr/>
          <a:lstStyle/>
          <a:p>
            <a:endParaRPr lang="en-US"/>
          </a:p>
        </p:txBody>
      </p:sp>
      <p:sp>
        <p:nvSpPr>
          <p:cNvPr id="8" name="Text 4"/>
          <p:cNvSpPr/>
          <p:nvPr/>
        </p:nvSpPr>
        <p:spPr>
          <a:xfrm>
            <a:off x="713232"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
        <p:nvSpPr>
          <p:cNvPr id="9" name="Title 15">
            <a:extLst>
              <a:ext uri="{FF2B5EF4-FFF2-40B4-BE49-F238E27FC236}">
                <a16:creationId xmlns:a16="http://schemas.microsoft.com/office/drawing/2014/main" id="{466CA2B8-6B15-974C-DB19-EBBA9B4635BE}"/>
              </a:ext>
            </a:extLst>
          </p:cNvPr>
          <p:cNvSpPr>
            <a:spLocks noGrp="1"/>
          </p:cNvSpPr>
          <p:nvPr>
            <p:ph type="title"/>
          </p:nvPr>
        </p:nvSpPr>
        <p:spPr>
          <a:xfrm>
            <a:off x="533400" y="281287"/>
            <a:ext cx="10515600" cy="732155"/>
          </a:xfrm>
          <a:prstGeom prst="rect">
            <a:avLst/>
          </a:prstGeom>
        </p:spPr>
        <p:txBody>
          <a:bodyPr/>
          <a:lstStyle>
            <a:lvl1pPr>
              <a:defRPr sz="3600">
                <a:latin typeface="Britannic Bold" panose="020B0903060703020204" pitchFamily="34" charset="0"/>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346F889F-5D26-430A-A54D-726297CBF349}"/>
              </a:ext>
            </a:extLst>
          </p:cNvPr>
          <p:cNvSpPr>
            <a:spLocks noGrp="1"/>
          </p:cNvSpPr>
          <p:nvPr>
            <p:ph type="body" sz="quarter" idx="108"/>
          </p:nvPr>
        </p:nvSpPr>
        <p:spPr>
          <a:xfrm>
            <a:off x="386725" y="1396855"/>
            <a:ext cx="11418243" cy="4974332"/>
          </a:xfrm>
          <a:prstGeom prst="rect">
            <a:avLst/>
          </a:prstGeo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M_Blank">
    <p:bg>
      <p:bgPr>
        <a:solidFill>
          <a:srgbClr val="EAF2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2F8"/>
          </a:solidFill>
          <a:ln w="12700">
            <a:solidFill>
              <a:srgbClr val="EAF2F8"/>
            </a:solidFill>
            <a:prstDash val="solid"/>
          </a:ln>
        </p:spPr>
        <p:txBody>
          <a:bodyPr/>
          <a:lstStyle/>
          <a:p>
            <a:endParaRPr lang="en-US"/>
          </a:p>
        </p:txBody>
      </p:sp>
      <p:sp>
        <p:nvSpPr>
          <p:cNvPr id="3" name="Shape 1"/>
          <p:cNvSpPr/>
          <p:nvPr/>
        </p:nvSpPr>
        <p:spPr>
          <a:xfrm>
            <a:off x="10771632" y="0"/>
            <a:ext cx="1417320" cy="658368"/>
          </a:xfrm>
          <a:prstGeom prst="rect">
            <a:avLst/>
          </a:prstGeom>
          <a:solidFill>
            <a:srgbClr val="C7DAEB">
              <a:alpha val="95000"/>
            </a:srgbClr>
          </a:solidFill>
          <a:ln w="12700">
            <a:solidFill>
              <a:srgbClr val="C7DAEB">
                <a:alpha val="0"/>
              </a:srgbClr>
            </a:solidFill>
            <a:prstDash val="solid"/>
          </a:ln>
        </p:spPr>
        <p:txBody>
          <a:bodyPr/>
          <a:lstStyle/>
          <a:p>
            <a:endParaRPr lang="en-US"/>
          </a:p>
        </p:txBody>
      </p:sp>
      <p:sp>
        <p:nvSpPr>
          <p:cNvPr id="4" name="Shape 2"/>
          <p:cNvSpPr/>
          <p:nvPr/>
        </p:nvSpPr>
        <p:spPr>
          <a:xfrm>
            <a:off x="11247120" y="530352"/>
            <a:ext cx="941832" cy="530352"/>
          </a:xfrm>
          <a:prstGeom prst="rect">
            <a:avLst/>
          </a:prstGeom>
          <a:solidFill>
            <a:srgbClr val="AFC8E0">
              <a:alpha val="82000"/>
            </a:srgbClr>
          </a:solidFill>
          <a:ln w="12700">
            <a:solidFill>
              <a:srgbClr val="AFC8E0">
                <a:alpha val="0"/>
              </a:srgbClr>
            </a:solidFill>
            <a:prstDash val="solid"/>
          </a:ln>
        </p:spPr>
        <p:txBody>
          <a:bodyPr/>
          <a:lstStyle/>
          <a:p>
            <a:endParaRPr lang="en-US"/>
          </a:p>
        </p:txBody>
      </p:sp>
      <p:sp>
        <p:nvSpPr>
          <p:cNvPr id="5" name="Shape 3"/>
          <p:cNvSpPr/>
          <p:nvPr/>
        </p:nvSpPr>
        <p:spPr>
          <a:xfrm>
            <a:off x="10652760" y="850392"/>
            <a:ext cx="1261872" cy="0"/>
          </a:xfrm>
          <a:prstGeom prst="line">
            <a:avLst/>
          </a:prstGeom>
          <a:noFill/>
          <a:ln w="13970">
            <a:solidFill>
              <a:srgbClr val="B79A67">
                <a:alpha val="75000"/>
              </a:srgbClr>
            </a:solidFill>
            <a:prstDash val="solid"/>
          </a:ln>
        </p:spPr>
        <p:txBody>
          <a:bodyPr/>
          <a:lstStyle/>
          <a:p>
            <a:endParaRPr lang="en-US"/>
          </a:p>
        </p:txBody>
      </p:sp>
      <p:sp>
        <p:nvSpPr>
          <p:cNvPr id="6" name="Shape 4"/>
          <p:cNvSpPr/>
          <p:nvPr/>
        </p:nvSpPr>
        <p:spPr>
          <a:xfrm>
            <a:off x="10835640" y="960120"/>
            <a:ext cx="1143000" cy="0"/>
          </a:xfrm>
          <a:prstGeom prst="line">
            <a:avLst/>
          </a:prstGeom>
          <a:noFill/>
          <a:ln w="12700">
            <a:solidFill>
              <a:srgbClr val="6E94BC">
                <a:alpha val="60000"/>
              </a:srgbClr>
            </a:solidFill>
            <a:prstDash val="solid"/>
          </a:ln>
        </p:spPr>
        <p:txBody>
          <a:bodyPr/>
          <a:lstStyle/>
          <a:p>
            <a:endParaRPr lang="en-US"/>
          </a:p>
        </p:txBody>
      </p:sp>
      <p:sp>
        <p:nvSpPr>
          <p:cNvPr id="7" name="Text 5"/>
          <p:cNvSpPr/>
          <p:nvPr/>
        </p:nvSpPr>
        <p:spPr>
          <a:xfrm>
            <a:off x="658368" y="6473952"/>
            <a:ext cx="2560320" cy="164592"/>
          </a:xfrm>
          <a:prstGeom prst="rect">
            <a:avLst/>
          </a:prstGeom>
          <a:noFill/>
          <a:ln/>
        </p:spPr>
        <p:txBody>
          <a:bodyPr wrap="square" lIns="0" tIns="0" rIns="0" bIns="0" rtlCol="0" anchor="ctr"/>
          <a:lstStyle/>
          <a:p>
            <a:pPr marL="0" indent="0">
              <a:buNone/>
            </a:pPr>
            <a:r>
              <a:rPr lang="en-US" sz="850" b="1" dirty="0">
                <a:solidFill>
                  <a:srgbClr val="6E89A7"/>
                </a:solidFill>
                <a:latin typeface="Aptos" pitchFamily="34" charset="0"/>
                <a:ea typeface="Aptos" pitchFamily="34" charset="-122"/>
                <a:cs typeface="Aptos" pitchFamily="34" charset="-120"/>
              </a:rPr>
              <a:t>RESEARCH METHODS</a:t>
            </a:r>
            <a:endParaRPr lang="en-US" sz="85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normAutofit/>
          </a:bodyPr>
          <a:lstStyle>
            <a:lvl1pPr>
              <a:defRPr sz="32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Text Placeholder 5">
            <a:extLst>
              <a:ext uri="{FF2B5EF4-FFF2-40B4-BE49-F238E27FC236}">
                <a16:creationId xmlns:a16="http://schemas.microsoft.com/office/drawing/2014/main" id="{64618B05-C18C-4A3D-9DA2-FBF373BE54C4}"/>
              </a:ext>
            </a:extLst>
          </p:cNvPr>
          <p:cNvSpPr>
            <a:spLocks noGrp="1"/>
          </p:cNvSpPr>
          <p:nvPr>
            <p:ph type="body" sz="quarter" idx="12"/>
          </p:nvPr>
        </p:nvSpPr>
        <p:spPr>
          <a:xfrm>
            <a:off x="3987800" y="6673850"/>
            <a:ext cx="7315200" cy="160338"/>
          </a:xfrm>
        </p:spPr>
        <p:txBody>
          <a:bodyPr>
            <a:noAutofit/>
          </a:bodyPr>
          <a:lstStyle>
            <a:lvl1pPr algn="r">
              <a:defRPr sz="800"/>
            </a:lvl1pPr>
          </a:lstStyle>
          <a:p>
            <a:pPr lvl="0"/>
            <a:r>
              <a:rPr lang="en-US"/>
              <a:t>Click to edit Master text styles</a:t>
            </a:r>
          </a:p>
        </p:txBody>
      </p:sp>
      <p:sp>
        <p:nvSpPr>
          <p:cNvPr id="10" name="Text Placeholder 9">
            <a:extLst>
              <a:ext uri="{FF2B5EF4-FFF2-40B4-BE49-F238E27FC236}">
                <a16:creationId xmlns:a16="http://schemas.microsoft.com/office/drawing/2014/main" id="{7B7177C8-4702-4D0B-A3DF-D9A2B23B19AB}"/>
              </a:ext>
            </a:extLst>
          </p:cNvPr>
          <p:cNvSpPr>
            <a:spLocks noGrp="1"/>
          </p:cNvSpPr>
          <p:nvPr>
            <p:ph type="body" sz="quarter" idx="13"/>
          </p:nvPr>
        </p:nvSpPr>
        <p:spPr>
          <a:xfrm>
            <a:off x="3927475" y="6348414"/>
            <a:ext cx="4337051" cy="193675"/>
          </a:xfrm>
        </p:spPr>
        <p:txBody>
          <a:bodyPr anchor="ctr">
            <a:noAutofit/>
          </a:bodyPr>
          <a:lstStyle>
            <a:lvl1pPr algn="ctr">
              <a:defRPr sz="900"/>
            </a:lvl1pPr>
          </a:lstStyle>
          <a:p>
            <a:pPr lvl="0"/>
            <a:r>
              <a:rPr lang="en-US"/>
              <a:t>Click to edit Master text styles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16F4155F-77C3-4412-81E5-2AD0BD7DA5C1}" type="slidenum">
              <a:rPr lang="en-US" smtClean="0"/>
              <a:t>‹#›</a:t>
            </a:fld>
            <a:endParaRPr lang="en-US"/>
          </a:p>
        </p:txBody>
      </p:sp>
    </p:spTree>
    <p:extLst>
      <p:ext uri="{BB962C8B-B14F-4D97-AF65-F5344CB8AC3E}">
        <p14:creationId xmlns:p14="http://schemas.microsoft.com/office/powerpoint/2010/main" val="182150586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4521D7EE-3C93-41FB-A39B-E7EF2453623E}" type="datetimeFigureOut">
              <a:rPr lang="en-US" smtClean="0"/>
              <a:t>10/23/2026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16F4155F-77C3-4412-81E5-2AD0BD7DA5C1}"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033758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39"/>
        <p:cNvGrpSpPr/>
        <p:nvPr/>
      </p:nvGrpSpPr>
      <p:grpSpPr>
        <a:xfrm>
          <a:off x="0" y="0"/>
          <a:ext cx="0" cy="0"/>
          <a:chOff x="0" y="0"/>
          <a:chExt cx="0" cy="0"/>
        </a:xfrm>
      </p:grpSpPr>
      <p:sp>
        <p:nvSpPr>
          <p:cNvPr id="40" name="Google Shape;40;p30"/>
          <p:cNvSpPr txBox="1">
            <a:spLocks noGrp="1"/>
          </p:cNvSpPr>
          <p:nvPr>
            <p:ph type="title"/>
          </p:nvPr>
        </p:nvSpPr>
        <p:spPr>
          <a:xfrm>
            <a:off x="1568449" y="915988"/>
            <a:ext cx="9065683" cy="13033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0"/>
          <p:cNvSpPr txBox="1">
            <a:spLocks noGrp="1"/>
          </p:cNvSpPr>
          <p:nvPr>
            <p:ph type="body" idx="1"/>
          </p:nvPr>
        </p:nvSpPr>
        <p:spPr>
          <a:xfrm>
            <a:off x="1568449" y="2490788"/>
            <a:ext cx="9065683" cy="3444875"/>
          </a:xfrm>
          <a:prstGeom prst="rect">
            <a:avLst/>
          </a:prstGeom>
          <a:noFill/>
          <a:ln>
            <a:noFill/>
          </a:ln>
        </p:spPr>
        <p:txBody>
          <a:bodyPr spcFirstLastPara="1" wrap="square" lIns="91425" tIns="45700" rIns="91425" bIns="45700" anchor="t" anchorCtr="0">
            <a:no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42" name="Google Shape;42;p30"/>
          <p:cNvSpPr txBox="1">
            <a:spLocks noGrp="1"/>
          </p:cNvSpPr>
          <p:nvPr>
            <p:ph type="dt" idx="10"/>
          </p:nvPr>
        </p:nvSpPr>
        <p:spPr>
          <a:xfrm>
            <a:off x="8475133" y="5961062"/>
            <a:ext cx="1532467"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000">
                <a:latin typeface="Garamond"/>
                <a:ea typeface="Garamond"/>
                <a:cs typeface="Garamond"/>
                <a:sym typeface="Garamo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0"/>
          <p:cNvSpPr txBox="1">
            <a:spLocks noGrp="1"/>
          </p:cNvSpPr>
          <p:nvPr>
            <p:ph type="ftr" idx="11"/>
          </p:nvPr>
        </p:nvSpPr>
        <p:spPr>
          <a:xfrm>
            <a:off x="1568449" y="5961062"/>
            <a:ext cx="68072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0"/>
          <p:cNvSpPr txBox="1">
            <a:spLocks noGrp="1"/>
          </p:cNvSpPr>
          <p:nvPr>
            <p:ph type="sldNum" idx="12"/>
          </p:nvPr>
        </p:nvSpPr>
        <p:spPr>
          <a:xfrm>
            <a:off x="10107084" y="5961062"/>
            <a:ext cx="527049"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12774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F33A816C-0C56-4851-AC0D-B4A9E756F225}" type="datetimeFigureOut">
              <a:rPr lang="en-US" smtClean="0"/>
              <a:t>10/23/2026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4AAAA856-4423-4828-83BC-9DD5E742DAF8}" type="slidenum">
              <a:rPr lang="en-US" smtClean="0"/>
              <a:t>‹#›</a:t>
            </a:fld>
            <a:endParaRPr lang="en-US"/>
          </a:p>
        </p:txBody>
      </p:sp>
    </p:spTree>
    <p:extLst>
      <p:ext uri="{BB962C8B-B14F-4D97-AF65-F5344CB8AC3E}">
        <p14:creationId xmlns:p14="http://schemas.microsoft.com/office/powerpoint/2010/main" val="134975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3A816C-0C56-4851-AC0D-B4A9E756F225}"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AAA856-4423-4828-83BC-9DD5E742DAF8}" type="slidenum">
              <a:rPr lang="en-US" smtClean="0"/>
              <a:t>‹#›</a:t>
            </a:fld>
            <a:endParaRPr lang="en-US"/>
          </a:p>
        </p:txBody>
      </p:sp>
    </p:spTree>
    <p:extLst>
      <p:ext uri="{BB962C8B-B14F-4D97-AF65-F5344CB8AC3E}">
        <p14:creationId xmlns:p14="http://schemas.microsoft.com/office/powerpoint/2010/main" val="55423889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5" r:id="rId8"/>
    <p:sldLayoutId id="2147483656" r:id="rId9"/>
    <p:sldLayoutId id="2147483660" r:id="rId10"/>
    <p:sldLayoutId id="2147483662" r:id="rId11"/>
    <p:sldLayoutId id="2147483663" r:id="rId12"/>
    <p:sldLayoutId id="2147483664" r:id="rId13"/>
    <p:sldLayoutId id="2147483665"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www.tylervigen.com/spurious-correlations"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D10E-15BC-6992-8E4E-5EFA55454732}"/>
              </a:ext>
            </a:extLst>
          </p:cNvPr>
          <p:cNvSpPr>
            <a:spLocks noGrp="1"/>
          </p:cNvSpPr>
          <p:nvPr>
            <p:ph type="title"/>
          </p:nvPr>
        </p:nvSpPr>
        <p:spPr/>
        <p:txBody>
          <a:bodyPr/>
          <a:lstStyle/>
          <a:p>
            <a:r>
              <a:rPr lang="en-US" dirty="0"/>
              <a:t>Chapter 8</a:t>
            </a:r>
          </a:p>
        </p:txBody>
      </p:sp>
      <p:sp>
        <p:nvSpPr>
          <p:cNvPr id="3" name="Content Placeholder 2">
            <a:extLst>
              <a:ext uri="{FF2B5EF4-FFF2-40B4-BE49-F238E27FC236}">
                <a16:creationId xmlns:a16="http://schemas.microsoft.com/office/drawing/2014/main" id="{34EC1EDE-B354-C748-0304-543114C1ED73}"/>
              </a:ext>
            </a:extLst>
          </p:cNvPr>
          <p:cNvSpPr>
            <a:spLocks noGrp="1"/>
          </p:cNvSpPr>
          <p:nvPr>
            <p:ph sz="quarter" idx="10"/>
          </p:nvPr>
        </p:nvSpPr>
        <p:spPr/>
        <p:txBody>
          <a:bodyPr/>
          <a:lstStyle/>
          <a:p>
            <a:r>
              <a:rPr lang="en-US" dirty="0"/>
              <a:t>Bivariate Correlational Research</a:t>
            </a:r>
          </a:p>
        </p:txBody>
      </p:sp>
    </p:spTree>
    <p:extLst>
      <p:ext uri="{BB962C8B-B14F-4D97-AF65-F5344CB8AC3E}">
        <p14:creationId xmlns:p14="http://schemas.microsoft.com/office/powerpoint/2010/main" val="28858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84739C-B3B3-D952-B689-AE00151FCBB0}"/>
              </a:ext>
            </a:extLst>
          </p:cNvPr>
          <p:cNvSpPr>
            <a:spLocks noGrp="1"/>
          </p:cNvSpPr>
          <p:nvPr>
            <p:ph type="title"/>
          </p:nvPr>
        </p:nvSpPr>
        <p:spPr/>
        <p:txBody>
          <a:bodyPr/>
          <a:lstStyle/>
          <a:p>
            <a:r>
              <a:rPr lang="en-US" dirty="0"/>
              <a:t>Agenda</a:t>
            </a:r>
          </a:p>
        </p:txBody>
      </p:sp>
      <p:sp>
        <p:nvSpPr>
          <p:cNvPr id="5" name="Text Placeholder 4">
            <a:extLst>
              <a:ext uri="{FF2B5EF4-FFF2-40B4-BE49-F238E27FC236}">
                <a16:creationId xmlns:a16="http://schemas.microsoft.com/office/drawing/2014/main" id="{C0F6BAC2-1345-E959-24F0-DA7E6920FE27}"/>
              </a:ext>
            </a:extLst>
          </p:cNvPr>
          <p:cNvSpPr>
            <a:spLocks noGrp="1"/>
          </p:cNvSpPr>
          <p:nvPr>
            <p:ph type="body" sz="quarter" idx="106"/>
          </p:nvPr>
        </p:nvSpPr>
        <p:spPr>
          <a:xfrm>
            <a:off x="5155474" y="1542779"/>
            <a:ext cx="6296297" cy="4654550"/>
          </a:xfrm>
        </p:spPr>
        <p:txBody>
          <a:bodyPr/>
          <a:lstStyle/>
          <a:p>
            <a:r>
              <a:rPr lang="en-US" dirty="0"/>
              <a:t>Bivariate Correlations</a:t>
            </a:r>
          </a:p>
          <a:p>
            <a:r>
              <a:rPr lang="en-US" dirty="0"/>
              <a:t>Interrogating the Validity of Bivariate Correlations</a:t>
            </a:r>
          </a:p>
          <a:p>
            <a:r>
              <a:rPr lang="en-US" dirty="0"/>
              <a:t>Next time on PSY 270… </a:t>
            </a:r>
          </a:p>
          <a:p>
            <a:endParaRPr lang="en-US" dirty="0"/>
          </a:p>
          <a:p>
            <a:endParaRPr lang="en-US" dirty="0"/>
          </a:p>
        </p:txBody>
      </p:sp>
    </p:spTree>
    <p:extLst>
      <p:ext uri="{BB962C8B-B14F-4D97-AF65-F5344CB8AC3E}">
        <p14:creationId xmlns:p14="http://schemas.microsoft.com/office/powerpoint/2010/main" val="190842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4CE20E-280F-E1CB-E555-00E71A226F0F}"/>
              </a:ext>
            </a:extLst>
          </p:cNvPr>
          <p:cNvSpPr>
            <a:spLocks noGrp="1"/>
          </p:cNvSpPr>
          <p:nvPr>
            <p:ph type="title"/>
          </p:nvPr>
        </p:nvSpPr>
        <p:spPr>
          <a:xfrm>
            <a:off x="914077" y="759149"/>
            <a:ext cx="6345139" cy="1965389"/>
          </a:xfrm>
        </p:spPr>
        <p:txBody>
          <a:bodyPr/>
          <a:lstStyle/>
          <a:p>
            <a:r>
              <a:rPr lang="en-US" dirty="0"/>
              <a:t>Bivariate Correlations</a:t>
            </a:r>
          </a:p>
        </p:txBody>
      </p:sp>
    </p:spTree>
    <p:extLst>
      <p:ext uri="{BB962C8B-B14F-4D97-AF65-F5344CB8AC3E}">
        <p14:creationId xmlns:p14="http://schemas.microsoft.com/office/powerpoint/2010/main" val="2579795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542F13-0E4A-185F-3A66-A2C864DD7E42}"/>
              </a:ext>
            </a:extLst>
          </p:cNvPr>
          <p:cNvSpPr>
            <a:spLocks noGrp="1"/>
          </p:cNvSpPr>
          <p:nvPr>
            <p:ph type="body" sz="quarter" idx="108"/>
          </p:nvPr>
        </p:nvSpPr>
        <p:spPr/>
        <p:txBody>
          <a:bodyPr/>
          <a:lstStyle/>
          <a:p>
            <a:r>
              <a:rPr lang="en-US" b="1" dirty="0"/>
              <a:t>Association claim</a:t>
            </a:r>
            <a:r>
              <a:rPr lang="en-US" dirty="0"/>
              <a:t> – a claim that one level of a variable is likely to be associated with a particular level of another variable</a:t>
            </a:r>
          </a:p>
          <a:p>
            <a:pPr lvl="1"/>
            <a:r>
              <a:rPr lang="en-US" dirty="0"/>
              <a:t>Can be positive, negative, or no association (the direction of the correlation)</a:t>
            </a:r>
          </a:p>
          <a:p>
            <a:pPr lvl="1"/>
            <a:r>
              <a:rPr lang="en-US" dirty="0"/>
              <a:t>Can vary in strength (the absolute value of the correlation)</a:t>
            </a:r>
          </a:p>
          <a:p>
            <a:endParaRPr lang="en-US" dirty="0"/>
          </a:p>
          <a:p>
            <a:endParaRPr lang="en-US" dirty="0"/>
          </a:p>
        </p:txBody>
      </p:sp>
      <p:sp>
        <p:nvSpPr>
          <p:cNvPr id="3" name="Title 2">
            <a:extLst>
              <a:ext uri="{FF2B5EF4-FFF2-40B4-BE49-F238E27FC236}">
                <a16:creationId xmlns:a16="http://schemas.microsoft.com/office/drawing/2014/main" id="{46A8F693-F6C3-9CB9-6EDA-054544E07ABB}"/>
              </a:ext>
            </a:extLst>
          </p:cNvPr>
          <p:cNvSpPr>
            <a:spLocks noGrp="1"/>
          </p:cNvSpPr>
          <p:nvPr>
            <p:ph type="title"/>
          </p:nvPr>
        </p:nvSpPr>
        <p:spPr/>
        <p:txBody>
          <a:bodyPr/>
          <a:lstStyle/>
          <a:p>
            <a:r>
              <a:rPr lang="en-US" dirty="0"/>
              <a:t>Last Time(</a:t>
            </a:r>
            <a:r>
              <a:rPr lang="en-US" dirty="0" err="1"/>
              <a:t>ish</a:t>
            </a:r>
            <a:r>
              <a:rPr lang="en-US" dirty="0"/>
              <a:t>) on PSY 270… </a:t>
            </a:r>
          </a:p>
        </p:txBody>
      </p:sp>
      <p:pic>
        <p:nvPicPr>
          <p:cNvPr id="5" name="Picture 4" descr="Scatterplot showing a positive correlation between books read per month and vocabulary test scores. As the number of books read per month increases, vocabulary test scores tend to increase. Blue data points cluster around an upward-sloping green trend line.">
            <a:extLst>
              <a:ext uri="{FF2B5EF4-FFF2-40B4-BE49-F238E27FC236}">
                <a16:creationId xmlns:a16="http://schemas.microsoft.com/office/drawing/2014/main" id="{8A948FB7-2883-7B18-F0A3-51A51F006C59}"/>
              </a:ext>
            </a:extLst>
          </p:cNvPr>
          <p:cNvPicPr>
            <a:picLocks noChangeAspect="1"/>
          </p:cNvPicPr>
          <p:nvPr/>
        </p:nvPicPr>
        <p:blipFill>
          <a:blip r:embed="rId3"/>
          <a:stretch>
            <a:fillRect/>
          </a:stretch>
        </p:blipFill>
        <p:spPr>
          <a:xfrm>
            <a:off x="496388" y="2993084"/>
            <a:ext cx="3375816" cy="3000162"/>
          </a:xfrm>
          <a:prstGeom prst="rect">
            <a:avLst/>
          </a:prstGeom>
        </p:spPr>
      </p:pic>
      <p:pic>
        <p:nvPicPr>
          <p:cNvPr id="7" name="Picture 6">
            <a:extLst>
              <a:ext uri="{FF2B5EF4-FFF2-40B4-BE49-F238E27FC236}">
                <a16:creationId xmlns:a16="http://schemas.microsoft.com/office/drawing/2014/main" id="{7B6E4A75-6927-CE25-A7CA-32A9E36EC61B}"/>
              </a:ext>
            </a:extLst>
          </p:cNvPr>
          <p:cNvPicPr>
            <a:picLocks noChangeAspect="1"/>
          </p:cNvPicPr>
          <p:nvPr/>
        </p:nvPicPr>
        <p:blipFill>
          <a:blip r:embed="rId4"/>
          <a:stretch>
            <a:fillRect/>
          </a:stretch>
        </p:blipFill>
        <p:spPr>
          <a:xfrm>
            <a:off x="4735597" y="2993083"/>
            <a:ext cx="3375819" cy="3000163"/>
          </a:xfrm>
          <a:prstGeom prst="rect">
            <a:avLst/>
          </a:prstGeom>
        </p:spPr>
      </p:pic>
      <p:pic>
        <p:nvPicPr>
          <p:cNvPr id="9" name="Picture 8">
            <a:extLst>
              <a:ext uri="{FF2B5EF4-FFF2-40B4-BE49-F238E27FC236}">
                <a16:creationId xmlns:a16="http://schemas.microsoft.com/office/drawing/2014/main" id="{37AFA33E-2721-5E03-87DE-7CC28109FE34}"/>
              </a:ext>
            </a:extLst>
          </p:cNvPr>
          <p:cNvPicPr>
            <a:picLocks noChangeAspect="1"/>
          </p:cNvPicPr>
          <p:nvPr/>
        </p:nvPicPr>
        <p:blipFill>
          <a:blip r:embed="rId5"/>
          <a:stretch>
            <a:fillRect/>
          </a:stretch>
        </p:blipFill>
        <p:spPr>
          <a:xfrm>
            <a:off x="8606703" y="2993083"/>
            <a:ext cx="3389168" cy="3000163"/>
          </a:xfrm>
          <a:prstGeom prst="rect">
            <a:avLst/>
          </a:prstGeom>
        </p:spPr>
      </p:pic>
    </p:spTree>
    <p:extLst>
      <p:ext uri="{BB962C8B-B14F-4D97-AF65-F5344CB8AC3E}">
        <p14:creationId xmlns:p14="http://schemas.microsoft.com/office/powerpoint/2010/main" val="2123243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28BC20-1D13-81AB-E8A1-B78673FCBE8D}"/>
              </a:ext>
            </a:extLst>
          </p:cNvPr>
          <p:cNvSpPr>
            <a:spLocks noGrp="1"/>
          </p:cNvSpPr>
          <p:nvPr>
            <p:ph type="title"/>
          </p:nvPr>
        </p:nvSpPr>
        <p:spPr/>
        <p:txBody>
          <a:bodyPr/>
          <a:lstStyle/>
          <a:p>
            <a:r>
              <a:rPr lang="en-US" dirty="0"/>
              <a:t>So… </a:t>
            </a:r>
          </a:p>
        </p:txBody>
      </p:sp>
      <p:sp>
        <p:nvSpPr>
          <p:cNvPr id="5" name="Content Placeholder 4">
            <a:extLst>
              <a:ext uri="{FF2B5EF4-FFF2-40B4-BE49-F238E27FC236}">
                <a16:creationId xmlns:a16="http://schemas.microsoft.com/office/drawing/2014/main" id="{DD581856-D763-6FFD-F39E-6071AA8164D2}"/>
              </a:ext>
            </a:extLst>
          </p:cNvPr>
          <p:cNvSpPr>
            <a:spLocks noGrp="1"/>
          </p:cNvSpPr>
          <p:nvPr>
            <p:ph sz="quarter" idx="10"/>
          </p:nvPr>
        </p:nvSpPr>
        <p:spPr>
          <a:xfrm>
            <a:off x="2612572" y="3498395"/>
            <a:ext cx="8455796" cy="2342568"/>
          </a:xfrm>
        </p:spPr>
        <p:txBody>
          <a:bodyPr/>
          <a:lstStyle/>
          <a:p>
            <a:r>
              <a:rPr lang="en-US" dirty="0"/>
              <a:t>When we say “bivariate correlational research” what types of claims are we looking at?</a:t>
            </a:r>
          </a:p>
        </p:txBody>
      </p:sp>
    </p:spTree>
    <p:extLst>
      <p:ext uri="{BB962C8B-B14F-4D97-AF65-F5344CB8AC3E}">
        <p14:creationId xmlns:p14="http://schemas.microsoft.com/office/powerpoint/2010/main" val="4038283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0496A2-9FC4-C3FB-24EF-673B514FDDF3}"/>
              </a:ext>
            </a:extLst>
          </p:cNvPr>
          <p:cNvSpPr>
            <a:spLocks noGrp="1"/>
          </p:cNvSpPr>
          <p:nvPr>
            <p:ph type="body" sz="quarter" idx="108"/>
          </p:nvPr>
        </p:nvSpPr>
        <p:spPr/>
        <p:txBody>
          <a:bodyPr/>
          <a:lstStyle/>
          <a:p>
            <a:r>
              <a:rPr lang="en-US" b="1" dirty="0"/>
              <a:t>Bivariate correlations </a:t>
            </a:r>
            <a:r>
              <a:rPr lang="en-US" dirty="0"/>
              <a:t>(aka, bivariate associations) – associations that involve exactly two variables</a:t>
            </a:r>
          </a:p>
          <a:p>
            <a:r>
              <a:rPr lang="en-US" dirty="0"/>
              <a:t>Most commonly, we are comparing two continuous (quantitative) variables</a:t>
            </a:r>
          </a:p>
          <a:p>
            <a:pPr lvl="1"/>
            <a:r>
              <a:rPr lang="en-US" dirty="0"/>
              <a:t>Ex: hours of sleep and grade on exam</a:t>
            </a:r>
          </a:p>
          <a:p>
            <a:r>
              <a:rPr lang="en-US" dirty="0"/>
              <a:t>Sometimes, we will look at one continuous and one categorical variable</a:t>
            </a:r>
          </a:p>
          <a:p>
            <a:pPr lvl="1"/>
            <a:r>
              <a:rPr lang="en-US" dirty="0"/>
              <a:t>Ex: quality of sleep (good vs bad) and grade on exam</a:t>
            </a:r>
          </a:p>
          <a:p>
            <a:endParaRPr lang="en-US" dirty="0"/>
          </a:p>
        </p:txBody>
      </p:sp>
      <p:sp>
        <p:nvSpPr>
          <p:cNvPr id="3" name="Title 2">
            <a:extLst>
              <a:ext uri="{FF2B5EF4-FFF2-40B4-BE49-F238E27FC236}">
                <a16:creationId xmlns:a16="http://schemas.microsoft.com/office/drawing/2014/main" id="{BD54969B-AFB1-26CC-333C-090DB6E52F55}"/>
              </a:ext>
            </a:extLst>
          </p:cNvPr>
          <p:cNvSpPr>
            <a:spLocks noGrp="1"/>
          </p:cNvSpPr>
          <p:nvPr>
            <p:ph type="title"/>
          </p:nvPr>
        </p:nvSpPr>
        <p:spPr/>
        <p:txBody>
          <a:bodyPr/>
          <a:lstStyle/>
          <a:p>
            <a:r>
              <a:rPr lang="en-US" dirty="0"/>
              <a:t>Bivariate Correlations</a:t>
            </a:r>
          </a:p>
        </p:txBody>
      </p:sp>
    </p:spTree>
    <p:extLst>
      <p:ext uri="{BB962C8B-B14F-4D97-AF65-F5344CB8AC3E}">
        <p14:creationId xmlns:p14="http://schemas.microsoft.com/office/powerpoint/2010/main" val="3079808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6A1E5F-3F24-B89B-18AE-71217C94CD52}"/>
              </a:ext>
            </a:extLst>
          </p:cNvPr>
          <p:cNvSpPr>
            <a:spLocks noGrp="1"/>
          </p:cNvSpPr>
          <p:nvPr>
            <p:ph type="body" sz="quarter" idx="108"/>
          </p:nvPr>
        </p:nvSpPr>
        <p:spPr/>
        <p:txBody>
          <a:bodyPr/>
          <a:lstStyle/>
          <a:p>
            <a:r>
              <a:rPr lang="en-US" dirty="0"/>
              <a:t>Association claims between 2 continuous variables are most often assessed through Pearson’s correlations</a:t>
            </a:r>
          </a:p>
          <a:p>
            <a:r>
              <a:rPr lang="en-US" dirty="0"/>
              <a:t>Reminder about Pearson’s </a:t>
            </a:r>
            <a:r>
              <a:rPr lang="en-US" i="1" dirty="0"/>
              <a:t>r</a:t>
            </a:r>
            <a:endParaRPr lang="en-US" dirty="0"/>
          </a:p>
          <a:p>
            <a:pPr lvl="1"/>
            <a:r>
              <a:rPr lang="en-US" dirty="0"/>
              <a:t>The sign (+/-) tells you the direction of the relationship (positive, negative, or zero)</a:t>
            </a:r>
          </a:p>
          <a:p>
            <a:pPr lvl="1"/>
            <a:r>
              <a:rPr lang="en-US" dirty="0"/>
              <a:t>The absolute value tells you the strength of the relationship. The general rule of thumb:</a:t>
            </a:r>
          </a:p>
          <a:p>
            <a:pPr lvl="2"/>
            <a:r>
              <a:rPr lang="en-US" dirty="0"/>
              <a:t>0.1 - 0.29= small (weak) correlation</a:t>
            </a:r>
          </a:p>
          <a:p>
            <a:pPr lvl="2"/>
            <a:r>
              <a:rPr lang="en-US" dirty="0"/>
              <a:t>0.3 – 0.49 = medium (moderate) correlation</a:t>
            </a:r>
          </a:p>
          <a:p>
            <a:pPr lvl="2"/>
            <a:r>
              <a:rPr lang="en-US" dirty="0"/>
              <a:t>Greater than 0.5 = large (strong) correlation</a:t>
            </a:r>
          </a:p>
          <a:p>
            <a:r>
              <a:rPr lang="en-US" dirty="0"/>
              <a:t>If one of your variables is ordinal, you would use Spearman’s correlation instead</a:t>
            </a:r>
          </a:p>
          <a:p>
            <a:endParaRPr lang="en-US" dirty="0"/>
          </a:p>
        </p:txBody>
      </p:sp>
      <p:sp>
        <p:nvSpPr>
          <p:cNvPr id="3" name="Title 2">
            <a:extLst>
              <a:ext uri="{FF2B5EF4-FFF2-40B4-BE49-F238E27FC236}">
                <a16:creationId xmlns:a16="http://schemas.microsoft.com/office/drawing/2014/main" id="{2C87121F-95B5-7A2A-050D-56DBB88AFEAA}"/>
              </a:ext>
            </a:extLst>
          </p:cNvPr>
          <p:cNvSpPr>
            <a:spLocks noGrp="1"/>
          </p:cNvSpPr>
          <p:nvPr>
            <p:ph type="title"/>
          </p:nvPr>
        </p:nvSpPr>
        <p:spPr/>
        <p:txBody>
          <a:bodyPr/>
          <a:lstStyle/>
          <a:p>
            <a:r>
              <a:rPr lang="en-US" dirty="0"/>
              <a:t>Comparing Two Continuous Variables</a:t>
            </a:r>
          </a:p>
        </p:txBody>
      </p:sp>
    </p:spTree>
    <p:extLst>
      <p:ext uri="{BB962C8B-B14F-4D97-AF65-F5344CB8AC3E}">
        <p14:creationId xmlns:p14="http://schemas.microsoft.com/office/powerpoint/2010/main" val="1918003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616081-3174-97F6-BA48-9BA8E6BFFA38}"/>
              </a:ext>
            </a:extLst>
          </p:cNvPr>
          <p:cNvSpPr>
            <a:spLocks noGrp="1"/>
          </p:cNvSpPr>
          <p:nvPr>
            <p:ph type="body" sz="quarter" idx="108"/>
          </p:nvPr>
        </p:nvSpPr>
        <p:spPr/>
        <p:txBody>
          <a:bodyPr/>
          <a:lstStyle/>
          <a:p>
            <a:r>
              <a:rPr lang="en-US" dirty="0"/>
              <a:t>If you have one continuous variable and one categorical variable, you can still calculate a meaningful correlation, as long as your categorical variable is binary (only 2 categories). To make the math work, you “code” 1 category a value of “0” and 1 category a value of “1”</a:t>
            </a:r>
          </a:p>
          <a:p>
            <a:pPr lvl="1"/>
            <a:r>
              <a:rPr lang="en-US" dirty="0"/>
              <a:t>Technically, you could have more than 2 categories, but the meaningfulness of the correlation gets hazy</a:t>
            </a:r>
          </a:p>
          <a:p>
            <a:endParaRPr lang="en-US" dirty="0"/>
          </a:p>
          <a:p>
            <a:endParaRPr lang="en-US" dirty="0"/>
          </a:p>
          <a:p>
            <a:endParaRPr lang="en-US" dirty="0"/>
          </a:p>
          <a:p>
            <a:r>
              <a:rPr lang="en-US" sz="2000" dirty="0"/>
              <a:t>Note: In most student research with 1 categorical and 1 continuous variable, we would conduct a </a:t>
            </a:r>
            <a:r>
              <a:rPr lang="en-US" sz="2000" i="1" dirty="0"/>
              <a:t>t</a:t>
            </a:r>
            <a:r>
              <a:rPr lang="en-US" sz="2000" dirty="0"/>
              <a:t>-test instead (experimental research rather than correlational research)</a:t>
            </a:r>
          </a:p>
        </p:txBody>
      </p:sp>
      <p:sp>
        <p:nvSpPr>
          <p:cNvPr id="3" name="Title 2">
            <a:extLst>
              <a:ext uri="{FF2B5EF4-FFF2-40B4-BE49-F238E27FC236}">
                <a16:creationId xmlns:a16="http://schemas.microsoft.com/office/drawing/2014/main" id="{531E32BA-8098-A006-3329-635FEB667D33}"/>
              </a:ext>
            </a:extLst>
          </p:cNvPr>
          <p:cNvSpPr>
            <a:spLocks noGrp="1"/>
          </p:cNvSpPr>
          <p:nvPr>
            <p:ph type="title"/>
          </p:nvPr>
        </p:nvSpPr>
        <p:spPr/>
        <p:txBody>
          <a:bodyPr/>
          <a:lstStyle/>
          <a:p>
            <a:r>
              <a:rPr lang="en-US" dirty="0"/>
              <a:t>Comparing 1 Categorical &amp; 1 Continuous Variable</a:t>
            </a:r>
          </a:p>
        </p:txBody>
      </p:sp>
    </p:spTree>
    <p:extLst>
      <p:ext uri="{BB962C8B-B14F-4D97-AF65-F5344CB8AC3E}">
        <p14:creationId xmlns:p14="http://schemas.microsoft.com/office/powerpoint/2010/main" val="2962376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9FE8A-4F44-FC6B-7284-F948B9A1C7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EAC5873-E22A-F5BD-6FDD-295CCF85F72C}"/>
              </a:ext>
            </a:extLst>
          </p:cNvPr>
          <p:cNvSpPr>
            <a:spLocks noGrp="1"/>
          </p:cNvSpPr>
          <p:nvPr>
            <p:ph type="body" sz="quarter" idx="108"/>
          </p:nvPr>
        </p:nvSpPr>
        <p:spPr/>
        <p:txBody>
          <a:bodyPr/>
          <a:lstStyle/>
          <a:p>
            <a:r>
              <a:rPr lang="en-US" dirty="0"/>
              <a:t>When presenting associations with 1 categorical variable, we would typically utilize a bar graph </a:t>
            </a:r>
          </a:p>
          <a:p>
            <a:r>
              <a:rPr lang="en-US" dirty="0"/>
              <a:t>With the bar graph, you can </a:t>
            </a:r>
            <a:br>
              <a:rPr lang="en-US" dirty="0"/>
            </a:br>
            <a:r>
              <a:rPr lang="en-US" dirty="0"/>
              <a:t>see the mean (arithmetic average)</a:t>
            </a:r>
            <a:br>
              <a:rPr lang="en-US" dirty="0"/>
            </a:br>
            <a:r>
              <a:rPr lang="en-US" dirty="0"/>
              <a:t>and the margin of error (wiggle</a:t>
            </a:r>
            <a:br>
              <a:rPr lang="en-US" dirty="0"/>
            </a:br>
            <a:r>
              <a:rPr lang="en-US" dirty="0"/>
              <a:t>room around the mean)</a:t>
            </a:r>
          </a:p>
          <a:p>
            <a:endParaRPr lang="en-US" dirty="0"/>
          </a:p>
        </p:txBody>
      </p:sp>
      <p:sp>
        <p:nvSpPr>
          <p:cNvPr id="3" name="Title 2">
            <a:extLst>
              <a:ext uri="{FF2B5EF4-FFF2-40B4-BE49-F238E27FC236}">
                <a16:creationId xmlns:a16="http://schemas.microsoft.com/office/drawing/2014/main" id="{6B5FA339-E203-E833-13E3-F60B483E9B8B}"/>
              </a:ext>
            </a:extLst>
          </p:cNvPr>
          <p:cNvSpPr>
            <a:spLocks noGrp="1"/>
          </p:cNvSpPr>
          <p:nvPr>
            <p:ph type="title"/>
          </p:nvPr>
        </p:nvSpPr>
        <p:spPr/>
        <p:txBody>
          <a:bodyPr/>
          <a:lstStyle/>
          <a:p>
            <a:r>
              <a:rPr lang="en-US" dirty="0"/>
              <a:t>Comparing 1 Categorical &amp; 1 Continuous Variable</a:t>
            </a:r>
          </a:p>
        </p:txBody>
      </p:sp>
      <p:pic>
        <p:nvPicPr>
          <p:cNvPr id="4" name="Picture 3" descr="Mean Test Scores by Study Condition&#10;(Error bars show 95% confidence intervals)">
            <a:extLst>
              <a:ext uri="{FF2B5EF4-FFF2-40B4-BE49-F238E27FC236}">
                <a16:creationId xmlns:a16="http://schemas.microsoft.com/office/drawing/2014/main" id="{3BB653C8-E18B-DEEF-2FE9-A0C3D739A140}"/>
              </a:ext>
            </a:extLst>
          </p:cNvPr>
          <p:cNvPicPr>
            <a:picLocks noChangeAspect="1"/>
          </p:cNvPicPr>
          <p:nvPr/>
        </p:nvPicPr>
        <p:blipFill>
          <a:blip r:embed="rId3"/>
          <a:stretch>
            <a:fillRect/>
          </a:stretch>
        </p:blipFill>
        <p:spPr>
          <a:xfrm>
            <a:off x="5605258" y="2151754"/>
            <a:ext cx="6309373" cy="4471425"/>
          </a:xfrm>
          <a:prstGeom prst="rect">
            <a:avLst/>
          </a:prstGeom>
        </p:spPr>
      </p:pic>
    </p:spTree>
    <p:extLst>
      <p:ext uri="{BB962C8B-B14F-4D97-AF65-F5344CB8AC3E}">
        <p14:creationId xmlns:p14="http://schemas.microsoft.com/office/powerpoint/2010/main" val="2596999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7FD4D-D77C-628C-B3B1-840E66894D7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0087644-7DF2-032F-EDB0-AC83C45BDA46}"/>
              </a:ext>
            </a:extLst>
          </p:cNvPr>
          <p:cNvSpPr>
            <a:spLocks noGrp="1"/>
          </p:cNvSpPr>
          <p:nvPr>
            <p:ph type="body" sz="quarter" idx="108"/>
          </p:nvPr>
        </p:nvSpPr>
        <p:spPr/>
        <p:txBody>
          <a:bodyPr/>
          <a:lstStyle/>
          <a:p>
            <a:r>
              <a:rPr lang="en-US" dirty="0"/>
              <a:t>You could also use variations of scatterplots, such as jitter plots and violin plots</a:t>
            </a:r>
          </a:p>
          <a:p>
            <a:pPr lvl="1"/>
            <a:r>
              <a:rPr lang="en-US" dirty="0"/>
              <a:t>These tell you more about the distribution, but the comparison between categories is less clear</a:t>
            </a:r>
          </a:p>
        </p:txBody>
      </p:sp>
      <p:sp>
        <p:nvSpPr>
          <p:cNvPr id="3" name="Title 2">
            <a:extLst>
              <a:ext uri="{FF2B5EF4-FFF2-40B4-BE49-F238E27FC236}">
                <a16:creationId xmlns:a16="http://schemas.microsoft.com/office/drawing/2014/main" id="{18F83AB9-6AFA-3EBC-F066-AE51A58A360B}"/>
              </a:ext>
            </a:extLst>
          </p:cNvPr>
          <p:cNvSpPr>
            <a:spLocks noGrp="1"/>
          </p:cNvSpPr>
          <p:nvPr>
            <p:ph type="title"/>
          </p:nvPr>
        </p:nvSpPr>
        <p:spPr/>
        <p:txBody>
          <a:bodyPr/>
          <a:lstStyle/>
          <a:p>
            <a:r>
              <a:rPr lang="en-US" dirty="0"/>
              <a:t>Comparing 1 Categorical &amp; 1 Continuous Variable</a:t>
            </a:r>
          </a:p>
        </p:txBody>
      </p:sp>
      <p:pic>
        <p:nvPicPr>
          <p:cNvPr id="6" name="Picture 5" descr="Test Scores by Study Condition&#10;Jitter Plot (each dot represents one participant)">
            <a:extLst>
              <a:ext uri="{FF2B5EF4-FFF2-40B4-BE49-F238E27FC236}">
                <a16:creationId xmlns:a16="http://schemas.microsoft.com/office/drawing/2014/main" id="{CAE749F7-687F-8ABE-3216-21A668A27FB5}"/>
              </a:ext>
            </a:extLst>
          </p:cNvPr>
          <p:cNvPicPr>
            <a:picLocks noChangeAspect="1"/>
          </p:cNvPicPr>
          <p:nvPr/>
        </p:nvPicPr>
        <p:blipFill>
          <a:blip r:embed="rId3"/>
          <a:stretch>
            <a:fillRect/>
          </a:stretch>
        </p:blipFill>
        <p:spPr>
          <a:xfrm>
            <a:off x="496388" y="2535478"/>
            <a:ext cx="4894506" cy="3468715"/>
          </a:xfrm>
          <a:prstGeom prst="rect">
            <a:avLst/>
          </a:prstGeom>
        </p:spPr>
      </p:pic>
      <p:pic>
        <p:nvPicPr>
          <p:cNvPr id="7" name="Picture 6" descr="Test Scores by Study Condition&#10;Violin Plot (width represents data density)">
            <a:extLst>
              <a:ext uri="{FF2B5EF4-FFF2-40B4-BE49-F238E27FC236}">
                <a16:creationId xmlns:a16="http://schemas.microsoft.com/office/drawing/2014/main" id="{50C51C52-4033-9A94-2636-A52951E0A266}"/>
              </a:ext>
            </a:extLst>
          </p:cNvPr>
          <p:cNvPicPr>
            <a:picLocks noChangeAspect="1"/>
          </p:cNvPicPr>
          <p:nvPr/>
        </p:nvPicPr>
        <p:blipFill>
          <a:blip r:embed="rId4"/>
          <a:stretch>
            <a:fillRect/>
          </a:stretch>
        </p:blipFill>
        <p:spPr>
          <a:xfrm>
            <a:off x="6096000" y="2535477"/>
            <a:ext cx="4894507" cy="3468716"/>
          </a:xfrm>
          <a:prstGeom prst="rect">
            <a:avLst/>
          </a:prstGeom>
        </p:spPr>
      </p:pic>
    </p:spTree>
    <p:extLst>
      <p:ext uri="{BB962C8B-B14F-4D97-AF65-F5344CB8AC3E}">
        <p14:creationId xmlns:p14="http://schemas.microsoft.com/office/powerpoint/2010/main" val="1695368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2A2D5A-E4BF-08CA-499B-561ED50AEE2C}"/>
              </a:ext>
            </a:extLst>
          </p:cNvPr>
          <p:cNvSpPr>
            <a:spLocks noGrp="1"/>
          </p:cNvSpPr>
          <p:nvPr>
            <p:ph type="body" sz="quarter" idx="108"/>
          </p:nvPr>
        </p:nvSpPr>
        <p:spPr>
          <a:xfrm>
            <a:off x="496389" y="1252728"/>
            <a:ext cx="5827294" cy="5175493"/>
          </a:xfrm>
        </p:spPr>
        <p:txBody>
          <a:bodyPr/>
          <a:lstStyle/>
          <a:p>
            <a:r>
              <a:rPr lang="en-US" dirty="0"/>
              <a:t>The distribution of points tells you which values are most common</a:t>
            </a:r>
          </a:p>
          <a:p>
            <a:r>
              <a:rPr lang="en-US" dirty="0"/>
              <a:t>For example, I looked at response times on an attention task for my dissertation</a:t>
            </a:r>
          </a:p>
          <a:p>
            <a:r>
              <a:rPr lang="en-US" dirty="0"/>
              <a:t>During the first week (the week before finals), there were a lot more points where people took over 1 second to respond to a trial</a:t>
            </a:r>
          </a:p>
          <a:p>
            <a:r>
              <a:rPr lang="en-US" dirty="0"/>
              <a:t>By the week after finals, a much larger proportion were completing the trial in about 0.5 seconds</a:t>
            </a:r>
          </a:p>
        </p:txBody>
      </p:sp>
      <p:sp>
        <p:nvSpPr>
          <p:cNvPr id="3" name="Title 2">
            <a:extLst>
              <a:ext uri="{FF2B5EF4-FFF2-40B4-BE49-F238E27FC236}">
                <a16:creationId xmlns:a16="http://schemas.microsoft.com/office/drawing/2014/main" id="{77115193-1851-9D04-0622-9A65206A79A1}"/>
              </a:ext>
            </a:extLst>
          </p:cNvPr>
          <p:cNvSpPr>
            <a:spLocks noGrp="1"/>
          </p:cNvSpPr>
          <p:nvPr>
            <p:ph type="title"/>
          </p:nvPr>
        </p:nvSpPr>
        <p:spPr/>
        <p:txBody>
          <a:bodyPr/>
          <a:lstStyle/>
          <a:p>
            <a:r>
              <a:rPr lang="en-US" dirty="0"/>
              <a:t>A Quick Note on Reading Jitter/ Violin Plots</a:t>
            </a:r>
          </a:p>
        </p:txBody>
      </p:sp>
      <p:pic>
        <p:nvPicPr>
          <p:cNvPr id="4" name="Picture 3">
            <a:extLst>
              <a:ext uri="{FF2B5EF4-FFF2-40B4-BE49-F238E27FC236}">
                <a16:creationId xmlns:a16="http://schemas.microsoft.com/office/drawing/2014/main" id="{5DD1682C-C7AE-9038-3414-4EA284AAB9B8}"/>
              </a:ext>
            </a:extLst>
          </p:cNvPr>
          <p:cNvPicPr>
            <a:picLocks noChangeAspect="1"/>
          </p:cNvPicPr>
          <p:nvPr/>
        </p:nvPicPr>
        <p:blipFill>
          <a:blip r:embed="rId3"/>
          <a:stretch>
            <a:fillRect/>
          </a:stretch>
        </p:blipFill>
        <p:spPr>
          <a:xfrm>
            <a:off x="6488728" y="1453890"/>
            <a:ext cx="4974332" cy="4974332"/>
          </a:xfrm>
          <a:prstGeom prst="rect">
            <a:avLst/>
          </a:prstGeom>
        </p:spPr>
      </p:pic>
    </p:spTree>
    <p:extLst>
      <p:ext uri="{BB962C8B-B14F-4D97-AF65-F5344CB8AC3E}">
        <p14:creationId xmlns:p14="http://schemas.microsoft.com/office/powerpoint/2010/main" val="13215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2D5C5-2C4A-2350-B87D-F96D6A3103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78C60B-11C0-3637-A044-5A4EDE800C8A}"/>
              </a:ext>
            </a:extLst>
          </p:cNvPr>
          <p:cNvSpPr>
            <a:spLocks noGrp="1"/>
          </p:cNvSpPr>
          <p:nvPr>
            <p:ph type="title"/>
          </p:nvPr>
        </p:nvSpPr>
        <p:spPr>
          <a:xfrm>
            <a:off x="914077" y="759150"/>
            <a:ext cx="6848992" cy="1799292"/>
          </a:xfrm>
        </p:spPr>
        <p:txBody>
          <a:bodyPr/>
          <a:lstStyle/>
          <a:p>
            <a:r>
              <a:rPr lang="en-US" dirty="0"/>
              <a:t>But wait…</a:t>
            </a:r>
          </a:p>
        </p:txBody>
      </p:sp>
      <p:sp>
        <p:nvSpPr>
          <p:cNvPr id="5" name="Content Placeholder 4">
            <a:extLst>
              <a:ext uri="{FF2B5EF4-FFF2-40B4-BE49-F238E27FC236}">
                <a16:creationId xmlns:a16="http://schemas.microsoft.com/office/drawing/2014/main" id="{77FEF27A-7143-BF2E-0DCB-6741739987C8}"/>
              </a:ext>
            </a:extLst>
          </p:cNvPr>
          <p:cNvSpPr>
            <a:spLocks noGrp="1"/>
          </p:cNvSpPr>
          <p:nvPr>
            <p:ph sz="quarter" idx="10"/>
          </p:nvPr>
        </p:nvSpPr>
        <p:spPr>
          <a:xfrm>
            <a:off x="2612572" y="3498395"/>
            <a:ext cx="8455796" cy="2342568"/>
          </a:xfrm>
        </p:spPr>
        <p:txBody>
          <a:bodyPr/>
          <a:lstStyle/>
          <a:p>
            <a:r>
              <a:rPr lang="en-US" dirty="0"/>
              <a:t>What if we wanted to “upgrade” our claim from association to causal?</a:t>
            </a:r>
          </a:p>
        </p:txBody>
      </p:sp>
    </p:spTree>
    <p:extLst>
      <p:ext uri="{BB962C8B-B14F-4D97-AF65-F5344CB8AC3E}">
        <p14:creationId xmlns:p14="http://schemas.microsoft.com/office/powerpoint/2010/main" val="2642742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5B799-B9FD-840C-41E4-9CD8B8A8A81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B3EF823-E673-A9DA-F514-EB8F856AB0FE}"/>
              </a:ext>
            </a:extLst>
          </p:cNvPr>
          <p:cNvSpPr>
            <a:spLocks noGrp="1"/>
          </p:cNvSpPr>
          <p:nvPr>
            <p:ph type="title"/>
          </p:nvPr>
        </p:nvSpPr>
        <p:spPr>
          <a:xfrm>
            <a:off x="914077" y="759150"/>
            <a:ext cx="6848992" cy="1799292"/>
          </a:xfrm>
        </p:spPr>
        <p:txBody>
          <a:bodyPr/>
          <a:lstStyle/>
          <a:p>
            <a:r>
              <a:rPr lang="en-US" dirty="0"/>
              <a:t>Question for the class…</a:t>
            </a:r>
          </a:p>
        </p:txBody>
      </p:sp>
      <p:sp>
        <p:nvSpPr>
          <p:cNvPr id="5" name="Content Placeholder 4">
            <a:extLst>
              <a:ext uri="{FF2B5EF4-FFF2-40B4-BE49-F238E27FC236}">
                <a16:creationId xmlns:a16="http://schemas.microsoft.com/office/drawing/2014/main" id="{1DFC132F-331F-4750-6B3E-017A8301A028}"/>
              </a:ext>
            </a:extLst>
          </p:cNvPr>
          <p:cNvSpPr>
            <a:spLocks noGrp="1"/>
          </p:cNvSpPr>
          <p:nvPr>
            <p:ph sz="quarter" idx="10"/>
          </p:nvPr>
        </p:nvSpPr>
        <p:spPr>
          <a:xfrm>
            <a:off x="2612572" y="3498395"/>
            <a:ext cx="8455796" cy="2342568"/>
          </a:xfrm>
        </p:spPr>
        <p:txBody>
          <a:bodyPr/>
          <a:lstStyle/>
          <a:p>
            <a:r>
              <a:rPr lang="en-US" dirty="0"/>
              <a:t>What are the 3 requirements for causal claims?</a:t>
            </a:r>
          </a:p>
        </p:txBody>
      </p:sp>
    </p:spTree>
    <p:extLst>
      <p:ext uri="{BB962C8B-B14F-4D97-AF65-F5344CB8AC3E}">
        <p14:creationId xmlns:p14="http://schemas.microsoft.com/office/powerpoint/2010/main" val="727825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BFEA2E-125A-A6E8-3CF1-57E6655AC49D}"/>
              </a:ext>
            </a:extLst>
          </p:cNvPr>
          <p:cNvSpPr>
            <a:spLocks noGrp="1"/>
          </p:cNvSpPr>
          <p:nvPr>
            <p:ph type="body" sz="quarter" idx="108"/>
          </p:nvPr>
        </p:nvSpPr>
        <p:spPr>
          <a:xfrm>
            <a:off x="496389" y="1252728"/>
            <a:ext cx="5260600" cy="5329539"/>
          </a:xfrm>
        </p:spPr>
        <p:txBody>
          <a:bodyPr/>
          <a:lstStyle/>
          <a:p>
            <a:r>
              <a:rPr lang="en-US" dirty="0"/>
              <a:t>You COULD use correlations with causal claims as well, but you HAVE to establish that the three requirements are met</a:t>
            </a:r>
          </a:p>
          <a:p>
            <a:pPr lvl="1"/>
            <a:r>
              <a:rPr lang="en-US" dirty="0"/>
              <a:t>You should use multivariate correlations instead of bivariate</a:t>
            </a:r>
          </a:p>
          <a:p>
            <a:r>
              <a:rPr lang="en-US" dirty="0"/>
              <a:t>Experimental designs make it easier to establish causation, which is why it is much more common to evaluate causal claims with experimental research instead of correlational research</a:t>
            </a:r>
          </a:p>
        </p:txBody>
      </p:sp>
      <p:sp>
        <p:nvSpPr>
          <p:cNvPr id="3" name="Title 2">
            <a:extLst>
              <a:ext uri="{FF2B5EF4-FFF2-40B4-BE49-F238E27FC236}">
                <a16:creationId xmlns:a16="http://schemas.microsoft.com/office/drawing/2014/main" id="{C8B07533-AD8D-F40C-7965-31FEFDA32C17}"/>
              </a:ext>
            </a:extLst>
          </p:cNvPr>
          <p:cNvSpPr>
            <a:spLocks noGrp="1"/>
          </p:cNvSpPr>
          <p:nvPr>
            <p:ph type="title"/>
          </p:nvPr>
        </p:nvSpPr>
        <p:spPr/>
        <p:txBody>
          <a:bodyPr/>
          <a:lstStyle/>
          <a:p>
            <a:r>
              <a:rPr lang="en-US" dirty="0"/>
              <a:t>Using Correlations to Look Into Causal Claims</a:t>
            </a:r>
          </a:p>
        </p:txBody>
      </p:sp>
      <p:pic>
        <p:nvPicPr>
          <p:cNvPr id="4" name="Picture 3" descr="A series of diagrams to demonstrate causation. The first shows a box labeled A and a box labeled B, a line with an arrow at each end stretches between them. It is labeled, covariance, do the results show that the variables are correlated? The second box shows A leading to B with a question mark, or B leading to A with a question mark. It states, temporal precedence, directionality problem. Does the method establish which variable came first in time? If we cannot tell which came first, we cannot infer causation. The third box, internal validity, third variable problem, states, is there a c variable that is associated with both A and B, independently? A box labeled C has an arrow to A and a separate arrow to B. It also states, if there is a plausible third variable, we cannot infer causation.">
            <a:extLst>
              <a:ext uri="{FF2B5EF4-FFF2-40B4-BE49-F238E27FC236}">
                <a16:creationId xmlns:a16="http://schemas.microsoft.com/office/drawing/2014/main" id="{7B14305E-9EC0-6873-7C08-E74B2222E30C}"/>
              </a:ext>
            </a:extLst>
          </p:cNvPr>
          <p:cNvPicPr>
            <a:picLocks noChangeAspect="1"/>
          </p:cNvPicPr>
          <p:nvPr/>
        </p:nvPicPr>
        <p:blipFill>
          <a:blip r:embed="rId3"/>
          <a:stretch>
            <a:fillRect/>
          </a:stretch>
        </p:blipFill>
        <p:spPr>
          <a:xfrm>
            <a:off x="6242044" y="988436"/>
            <a:ext cx="4604218" cy="5691050"/>
          </a:xfrm>
          <a:prstGeom prst="rect">
            <a:avLst/>
          </a:prstGeom>
        </p:spPr>
      </p:pic>
    </p:spTree>
    <p:extLst>
      <p:ext uri="{BB962C8B-B14F-4D97-AF65-F5344CB8AC3E}">
        <p14:creationId xmlns:p14="http://schemas.microsoft.com/office/powerpoint/2010/main" val="2536556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D3FEF-F1A4-F8CA-4987-48F2ECEE00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82DDE8-B66D-3C5B-C6A4-45E5F886C844}"/>
              </a:ext>
            </a:extLst>
          </p:cNvPr>
          <p:cNvSpPr>
            <a:spLocks noGrp="1"/>
          </p:cNvSpPr>
          <p:nvPr>
            <p:ph type="title"/>
          </p:nvPr>
        </p:nvSpPr>
        <p:spPr>
          <a:xfrm>
            <a:off x="1921783" y="1141704"/>
            <a:ext cx="7539458" cy="2394598"/>
          </a:xfrm>
        </p:spPr>
        <p:txBody>
          <a:bodyPr/>
          <a:lstStyle/>
          <a:p>
            <a:r>
              <a:rPr lang="en-US" dirty="0"/>
              <a:t>Interrogating the Validity of Bivariate Correlations</a:t>
            </a:r>
          </a:p>
        </p:txBody>
      </p:sp>
    </p:spTree>
    <p:extLst>
      <p:ext uri="{BB962C8B-B14F-4D97-AF65-F5344CB8AC3E}">
        <p14:creationId xmlns:p14="http://schemas.microsoft.com/office/powerpoint/2010/main" val="1112631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C1A8-DB65-5816-42AD-ACAC7D617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C33AC-0C9A-6EFE-A250-8FE9956C91DD}"/>
              </a:ext>
            </a:extLst>
          </p:cNvPr>
          <p:cNvSpPr>
            <a:spLocks noGrp="1"/>
          </p:cNvSpPr>
          <p:nvPr>
            <p:ph type="title"/>
          </p:nvPr>
        </p:nvSpPr>
        <p:spPr/>
        <p:txBody>
          <a:bodyPr anchor="t">
            <a:normAutofit/>
          </a:bodyPr>
          <a:lstStyle/>
          <a:p>
            <a:r>
              <a:rPr lang="en-US" dirty="0"/>
              <a:t>Interrogating Our Correlations</a:t>
            </a:r>
          </a:p>
        </p:txBody>
      </p:sp>
      <p:graphicFrame>
        <p:nvGraphicFramePr>
          <p:cNvPr id="5" name="Content Placeholder 2">
            <a:extLst>
              <a:ext uri="{FF2B5EF4-FFF2-40B4-BE49-F238E27FC236}">
                <a16:creationId xmlns:a16="http://schemas.microsoft.com/office/drawing/2014/main" id="{FC6BC7C3-D2C2-9700-70B6-F1D3E728209E}"/>
              </a:ext>
            </a:extLst>
          </p:cNvPr>
          <p:cNvGraphicFramePr>
            <a:graphicFrameLocks noGrp="1"/>
          </p:cNvGraphicFramePr>
          <p:nvPr>
            <p:ph idx="4294967295"/>
            <p:extLst>
              <p:ext uri="{D42A27DB-BD31-4B8C-83A1-F6EECF244321}">
                <p14:modId xmlns:p14="http://schemas.microsoft.com/office/powerpoint/2010/main" val="2761407104"/>
              </p:ext>
            </p:extLst>
          </p:nvPr>
        </p:nvGraphicFramePr>
        <p:xfrm>
          <a:off x="1174750" y="1763486"/>
          <a:ext cx="10179050" cy="3594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6811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2152C56-68F0-59D1-124D-7C7ED21CC812}"/>
              </a:ext>
            </a:extLst>
          </p:cNvPr>
          <p:cNvSpPr>
            <a:spLocks noGrp="1"/>
          </p:cNvSpPr>
          <p:nvPr>
            <p:ph type="body" sz="quarter" idx="108"/>
          </p:nvPr>
        </p:nvSpPr>
        <p:spPr/>
        <p:txBody>
          <a:bodyPr/>
          <a:lstStyle/>
          <a:p>
            <a:r>
              <a:rPr lang="en-US" dirty="0"/>
              <a:t>For </a:t>
            </a:r>
            <a:r>
              <a:rPr lang="en-US" b="1" u="sng" dirty="0"/>
              <a:t>both</a:t>
            </a:r>
            <a:r>
              <a:rPr lang="en-US" dirty="0"/>
              <a:t> variables, you will ask things like…</a:t>
            </a:r>
          </a:p>
          <a:p>
            <a:pPr lvl="1"/>
            <a:r>
              <a:rPr lang="en-US" dirty="0"/>
              <a:t>How well was the variable measured?</a:t>
            </a:r>
          </a:p>
          <a:p>
            <a:pPr lvl="1"/>
            <a:r>
              <a:rPr lang="en-US" dirty="0"/>
              <a:t>Does the measure have good reliability?</a:t>
            </a:r>
          </a:p>
          <a:p>
            <a:pPr lvl="1"/>
            <a:r>
              <a:rPr lang="en-US" dirty="0"/>
              <a:t>Is it measuring what it’s intended to measure? (ex: criterion validity)</a:t>
            </a:r>
          </a:p>
          <a:p>
            <a:pPr lvl="1"/>
            <a:r>
              <a:rPr lang="en-US" dirty="0"/>
              <a:t>What is the evidence for its face validity?</a:t>
            </a:r>
          </a:p>
          <a:p>
            <a:pPr lvl="1"/>
            <a:r>
              <a:rPr lang="en-US" dirty="0"/>
              <a:t>What is the discriminant validity? Convergent validity?</a:t>
            </a:r>
          </a:p>
        </p:txBody>
      </p:sp>
      <p:sp>
        <p:nvSpPr>
          <p:cNvPr id="4" name="Title 3">
            <a:extLst>
              <a:ext uri="{FF2B5EF4-FFF2-40B4-BE49-F238E27FC236}">
                <a16:creationId xmlns:a16="http://schemas.microsoft.com/office/drawing/2014/main" id="{DFA27140-D774-A78D-3262-356E88C9B8BA}"/>
              </a:ext>
            </a:extLst>
          </p:cNvPr>
          <p:cNvSpPr>
            <a:spLocks noGrp="1"/>
          </p:cNvSpPr>
          <p:nvPr>
            <p:ph type="title"/>
          </p:nvPr>
        </p:nvSpPr>
        <p:spPr/>
        <p:txBody>
          <a:bodyPr/>
          <a:lstStyle/>
          <a:p>
            <a:r>
              <a:rPr lang="en-US" dirty="0"/>
              <a:t>Interrogating the Construct Validity</a:t>
            </a:r>
          </a:p>
        </p:txBody>
      </p:sp>
    </p:spTree>
    <p:extLst>
      <p:ext uri="{BB962C8B-B14F-4D97-AF65-F5344CB8AC3E}">
        <p14:creationId xmlns:p14="http://schemas.microsoft.com/office/powerpoint/2010/main" val="2141938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B8D68C-C8AD-756B-4A55-D2DD333F079E}"/>
              </a:ext>
            </a:extLst>
          </p:cNvPr>
          <p:cNvSpPr>
            <a:spLocks noGrp="1"/>
          </p:cNvSpPr>
          <p:nvPr>
            <p:ph type="body" sz="quarter" idx="108"/>
          </p:nvPr>
        </p:nvSpPr>
        <p:spPr/>
        <p:txBody>
          <a:bodyPr/>
          <a:lstStyle/>
          <a:p>
            <a:r>
              <a:rPr lang="en-US" dirty="0"/>
              <a:t>When interrogating the statistical validity, you will ask things like…</a:t>
            </a:r>
          </a:p>
          <a:p>
            <a:pPr lvl="1"/>
            <a:r>
              <a:rPr lang="en-US" dirty="0"/>
              <a:t>How strong is the relationship?</a:t>
            </a:r>
          </a:p>
          <a:p>
            <a:pPr lvl="1"/>
            <a:r>
              <a:rPr lang="en-US" dirty="0"/>
              <a:t>How precise is the estimate?</a:t>
            </a:r>
          </a:p>
          <a:p>
            <a:pPr lvl="1"/>
            <a:r>
              <a:rPr lang="en-US"/>
              <a:t>Could outliers be affecting the association?</a:t>
            </a:r>
            <a:endParaRPr lang="en-US" dirty="0"/>
          </a:p>
          <a:p>
            <a:pPr lvl="1"/>
            <a:r>
              <a:rPr lang="en-US" dirty="0"/>
              <a:t>If you repeated the experiment with a similar group, would the results replicate?</a:t>
            </a:r>
          </a:p>
          <a:p>
            <a:pPr lvl="1"/>
            <a:r>
              <a:rPr lang="en-US" dirty="0"/>
              <a:t>Is there restriction of range?</a:t>
            </a:r>
          </a:p>
          <a:p>
            <a:pPr lvl="1"/>
            <a:r>
              <a:rPr lang="en-US" dirty="0"/>
              <a:t>Is the association curvilinear?</a:t>
            </a:r>
          </a:p>
        </p:txBody>
      </p:sp>
      <p:sp>
        <p:nvSpPr>
          <p:cNvPr id="3" name="Title 2">
            <a:extLst>
              <a:ext uri="{FF2B5EF4-FFF2-40B4-BE49-F238E27FC236}">
                <a16:creationId xmlns:a16="http://schemas.microsoft.com/office/drawing/2014/main" id="{25E96F30-0F42-834D-F1A5-F30E659C1DC8}"/>
              </a:ext>
            </a:extLst>
          </p:cNvPr>
          <p:cNvSpPr>
            <a:spLocks noGrp="1"/>
          </p:cNvSpPr>
          <p:nvPr>
            <p:ph type="title"/>
          </p:nvPr>
        </p:nvSpPr>
        <p:spPr/>
        <p:txBody>
          <a:bodyPr/>
          <a:lstStyle/>
          <a:p>
            <a:r>
              <a:rPr lang="en-US" dirty="0"/>
              <a:t>Interrogating the Statistical Validity</a:t>
            </a:r>
          </a:p>
        </p:txBody>
      </p:sp>
    </p:spTree>
    <p:extLst>
      <p:ext uri="{BB962C8B-B14F-4D97-AF65-F5344CB8AC3E}">
        <p14:creationId xmlns:p14="http://schemas.microsoft.com/office/powerpoint/2010/main" val="2657577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CA0CDC-786D-6AAF-AF08-C381B6BDFD66}"/>
              </a:ext>
            </a:extLst>
          </p:cNvPr>
          <p:cNvSpPr>
            <a:spLocks noGrp="1"/>
          </p:cNvSpPr>
          <p:nvPr>
            <p:ph type="body" sz="quarter" idx="108"/>
          </p:nvPr>
        </p:nvSpPr>
        <p:spPr/>
        <p:txBody>
          <a:bodyPr/>
          <a:lstStyle/>
          <a:p>
            <a:r>
              <a:rPr lang="en-US" dirty="0"/>
              <a:t>Look at the scatterplot and the Pearson’s correlation</a:t>
            </a:r>
          </a:p>
          <a:p>
            <a:r>
              <a:rPr lang="en-US" dirty="0"/>
              <a:t>Look at the effect size (common option: Cohen’s </a:t>
            </a:r>
            <a:r>
              <a:rPr lang="en-US" i="1" dirty="0"/>
              <a:t>d</a:t>
            </a:r>
            <a:r>
              <a:rPr lang="en-US" dirty="0"/>
              <a:t>)</a:t>
            </a:r>
          </a:p>
          <a:p>
            <a:pPr lvl="1"/>
            <a:r>
              <a:rPr lang="en-US" dirty="0"/>
              <a:t>Larger effect size = larger impact of one variable on the other</a:t>
            </a:r>
          </a:p>
          <a:p>
            <a:pPr lvl="1"/>
            <a:r>
              <a:rPr lang="en-US" dirty="0"/>
              <a:t>While the goal is to have a larger effect, small effects can still be important, especially when combined across multiple observations (for example: cost of fuel)</a:t>
            </a:r>
          </a:p>
        </p:txBody>
      </p:sp>
      <p:sp>
        <p:nvSpPr>
          <p:cNvPr id="3" name="Title 2">
            <a:extLst>
              <a:ext uri="{FF2B5EF4-FFF2-40B4-BE49-F238E27FC236}">
                <a16:creationId xmlns:a16="http://schemas.microsoft.com/office/drawing/2014/main" id="{74650462-566F-B588-6B6E-67E8505ACEBA}"/>
              </a:ext>
            </a:extLst>
          </p:cNvPr>
          <p:cNvSpPr>
            <a:spLocks noGrp="1"/>
          </p:cNvSpPr>
          <p:nvPr>
            <p:ph type="title"/>
          </p:nvPr>
        </p:nvSpPr>
        <p:spPr/>
        <p:txBody>
          <a:bodyPr/>
          <a:lstStyle/>
          <a:p>
            <a:r>
              <a:rPr lang="en-US" dirty="0"/>
              <a:t>How Strong is the Relationship?</a:t>
            </a:r>
          </a:p>
        </p:txBody>
      </p:sp>
    </p:spTree>
    <p:extLst>
      <p:ext uri="{BB962C8B-B14F-4D97-AF65-F5344CB8AC3E}">
        <p14:creationId xmlns:p14="http://schemas.microsoft.com/office/powerpoint/2010/main" val="463975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6B87B6-7EA0-9193-9174-B8BB7D8118D7}"/>
              </a:ext>
            </a:extLst>
          </p:cNvPr>
          <p:cNvSpPr>
            <a:spLocks noGrp="1"/>
          </p:cNvSpPr>
          <p:nvPr>
            <p:ph type="body" sz="quarter" idx="108"/>
          </p:nvPr>
        </p:nvSpPr>
        <p:spPr/>
        <p:txBody>
          <a:bodyPr/>
          <a:lstStyle/>
          <a:p>
            <a:r>
              <a:rPr lang="en-US" b="1" dirty="0"/>
              <a:t>Margin of error</a:t>
            </a:r>
            <a:r>
              <a:rPr lang="en-US" dirty="0"/>
              <a:t> – the amount of wiggle room to either side of the point estimate</a:t>
            </a:r>
          </a:p>
          <a:p>
            <a:r>
              <a:rPr lang="en-US" b="1" dirty="0"/>
              <a:t>Confidence interval</a:t>
            </a:r>
            <a:r>
              <a:rPr lang="en-US" dirty="0"/>
              <a:t> – the range of values most likely to contain the true population value</a:t>
            </a:r>
          </a:p>
          <a:p>
            <a:r>
              <a:rPr lang="en-US" dirty="0"/>
              <a:t>If the mean is the point at the center of the circle, the margin of error is the radius, and the confidence interval is the diameter </a:t>
            </a:r>
          </a:p>
          <a:p>
            <a:r>
              <a:rPr lang="en-US" dirty="0"/>
              <a:t>Confidence Interval = Point Estimate ± Margin of Error</a:t>
            </a:r>
          </a:p>
        </p:txBody>
      </p:sp>
      <p:sp>
        <p:nvSpPr>
          <p:cNvPr id="3" name="Title 2">
            <a:extLst>
              <a:ext uri="{FF2B5EF4-FFF2-40B4-BE49-F238E27FC236}">
                <a16:creationId xmlns:a16="http://schemas.microsoft.com/office/drawing/2014/main" id="{2EDBE285-C6C3-5095-862B-3F21D23C3F2F}"/>
              </a:ext>
            </a:extLst>
          </p:cNvPr>
          <p:cNvSpPr>
            <a:spLocks noGrp="1"/>
          </p:cNvSpPr>
          <p:nvPr>
            <p:ph type="title"/>
          </p:nvPr>
        </p:nvSpPr>
        <p:spPr/>
        <p:txBody>
          <a:bodyPr/>
          <a:lstStyle/>
          <a:p>
            <a:r>
              <a:rPr lang="en-US" dirty="0"/>
              <a:t>How Precise is the Estimate?</a:t>
            </a:r>
          </a:p>
        </p:txBody>
      </p:sp>
      <p:pic>
        <p:nvPicPr>
          <p:cNvPr id="5" name="Picture 4">
            <a:extLst>
              <a:ext uri="{FF2B5EF4-FFF2-40B4-BE49-F238E27FC236}">
                <a16:creationId xmlns:a16="http://schemas.microsoft.com/office/drawing/2014/main" id="{E1A0495D-0F58-7998-CA40-958E5B7C8702}"/>
              </a:ext>
            </a:extLst>
          </p:cNvPr>
          <p:cNvPicPr>
            <a:picLocks noChangeAspect="1"/>
          </p:cNvPicPr>
          <p:nvPr/>
        </p:nvPicPr>
        <p:blipFill>
          <a:blip r:embed="rId3"/>
          <a:stretch>
            <a:fillRect/>
          </a:stretch>
        </p:blipFill>
        <p:spPr>
          <a:xfrm>
            <a:off x="2638105" y="4271864"/>
            <a:ext cx="7134808" cy="2378269"/>
          </a:xfrm>
          <a:prstGeom prst="rect">
            <a:avLst/>
          </a:prstGeom>
        </p:spPr>
      </p:pic>
    </p:spTree>
    <p:extLst>
      <p:ext uri="{BB962C8B-B14F-4D97-AF65-F5344CB8AC3E}">
        <p14:creationId xmlns:p14="http://schemas.microsoft.com/office/powerpoint/2010/main" val="1353966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6EEC2-2735-1F6D-37CC-603FE6E7AE8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FC9B1B71-B38A-96C9-02B1-DC7AE6789564}"/>
                  </a:ext>
                </a:extLst>
              </p:cNvPr>
              <p:cNvSpPr>
                <a:spLocks noGrp="1"/>
              </p:cNvSpPr>
              <p:nvPr>
                <p:ph type="body" sz="quarter" idx="108"/>
              </p:nvPr>
            </p:nvSpPr>
            <p:spPr/>
            <p:txBody>
              <a:bodyPr/>
              <a:lstStyle/>
              <a:p>
                <a:r>
                  <a:rPr lang="en-US" dirty="0"/>
                  <a:t>The margin of error is calculated by multiplying what we call a “critical value” (a specific z-score or t-score) by the standard error (which is the standard deviation divided by the square root of sample size)</a:t>
                </a:r>
              </a:p>
              <a:p>
                <a:pPr lvl="1"/>
                <a14:m>
                  <m:oMath xmlns:m="http://schemas.openxmlformats.org/officeDocument/2006/math">
                    <m:r>
                      <a:rPr lang="en-US" sz="2800" b="0" i="1" smtClean="0">
                        <a:latin typeface="Cambria Math" panose="02040503050406030204" pitchFamily="18" charset="0"/>
                      </a:rPr>
                      <m:t>𝑀𝑂𝐸</m:t>
                    </m:r>
                    <m:r>
                      <a:rPr lang="en-US" sz="2800" b="0" i="1" smtClean="0">
                        <a:latin typeface="Cambria Math" panose="02040503050406030204" pitchFamily="18" charset="0"/>
                      </a:rPr>
                      <m:t>=</m:t>
                    </m:r>
                    <m:r>
                      <a:rPr lang="en-US" sz="2800" b="0" i="1" smtClean="0">
                        <a:latin typeface="Cambria Math" panose="02040503050406030204" pitchFamily="18" charset="0"/>
                      </a:rPr>
                      <m:t>𝑍</m:t>
                    </m:r>
                    <m:r>
                      <a:rPr lang="en-US" sz="2800" b="0" i="1" smtClean="0">
                        <a:latin typeface="Cambria Math" panose="02040503050406030204" pitchFamily="18" charset="0"/>
                      </a:rPr>
                      <m:t> ∗ </m:t>
                    </m:r>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𝜎</m:t>
                        </m:r>
                      </m:num>
                      <m:den>
                        <m:rad>
                          <m:radPr>
                            <m:degHide m:val="on"/>
                            <m:ctrlPr>
                              <a:rPr lang="en-US" sz="2800" b="0" i="1" smtClean="0">
                                <a:latin typeface="Cambria Math" panose="02040503050406030204" pitchFamily="18" charset="0"/>
                              </a:rPr>
                            </m:ctrlPr>
                          </m:radPr>
                          <m:deg/>
                          <m:e>
                            <m:r>
                              <a:rPr lang="en-US" sz="2800" b="0" i="1" smtClean="0">
                                <a:latin typeface="Cambria Math" panose="02040503050406030204" pitchFamily="18" charset="0"/>
                              </a:rPr>
                              <m:t>𝑁</m:t>
                            </m:r>
                          </m:e>
                        </m:rad>
                      </m:den>
                    </m:f>
                  </m:oMath>
                </a14:m>
                <a:endParaRPr lang="en-US" dirty="0"/>
              </a:p>
              <a:p>
                <a:r>
                  <a:rPr lang="en-US" dirty="0"/>
                  <a:t>Remember back to when we talked about sample size impacting generalizability? The same concept applies to confidence intervals. A larger sample size (N) will make a smaller margin of error (therefore more precise)</a:t>
                </a:r>
              </a:p>
            </p:txBody>
          </p:sp>
        </mc:Choice>
        <mc:Fallback xmlns="">
          <p:sp>
            <p:nvSpPr>
              <p:cNvPr id="2" name="Text Placeholder 1">
                <a:extLst>
                  <a:ext uri="{FF2B5EF4-FFF2-40B4-BE49-F238E27FC236}">
                    <a16:creationId xmlns:a16="http://schemas.microsoft.com/office/drawing/2014/main" id="{FC9B1B71-B38A-96C9-02B1-DC7AE6789564}"/>
                  </a:ext>
                </a:extLst>
              </p:cNvPr>
              <p:cNvSpPr>
                <a:spLocks noGrp="1" noRot="1" noChangeAspect="1" noMove="1" noResize="1" noEditPoints="1" noAdjustHandles="1" noChangeArrowheads="1" noChangeShapeType="1" noTextEdit="1"/>
              </p:cNvSpPr>
              <p:nvPr>
                <p:ph type="body" sz="quarter" idx="108"/>
              </p:nvPr>
            </p:nvSpPr>
            <p:spPr>
              <a:blipFill>
                <a:blip r:embed="rId3"/>
                <a:stretch>
                  <a:fillRect l="-694" t="-98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177A98A-0B9C-8572-4DF8-9FAB3A95C058}"/>
              </a:ext>
            </a:extLst>
          </p:cNvPr>
          <p:cNvSpPr>
            <a:spLocks noGrp="1"/>
          </p:cNvSpPr>
          <p:nvPr>
            <p:ph type="title"/>
          </p:nvPr>
        </p:nvSpPr>
        <p:spPr/>
        <p:txBody>
          <a:bodyPr/>
          <a:lstStyle/>
          <a:p>
            <a:r>
              <a:rPr lang="en-US" dirty="0"/>
              <a:t>How Precise is the Estimate?</a:t>
            </a:r>
          </a:p>
        </p:txBody>
      </p:sp>
    </p:spTree>
    <p:extLst>
      <p:ext uri="{BB962C8B-B14F-4D97-AF65-F5344CB8AC3E}">
        <p14:creationId xmlns:p14="http://schemas.microsoft.com/office/powerpoint/2010/main" val="2026347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ED3DB-32B2-8A3E-FCD7-9C3452D1B5F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1AF85052-F1DD-8B41-9FE3-9B0DE6634583}"/>
                  </a:ext>
                </a:extLst>
              </p:cNvPr>
              <p:cNvSpPr>
                <a:spLocks noGrp="1"/>
              </p:cNvSpPr>
              <p:nvPr>
                <p:ph type="body" sz="quarter" idx="108"/>
              </p:nvPr>
            </p:nvSpPr>
            <p:spPr/>
            <p:txBody>
              <a:bodyPr/>
              <a:lstStyle/>
              <a:p>
                <a:r>
                  <a:rPr lang="en-US" dirty="0"/>
                  <a:t>For example, if we had a mean of 1, a critical </a:t>
                </a:r>
                <a:r>
                  <a:rPr lang="en-US" i="1" dirty="0"/>
                  <a:t>z</a:t>
                </a:r>
                <a:r>
                  <a:rPr lang="en-US" dirty="0"/>
                  <a:t>-score of 1, and a standard deviation of 1, and a sample size of 4 …</a:t>
                </a:r>
              </a:p>
              <a:p>
                <a:pPr lvl="1"/>
                <a14:m>
                  <m:oMath xmlns:m="http://schemas.openxmlformats.org/officeDocument/2006/math">
                    <m:r>
                      <a:rPr lang="en-US" sz="2400" b="0" i="1" smtClean="0">
                        <a:latin typeface="Cambria Math" panose="02040503050406030204" pitchFamily="18" charset="0"/>
                      </a:rPr>
                      <m:t>𝑀𝑂𝐸</m:t>
                    </m:r>
                    <m:r>
                      <a:rPr lang="en-US" sz="2400" b="0" i="1" smtClean="0">
                        <a:latin typeface="Cambria Math" panose="02040503050406030204" pitchFamily="18" charset="0"/>
                      </a:rPr>
                      <m:t>=</m:t>
                    </m:r>
                    <m:r>
                      <a:rPr lang="en-US" sz="2400" b="0" i="1" smtClean="0">
                        <a:latin typeface="Cambria Math" panose="02040503050406030204" pitchFamily="18" charset="0"/>
                      </a:rPr>
                      <m:t>𝑍</m:t>
                    </m:r>
                    <m:r>
                      <a:rPr lang="en-US" sz="2400" b="0" i="1" smtClean="0">
                        <a:latin typeface="Cambria Math" panose="02040503050406030204" pitchFamily="18" charset="0"/>
                      </a:rPr>
                      <m:t> ∗ </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𝑁</m:t>
                            </m:r>
                          </m:e>
                        </m:rad>
                      </m:den>
                    </m:f>
                    <m:r>
                      <a:rPr lang="en-US" sz="2400" i="1">
                        <a:latin typeface="Cambria Math" panose="02040503050406030204" pitchFamily="18" charset="0"/>
                      </a:rPr>
                      <m:t>=</m:t>
                    </m:r>
                    <m:r>
                      <a:rPr lang="en-US" sz="2400" b="0" i="1" smtClean="0">
                        <a:latin typeface="Cambria Math" panose="02040503050406030204" pitchFamily="18" charset="0"/>
                      </a:rPr>
                      <m:t>1</m:t>
                    </m:r>
                    <m:r>
                      <a:rPr lang="en-US" sz="2400" i="1">
                        <a:latin typeface="Cambria Math" panose="02040503050406030204" pitchFamily="18" charset="0"/>
                      </a:rPr>
                      <m:t> ∗ </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b="0" i="1" smtClean="0">
                                <a:latin typeface="Cambria Math" panose="02040503050406030204" pitchFamily="18" charset="0"/>
                              </a:rPr>
                              <m:t>4</m:t>
                            </m:r>
                          </m:e>
                        </m:rad>
                      </m:den>
                    </m:f>
                    <m:r>
                      <a:rPr lang="en-US" sz="2400" b="0" i="1" smtClean="0">
                        <a:latin typeface="Cambria Math" panose="02040503050406030204" pitchFamily="18" charset="0"/>
                      </a:rPr>
                      <m:t>=1</m:t>
                    </m:r>
                    <m:r>
                      <a:rPr lang="en-US" sz="2400" i="1">
                        <a:latin typeface="Cambria Math" panose="02040503050406030204" pitchFamily="18" charset="0"/>
                      </a:rPr>
                      <m:t> ∗ </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=0.5</m:t>
                    </m:r>
                  </m:oMath>
                </a14:m>
                <a:endParaRPr lang="en-US" dirty="0"/>
              </a:p>
              <a:p>
                <a:pPr lvl="1"/>
                <a:r>
                  <a:rPr lang="en-US" dirty="0"/>
                  <a:t>CI = 1 ± 0.5</a:t>
                </a:r>
              </a:p>
              <a:p>
                <a:pPr lvl="1"/>
                <a:r>
                  <a:rPr lang="en-US" dirty="0"/>
                  <a:t>1 – 0.5 = 0.5 and 1 + 0.5 = 1.5</a:t>
                </a:r>
              </a:p>
              <a:p>
                <a:pPr lvl="1"/>
                <a:r>
                  <a:rPr lang="en-US" dirty="0"/>
                  <a:t>CI = [0.5, 1.5]</a:t>
                </a:r>
              </a:p>
              <a:p>
                <a:r>
                  <a:rPr lang="en-US" dirty="0"/>
                  <a:t>If we left everything else the same and ONLY changed the sample size to 16…</a:t>
                </a:r>
              </a:p>
              <a:p>
                <a:pPr lvl="1"/>
                <a14:m>
                  <m:oMath xmlns:m="http://schemas.openxmlformats.org/officeDocument/2006/math">
                    <m:r>
                      <a:rPr lang="en-US" sz="2400" i="1">
                        <a:latin typeface="Cambria Math" panose="02040503050406030204" pitchFamily="18" charset="0"/>
                      </a:rPr>
                      <m:t>𝑀𝑂𝐸</m:t>
                    </m:r>
                    <m:r>
                      <a:rPr lang="en-US" sz="2400" i="1">
                        <a:latin typeface="Cambria Math" panose="02040503050406030204" pitchFamily="18" charset="0"/>
                      </a:rPr>
                      <m:t>=</m:t>
                    </m:r>
                    <m:r>
                      <a:rPr lang="en-US" sz="2400" i="1">
                        <a:latin typeface="Cambria Math" panose="02040503050406030204" pitchFamily="18" charset="0"/>
                      </a:rPr>
                      <m:t>𝑍</m:t>
                    </m:r>
                    <m:r>
                      <a:rPr lang="en-US" sz="2400" i="1">
                        <a:latin typeface="Cambria Math" panose="02040503050406030204" pitchFamily="18" charset="0"/>
                      </a:rPr>
                      <m:t> ∗ </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𝜎</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𝑁</m:t>
                            </m:r>
                          </m:e>
                        </m:rad>
                      </m:den>
                    </m:f>
                    <m:r>
                      <a:rPr lang="en-US" sz="2400" i="1">
                        <a:latin typeface="Cambria Math" panose="02040503050406030204" pitchFamily="18" charset="0"/>
                      </a:rPr>
                      <m:t>=1 ∗ </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b="0" i="1" smtClean="0">
                                <a:latin typeface="Cambria Math" panose="02040503050406030204" pitchFamily="18" charset="0"/>
                              </a:rPr>
                              <m:t>16</m:t>
                            </m:r>
                          </m:e>
                        </m:rad>
                      </m:den>
                    </m:f>
                    <m:r>
                      <a:rPr lang="en-US" sz="2400" i="1">
                        <a:latin typeface="Cambria Math" panose="02040503050406030204" pitchFamily="18" charset="0"/>
                      </a:rPr>
                      <m:t>=1 ∗ </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rPr>
                          <m:t>4</m:t>
                        </m:r>
                      </m:den>
                    </m:f>
                    <m:r>
                      <a:rPr lang="en-US" sz="2400" i="1">
                        <a:latin typeface="Cambria Math" panose="02040503050406030204" pitchFamily="18" charset="0"/>
                      </a:rPr>
                      <m:t>=0.</m:t>
                    </m:r>
                    <m:r>
                      <a:rPr lang="en-US" sz="2400" b="0" i="1" smtClean="0">
                        <a:latin typeface="Cambria Math" panose="02040503050406030204" pitchFamily="18" charset="0"/>
                      </a:rPr>
                      <m:t>2</m:t>
                    </m:r>
                    <m:r>
                      <a:rPr lang="en-US" sz="2400" i="1">
                        <a:latin typeface="Cambria Math" panose="02040503050406030204" pitchFamily="18" charset="0"/>
                      </a:rPr>
                      <m:t>5</m:t>
                    </m:r>
                  </m:oMath>
                </a14:m>
                <a:endParaRPr lang="en-US" dirty="0"/>
              </a:p>
              <a:p>
                <a:pPr lvl="1"/>
                <a:r>
                  <a:rPr lang="en-US" dirty="0"/>
                  <a:t>CI = 1 ± 0.25</a:t>
                </a:r>
              </a:p>
              <a:p>
                <a:pPr lvl="1"/>
                <a:r>
                  <a:rPr lang="en-US" dirty="0"/>
                  <a:t>1 – 0.25 = 0.75 and 1 + 0.25 = 1.25</a:t>
                </a:r>
              </a:p>
              <a:p>
                <a:pPr lvl="1"/>
                <a:r>
                  <a:rPr lang="en-US" dirty="0"/>
                  <a:t>CI = [0.75, 1.25]</a:t>
                </a:r>
              </a:p>
              <a:p>
                <a:endParaRPr lang="en-US" dirty="0"/>
              </a:p>
              <a:p>
                <a:endParaRPr lang="en-US" dirty="0"/>
              </a:p>
            </p:txBody>
          </p:sp>
        </mc:Choice>
        <mc:Fallback xmlns="">
          <p:sp>
            <p:nvSpPr>
              <p:cNvPr id="2" name="Text Placeholder 1">
                <a:extLst>
                  <a:ext uri="{FF2B5EF4-FFF2-40B4-BE49-F238E27FC236}">
                    <a16:creationId xmlns:a16="http://schemas.microsoft.com/office/drawing/2014/main" id="{1AF85052-F1DD-8B41-9FE3-9B0DE6634583}"/>
                  </a:ext>
                </a:extLst>
              </p:cNvPr>
              <p:cNvSpPr>
                <a:spLocks noGrp="1" noRot="1" noChangeAspect="1" noMove="1" noResize="1" noEditPoints="1" noAdjustHandles="1" noChangeArrowheads="1" noChangeShapeType="1" noTextEdit="1"/>
              </p:cNvSpPr>
              <p:nvPr>
                <p:ph type="body" sz="quarter" idx="108"/>
              </p:nvPr>
            </p:nvSpPr>
            <p:spPr>
              <a:blipFill>
                <a:blip r:embed="rId3"/>
                <a:stretch>
                  <a:fillRect l="-694" t="-982" r="-10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6F993E72-6484-E591-4184-7573DEC1F44B}"/>
              </a:ext>
            </a:extLst>
          </p:cNvPr>
          <p:cNvSpPr>
            <a:spLocks noGrp="1"/>
          </p:cNvSpPr>
          <p:nvPr>
            <p:ph type="title"/>
          </p:nvPr>
        </p:nvSpPr>
        <p:spPr/>
        <p:txBody>
          <a:bodyPr/>
          <a:lstStyle/>
          <a:p>
            <a:r>
              <a:rPr lang="en-US" dirty="0"/>
              <a:t>How Precise is the Estimate?</a:t>
            </a:r>
          </a:p>
        </p:txBody>
      </p:sp>
    </p:spTree>
    <p:extLst>
      <p:ext uri="{BB962C8B-B14F-4D97-AF65-F5344CB8AC3E}">
        <p14:creationId xmlns:p14="http://schemas.microsoft.com/office/powerpoint/2010/main" val="183042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079823-41D0-102B-8D8E-B763EF623918}"/>
              </a:ext>
            </a:extLst>
          </p:cNvPr>
          <p:cNvSpPr>
            <a:spLocks noGrp="1"/>
          </p:cNvSpPr>
          <p:nvPr>
            <p:ph type="body" sz="quarter" idx="108"/>
          </p:nvPr>
        </p:nvSpPr>
        <p:spPr/>
        <p:txBody>
          <a:bodyPr/>
          <a:lstStyle/>
          <a:p>
            <a:r>
              <a:rPr lang="en-US" dirty="0"/>
              <a:t>When looking at the confidence intervals for correlations, there are a couple things we will look at:</a:t>
            </a:r>
          </a:p>
          <a:p>
            <a:pPr lvl="1"/>
            <a:r>
              <a:rPr lang="en-US" dirty="0"/>
              <a:t>How narrow is the margin of error?</a:t>
            </a:r>
          </a:p>
          <a:p>
            <a:pPr lvl="1"/>
            <a:r>
              <a:rPr lang="en-US" dirty="0"/>
              <a:t>Does the confidence interval contain zero? (ex: CI = [-0.3, 0.4]</a:t>
            </a:r>
          </a:p>
          <a:p>
            <a:pPr lvl="2"/>
            <a:r>
              <a:rPr lang="en-US" dirty="0"/>
              <a:t>If it does contain zero, that means we can’t tell if there is a positive, negative, or no relationship (so the relationship is not precise enough to determine a real association)</a:t>
            </a:r>
          </a:p>
        </p:txBody>
      </p:sp>
      <p:sp>
        <p:nvSpPr>
          <p:cNvPr id="3" name="Title 2">
            <a:extLst>
              <a:ext uri="{FF2B5EF4-FFF2-40B4-BE49-F238E27FC236}">
                <a16:creationId xmlns:a16="http://schemas.microsoft.com/office/drawing/2014/main" id="{851F2B69-77DE-9A11-4649-FF69EBE5B503}"/>
              </a:ext>
            </a:extLst>
          </p:cNvPr>
          <p:cNvSpPr>
            <a:spLocks noGrp="1"/>
          </p:cNvSpPr>
          <p:nvPr>
            <p:ph type="title"/>
          </p:nvPr>
        </p:nvSpPr>
        <p:spPr/>
        <p:txBody>
          <a:bodyPr/>
          <a:lstStyle/>
          <a:p>
            <a:r>
              <a:rPr lang="en-US" dirty="0"/>
              <a:t>How Precise is the Estimate? </a:t>
            </a:r>
          </a:p>
        </p:txBody>
      </p:sp>
    </p:spTree>
    <p:extLst>
      <p:ext uri="{BB962C8B-B14F-4D97-AF65-F5344CB8AC3E}">
        <p14:creationId xmlns:p14="http://schemas.microsoft.com/office/powerpoint/2010/main" val="736469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F3C4F7-0A85-B463-653C-3303140269D7}"/>
              </a:ext>
            </a:extLst>
          </p:cNvPr>
          <p:cNvSpPr>
            <a:spLocks noGrp="1"/>
          </p:cNvSpPr>
          <p:nvPr>
            <p:ph type="body" sz="quarter" idx="108"/>
          </p:nvPr>
        </p:nvSpPr>
        <p:spPr>
          <a:xfrm>
            <a:off x="496389" y="1252729"/>
            <a:ext cx="3315448" cy="5522644"/>
          </a:xfrm>
        </p:spPr>
        <p:txBody>
          <a:bodyPr/>
          <a:lstStyle/>
          <a:p>
            <a:r>
              <a:rPr lang="en-US" dirty="0"/>
              <a:t>Outliers have the power to move the correlation, ESPECIALLY if the sample size is small</a:t>
            </a:r>
          </a:p>
        </p:txBody>
      </p:sp>
      <p:sp>
        <p:nvSpPr>
          <p:cNvPr id="3" name="Title 2">
            <a:extLst>
              <a:ext uri="{FF2B5EF4-FFF2-40B4-BE49-F238E27FC236}">
                <a16:creationId xmlns:a16="http://schemas.microsoft.com/office/drawing/2014/main" id="{706B9309-D930-3F20-F0F7-93333D8A259B}"/>
              </a:ext>
            </a:extLst>
          </p:cNvPr>
          <p:cNvSpPr>
            <a:spLocks noGrp="1"/>
          </p:cNvSpPr>
          <p:nvPr>
            <p:ph type="title"/>
          </p:nvPr>
        </p:nvSpPr>
        <p:spPr/>
        <p:txBody>
          <a:bodyPr/>
          <a:lstStyle/>
          <a:p>
            <a:r>
              <a:rPr lang="en-US" dirty="0"/>
              <a:t>Could Outliers Be Affecting the Association?</a:t>
            </a:r>
          </a:p>
        </p:txBody>
      </p:sp>
      <p:pic>
        <p:nvPicPr>
          <p:cNvPr id="5" name="Picture 4" descr="Figure 8.10 shows two scatterplots. Both scatterplots have the same x and y values. The x values are 0 to 5 and the y values are 0 to 16. The points on scatterplot A are close together with the exception of an outlier plotted at coordinates 4,15. Scatterplot B has the same points as scatterplot A, except with the former outlier now located at coordinates 4, 4, between two other data points.">
            <a:extLst>
              <a:ext uri="{FF2B5EF4-FFF2-40B4-BE49-F238E27FC236}">
                <a16:creationId xmlns:a16="http://schemas.microsoft.com/office/drawing/2014/main" id="{108E0470-2EEB-4F40-2930-F4650F1B6993}"/>
              </a:ext>
            </a:extLst>
          </p:cNvPr>
          <p:cNvPicPr>
            <a:picLocks noChangeAspect="1"/>
          </p:cNvPicPr>
          <p:nvPr/>
        </p:nvPicPr>
        <p:blipFill>
          <a:blip r:embed="rId3"/>
          <a:stretch>
            <a:fillRect/>
          </a:stretch>
        </p:blipFill>
        <p:spPr>
          <a:xfrm>
            <a:off x="4481920" y="1257619"/>
            <a:ext cx="7432711" cy="2311846"/>
          </a:xfrm>
          <a:prstGeom prst="rect">
            <a:avLst/>
          </a:prstGeom>
        </p:spPr>
      </p:pic>
      <p:pic>
        <p:nvPicPr>
          <p:cNvPr id="7" name="Picture 6" descr="Figure 8.11 shows two scatterplots. Both scatterplots have the same x and y values. The x values are 0 to 5 and the y values are 0 to 16.  The points on scatterplot A and B are similar, except that scatterplot A has an outlier at coordinates 4,15. In Scatterplot B, the former outlier is located at coordinates 4, 5, near other data points.">
            <a:extLst>
              <a:ext uri="{FF2B5EF4-FFF2-40B4-BE49-F238E27FC236}">
                <a16:creationId xmlns:a16="http://schemas.microsoft.com/office/drawing/2014/main" id="{1C2A5998-7668-1145-A0FF-F9E70F2F902B}"/>
              </a:ext>
            </a:extLst>
          </p:cNvPr>
          <p:cNvPicPr>
            <a:picLocks noChangeAspect="1"/>
          </p:cNvPicPr>
          <p:nvPr/>
        </p:nvPicPr>
        <p:blipFill>
          <a:blip r:embed="rId4"/>
          <a:stretch>
            <a:fillRect/>
          </a:stretch>
        </p:blipFill>
        <p:spPr>
          <a:xfrm>
            <a:off x="4481940" y="3930420"/>
            <a:ext cx="7448341" cy="2171381"/>
          </a:xfrm>
          <a:prstGeom prst="rect">
            <a:avLst/>
          </a:prstGeom>
        </p:spPr>
      </p:pic>
    </p:spTree>
    <p:extLst>
      <p:ext uri="{BB962C8B-B14F-4D97-AF65-F5344CB8AC3E}">
        <p14:creationId xmlns:p14="http://schemas.microsoft.com/office/powerpoint/2010/main" val="4218281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DC7D47-0C2D-7A9B-2D53-7C794ADB5FF8}"/>
              </a:ext>
            </a:extLst>
          </p:cNvPr>
          <p:cNvSpPr>
            <a:spLocks noGrp="1"/>
          </p:cNvSpPr>
          <p:nvPr>
            <p:ph type="body" sz="quarter" idx="108"/>
          </p:nvPr>
        </p:nvSpPr>
        <p:spPr>
          <a:xfrm>
            <a:off x="496389" y="1252729"/>
            <a:ext cx="4825664" cy="4974332"/>
          </a:xfrm>
        </p:spPr>
        <p:txBody>
          <a:bodyPr/>
          <a:lstStyle/>
          <a:p>
            <a:r>
              <a:rPr lang="en-US" dirty="0"/>
              <a:t>It is common to conduct multiple smaller studies, especially when developing something new to the field</a:t>
            </a:r>
          </a:p>
          <a:p>
            <a:r>
              <a:rPr lang="en-US" dirty="0"/>
              <a:t>Ex: Using Scheuler’s Super Savy Stats Scale to measure statistical knowledge across multiple semesters, to see if it is associated with class averages</a:t>
            </a:r>
          </a:p>
        </p:txBody>
      </p:sp>
      <p:sp>
        <p:nvSpPr>
          <p:cNvPr id="3" name="Title 2">
            <a:extLst>
              <a:ext uri="{FF2B5EF4-FFF2-40B4-BE49-F238E27FC236}">
                <a16:creationId xmlns:a16="http://schemas.microsoft.com/office/drawing/2014/main" id="{2E405B18-4F68-EB21-AA70-FD1D0F7BC8DF}"/>
              </a:ext>
            </a:extLst>
          </p:cNvPr>
          <p:cNvSpPr>
            <a:spLocks noGrp="1"/>
          </p:cNvSpPr>
          <p:nvPr>
            <p:ph type="title"/>
          </p:nvPr>
        </p:nvSpPr>
        <p:spPr/>
        <p:txBody>
          <a:bodyPr/>
          <a:lstStyle/>
          <a:p>
            <a:r>
              <a:rPr lang="en-US" dirty="0"/>
              <a:t>Has It Been Replicated?</a:t>
            </a:r>
          </a:p>
        </p:txBody>
      </p:sp>
      <p:pic>
        <p:nvPicPr>
          <p:cNvPr id="5" name="Picture 4" descr="Figure 8.9, titled multiple estimates of the association between substantive conversations and well-being, shows a plot with five estimates. The x axis ranges from negative .40 to .60, and the y axis is labeled with the five estimates from Milek et al.'s 2018 studies. Each estimate is depicted with a square representing the r value, and a horizontal line running through the square with wings on either side indicating the width of the 95% confidence interval. Study 1 (N equals 79) shows an estimate of approximately r equals .26 in the interval .04 to .45. Study 2a (N equals 50) shows an estimate of approximately r equals .19 in the interval negative .05 to .45. Study 2b (N equals 51) shows an estimate of approximately r equals negative .03 in the interval negative .35 to .22. Study 3 (N equals 184) shows an estimate of approximately r equals .21, in the interval .08 to .37. Study 4 (N equals 122) shows an estimate of approximately r equals .27, in the interval .12 to .43.">
            <a:extLst>
              <a:ext uri="{FF2B5EF4-FFF2-40B4-BE49-F238E27FC236}">
                <a16:creationId xmlns:a16="http://schemas.microsoft.com/office/drawing/2014/main" id="{04A1E400-3C02-EE36-40B5-9BF6FDC1D918}"/>
              </a:ext>
            </a:extLst>
          </p:cNvPr>
          <p:cNvPicPr>
            <a:picLocks noChangeAspect="1"/>
          </p:cNvPicPr>
          <p:nvPr/>
        </p:nvPicPr>
        <p:blipFill>
          <a:blip r:embed="rId3"/>
          <a:srcRect b="16966"/>
          <a:stretch/>
        </p:blipFill>
        <p:spPr>
          <a:xfrm>
            <a:off x="5322053" y="2959900"/>
            <a:ext cx="6754375" cy="3532974"/>
          </a:xfrm>
          <a:prstGeom prst="rect">
            <a:avLst/>
          </a:prstGeom>
        </p:spPr>
      </p:pic>
    </p:spTree>
    <p:extLst>
      <p:ext uri="{BB962C8B-B14F-4D97-AF65-F5344CB8AC3E}">
        <p14:creationId xmlns:p14="http://schemas.microsoft.com/office/powerpoint/2010/main" val="18097594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1BFE1E-C0FE-A3AB-1BC2-87B3B58B5A23}"/>
              </a:ext>
            </a:extLst>
          </p:cNvPr>
          <p:cNvSpPr>
            <a:spLocks noGrp="1"/>
          </p:cNvSpPr>
          <p:nvPr>
            <p:ph type="body" sz="quarter" idx="108"/>
          </p:nvPr>
        </p:nvSpPr>
        <p:spPr>
          <a:xfrm>
            <a:off x="496388" y="1252729"/>
            <a:ext cx="4097646" cy="5081970"/>
          </a:xfrm>
        </p:spPr>
        <p:txBody>
          <a:bodyPr/>
          <a:lstStyle/>
          <a:p>
            <a:r>
              <a:rPr lang="en-US" dirty="0"/>
              <a:t>Could we see different results if we expanded our range?</a:t>
            </a:r>
          </a:p>
          <a:p>
            <a:r>
              <a:rPr lang="en-US" dirty="0"/>
              <a:t>For example, consider SAT scores and college grades. If a university won’t accept anyone with an SAT below 1200, it could force the correlation to look different</a:t>
            </a:r>
          </a:p>
        </p:txBody>
      </p:sp>
      <p:sp>
        <p:nvSpPr>
          <p:cNvPr id="3" name="Title 2">
            <a:extLst>
              <a:ext uri="{FF2B5EF4-FFF2-40B4-BE49-F238E27FC236}">
                <a16:creationId xmlns:a16="http://schemas.microsoft.com/office/drawing/2014/main" id="{6E69FDDB-25BC-2364-44B3-D02DE7934EBC}"/>
              </a:ext>
            </a:extLst>
          </p:cNvPr>
          <p:cNvSpPr>
            <a:spLocks noGrp="1"/>
          </p:cNvSpPr>
          <p:nvPr>
            <p:ph type="title"/>
          </p:nvPr>
        </p:nvSpPr>
        <p:spPr/>
        <p:txBody>
          <a:bodyPr/>
          <a:lstStyle/>
          <a:p>
            <a:r>
              <a:rPr lang="en-US" dirty="0"/>
              <a:t>Is There Restriction of Range?</a:t>
            </a:r>
          </a:p>
        </p:txBody>
      </p:sp>
      <p:pic>
        <p:nvPicPr>
          <p:cNvPr id="5" name="Picture 4" descr="Figure 8.13 presents two scatterplots of college grades or G P A in relation to S A T scores. Scatterplot A shows the college grades for S A T scores between 1200 and 1600. This plot has a positive correlation and the points are spread apart. Scatterplot B shows college grades for S A T scores between 400 and 1600. This plot has a positive correlation, and there are fewer S A T scores between four hundred and twelve hundred than between twelve hundred and sixteen hundred.">
            <a:extLst>
              <a:ext uri="{FF2B5EF4-FFF2-40B4-BE49-F238E27FC236}">
                <a16:creationId xmlns:a16="http://schemas.microsoft.com/office/drawing/2014/main" id="{A03E4401-BD80-4477-94AF-6B8CAB35A352}"/>
              </a:ext>
            </a:extLst>
          </p:cNvPr>
          <p:cNvPicPr>
            <a:picLocks noChangeAspect="1"/>
          </p:cNvPicPr>
          <p:nvPr/>
        </p:nvPicPr>
        <p:blipFill>
          <a:blip r:embed="rId3"/>
          <a:stretch>
            <a:fillRect/>
          </a:stretch>
        </p:blipFill>
        <p:spPr>
          <a:xfrm>
            <a:off x="5233013" y="1166950"/>
            <a:ext cx="6352244" cy="5520072"/>
          </a:xfrm>
          <a:prstGeom prst="rect">
            <a:avLst/>
          </a:prstGeom>
        </p:spPr>
      </p:pic>
    </p:spTree>
    <p:extLst>
      <p:ext uri="{BB962C8B-B14F-4D97-AF65-F5344CB8AC3E}">
        <p14:creationId xmlns:p14="http://schemas.microsoft.com/office/powerpoint/2010/main" val="1957532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B6FD49-6393-A327-66B6-A722DFD50E9F}"/>
              </a:ext>
            </a:extLst>
          </p:cNvPr>
          <p:cNvSpPr>
            <a:spLocks noGrp="1"/>
          </p:cNvSpPr>
          <p:nvPr>
            <p:ph type="body" sz="quarter" idx="108"/>
          </p:nvPr>
        </p:nvSpPr>
        <p:spPr>
          <a:xfrm>
            <a:off x="496389" y="1252729"/>
            <a:ext cx="4042560" cy="4974332"/>
          </a:xfrm>
        </p:spPr>
        <p:txBody>
          <a:bodyPr/>
          <a:lstStyle/>
          <a:p>
            <a:r>
              <a:rPr lang="en-US" dirty="0"/>
              <a:t>If we only look at Pearson’s </a:t>
            </a:r>
            <a:r>
              <a:rPr lang="en-US" i="1" dirty="0"/>
              <a:t>r</a:t>
            </a:r>
            <a:r>
              <a:rPr lang="en-US" dirty="0"/>
              <a:t>, we might mistakenly assume that there is no relationship, when the scatterplot would show that there is a relationship, it’s just not linear</a:t>
            </a:r>
          </a:p>
        </p:txBody>
      </p:sp>
      <p:sp>
        <p:nvSpPr>
          <p:cNvPr id="3" name="Title 2">
            <a:extLst>
              <a:ext uri="{FF2B5EF4-FFF2-40B4-BE49-F238E27FC236}">
                <a16:creationId xmlns:a16="http://schemas.microsoft.com/office/drawing/2014/main" id="{83813B1A-4EFB-FC5E-6B17-3C2B8F300B8B}"/>
              </a:ext>
            </a:extLst>
          </p:cNvPr>
          <p:cNvSpPr>
            <a:spLocks noGrp="1"/>
          </p:cNvSpPr>
          <p:nvPr>
            <p:ph type="title"/>
          </p:nvPr>
        </p:nvSpPr>
        <p:spPr/>
        <p:txBody>
          <a:bodyPr/>
          <a:lstStyle/>
          <a:p>
            <a:r>
              <a:rPr lang="en-US" dirty="0"/>
              <a:t>Is the Association Curvilinear?</a:t>
            </a:r>
          </a:p>
        </p:txBody>
      </p:sp>
      <p:pic>
        <p:nvPicPr>
          <p:cNvPr id="5" name="Picture 4" descr="A graph shows enjoyment of haunted house and self rated fear. A best fit curve indicates a positive slope for 0 to 5 self rated fear, but then it tapers off and decreases slightly for 5 to 7.5 rated fear.">
            <a:extLst>
              <a:ext uri="{FF2B5EF4-FFF2-40B4-BE49-F238E27FC236}">
                <a16:creationId xmlns:a16="http://schemas.microsoft.com/office/drawing/2014/main" id="{595D4599-6EF2-433D-51AC-E15D4362F751}"/>
              </a:ext>
            </a:extLst>
          </p:cNvPr>
          <p:cNvPicPr>
            <a:picLocks noChangeAspect="1"/>
          </p:cNvPicPr>
          <p:nvPr/>
        </p:nvPicPr>
        <p:blipFill>
          <a:blip r:embed="rId3"/>
          <a:stretch>
            <a:fillRect/>
          </a:stretch>
        </p:blipFill>
        <p:spPr>
          <a:xfrm>
            <a:off x="5215611" y="1119822"/>
            <a:ext cx="6480000" cy="5240145"/>
          </a:xfrm>
          <a:prstGeom prst="rect">
            <a:avLst/>
          </a:prstGeom>
        </p:spPr>
      </p:pic>
    </p:spTree>
    <p:extLst>
      <p:ext uri="{BB962C8B-B14F-4D97-AF65-F5344CB8AC3E}">
        <p14:creationId xmlns:p14="http://schemas.microsoft.com/office/powerpoint/2010/main" val="281921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2E562B-0232-759E-AF7D-6529254BDCFB}"/>
              </a:ext>
            </a:extLst>
          </p:cNvPr>
          <p:cNvSpPr>
            <a:spLocks noGrp="1"/>
          </p:cNvSpPr>
          <p:nvPr>
            <p:ph type="body" sz="quarter" idx="108"/>
          </p:nvPr>
        </p:nvSpPr>
        <p:spPr>
          <a:xfrm>
            <a:off x="496388" y="1252729"/>
            <a:ext cx="10857411" cy="4974332"/>
          </a:xfrm>
        </p:spPr>
        <p:txBody>
          <a:bodyPr/>
          <a:lstStyle/>
          <a:p>
            <a:r>
              <a:rPr lang="en-US" dirty="0"/>
              <a:t>Think back to earlier in this lecture… </a:t>
            </a:r>
          </a:p>
          <a:p>
            <a:r>
              <a:rPr lang="en-US" dirty="0"/>
              <a:t>Why might it be difficult to evaluate internal validity with bivariate correlations?</a:t>
            </a:r>
          </a:p>
          <a:p>
            <a:r>
              <a:rPr lang="en-US" dirty="0"/>
              <a:t>Note: this is how we end up with spurious correlations</a:t>
            </a:r>
          </a:p>
          <a:p>
            <a:pPr lvl="1"/>
            <a:r>
              <a:rPr lang="en-US" dirty="0"/>
              <a:t>Note: For fun, see:  </a:t>
            </a:r>
            <a:r>
              <a:rPr lang="en-US" dirty="0">
                <a:hlinkClick r:id="rId3"/>
              </a:rPr>
              <a:t>https://www.tylervigen.com/spurious-correlations</a:t>
            </a:r>
            <a:r>
              <a:rPr lang="en-US" dirty="0"/>
              <a:t> </a:t>
            </a:r>
          </a:p>
        </p:txBody>
      </p:sp>
      <p:sp>
        <p:nvSpPr>
          <p:cNvPr id="3" name="Title 2">
            <a:extLst>
              <a:ext uri="{FF2B5EF4-FFF2-40B4-BE49-F238E27FC236}">
                <a16:creationId xmlns:a16="http://schemas.microsoft.com/office/drawing/2014/main" id="{65D3F3CC-57A3-2E42-965D-618F6790C7FD}"/>
              </a:ext>
            </a:extLst>
          </p:cNvPr>
          <p:cNvSpPr>
            <a:spLocks noGrp="1"/>
          </p:cNvSpPr>
          <p:nvPr>
            <p:ph type="title"/>
          </p:nvPr>
        </p:nvSpPr>
        <p:spPr/>
        <p:txBody>
          <a:bodyPr/>
          <a:lstStyle/>
          <a:p>
            <a:r>
              <a:rPr lang="en-US" dirty="0"/>
              <a:t>Interrogating the Internal Validity</a:t>
            </a:r>
          </a:p>
        </p:txBody>
      </p:sp>
      <p:pic>
        <p:nvPicPr>
          <p:cNvPr id="5" name="Graphic 4" descr="A linear line chart with years as the X-axis and two variables on the Y-axis. The first variable is Popularity of the 'first world problems' meme and the second variable is Google searches for 'zombies'.  The chart goes from 2006 to 2023, and the two variables track closely in value over that time.">
            <a:extLst>
              <a:ext uri="{FF2B5EF4-FFF2-40B4-BE49-F238E27FC236}">
                <a16:creationId xmlns:a16="http://schemas.microsoft.com/office/drawing/2014/main" id="{8487967F-5DB4-0184-7752-A8E5149DCF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88826" y="3020203"/>
            <a:ext cx="5306786" cy="3661682"/>
          </a:xfrm>
          <a:prstGeom prst="rect">
            <a:avLst/>
          </a:prstGeom>
        </p:spPr>
      </p:pic>
    </p:spTree>
    <p:extLst>
      <p:ext uri="{BB962C8B-B14F-4D97-AF65-F5344CB8AC3E}">
        <p14:creationId xmlns:p14="http://schemas.microsoft.com/office/powerpoint/2010/main" val="7905716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24D987-E793-9851-56CB-CA7B283C159D}"/>
              </a:ext>
            </a:extLst>
          </p:cNvPr>
          <p:cNvSpPr>
            <a:spLocks noGrp="1"/>
          </p:cNvSpPr>
          <p:nvPr>
            <p:ph type="body" sz="quarter" idx="108"/>
          </p:nvPr>
        </p:nvSpPr>
        <p:spPr/>
        <p:txBody>
          <a:bodyPr/>
          <a:lstStyle/>
          <a:p>
            <a:r>
              <a:rPr lang="en-US" dirty="0"/>
              <a:t>Pop quiz! Random ________________ is important for external validity</a:t>
            </a:r>
          </a:p>
          <a:p>
            <a:r>
              <a:rPr lang="en-US" dirty="0"/>
              <a:t>How much we care about the external validity for correlational research depends on the context</a:t>
            </a:r>
          </a:p>
          <a:p>
            <a:r>
              <a:rPr lang="en-US" dirty="0"/>
              <a:t>Just like third variables could impact internal validity, they could also impact external validity</a:t>
            </a:r>
          </a:p>
          <a:p>
            <a:pPr lvl="1"/>
            <a:r>
              <a:rPr lang="en-US" dirty="0"/>
              <a:t>We will get into these mediators and moderators more in the next chapter</a:t>
            </a:r>
          </a:p>
        </p:txBody>
      </p:sp>
      <p:sp>
        <p:nvSpPr>
          <p:cNvPr id="3" name="Title 2">
            <a:extLst>
              <a:ext uri="{FF2B5EF4-FFF2-40B4-BE49-F238E27FC236}">
                <a16:creationId xmlns:a16="http://schemas.microsoft.com/office/drawing/2014/main" id="{D3870F78-8FB9-F4D1-8430-C6A9827130D1}"/>
              </a:ext>
            </a:extLst>
          </p:cNvPr>
          <p:cNvSpPr>
            <a:spLocks noGrp="1"/>
          </p:cNvSpPr>
          <p:nvPr>
            <p:ph type="title"/>
          </p:nvPr>
        </p:nvSpPr>
        <p:spPr/>
        <p:txBody>
          <a:bodyPr/>
          <a:lstStyle/>
          <a:p>
            <a:r>
              <a:rPr lang="en-US" dirty="0"/>
              <a:t>Interrogating the External Validity?</a:t>
            </a:r>
          </a:p>
        </p:txBody>
      </p:sp>
    </p:spTree>
    <p:extLst>
      <p:ext uri="{BB962C8B-B14F-4D97-AF65-F5344CB8AC3E}">
        <p14:creationId xmlns:p14="http://schemas.microsoft.com/office/powerpoint/2010/main" val="144708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earch Methods PowerPoint Template" id="{686830E0-B0B3-4EA3-80EF-56D80DF1C852}" vid="{A74170DD-4976-48CF-B0A5-4C379B0B47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a7cd2ac-fcc1-473f-afe1-3dcd267d5ab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245B5271EE2142B482725BAA8B1869" ma:contentTypeVersion="10" ma:contentTypeDescription="Create a new document." ma:contentTypeScope="" ma:versionID="f1cfe03f77ad3ae8d1e620901e874987">
  <xsd:schema xmlns:xsd="http://www.w3.org/2001/XMLSchema" xmlns:xs="http://www.w3.org/2001/XMLSchema" xmlns:p="http://schemas.microsoft.com/office/2006/metadata/properties" xmlns:ns3="aa7cd2ac-fcc1-473f-afe1-3dcd267d5ab1" targetNamespace="http://schemas.microsoft.com/office/2006/metadata/properties" ma:root="true" ma:fieldsID="e14f2987a2decab48755e31a12e153b6" ns3:_="">
    <xsd:import namespace="aa7cd2ac-fcc1-473f-afe1-3dcd267d5ab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cd2ac-fcc1-473f-afe1-3dcd267d5ab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606FE1-1CE5-4690-93E4-B98A3E3FB743}">
  <ds:schemaRefs>
    <ds:schemaRef ds:uri="http://schemas.microsoft.com/sharepoint/v3/contenttype/forms"/>
  </ds:schemaRefs>
</ds:datastoreItem>
</file>

<file path=customXml/itemProps2.xml><?xml version="1.0" encoding="utf-8"?>
<ds:datastoreItem xmlns:ds="http://schemas.openxmlformats.org/officeDocument/2006/customXml" ds:itemID="{F2B576E7-7FD4-410C-B7E5-05F5AABCB4D9}">
  <ds:schemaRefs>
    <ds:schemaRef ds:uri="http://purl.org/dc/elements/1.1/"/>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purl.org/dc/terms/"/>
    <ds:schemaRef ds:uri="aa7cd2ac-fcc1-473f-afe1-3dcd267d5ab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DA1EECEA-41B6-4122-BFA0-9250238934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cd2ac-fcc1-473f-afe1-3dcd267d5a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Research Methods PowerPoint Template</Template>
  <TotalTime>2410</TotalTime>
  <Words>1535</Words>
  <Application>Microsoft Office PowerPoint</Application>
  <PresentationFormat>Widescreen</PresentationFormat>
  <Paragraphs>129</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Aptos Display</vt:lpstr>
      <vt:lpstr>Arial</vt:lpstr>
      <vt:lpstr>Britannic Bold</vt:lpstr>
      <vt:lpstr>Cambria Math</vt:lpstr>
      <vt:lpstr>Garamond</vt:lpstr>
      <vt:lpstr>Office Theme</vt:lpstr>
      <vt:lpstr>Chapter 8</vt:lpstr>
      <vt:lpstr>Agenda</vt:lpstr>
      <vt:lpstr>Bivariate Correlations</vt:lpstr>
      <vt:lpstr>Last Time(ish) on PSY 270… </vt:lpstr>
      <vt:lpstr>So… </vt:lpstr>
      <vt:lpstr>Bivariate Correlations</vt:lpstr>
      <vt:lpstr>Comparing Two Continuous Variables</vt:lpstr>
      <vt:lpstr>Comparing 1 Categorical &amp; 1 Continuous Variable</vt:lpstr>
      <vt:lpstr>Comparing 1 Categorical &amp; 1 Continuous Variable</vt:lpstr>
      <vt:lpstr>Comparing 1 Categorical &amp; 1 Continuous Variable</vt:lpstr>
      <vt:lpstr>A Quick Note on Reading Jitter/ Violin Plots</vt:lpstr>
      <vt:lpstr>But wait…</vt:lpstr>
      <vt:lpstr>Question for the class…</vt:lpstr>
      <vt:lpstr>Using Correlations to Look Into Causal Claims</vt:lpstr>
      <vt:lpstr>Interrogating the Validity of Bivariate Correlations</vt:lpstr>
      <vt:lpstr>Interrogating Our Correlations</vt:lpstr>
      <vt:lpstr>Interrogating the Construct Validity</vt:lpstr>
      <vt:lpstr>Interrogating the Statistical Validity</vt:lpstr>
      <vt:lpstr>How Strong is the Relationship?</vt:lpstr>
      <vt:lpstr>How Precise is the Estimate?</vt:lpstr>
      <vt:lpstr>How Precise is the Estimate?</vt:lpstr>
      <vt:lpstr>How Precise is the Estimate?</vt:lpstr>
      <vt:lpstr>How Precise is the Estimate? </vt:lpstr>
      <vt:lpstr>Could Outliers Be Affecting the Association?</vt:lpstr>
      <vt:lpstr>Has It Been Replicated?</vt:lpstr>
      <vt:lpstr>Is There Restriction of Range?</vt:lpstr>
      <vt:lpstr>Is the Association Curvilinear?</vt:lpstr>
      <vt:lpstr>Interrogating the Internal Validity</vt:lpstr>
      <vt:lpstr>Interrogating the External Validity?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Research Methods teaching template</dc:subject>
  <dc:creator>Bryanna Scheuler</dc:creator>
  <cp:lastModifiedBy>Bryanna Scheuler</cp:lastModifiedBy>
  <cp:revision>38</cp:revision>
  <dcterms:created xsi:type="dcterms:W3CDTF">2026-08-20T19:50:46Z</dcterms:created>
  <dcterms:modified xsi:type="dcterms:W3CDTF">2026-10-23T05:46:04Z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0x01010058245B5271EE2142B482725BAA8B1869</vt:lpwstr>
  </property>
</Properties>
</file>