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307" r:id="rId6"/>
    <p:sldId id="259" r:id="rId7"/>
    <p:sldId id="309" r:id="rId8"/>
    <p:sldId id="351" r:id="rId9"/>
    <p:sldId id="352" r:id="rId10"/>
    <p:sldId id="353" r:id="rId11"/>
    <p:sldId id="361" r:id="rId12"/>
    <p:sldId id="379" r:id="rId13"/>
    <p:sldId id="354" r:id="rId14"/>
    <p:sldId id="380" r:id="rId15"/>
    <p:sldId id="272" r:id="rId16"/>
    <p:sldId id="296" r:id="rId17"/>
    <p:sldId id="337" r:id="rId18"/>
    <p:sldId id="383" r:id="rId19"/>
    <p:sldId id="297" r:id="rId20"/>
    <p:sldId id="355" r:id="rId21"/>
    <p:sldId id="298" r:id="rId22"/>
    <p:sldId id="356" r:id="rId23"/>
    <p:sldId id="362" r:id="rId24"/>
    <p:sldId id="357" r:id="rId25"/>
    <p:sldId id="358" r:id="rId26"/>
    <p:sldId id="359" r:id="rId27"/>
    <p:sldId id="382" r:id="rId28"/>
    <p:sldId id="261"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64780" autoAdjust="0"/>
  </p:normalViewPr>
  <p:slideViewPr>
    <p:cSldViewPr snapToGrid="0" snapToObjects="1">
      <p:cViewPr varScale="1">
        <p:scale>
          <a:sx n="72" d="100"/>
          <a:sy n="72" d="100"/>
        </p:scale>
        <p:origin x="15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592741-3D01-4FDF-93A6-A362F72BEEA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83345F3C-ECB6-4DB6-A252-E036AA545096}">
      <dgm:prSet/>
      <dgm:spPr/>
      <dgm:t>
        <a:bodyPr/>
        <a:lstStyle/>
        <a:p>
          <a:r>
            <a:rPr lang="en-US"/>
            <a:t>Open-ended questions</a:t>
          </a:r>
        </a:p>
      </dgm:t>
    </dgm:pt>
    <dgm:pt modelId="{D6090C61-F4D8-42DF-A984-F9614D5F4F68}" type="parTrans" cxnId="{4A6AED9F-7ED5-4D6A-BE8D-3F980E79F21B}">
      <dgm:prSet/>
      <dgm:spPr/>
      <dgm:t>
        <a:bodyPr/>
        <a:lstStyle/>
        <a:p>
          <a:endParaRPr lang="en-US"/>
        </a:p>
      </dgm:t>
    </dgm:pt>
    <dgm:pt modelId="{2E28C8A0-BBF7-477B-9BB6-36716B6FB206}" type="sibTrans" cxnId="{4A6AED9F-7ED5-4D6A-BE8D-3F980E79F21B}">
      <dgm:prSet/>
      <dgm:spPr/>
      <dgm:t>
        <a:bodyPr/>
        <a:lstStyle/>
        <a:p>
          <a:endParaRPr lang="en-US"/>
        </a:p>
      </dgm:t>
    </dgm:pt>
    <dgm:pt modelId="{FC9D1AA9-17EE-4A50-8DA7-6BE57DEFDEDA}">
      <dgm:prSet/>
      <dgm:spPr/>
      <dgm:t>
        <a:bodyPr/>
        <a:lstStyle/>
        <a:p>
          <a:r>
            <a:rPr lang="en-US"/>
            <a:t>What do you think of this class?</a:t>
          </a:r>
        </a:p>
      </dgm:t>
    </dgm:pt>
    <dgm:pt modelId="{8758F19D-9912-4212-A193-A531FE5042A1}" type="parTrans" cxnId="{B587DAA5-83D1-497C-A205-6F2DE13CA17D}">
      <dgm:prSet/>
      <dgm:spPr/>
      <dgm:t>
        <a:bodyPr/>
        <a:lstStyle/>
        <a:p>
          <a:endParaRPr lang="en-US"/>
        </a:p>
      </dgm:t>
    </dgm:pt>
    <dgm:pt modelId="{5184CC08-4CC5-4F3C-B79D-A08D5E8A5AC4}" type="sibTrans" cxnId="{B587DAA5-83D1-497C-A205-6F2DE13CA17D}">
      <dgm:prSet/>
      <dgm:spPr/>
      <dgm:t>
        <a:bodyPr/>
        <a:lstStyle/>
        <a:p>
          <a:endParaRPr lang="en-US"/>
        </a:p>
      </dgm:t>
    </dgm:pt>
    <dgm:pt modelId="{D7993968-50EA-44D3-B0F4-93796EA71954}">
      <dgm:prSet/>
      <dgm:spPr/>
      <dgm:t>
        <a:bodyPr/>
        <a:lstStyle/>
        <a:p>
          <a:r>
            <a:rPr lang="en-US"/>
            <a:t>Forced-choice format</a:t>
          </a:r>
        </a:p>
      </dgm:t>
    </dgm:pt>
    <dgm:pt modelId="{01C6717A-C2BE-4F8B-A28A-9B9105F4D492}" type="parTrans" cxnId="{E8BD83E1-828C-4BA7-9D2F-1440BFABBDFD}">
      <dgm:prSet/>
      <dgm:spPr/>
      <dgm:t>
        <a:bodyPr/>
        <a:lstStyle/>
        <a:p>
          <a:endParaRPr lang="en-US"/>
        </a:p>
      </dgm:t>
    </dgm:pt>
    <dgm:pt modelId="{90146F0D-5A5D-481E-9C07-F25B21006219}" type="sibTrans" cxnId="{E8BD83E1-828C-4BA7-9D2F-1440BFABBDFD}">
      <dgm:prSet/>
      <dgm:spPr/>
      <dgm:t>
        <a:bodyPr/>
        <a:lstStyle/>
        <a:p>
          <a:endParaRPr lang="en-US"/>
        </a:p>
      </dgm:t>
    </dgm:pt>
    <dgm:pt modelId="{BF04087A-A32A-42F8-A4F0-A855AFC1EBA0}">
      <dgm:prSet/>
      <dgm:spPr/>
      <dgm:t>
        <a:bodyPr/>
        <a:lstStyle/>
        <a:p>
          <a:r>
            <a:rPr lang="en-US"/>
            <a:t>Do you like this class so far? Yes or No</a:t>
          </a:r>
        </a:p>
      </dgm:t>
    </dgm:pt>
    <dgm:pt modelId="{65DA6556-069E-42F4-A5AE-9BF53A850D9B}" type="parTrans" cxnId="{4A290AF6-9367-4D87-9CE5-F853A9152C77}">
      <dgm:prSet/>
      <dgm:spPr/>
      <dgm:t>
        <a:bodyPr/>
        <a:lstStyle/>
        <a:p>
          <a:endParaRPr lang="en-US"/>
        </a:p>
      </dgm:t>
    </dgm:pt>
    <dgm:pt modelId="{739446F0-82E8-4993-A0E4-3060B8896678}" type="sibTrans" cxnId="{4A290AF6-9367-4D87-9CE5-F853A9152C77}">
      <dgm:prSet/>
      <dgm:spPr/>
      <dgm:t>
        <a:bodyPr/>
        <a:lstStyle/>
        <a:p>
          <a:endParaRPr lang="en-US"/>
        </a:p>
      </dgm:t>
    </dgm:pt>
    <dgm:pt modelId="{CD873EAF-1C0A-4152-B01C-A358392962F8}">
      <dgm:prSet/>
      <dgm:spPr/>
      <dgm:t>
        <a:bodyPr/>
        <a:lstStyle/>
        <a:p>
          <a:r>
            <a:rPr lang="en-US"/>
            <a:t>Likert scale</a:t>
          </a:r>
        </a:p>
      </dgm:t>
    </dgm:pt>
    <dgm:pt modelId="{9F8F24E9-6451-4CB2-AA4B-D57262DC118B}" type="parTrans" cxnId="{74B0252A-92C0-476A-8FB9-028289F50477}">
      <dgm:prSet/>
      <dgm:spPr/>
      <dgm:t>
        <a:bodyPr/>
        <a:lstStyle/>
        <a:p>
          <a:endParaRPr lang="en-US"/>
        </a:p>
      </dgm:t>
    </dgm:pt>
    <dgm:pt modelId="{AC5697AE-39D8-4874-BF06-B1CD0FED6148}" type="sibTrans" cxnId="{74B0252A-92C0-476A-8FB9-028289F50477}">
      <dgm:prSet/>
      <dgm:spPr/>
      <dgm:t>
        <a:bodyPr/>
        <a:lstStyle/>
        <a:p>
          <a:endParaRPr lang="en-US"/>
        </a:p>
      </dgm:t>
    </dgm:pt>
    <dgm:pt modelId="{A42AE781-1ACD-4F82-BD9A-5628C459B157}">
      <dgm:prSet/>
      <dgm:spPr/>
      <dgm:t>
        <a:bodyPr/>
        <a:lstStyle/>
        <a:p>
          <a:r>
            <a:rPr lang="en-US" dirty="0"/>
            <a:t>Degree of agreement</a:t>
          </a:r>
        </a:p>
      </dgm:t>
    </dgm:pt>
    <dgm:pt modelId="{1260DAAE-4796-4AC0-BEEE-2EBC24229145}" type="parTrans" cxnId="{DBF31A8B-92FC-4855-87C1-DC06C38986BA}">
      <dgm:prSet/>
      <dgm:spPr/>
      <dgm:t>
        <a:bodyPr/>
        <a:lstStyle/>
        <a:p>
          <a:endParaRPr lang="en-US"/>
        </a:p>
      </dgm:t>
    </dgm:pt>
    <dgm:pt modelId="{231C0CE3-CB11-4DBD-8397-AEC5A87EF95A}" type="sibTrans" cxnId="{DBF31A8B-92FC-4855-87C1-DC06C38986BA}">
      <dgm:prSet/>
      <dgm:spPr/>
      <dgm:t>
        <a:bodyPr/>
        <a:lstStyle/>
        <a:p>
          <a:endParaRPr lang="en-US"/>
        </a:p>
      </dgm:t>
    </dgm:pt>
    <dgm:pt modelId="{403E457A-7C63-4346-B32C-F3F36B76879C}">
      <dgm:prSet/>
      <dgm:spPr/>
      <dgm:t>
        <a:bodyPr/>
        <a:lstStyle/>
        <a:p>
          <a:r>
            <a:rPr lang="en-US" dirty="0"/>
            <a:t>Semantic differential format</a:t>
          </a:r>
        </a:p>
      </dgm:t>
    </dgm:pt>
    <dgm:pt modelId="{3B500899-261E-4F86-A67D-FE82A529713B}" type="parTrans" cxnId="{49BC1768-F280-4F54-A205-3A9DB7812461}">
      <dgm:prSet/>
      <dgm:spPr/>
      <dgm:t>
        <a:bodyPr/>
        <a:lstStyle/>
        <a:p>
          <a:endParaRPr lang="en-US"/>
        </a:p>
      </dgm:t>
    </dgm:pt>
    <dgm:pt modelId="{207401D5-5678-41CD-B6AE-8BD625132E2F}" type="sibTrans" cxnId="{49BC1768-F280-4F54-A205-3A9DB7812461}">
      <dgm:prSet/>
      <dgm:spPr/>
      <dgm:t>
        <a:bodyPr/>
        <a:lstStyle/>
        <a:p>
          <a:endParaRPr lang="en-US"/>
        </a:p>
      </dgm:t>
    </dgm:pt>
    <dgm:pt modelId="{B8A8A8AD-ED56-48D0-99C9-20B4AF9B024E}">
      <dgm:prSet/>
      <dgm:spPr/>
      <dgm:t>
        <a:bodyPr/>
        <a:lstStyle/>
        <a:p>
          <a:r>
            <a:rPr lang="en-US" dirty="0"/>
            <a:t>How difficult is this class?</a:t>
          </a:r>
        </a:p>
      </dgm:t>
    </dgm:pt>
    <dgm:pt modelId="{6D0ED1F1-22EF-42F0-9C15-CECBE83AFCF3}" type="parTrans" cxnId="{B4D2F3D5-BBCF-4CDB-A467-8DFCF9CDA5D8}">
      <dgm:prSet/>
      <dgm:spPr/>
      <dgm:t>
        <a:bodyPr/>
        <a:lstStyle/>
        <a:p>
          <a:endParaRPr lang="en-US"/>
        </a:p>
      </dgm:t>
    </dgm:pt>
    <dgm:pt modelId="{4FBC47A3-CAE2-47E1-8271-2DDB252AC2EB}" type="sibTrans" cxnId="{B4D2F3D5-BBCF-4CDB-A467-8DFCF9CDA5D8}">
      <dgm:prSet/>
      <dgm:spPr/>
      <dgm:t>
        <a:bodyPr/>
        <a:lstStyle/>
        <a:p>
          <a:endParaRPr lang="en-US"/>
        </a:p>
      </dgm:t>
    </dgm:pt>
    <dgm:pt modelId="{A6035988-AE5F-47C0-BBFF-637E27B6C682}">
      <dgm:prSet/>
      <dgm:spPr/>
      <dgm:t>
        <a:bodyPr/>
        <a:lstStyle/>
        <a:p>
          <a:r>
            <a:rPr lang="en-US" dirty="0"/>
            <a:t>Easy 1 2 3 4 5 Hard</a:t>
          </a:r>
        </a:p>
      </dgm:t>
    </dgm:pt>
    <dgm:pt modelId="{04E66DCD-ECEC-48DB-9322-2AB26B17E7B8}" type="parTrans" cxnId="{719C9E0F-219B-4C36-BF22-05F3792F12D9}">
      <dgm:prSet/>
      <dgm:spPr/>
      <dgm:t>
        <a:bodyPr/>
        <a:lstStyle/>
        <a:p>
          <a:endParaRPr lang="en-US"/>
        </a:p>
      </dgm:t>
    </dgm:pt>
    <dgm:pt modelId="{C8FA3CF5-8F83-4DA9-8910-B8443785DB17}" type="sibTrans" cxnId="{719C9E0F-219B-4C36-BF22-05F3792F12D9}">
      <dgm:prSet/>
      <dgm:spPr/>
      <dgm:t>
        <a:bodyPr/>
        <a:lstStyle/>
        <a:p>
          <a:endParaRPr lang="en-US"/>
        </a:p>
      </dgm:t>
    </dgm:pt>
    <dgm:pt modelId="{428767AB-D899-4E9A-87DD-61CD9A4B4AB2}" type="pres">
      <dgm:prSet presAssocID="{CA592741-3D01-4FDF-93A6-A362F72BEEA4}" presName="linear" presStyleCnt="0">
        <dgm:presLayoutVars>
          <dgm:animLvl val="lvl"/>
          <dgm:resizeHandles val="exact"/>
        </dgm:presLayoutVars>
      </dgm:prSet>
      <dgm:spPr/>
    </dgm:pt>
    <dgm:pt modelId="{4F72533E-0658-4027-A722-89E2D8734CDF}" type="pres">
      <dgm:prSet presAssocID="{83345F3C-ECB6-4DB6-A252-E036AA545096}" presName="parentText" presStyleLbl="node1" presStyleIdx="0" presStyleCnt="4">
        <dgm:presLayoutVars>
          <dgm:chMax val="0"/>
          <dgm:bulletEnabled val="1"/>
        </dgm:presLayoutVars>
      </dgm:prSet>
      <dgm:spPr/>
    </dgm:pt>
    <dgm:pt modelId="{FA227646-0D56-424B-AC2D-A39E96ED3515}" type="pres">
      <dgm:prSet presAssocID="{83345F3C-ECB6-4DB6-A252-E036AA545096}" presName="childText" presStyleLbl="revTx" presStyleIdx="0" presStyleCnt="4">
        <dgm:presLayoutVars>
          <dgm:bulletEnabled val="1"/>
        </dgm:presLayoutVars>
      </dgm:prSet>
      <dgm:spPr/>
    </dgm:pt>
    <dgm:pt modelId="{941808E4-19CA-410A-B548-26D5DC4A89E7}" type="pres">
      <dgm:prSet presAssocID="{D7993968-50EA-44D3-B0F4-93796EA71954}" presName="parentText" presStyleLbl="node1" presStyleIdx="1" presStyleCnt="4">
        <dgm:presLayoutVars>
          <dgm:chMax val="0"/>
          <dgm:bulletEnabled val="1"/>
        </dgm:presLayoutVars>
      </dgm:prSet>
      <dgm:spPr/>
    </dgm:pt>
    <dgm:pt modelId="{EE34B442-1F8E-4213-843B-104B6476BD3F}" type="pres">
      <dgm:prSet presAssocID="{D7993968-50EA-44D3-B0F4-93796EA71954}" presName="childText" presStyleLbl="revTx" presStyleIdx="1" presStyleCnt="4">
        <dgm:presLayoutVars>
          <dgm:bulletEnabled val="1"/>
        </dgm:presLayoutVars>
      </dgm:prSet>
      <dgm:spPr/>
    </dgm:pt>
    <dgm:pt modelId="{AEF346D2-7277-4D1D-A9A3-B1849143968D}" type="pres">
      <dgm:prSet presAssocID="{CD873EAF-1C0A-4152-B01C-A358392962F8}" presName="parentText" presStyleLbl="node1" presStyleIdx="2" presStyleCnt="4">
        <dgm:presLayoutVars>
          <dgm:chMax val="0"/>
          <dgm:bulletEnabled val="1"/>
        </dgm:presLayoutVars>
      </dgm:prSet>
      <dgm:spPr/>
    </dgm:pt>
    <dgm:pt modelId="{1DED2C92-3A78-4EC9-A0E4-3AD7B2DD03FE}" type="pres">
      <dgm:prSet presAssocID="{CD873EAF-1C0A-4152-B01C-A358392962F8}" presName="childText" presStyleLbl="revTx" presStyleIdx="2" presStyleCnt="4">
        <dgm:presLayoutVars>
          <dgm:bulletEnabled val="1"/>
        </dgm:presLayoutVars>
      </dgm:prSet>
      <dgm:spPr/>
    </dgm:pt>
    <dgm:pt modelId="{39437042-C509-4824-9408-707CE7ED06A5}" type="pres">
      <dgm:prSet presAssocID="{403E457A-7C63-4346-B32C-F3F36B76879C}" presName="parentText" presStyleLbl="node1" presStyleIdx="3" presStyleCnt="4">
        <dgm:presLayoutVars>
          <dgm:chMax val="0"/>
          <dgm:bulletEnabled val="1"/>
        </dgm:presLayoutVars>
      </dgm:prSet>
      <dgm:spPr/>
    </dgm:pt>
    <dgm:pt modelId="{EA712A14-7F35-4A85-8AB4-3F2B29D39A33}" type="pres">
      <dgm:prSet presAssocID="{403E457A-7C63-4346-B32C-F3F36B76879C}" presName="childText" presStyleLbl="revTx" presStyleIdx="3" presStyleCnt="4">
        <dgm:presLayoutVars>
          <dgm:bulletEnabled val="1"/>
        </dgm:presLayoutVars>
      </dgm:prSet>
      <dgm:spPr/>
    </dgm:pt>
  </dgm:ptLst>
  <dgm:cxnLst>
    <dgm:cxn modelId="{719C9E0F-219B-4C36-BF22-05F3792F12D9}" srcId="{403E457A-7C63-4346-B32C-F3F36B76879C}" destId="{A6035988-AE5F-47C0-BBFF-637E27B6C682}" srcOrd="1" destOrd="0" parTransId="{04E66DCD-ECEC-48DB-9322-2AB26B17E7B8}" sibTransId="{C8FA3CF5-8F83-4DA9-8910-B8443785DB17}"/>
    <dgm:cxn modelId="{43060A12-12E0-4A9A-92C9-8207ACB9088F}" type="presOf" srcId="{BF04087A-A32A-42F8-A4F0-A855AFC1EBA0}" destId="{EE34B442-1F8E-4213-843B-104B6476BD3F}" srcOrd="0" destOrd="0" presId="urn:microsoft.com/office/officeart/2005/8/layout/vList2"/>
    <dgm:cxn modelId="{5B58821D-E5BE-407F-94A2-731D63D84238}" type="presOf" srcId="{A42AE781-1ACD-4F82-BD9A-5628C459B157}" destId="{1DED2C92-3A78-4EC9-A0E4-3AD7B2DD03FE}" srcOrd="0" destOrd="0" presId="urn:microsoft.com/office/officeart/2005/8/layout/vList2"/>
    <dgm:cxn modelId="{74B0252A-92C0-476A-8FB9-028289F50477}" srcId="{CA592741-3D01-4FDF-93A6-A362F72BEEA4}" destId="{CD873EAF-1C0A-4152-B01C-A358392962F8}" srcOrd="2" destOrd="0" parTransId="{9F8F24E9-6451-4CB2-AA4B-D57262DC118B}" sibTransId="{AC5697AE-39D8-4874-BF06-B1CD0FED6148}"/>
    <dgm:cxn modelId="{27865933-6018-4333-9C5E-7DDE638B0342}" type="presOf" srcId="{403E457A-7C63-4346-B32C-F3F36B76879C}" destId="{39437042-C509-4824-9408-707CE7ED06A5}" srcOrd="0" destOrd="0" presId="urn:microsoft.com/office/officeart/2005/8/layout/vList2"/>
    <dgm:cxn modelId="{0288BF3F-7730-4A42-88E5-90AC821A37C0}" type="presOf" srcId="{CA592741-3D01-4FDF-93A6-A362F72BEEA4}" destId="{428767AB-D899-4E9A-87DD-61CD9A4B4AB2}" srcOrd="0" destOrd="0" presId="urn:microsoft.com/office/officeart/2005/8/layout/vList2"/>
    <dgm:cxn modelId="{63B79D41-274E-4C23-BC85-9A97D923B532}" type="presOf" srcId="{D7993968-50EA-44D3-B0F4-93796EA71954}" destId="{941808E4-19CA-410A-B548-26D5DC4A89E7}" srcOrd="0" destOrd="0" presId="urn:microsoft.com/office/officeart/2005/8/layout/vList2"/>
    <dgm:cxn modelId="{49BC1768-F280-4F54-A205-3A9DB7812461}" srcId="{CA592741-3D01-4FDF-93A6-A362F72BEEA4}" destId="{403E457A-7C63-4346-B32C-F3F36B76879C}" srcOrd="3" destOrd="0" parTransId="{3B500899-261E-4F86-A67D-FE82A529713B}" sibTransId="{207401D5-5678-41CD-B6AE-8BD625132E2F}"/>
    <dgm:cxn modelId="{4BAC2F52-3D6C-498F-A785-3C6D8055843C}" type="presOf" srcId="{FC9D1AA9-17EE-4A50-8DA7-6BE57DEFDEDA}" destId="{FA227646-0D56-424B-AC2D-A39E96ED3515}" srcOrd="0" destOrd="0" presId="urn:microsoft.com/office/officeart/2005/8/layout/vList2"/>
    <dgm:cxn modelId="{474AC77C-02CD-42F7-A264-7C0CCCCBD3E8}" type="presOf" srcId="{A6035988-AE5F-47C0-BBFF-637E27B6C682}" destId="{EA712A14-7F35-4A85-8AB4-3F2B29D39A33}" srcOrd="0" destOrd="1" presId="urn:microsoft.com/office/officeart/2005/8/layout/vList2"/>
    <dgm:cxn modelId="{E9035186-2B0F-4A05-B035-4A0AC62C6C44}" type="presOf" srcId="{83345F3C-ECB6-4DB6-A252-E036AA545096}" destId="{4F72533E-0658-4027-A722-89E2D8734CDF}" srcOrd="0" destOrd="0" presId="urn:microsoft.com/office/officeart/2005/8/layout/vList2"/>
    <dgm:cxn modelId="{DBF31A8B-92FC-4855-87C1-DC06C38986BA}" srcId="{CD873EAF-1C0A-4152-B01C-A358392962F8}" destId="{A42AE781-1ACD-4F82-BD9A-5628C459B157}" srcOrd="0" destOrd="0" parTransId="{1260DAAE-4796-4AC0-BEEE-2EBC24229145}" sibTransId="{231C0CE3-CB11-4DBD-8397-AEC5A87EF95A}"/>
    <dgm:cxn modelId="{4A6AED9F-7ED5-4D6A-BE8D-3F980E79F21B}" srcId="{CA592741-3D01-4FDF-93A6-A362F72BEEA4}" destId="{83345F3C-ECB6-4DB6-A252-E036AA545096}" srcOrd="0" destOrd="0" parTransId="{D6090C61-F4D8-42DF-A984-F9614D5F4F68}" sibTransId="{2E28C8A0-BBF7-477B-9BB6-36716B6FB206}"/>
    <dgm:cxn modelId="{CA7642A1-9393-4442-8301-538EE552563F}" type="presOf" srcId="{CD873EAF-1C0A-4152-B01C-A358392962F8}" destId="{AEF346D2-7277-4D1D-A9A3-B1849143968D}" srcOrd="0" destOrd="0" presId="urn:microsoft.com/office/officeart/2005/8/layout/vList2"/>
    <dgm:cxn modelId="{B587DAA5-83D1-497C-A205-6F2DE13CA17D}" srcId="{83345F3C-ECB6-4DB6-A252-E036AA545096}" destId="{FC9D1AA9-17EE-4A50-8DA7-6BE57DEFDEDA}" srcOrd="0" destOrd="0" parTransId="{8758F19D-9912-4212-A193-A531FE5042A1}" sibTransId="{5184CC08-4CC5-4F3C-B79D-A08D5E8A5AC4}"/>
    <dgm:cxn modelId="{B4D2F3D5-BBCF-4CDB-A467-8DFCF9CDA5D8}" srcId="{403E457A-7C63-4346-B32C-F3F36B76879C}" destId="{B8A8A8AD-ED56-48D0-99C9-20B4AF9B024E}" srcOrd="0" destOrd="0" parTransId="{6D0ED1F1-22EF-42F0-9C15-CECBE83AFCF3}" sibTransId="{4FBC47A3-CAE2-47E1-8271-2DDB252AC2EB}"/>
    <dgm:cxn modelId="{E8BD83E1-828C-4BA7-9D2F-1440BFABBDFD}" srcId="{CA592741-3D01-4FDF-93A6-A362F72BEEA4}" destId="{D7993968-50EA-44D3-B0F4-93796EA71954}" srcOrd="1" destOrd="0" parTransId="{01C6717A-C2BE-4F8B-A28A-9B9105F4D492}" sibTransId="{90146F0D-5A5D-481E-9C07-F25B21006219}"/>
    <dgm:cxn modelId="{C915D1E4-2525-46C3-8CC5-5BF2759A6DDE}" type="presOf" srcId="{B8A8A8AD-ED56-48D0-99C9-20B4AF9B024E}" destId="{EA712A14-7F35-4A85-8AB4-3F2B29D39A33}" srcOrd="0" destOrd="0" presId="urn:microsoft.com/office/officeart/2005/8/layout/vList2"/>
    <dgm:cxn modelId="{4A290AF6-9367-4D87-9CE5-F853A9152C77}" srcId="{D7993968-50EA-44D3-B0F4-93796EA71954}" destId="{BF04087A-A32A-42F8-A4F0-A855AFC1EBA0}" srcOrd="0" destOrd="0" parTransId="{65DA6556-069E-42F4-A5AE-9BF53A850D9B}" sibTransId="{739446F0-82E8-4993-A0E4-3060B8896678}"/>
    <dgm:cxn modelId="{EAC18D4B-5C0A-465B-8C07-4484EBC8C631}" type="presParOf" srcId="{428767AB-D899-4E9A-87DD-61CD9A4B4AB2}" destId="{4F72533E-0658-4027-A722-89E2D8734CDF}" srcOrd="0" destOrd="0" presId="urn:microsoft.com/office/officeart/2005/8/layout/vList2"/>
    <dgm:cxn modelId="{9D691570-D0B0-4271-B6A2-709DF363A505}" type="presParOf" srcId="{428767AB-D899-4E9A-87DD-61CD9A4B4AB2}" destId="{FA227646-0D56-424B-AC2D-A39E96ED3515}" srcOrd="1" destOrd="0" presId="urn:microsoft.com/office/officeart/2005/8/layout/vList2"/>
    <dgm:cxn modelId="{15AFBA7F-86FD-4058-B437-A4774500692D}" type="presParOf" srcId="{428767AB-D899-4E9A-87DD-61CD9A4B4AB2}" destId="{941808E4-19CA-410A-B548-26D5DC4A89E7}" srcOrd="2" destOrd="0" presId="urn:microsoft.com/office/officeart/2005/8/layout/vList2"/>
    <dgm:cxn modelId="{7BE79C4D-8F7F-419F-A74C-72FE7B9E0B20}" type="presParOf" srcId="{428767AB-D899-4E9A-87DD-61CD9A4B4AB2}" destId="{EE34B442-1F8E-4213-843B-104B6476BD3F}" srcOrd="3" destOrd="0" presId="urn:microsoft.com/office/officeart/2005/8/layout/vList2"/>
    <dgm:cxn modelId="{2EEBA09B-918F-4F20-A4DE-6C73A70F7C01}" type="presParOf" srcId="{428767AB-D899-4E9A-87DD-61CD9A4B4AB2}" destId="{AEF346D2-7277-4D1D-A9A3-B1849143968D}" srcOrd="4" destOrd="0" presId="urn:microsoft.com/office/officeart/2005/8/layout/vList2"/>
    <dgm:cxn modelId="{BB81BCF2-8CC7-4157-A9F5-3056AD95FB7B}" type="presParOf" srcId="{428767AB-D899-4E9A-87DD-61CD9A4B4AB2}" destId="{1DED2C92-3A78-4EC9-A0E4-3AD7B2DD03FE}" srcOrd="5" destOrd="0" presId="urn:microsoft.com/office/officeart/2005/8/layout/vList2"/>
    <dgm:cxn modelId="{F375AB08-8F65-48C5-90AF-72569B05C13F}" type="presParOf" srcId="{428767AB-D899-4E9A-87DD-61CD9A4B4AB2}" destId="{39437042-C509-4824-9408-707CE7ED06A5}" srcOrd="6" destOrd="0" presId="urn:microsoft.com/office/officeart/2005/8/layout/vList2"/>
    <dgm:cxn modelId="{1658A50A-6C90-4CB6-A928-6A935614157B}" type="presParOf" srcId="{428767AB-D899-4E9A-87DD-61CD9A4B4AB2}" destId="{EA712A14-7F35-4A85-8AB4-3F2B29D39A33}"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72533E-0658-4027-A722-89E2D8734CDF}">
      <dsp:nvSpPr>
        <dsp:cNvPr id="0" name=""/>
        <dsp:cNvSpPr/>
      </dsp:nvSpPr>
      <dsp:spPr>
        <a:xfrm>
          <a:off x="0" y="36949"/>
          <a:ext cx="6157913" cy="6879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Open-ended questions</a:t>
          </a:r>
        </a:p>
      </dsp:txBody>
      <dsp:txXfrm>
        <a:off x="33583" y="70532"/>
        <a:ext cx="6090747" cy="620794"/>
      </dsp:txXfrm>
    </dsp:sp>
    <dsp:sp modelId="{FA227646-0D56-424B-AC2D-A39E96ED3515}">
      <dsp:nvSpPr>
        <dsp:cNvPr id="0" name=""/>
        <dsp:cNvSpPr/>
      </dsp:nvSpPr>
      <dsp:spPr>
        <a:xfrm>
          <a:off x="0" y="724910"/>
          <a:ext cx="6157913"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514"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What do you think of this class?</a:t>
          </a:r>
        </a:p>
      </dsp:txBody>
      <dsp:txXfrm>
        <a:off x="0" y="724910"/>
        <a:ext cx="6157913" cy="463680"/>
      </dsp:txXfrm>
    </dsp:sp>
    <dsp:sp modelId="{941808E4-19CA-410A-B548-26D5DC4A89E7}">
      <dsp:nvSpPr>
        <dsp:cNvPr id="0" name=""/>
        <dsp:cNvSpPr/>
      </dsp:nvSpPr>
      <dsp:spPr>
        <a:xfrm>
          <a:off x="0" y="1188590"/>
          <a:ext cx="6157913" cy="6879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Forced-choice format</a:t>
          </a:r>
        </a:p>
      </dsp:txBody>
      <dsp:txXfrm>
        <a:off x="33583" y="1222173"/>
        <a:ext cx="6090747" cy="620794"/>
      </dsp:txXfrm>
    </dsp:sp>
    <dsp:sp modelId="{EE34B442-1F8E-4213-843B-104B6476BD3F}">
      <dsp:nvSpPr>
        <dsp:cNvPr id="0" name=""/>
        <dsp:cNvSpPr/>
      </dsp:nvSpPr>
      <dsp:spPr>
        <a:xfrm>
          <a:off x="0" y="1876550"/>
          <a:ext cx="6157913"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514"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Do you like this class so far? Yes or No</a:t>
          </a:r>
        </a:p>
      </dsp:txBody>
      <dsp:txXfrm>
        <a:off x="0" y="1876550"/>
        <a:ext cx="6157913" cy="463680"/>
      </dsp:txXfrm>
    </dsp:sp>
    <dsp:sp modelId="{AEF346D2-7277-4D1D-A9A3-B1849143968D}">
      <dsp:nvSpPr>
        <dsp:cNvPr id="0" name=""/>
        <dsp:cNvSpPr/>
      </dsp:nvSpPr>
      <dsp:spPr>
        <a:xfrm>
          <a:off x="0" y="2340230"/>
          <a:ext cx="6157913" cy="6879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Likert scale</a:t>
          </a:r>
        </a:p>
      </dsp:txBody>
      <dsp:txXfrm>
        <a:off x="33583" y="2373813"/>
        <a:ext cx="6090747" cy="620794"/>
      </dsp:txXfrm>
    </dsp:sp>
    <dsp:sp modelId="{1DED2C92-3A78-4EC9-A0E4-3AD7B2DD03FE}">
      <dsp:nvSpPr>
        <dsp:cNvPr id="0" name=""/>
        <dsp:cNvSpPr/>
      </dsp:nvSpPr>
      <dsp:spPr>
        <a:xfrm>
          <a:off x="0" y="3028190"/>
          <a:ext cx="6157913"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514"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Degree of agreement</a:t>
          </a:r>
        </a:p>
      </dsp:txBody>
      <dsp:txXfrm>
        <a:off x="0" y="3028190"/>
        <a:ext cx="6157913" cy="463680"/>
      </dsp:txXfrm>
    </dsp:sp>
    <dsp:sp modelId="{39437042-C509-4824-9408-707CE7ED06A5}">
      <dsp:nvSpPr>
        <dsp:cNvPr id="0" name=""/>
        <dsp:cNvSpPr/>
      </dsp:nvSpPr>
      <dsp:spPr>
        <a:xfrm>
          <a:off x="0" y="3491870"/>
          <a:ext cx="6157913" cy="6879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Semantic differential format</a:t>
          </a:r>
        </a:p>
      </dsp:txBody>
      <dsp:txXfrm>
        <a:off x="33583" y="3525453"/>
        <a:ext cx="6090747" cy="620794"/>
      </dsp:txXfrm>
    </dsp:sp>
    <dsp:sp modelId="{EA712A14-7F35-4A85-8AB4-3F2B29D39A33}">
      <dsp:nvSpPr>
        <dsp:cNvPr id="0" name=""/>
        <dsp:cNvSpPr/>
      </dsp:nvSpPr>
      <dsp:spPr>
        <a:xfrm>
          <a:off x="0" y="4179830"/>
          <a:ext cx="6157913" cy="767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514"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How difficult is this class?</a:t>
          </a:r>
        </a:p>
        <a:p>
          <a:pPr marL="228600" lvl="1" indent="-228600" algn="l" defTabSz="977900">
            <a:lnSpc>
              <a:spcPct val="90000"/>
            </a:lnSpc>
            <a:spcBef>
              <a:spcPct val="0"/>
            </a:spcBef>
            <a:spcAft>
              <a:spcPct val="20000"/>
            </a:spcAft>
            <a:buChar char="•"/>
          </a:pPr>
          <a:r>
            <a:rPr lang="en-US" sz="2200" kern="1200" dirty="0"/>
            <a:t>Easy 1 2 3 4 5 Hard</a:t>
          </a:r>
        </a:p>
      </dsp:txBody>
      <dsp:txXfrm>
        <a:off x="0" y="4179830"/>
        <a:ext cx="6157913" cy="7679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874697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846519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243359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205253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CBEE6-DBB7-09B5-F22D-8483E36C1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96444-CB0A-0BDA-E19F-713BB28471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78FFD-D5E1-30E3-8ADA-E0A5E0EB63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531094-28BE-60F3-C782-519EEA6A119C}"/>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804402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E9A3D-301D-C00C-7795-41B477E02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F7126B-030D-A917-CCFC-DACD3DF8A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19098-89C0-F698-A145-CAD0E92BB9EF}"/>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7733A728-89A5-1C69-2AA8-B596010D2262}"/>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4781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4EDC-BC83-786A-0975-B41912459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BD6DB-5F04-777C-ED6E-69B2BB78B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2B6BD-4BFF-759E-AAAD-40FFAEF395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482A35-12EC-D702-E446-A4327BFACA08}"/>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84794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D06AD-7491-48BA-4469-F7357C589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B37B3-D88C-8B8E-6394-6B60B068D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9F723-C4D1-6FA5-47F5-281CCCE3D3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672211-5D01-3194-0537-09712E9F4B05}"/>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995103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7466-B82E-9956-199D-FFA803EC6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FC0C8-3B8F-1291-354B-167C5C4BE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FD289-C272-1A8B-F4F4-5B9848DB0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506F0B-4091-BD51-B229-D4BB93B478C2}"/>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37052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2106-7C83-E60E-5EC6-E1DE7F495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FBC80-8273-A13A-D0B9-DE0BB70D7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90B48-106E-81BB-E1A8-4D512334D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255C6B-0469-C5E1-1189-CE8A1483E2F8}"/>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919063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490113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03807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22295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691C6-B3DB-3038-BE12-E2FC673EC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B630E-E67A-EDFE-7CC9-DF6C4A101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E4CC3-217F-86CA-A685-0F91519E2D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8FCF2A-8C75-EE32-9E8C-A62DBFED61D0}"/>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58161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216182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83520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DC90-30A9-62C3-DEDC-FAE1B2F7D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B9BC0-D305-ED4F-50E5-1E66F37E9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49F61A-E55A-1F75-4822-E9434ACB84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58EB30-EED2-BF60-589D-6A72B3F95855}"/>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54700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6068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2652-2942-F63B-8EE4-4D6032813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67B73-7988-6F42-F286-FBFD9F1F2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89079-AE27-A2B4-5B3C-FBC21260EC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498C33-0716-7C27-E85D-D4F697A387CF}"/>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542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812390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07C26-3E1E-16B3-3D33-DBC8B5D80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78ED2-254A-98AF-F70F-A2A1ED5E9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1D0FE-FEFF-17BE-5F61-A59D7E84097A}"/>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3F54F301-D5C1-C630-CF17-3AFFCD7106B7}"/>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8199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508F6-4C5A-5BCC-5840-4BDE94EEB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2FAB0-9A83-BB1C-0CC5-074E59C04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C58B4-6ACA-A736-013D-926987EADE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29EFD3-B04F-582F-F0F1-DAA1E1E81117}"/>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090714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4872B-4483-7885-E9F4-32888876A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5E4BA-9AD7-661B-57F3-C1BC3A941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91766-8AC3-B73E-39DB-E2530F961F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89F80D-DEB3-E0C5-41A8-88A825284DEE}"/>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324096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761159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601201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normAutofit/>
          </a:bodyPr>
          <a:lstStyle>
            <a:lvl1pPr>
              <a:defRPr sz="32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Text Placeholder 5">
            <a:extLst>
              <a:ext uri="{FF2B5EF4-FFF2-40B4-BE49-F238E27FC236}">
                <a16:creationId xmlns:a16="http://schemas.microsoft.com/office/drawing/2014/main" id="{64618B05-C18C-4A3D-9DA2-FBF373BE54C4}"/>
              </a:ext>
            </a:extLst>
          </p:cNvPr>
          <p:cNvSpPr>
            <a:spLocks noGrp="1"/>
          </p:cNvSpPr>
          <p:nvPr>
            <p:ph type="body" sz="quarter" idx="12"/>
          </p:nvPr>
        </p:nvSpPr>
        <p:spPr>
          <a:xfrm>
            <a:off x="3987800" y="6673850"/>
            <a:ext cx="7315200" cy="160338"/>
          </a:xfrm>
        </p:spPr>
        <p:txBody>
          <a:bodyPr>
            <a:noAutofit/>
          </a:bodyPr>
          <a:lstStyle>
            <a:lvl1pPr algn="r">
              <a:defRPr sz="800"/>
            </a:lvl1pPr>
          </a:lstStyle>
          <a:p>
            <a:pPr lvl="0"/>
            <a:r>
              <a:rPr lang="en-US"/>
              <a:t>Click to edit Master text styles</a:t>
            </a:r>
          </a:p>
        </p:txBody>
      </p:sp>
      <p:sp>
        <p:nvSpPr>
          <p:cNvPr id="10" name="Text Placeholder 9">
            <a:extLst>
              <a:ext uri="{FF2B5EF4-FFF2-40B4-BE49-F238E27FC236}">
                <a16:creationId xmlns:a16="http://schemas.microsoft.com/office/drawing/2014/main" id="{7B7177C8-4702-4D0B-A3DF-D9A2B23B19AB}"/>
              </a:ext>
            </a:extLst>
          </p:cNvPr>
          <p:cNvSpPr>
            <a:spLocks noGrp="1"/>
          </p:cNvSpPr>
          <p:nvPr>
            <p:ph type="body" sz="quarter" idx="13"/>
          </p:nvPr>
        </p:nvSpPr>
        <p:spPr>
          <a:xfrm>
            <a:off x="3927475" y="6348414"/>
            <a:ext cx="4337051" cy="193675"/>
          </a:xfrm>
        </p:spPr>
        <p:txBody>
          <a:bodyPr anchor="ctr">
            <a:noAutofit/>
          </a:bodyPr>
          <a:lstStyle>
            <a:lvl1pPr algn="ctr">
              <a:defRPr sz="900"/>
            </a:lvl1pPr>
          </a:lstStyle>
          <a:p>
            <a:pPr lvl="0"/>
            <a:r>
              <a:rPr lang="en-US"/>
              <a:t>Click to edit Master text styles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16F4155F-77C3-4412-81E5-2AD0BD7DA5C1}" type="slidenum">
              <a:rPr lang="en-US" smtClean="0"/>
              <a:t>‹#›</a:t>
            </a:fld>
            <a:endParaRPr lang="en-US"/>
          </a:p>
        </p:txBody>
      </p:sp>
    </p:spTree>
    <p:extLst>
      <p:ext uri="{BB962C8B-B14F-4D97-AF65-F5344CB8AC3E}">
        <p14:creationId xmlns:p14="http://schemas.microsoft.com/office/powerpoint/2010/main" val="182150586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4521D7EE-3C93-41FB-A39B-E7EF2453623E}" type="datetimeFigureOut">
              <a:rPr lang="en-US" smtClean="0"/>
              <a:t>10/2/2026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16F4155F-77C3-4412-81E5-2AD0BD7DA5C1}"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033758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39"/>
        <p:cNvGrpSpPr/>
        <p:nvPr/>
      </p:nvGrpSpPr>
      <p:grpSpPr>
        <a:xfrm>
          <a:off x="0" y="0"/>
          <a:ext cx="0" cy="0"/>
          <a:chOff x="0" y="0"/>
          <a:chExt cx="0" cy="0"/>
        </a:xfrm>
      </p:grpSpPr>
      <p:sp>
        <p:nvSpPr>
          <p:cNvPr id="40" name="Google Shape;40;p30"/>
          <p:cNvSpPr txBox="1">
            <a:spLocks noGrp="1"/>
          </p:cNvSpPr>
          <p:nvPr>
            <p:ph type="title"/>
          </p:nvPr>
        </p:nvSpPr>
        <p:spPr>
          <a:xfrm>
            <a:off x="1568449" y="915988"/>
            <a:ext cx="9065683" cy="13033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0"/>
          <p:cNvSpPr txBox="1">
            <a:spLocks noGrp="1"/>
          </p:cNvSpPr>
          <p:nvPr>
            <p:ph type="body" idx="1"/>
          </p:nvPr>
        </p:nvSpPr>
        <p:spPr>
          <a:xfrm>
            <a:off x="1568449" y="2490788"/>
            <a:ext cx="9065683" cy="3444875"/>
          </a:xfrm>
          <a:prstGeom prst="rect">
            <a:avLst/>
          </a:prstGeom>
          <a:noFill/>
          <a:ln>
            <a:noFill/>
          </a:ln>
        </p:spPr>
        <p:txBody>
          <a:bodyPr spcFirstLastPara="1" wrap="square" lIns="91425" tIns="45700" rIns="91425" bIns="45700" anchor="t" anchorCtr="0">
            <a:no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42" name="Google Shape;42;p30"/>
          <p:cNvSpPr txBox="1">
            <a:spLocks noGrp="1"/>
          </p:cNvSpPr>
          <p:nvPr>
            <p:ph type="dt" idx="10"/>
          </p:nvPr>
        </p:nvSpPr>
        <p:spPr>
          <a:xfrm>
            <a:off x="8475133" y="5961062"/>
            <a:ext cx="1532467"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latin typeface="Garamond"/>
                <a:ea typeface="Garamond"/>
                <a:cs typeface="Garamond"/>
                <a:sym typeface="Garamo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1568449" y="5961062"/>
            <a:ext cx="68072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10107084" y="5961062"/>
            <a:ext cx="527049"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12774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F33A816C-0C56-4851-AC0D-B4A9E756F225}" type="datetimeFigureOut">
              <a:rPr lang="en-US" smtClean="0"/>
              <a:t>10/2/2026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4AAAA856-4423-4828-83BC-9DD5E742DAF8}" type="slidenum">
              <a:rPr lang="en-US" smtClean="0"/>
              <a:t>‹#›</a:t>
            </a:fld>
            <a:endParaRPr lang="en-US"/>
          </a:p>
        </p:txBody>
      </p:sp>
    </p:spTree>
    <p:extLst>
      <p:ext uri="{BB962C8B-B14F-4D97-AF65-F5344CB8AC3E}">
        <p14:creationId xmlns:p14="http://schemas.microsoft.com/office/powerpoint/2010/main" val="134975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3A816C-0C56-4851-AC0D-B4A9E756F225}"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AA856-4423-4828-83BC-9DD5E742DAF8}" type="slidenum">
              <a:rPr lang="en-US" smtClean="0"/>
              <a:t>‹#›</a:t>
            </a:fld>
            <a:endParaRPr lang="en-US"/>
          </a:p>
        </p:txBody>
      </p:sp>
    </p:spTree>
    <p:extLst>
      <p:ext uri="{BB962C8B-B14F-4D97-AF65-F5344CB8AC3E}">
        <p14:creationId xmlns:p14="http://schemas.microsoft.com/office/powerpoint/2010/main" val="55423889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 id="2147483660" r:id="rId10"/>
    <p:sldLayoutId id="2147483662" r:id="rId11"/>
    <p:sldLayoutId id="2147483663" r:id="rId12"/>
    <p:sldLayoutId id="2147483664" r:id="rId13"/>
    <p:sldLayoutId id="2147483665"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video" Target="https://www.youtube.com/embed/eFzGdQrr2K8?feature=oembed" TargetMode="External"/><Relationship Id="rId5" Type="http://schemas.openxmlformats.org/officeDocument/2006/relationships/image" Target="../media/image9.jpeg"/><Relationship Id="rId4" Type="http://schemas.openxmlformats.org/officeDocument/2006/relationships/hyperlink" Target="https://www.youtube.com/watch?v=eFzGdQrr2K8&amp;amp;list=PLZ9z-Af5ISavJpPlvdMU4T-etIDOUmldk&amp;amp;index=6&amp;amp;t=0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video" Target="https://www.youtube.com/embed/hAJlAuEo7Ac?feature=oembed" TargetMode="Externa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6</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Surveys and Observations</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CEFCDD-7672-8590-7B7B-38DF8E75ED5B}"/>
              </a:ext>
            </a:extLst>
          </p:cNvPr>
          <p:cNvSpPr>
            <a:spLocks noGrp="1"/>
          </p:cNvSpPr>
          <p:nvPr>
            <p:ph type="title"/>
          </p:nvPr>
        </p:nvSpPr>
        <p:spPr/>
        <p:txBody>
          <a:bodyPr/>
          <a:lstStyle/>
          <a:p>
            <a:r>
              <a:rPr lang="en-US" dirty="0"/>
              <a:t>Reminders</a:t>
            </a:r>
          </a:p>
        </p:txBody>
      </p:sp>
      <p:sp>
        <p:nvSpPr>
          <p:cNvPr id="5" name="Text Placeholder 4">
            <a:extLst>
              <a:ext uri="{FF2B5EF4-FFF2-40B4-BE49-F238E27FC236}">
                <a16:creationId xmlns:a16="http://schemas.microsoft.com/office/drawing/2014/main" id="{BE98EC41-D184-D865-D790-B7042169F5C2}"/>
              </a:ext>
            </a:extLst>
          </p:cNvPr>
          <p:cNvSpPr>
            <a:spLocks noGrp="1"/>
          </p:cNvSpPr>
          <p:nvPr>
            <p:ph type="body" sz="quarter" idx="106"/>
          </p:nvPr>
        </p:nvSpPr>
        <p:spPr>
          <a:xfrm>
            <a:off x="5525477" y="1542779"/>
            <a:ext cx="5721643" cy="4654550"/>
          </a:xfrm>
        </p:spPr>
        <p:txBody>
          <a:bodyPr/>
          <a:lstStyle/>
          <a:p>
            <a:r>
              <a:rPr lang="en-US" dirty="0"/>
              <a:t>Chapter 6 Assignments due September 7</a:t>
            </a:r>
            <a:r>
              <a:rPr lang="en-US" baseline="30000" dirty="0"/>
              <a:t>th</a:t>
            </a:r>
            <a:r>
              <a:rPr lang="en-US" dirty="0"/>
              <a:t> at 11:59 pm</a:t>
            </a:r>
          </a:p>
          <a:p>
            <a:pPr lvl="1"/>
            <a:r>
              <a:rPr lang="en-US" dirty="0" err="1"/>
              <a:t>Ebook</a:t>
            </a:r>
            <a:r>
              <a:rPr lang="en-US" dirty="0"/>
              <a:t>: Chapter 6</a:t>
            </a:r>
          </a:p>
          <a:p>
            <a:pPr lvl="1"/>
            <a:r>
              <a:rPr lang="en-US" dirty="0"/>
              <a:t>InQuizitive: Chapter 6</a:t>
            </a:r>
          </a:p>
          <a:p>
            <a:pPr lvl="1"/>
            <a:endParaRPr lang="en-US" dirty="0"/>
          </a:p>
        </p:txBody>
      </p:sp>
    </p:spTree>
    <p:extLst>
      <p:ext uri="{BB962C8B-B14F-4D97-AF65-F5344CB8AC3E}">
        <p14:creationId xmlns:p14="http://schemas.microsoft.com/office/powerpoint/2010/main" val="1035229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5155474" y="1542779"/>
            <a:ext cx="6296297" cy="4654550"/>
          </a:xfrm>
        </p:spPr>
        <p:txBody>
          <a:bodyPr/>
          <a:lstStyle/>
          <a:p>
            <a:r>
              <a:rPr lang="en-US" dirty="0"/>
              <a:t>Surveys and Polls</a:t>
            </a:r>
          </a:p>
          <a:p>
            <a:r>
              <a:rPr lang="en-US" dirty="0"/>
              <a:t>Observational Research</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4CE20E-280F-E1CB-E555-00E71A226F0F}"/>
              </a:ext>
            </a:extLst>
          </p:cNvPr>
          <p:cNvSpPr>
            <a:spLocks noGrp="1"/>
          </p:cNvSpPr>
          <p:nvPr>
            <p:ph type="title"/>
          </p:nvPr>
        </p:nvSpPr>
        <p:spPr/>
        <p:txBody>
          <a:bodyPr/>
          <a:lstStyle/>
          <a:p>
            <a:r>
              <a:rPr lang="en-US" dirty="0"/>
              <a:t>Construct Validity of Surveys and Polls</a:t>
            </a:r>
          </a:p>
        </p:txBody>
      </p:sp>
      <p:sp>
        <p:nvSpPr>
          <p:cNvPr id="2" name="Content Placeholder 1">
            <a:extLst>
              <a:ext uri="{FF2B5EF4-FFF2-40B4-BE49-F238E27FC236}">
                <a16:creationId xmlns:a16="http://schemas.microsoft.com/office/drawing/2014/main" id="{2D21EA8C-4BCE-8C6F-39C3-F58F7065828C}"/>
              </a:ext>
            </a:extLst>
          </p:cNvPr>
          <p:cNvSpPr>
            <a:spLocks noGrp="1"/>
          </p:cNvSpPr>
          <p:nvPr>
            <p:ph sz="quarter" idx="10"/>
          </p:nvPr>
        </p:nvSpPr>
        <p:spPr>
          <a:xfrm>
            <a:off x="5324274" y="3429000"/>
            <a:ext cx="6378575" cy="2062066"/>
          </a:xfrm>
        </p:spPr>
        <p:txBody>
          <a:bodyPr/>
          <a:lstStyle/>
          <a:p>
            <a:pPr marL="457200" indent="-457200" algn="l">
              <a:buFont typeface="Arial" panose="020B0604020202020204" pitchFamily="34" charset="0"/>
              <a:buChar char="•"/>
            </a:pPr>
            <a:r>
              <a:rPr lang="en-US" dirty="0"/>
              <a:t>Survey/poll</a:t>
            </a:r>
          </a:p>
          <a:p>
            <a:pPr marL="457200" indent="-457200" algn="l">
              <a:buFont typeface="Arial" panose="020B0604020202020204" pitchFamily="34" charset="0"/>
              <a:buChar char="•"/>
            </a:pPr>
            <a:r>
              <a:rPr lang="en-US" dirty="0"/>
              <a:t>Choosing question formats</a:t>
            </a:r>
          </a:p>
          <a:p>
            <a:pPr marL="457200" indent="-457200" algn="l">
              <a:buFont typeface="Arial" panose="020B0604020202020204" pitchFamily="34" charset="0"/>
              <a:buChar char="•"/>
            </a:pPr>
            <a:r>
              <a:rPr lang="en-US" dirty="0"/>
              <a:t>Writing well-worded questions</a:t>
            </a:r>
          </a:p>
          <a:p>
            <a:pPr marL="457200" indent="-457200" algn="l">
              <a:buFont typeface="Arial" panose="020B0604020202020204" pitchFamily="34" charset="0"/>
              <a:buChar char="•"/>
            </a:pPr>
            <a:r>
              <a:rPr lang="en-US" dirty="0"/>
              <a:t>Encouraging accurate responses</a:t>
            </a:r>
          </a:p>
        </p:txBody>
      </p:sp>
    </p:spTree>
    <p:extLst>
      <p:ext uri="{BB962C8B-B14F-4D97-AF65-F5344CB8AC3E}">
        <p14:creationId xmlns:p14="http://schemas.microsoft.com/office/powerpoint/2010/main" val="2579795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E5B11-8F7A-A0C7-5DA3-5B2C75450FC2}"/>
            </a:ext>
          </a:extLst>
        </p:cNvPr>
        <p:cNvGrpSpPr/>
        <p:nvPr/>
      </p:nvGrpSpPr>
      <p:grpSpPr>
        <a:xfrm>
          <a:off x="0" y="0"/>
          <a:ext cx="0" cy="0"/>
          <a:chOff x="0" y="0"/>
          <a:chExt cx="0" cy="0"/>
        </a:xfrm>
      </p:grpSpPr>
      <p:pic>
        <p:nvPicPr>
          <p:cNvPr id="5" name="Picture 4" descr="Pen placed on top of a signature line">
            <a:extLst>
              <a:ext uri="{FF2B5EF4-FFF2-40B4-BE49-F238E27FC236}">
                <a16:creationId xmlns:a16="http://schemas.microsoft.com/office/drawing/2014/main" id="{EBB71373-7711-955C-4485-19118550AF69}"/>
              </a:ext>
            </a:extLst>
          </p:cNvPr>
          <p:cNvPicPr>
            <a:picLocks noChangeAspect="1"/>
          </p:cNvPicPr>
          <p:nvPr/>
        </p:nvPicPr>
        <p:blipFill>
          <a:blip r:embed="rId3"/>
          <a:srcRect l="28407" r="-1" b="-1"/>
          <a:stretch>
            <a:fillRect/>
          </a:stretch>
        </p:blipFill>
        <p:spPr>
          <a:xfrm>
            <a:off x="7072604" y="2023668"/>
            <a:ext cx="5185098" cy="4834332"/>
          </a:xfrm>
          <a:prstGeom prst="rect">
            <a:avLst/>
          </a:prstGeom>
          <a:noFill/>
        </p:spPr>
      </p:pic>
      <p:sp>
        <p:nvSpPr>
          <p:cNvPr id="3" name="Content Placeholder 2">
            <a:extLst>
              <a:ext uri="{FF2B5EF4-FFF2-40B4-BE49-F238E27FC236}">
                <a16:creationId xmlns:a16="http://schemas.microsoft.com/office/drawing/2014/main" id="{0A6FB9E3-2E43-C9A0-40AB-A34475880392}"/>
              </a:ext>
            </a:extLst>
          </p:cNvPr>
          <p:cNvSpPr>
            <a:spLocks noGrp="1"/>
          </p:cNvSpPr>
          <p:nvPr>
            <p:ph type="body" sz="quarter" idx="108"/>
          </p:nvPr>
        </p:nvSpPr>
        <p:spPr>
          <a:xfrm>
            <a:off x="496388" y="1252729"/>
            <a:ext cx="6193661" cy="4974332"/>
          </a:xfrm>
        </p:spPr>
        <p:txBody>
          <a:bodyPr>
            <a:normAutofit/>
          </a:bodyPr>
          <a:lstStyle/>
          <a:p>
            <a:pPr marL="342900" indent="-342900">
              <a:spcBef>
                <a:spcPts val="1200"/>
              </a:spcBef>
              <a:buFont typeface="Arial" charset="0"/>
              <a:buChar char="•"/>
            </a:pPr>
            <a:r>
              <a:rPr lang="en-US" sz="2800" dirty="0"/>
              <a:t>Survey/poll</a:t>
            </a:r>
          </a:p>
          <a:p>
            <a:pPr lvl="1" indent="-342900">
              <a:spcBef>
                <a:spcPts val="1200"/>
              </a:spcBef>
              <a:buFont typeface="Arial" charset="0"/>
              <a:buChar char="•"/>
            </a:pPr>
            <a:r>
              <a:rPr lang="en-US" sz="2400" dirty="0"/>
              <a:t>A method of asking people questions face-to-face, on the phone, on written questionnaires, or online.</a:t>
            </a:r>
          </a:p>
          <a:p>
            <a:pPr lvl="1" indent="-342900">
              <a:spcBef>
                <a:spcPts val="1200"/>
              </a:spcBef>
              <a:buFont typeface="Arial" charset="0"/>
              <a:buChar char="•"/>
            </a:pPr>
            <a:r>
              <a:rPr lang="en-US" sz="2400" dirty="0"/>
              <a:t> Used interchangeably in this class</a:t>
            </a:r>
          </a:p>
        </p:txBody>
      </p:sp>
      <p:sp>
        <p:nvSpPr>
          <p:cNvPr id="2" name="Title 1">
            <a:extLst>
              <a:ext uri="{FF2B5EF4-FFF2-40B4-BE49-F238E27FC236}">
                <a16:creationId xmlns:a16="http://schemas.microsoft.com/office/drawing/2014/main" id="{73130EFB-F221-A14D-9DB0-D68C4D6F33EA}"/>
              </a:ext>
            </a:extLst>
          </p:cNvPr>
          <p:cNvSpPr>
            <a:spLocks noGrp="1"/>
          </p:cNvSpPr>
          <p:nvPr>
            <p:ph type="title"/>
          </p:nvPr>
        </p:nvSpPr>
        <p:spPr/>
        <p:txBody>
          <a:bodyPr anchor="b">
            <a:noAutofit/>
          </a:bodyPr>
          <a:lstStyle/>
          <a:p>
            <a:pPr>
              <a:lnSpc>
                <a:spcPct val="90000"/>
              </a:lnSpc>
            </a:pPr>
            <a:r>
              <a:rPr lang="en-US" sz="2400" dirty="0"/>
              <a:t>Surveys and Polls</a:t>
            </a:r>
          </a:p>
        </p:txBody>
      </p:sp>
    </p:spTree>
    <p:extLst>
      <p:ext uri="{BB962C8B-B14F-4D97-AF65-F5344CB8AC3E}">
        <p14:creationId xmlns:p14="http://schemas.microsoft.com/office/powerpoint/2010/main" val="1123872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7E674-3333-88E4-C978-9292F2635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4781F-CE57-26EA-D63B-A5ADFED2ACF0}"/>
              </a:ext>
            </a:extLst>
          </p:cNvPr>
          <p:cNvSpPr>
            <a:spLocks noGrp="1"/>
          </p:cNvSpPr>
          <p:nvPr>
            <p:ph type="title"/>
          </p:nvPr>
        </p:nvSpPr>
        <p:spPr/>
        <p:txBody>
          <a:bodyPr anchor="b">
            <a:normAutofit/>
          </a:bodyPr>
          <a:lstStyle/>
          <a:p>
            <a:r>
              <a:rPr lang="en-US" sz="2400" dirty="0"/>
              <a:t>Choosing Question Formats</a:t>
            </a:r>
          </a:p>
        </p:txBody>
      </p:sp>
      <p:graphicFrame>
        <p:nvGraphicFramePr>
          <p:cNvPr id="5" name="Content Placeholder 2">
            <a:extLst>
              <a:ext uri="{FF2B5EF4-FFF2-40B4-BE49-F238E27FC236}">
                <a16:creationId xmlns:a16="http://schemas.microsoft.com/office/drawing/2014/main" id="{CFF3287B-8922-D001-13C6-CF481275DB3B}"/>
              </a:ext>
            </a:extLst>
          </p:cNvPr>
          <p:cNvGraphicFramePr>
            <a:graphicFrameLocks noGrp="1"/>
          </p:cNvGraphicFramePr>
          <p:nvPr>
            <p:ph idx="4294967295"/>
            <p:extLst>
              <p:ext uri="{D42A27DB-BD31-4B8C-83A1-F6EECF244321}">
                <p14:modId xmlns:p14="http://schemas.microsoft.com/office/powerpoint/2010/main" val="2606833341"/>
              </p:ext>
            </p:extLst>
          </p:nvPr>
        </p:nvGraphicFramePr>
        <p:xfrm>
          <a:off x="1026367" y="1505143"/>
          <a:ext cx="6157913" cy="4984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728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1EFD0-69B9-AAFE-AB1F-2970E965D007}"/>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9A1015D-7B5F-E0C3-7D5D-209A2D053A82}"/>
              </a:ext>
            </a:extLst>
          </p:cNvPr>
          <p:cNvSpPr>
            <a:spLocks noGrp="1"/>
          </p:cNvSpPr>
          <p:nvPr>
            <p:ph type="body" sz="quarter" idx="108"/>
          </p:nvPr>
        </p:nvSpPr>
        <p:spPr/>
        <p:txBody>
          <a:bodyPr>
            <a:normAutofit/>
          </a:bodyPr>
          <a:lstStyle/>
          <a:p>
            <a:r>
              <a:rPr lang="en-US" sz="2800" dirty="0"/>
              <a:t>How fast do you think the car was going?</a:t>
            </a:r>
          </a:p>
        </p:txBody>
      </p:sp>
      <p:sp>
        <p:nvSpPr>
          <p:cNvPr id="2" name="Title 1">
            <a:extLst>
              <a:ext uri="{FF2B5EF4-FFF2-40B4-BE49-F238E27FC236}">
                <a16:creationId xmlns:a16="http://schemas.microsoft.com/office/drawing/2014/main" id="{1A31C88A-BFA5-A052-92AF-59378022533E}"/>
              </a:ext>
            </a:extLst>
          </p:cNvPr>
          <p:cNvSpPr>
            <a:spLocks noGrp="1"/>
          </p:cNvSpPr>
          <p:nvPr>
            <p:ph type="title"/>
          </p:nvPr>
        </p:nvSpPr>
        <p:spPr/>
        <p:txBody>
          <a:bodyPr anchor="ctr">
            <a:normAutofit/>
          </a:bodyPr>
          <a:lstStyle/>
          <a:p>
            <a:r>
              <a:rPr lang="en-US" dirty="0"/>
              <a:t>Writing Well-Worded Questions</a:t>
            </a:r>
            <a:r>
              <a:rPr kumimoji="0" lang="en-US" b="1" i="0" u="none" strike="noStrike" kern="1200" cap="none" spc="0" normalizeH="0" baseline="0" noProof="0" dirty="0">
                <a:ln>
                  <a:noFill/>
                </a:ln>
                <a:effectLst/>
                <a:uLnTx/>
                <a:uFillTx/>
              </a:rPr>
              <a:t> </a:t>
            </a:r>
            <a:endParaRPr lang="en-US" dirty="0"/>
          </a:p>
        </p:txBody>
      </p:sp>
      <p:pic>
        <p:nvPicPr>
          <p:cNvPr id="8" name="Picture 7">
            <a:extLst>
              <a:ext uri="{FF2B5EF4-FFF2-40B4-BE49-F238E27FC236}">
                <a16:creationId xmlns:a16="http://schemas.microsoft.com/office/drawing/2014/main" id="{78DD8F72-06BD-952D-3E97-89D771333D11}"/>
              </a:ext>
            </a:extLst>
          </p:cNvPr>
          <p:cNvPicPr>
            <a:picLocks noChangeAspect="1"/>
          </p:cNvPicPr>
          <p:nvPr/>
        </p:nvPicPr>
        <p:blipFill>
          <a:blip r:embed="rId3"/>
          <a:srcRect t="17395" b="15110"/>
          <a:stretch>
            <a:fillRect/>
          </a:stretch>
        </p:blipFill>
        <p:spPr>
          <a:xfrm>
            <a:off x="1251678" y="2579342"/>
            <a:ext cx="10483122" cy="3980078"/>
          </a:xfrm>
          <a:prstGeom prst="rect">
            <a:avLst/>
          </a:prstGeom>
          <a:noFill/>
        </p:spPr>
      </p:pic>
    </p:spTree>
    <p:extLst>
      <p:ext uri="{BB962C8B-B14F-4D97-AF65-F5344CB8AC3E}">
        <p14:creationId xmlns:p14="http://schemas.microsoft.com/office/powerpoint/2010/main" val="1384832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6CD8-57D1-A8BE-78DD-CD9CCE23D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55151-ABDF-6A64-A751-1AD6BE051D32}"/>
              </a:ext>
            </a:extLst>
          </p:cNvPr>
          <p:cNvSpPr>
            <a:spLocks noGrp="1"/>
          </p:cNvSpPr>
          <p:nvPr>
            <p:ph type="title"/>
          </p:nvPr>
        </p:nvSpPr>
        <p:spPr/>
        <p:txBody>
          <a:bodyPr anchor="t">
            <a:normAutofit/>
          </a:bodyPr>
          <a:lstStyle/>
          <a:p>
            <a:r>
              <a:rPr lang="en-US" dirty="0"/>
              <a:t>Writing Well-Worded Questions</a:t>
            </a:r>
            <a:r>
              <a:rPr kumimoji="0" lang="en-US" b="1" i="0" u="none" strike="noStrike" kern="1200" cap="none" spc="0" normalizeH="0" baseline="0" noProof="0" dirty="0">
                <a:ln>
                  <a:noFill/>
                </a:ln>
                <a:effectLst/>
                <a:uLnTx/>
                <a:uFillTx/>
              </a:rPr>
              <a:t> </a:t>
            </a:r>
            <a:endParaRPr lang="en-US" dirty="0"/>
          </a:p>
        </p:txBody>
      </p:sp>
      <p:pic>
        <p:nvPicPr>
          <p:cNvPr id="4" name="Picture 3" descr="A table titled, Question wording matters. Detailed table information is available in the accessible content.">
            <a:extLst>
              <a:ext uri="{FF2B5EF4-FFF2-40B4-BE49-F238E27FC236}">
                <a16:creationId xmlns:a16="http://schemas.microsoft.com/office/drawing/2014/main" id="{B704CA50-F2F2-1170-B69E-17FF9F516805}"/>
              </a:ext>
            </a:extLst>
          </p:cNvPr>
          <p:cNvPicPr>
            <a:picLocks noChangeAspect="1"/>
          </p:cNvPicPr>
          <p:nvPr/>
        </p:nvPicPr>
        <p:blipFill>
          <a:blip r:embed="rId3"/>
          <a:stretch>
            <a:fillRect/>
          </a:stretch>
        </p:blipFill>
        <p:spPr>
          <a:xfrm>
            <a:off x="1251678" y="1632204"/>
            <a:ext cx="10377346" cy="4228769"/>
          </a:xfrm>
          <a:prstGeom prst="rect">
            <a:avLst/>
          </a:prstGeom>
          <a:noFill/>
        </p:spPr>
      </p:pic>
    </p:spTree>
    <p:extLst>
      <p:ext uri="{BB962C8B-B14F-4D97-AF65-F5344CB8AC3E}">
        <p14:creationId xmlns:p14="http://schemas.microsoft.com/office/powerpoint/2010/main" val="1848949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A0E97-00C1-A9E4-FC84-CB93611C0C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CBA9B-5DB7-2E7A-BE65-79337A770E7A}"/>
              </a:ext>
            </a:extLst>
          </p:cNvPr>
          <p:cNvSpPr>
            <a:spLocks noGrp="1"/>
          </p:cNvSpPr>
          <p:nvPr>
            <p:ph type="body" sz="quarter" idx="108"/>
          </p:nvPr>
        </p:nvSpPr>
        <p:spPr/>
        <p:txBody>
          <a:bodyPr>
            <a:normAutofit/>
          </a:bodyPr>
          <a:lstStyle/>
          <a:p>
            <a:pPr marL="342900" lvl="1" indent="-342900">
              <a:spcBef>
                <a:spcPts val="1200"/>
              </a:spcBef>
              <a:buFont typeface="Arial" charset="0"/>
              <a:buChar char="•"/>
            </a:pPr>
            <a:r>
              <a:rPr lang="en-US" sz="2800" dirty="0"/>
              <a:t>Double-barreled question</a:t>
            </a:r>
          </a:p>
          <a:p>
            <a:pPr marL="1028700" lvl="1" indent="-457200">
              <a:spcBef>
                <a:spcPts val="1200"/>
              </a:spcBef>
              <a:buFont typeface="Courier New" panose="02070309020205020404" pitchFamily="49" charset="0"/>
              <a:buChar char="o"/>
            </a:pPr>
            <a:r>
              <a:rPr lang="en-US" sz="2800" dirty="0"/>
              <a:t>Do you enjoy swimming and wearing sunscreen?</a:t>
            </a:r>
          </a:p>
          <a:p>
            <a:pPr marL="342900" lvl="1" indent="-342900">
              <a:spcBef>
                <a:spcPts val="1200"/>
              </a:spcBef>
              <a:buFont typeface="Arial" charset="0"/>
              <a:buChar char="•"/>
            </a:pPr>
            <a:endParaRPr lang="en-US" sz="2800" dirty="0"/>
          </a:p>
          <a:p>
            <a:pPr marL="342900" lvl="1" indent="-342900">
              <a:spcBef>
                <a:spcPts val="1200"/>
              </a:spcBef>
              <a:buFont typeface="Arial" charset="0"/>
              <a:buChar char="•"/>
            </a:pPr>
            <a:r>
              <a:rPr lang="en-US" sz="2800" dirty="0"/>
              <a:t>Negatively worded question</a:t>
            </a:r>
          </a:p>
          <a:p>
            <a:pPr marL="1028700" lvl="1" indent="-457200">
              <a:spcBef>
                <a:spcPts val="1200"/>
              </a:spcBef>
              <a:buFont typeface="Courier New" panose="02070309020205020404" pitchFamily="49" charset="0"/>
              <a:buChar char="o"/>
            </a:pPr>
            <a:r>
              <a:rPr lang="en-US" sz="2800" dirty="0"/>
              <a:t>People who do not drive with a suspended license should never be punished.</a:t>
            </a:r>
          </a:p>
          <a:p>
            <a:pPr marL="1428750" lvl="2" indent="-457200">
              <a:spcBef>
                <a:spcPts val="1200"/>
              </a:spcBef>
              <a:buFont typeface="Courier New" panose="02070309020205020404" pitchFamily="49" charset="0"/>
              <a:buChar char="o"/>
            </a:pPr>
            <a:r>
              <a:rPr lang="en-US" sz="2600" dirty="0"/>
              <a:t>Disagree   1   2   3   4   5  Agree</a:t>
            </a:r>
          </a:p>
        </p:txBody>
      </p:sp>
      <p:sp>
        <p:nvSpPr>
          <p:cNvPr id="2" name="Title 1">
            <a:extLst>
              <a:ext uri="{FF2B5EF4-FFF2-40B4-BE49-F238E27FC236}">
                <a16:creationId xmlns:a16="http://schemas.microsoft.com/office/drawing/2014/main" id="{1907F49E-E620-437E-5058-66BAA75D4697}"/>
              </a:ext>
            </a:extLst>
          </p:cNvPr>
          <p:cNvSpPr>
            <a:spLocks noGrp="1"/>
          </p:cNvSpPr>
          <p:nvPr>
            <p:ph type="title"/>
          </p:nvPr>
        </p:nvSpPr>
        <p:spPr/>
        <p:txBody>
          <a:bodyPr anchor="t">
            <a:normAutofit/>
          </a:bodyPr>
          <a:lstStyle/>
          <a:p>
            <a:r>
              <a:rPr lang="en-US"/>
              <a:t>Writing Well-Worded Questions</a:t>
            </a:r>
          </a:p>
        </p:txBody>
      </p:sp>
    </p:spTree>
    <p:extLst>
      <p:ext uri="{BB962C8B-B14F-4D97-AF65-F5344CB8AC3E}">
        <p14:creationId xmlns:p14="http://schemas.microsoft.com/office/powerpoint/2010/main" val="52029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1D299-B480-3B07-40B6-D7C5636502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FD137A-6B5B-5934-F972-1FC8940FA967}"/>
              </a:ext>
            </a:extLst>
          </p:cNvPr>
          <p:cNvSpPr>
            <a:spLocks noGrp="1"/>
          </p:cNvSpPr>
          <p:nvPr>
            <p:ph type="body" sz="quarter" idx="108"/>
          </p:nvPr>
        </p:nvSpPr>
        <p:spPr/>
        <p:txBody>
          <a:bodyPr>
            <a:normAutofit/>
          </a:bodyPr>
          <a:lstStyle/>
          <a:p>
            <a:pPr marL="342900" lvl="1" indent="-342900">
              <a:spcBef>
                <a:spcPts val="1200"/>
              </a:spcBef>
              <a:buFont typeface="Arial" charset="0"/>
              <a:buChar char="•"/>
            </a:pPr>
            <a:r>
              <a:rPr lang="en-US" sz="2800" dirty="0"/>
              <a:t>Leading question</a:t>
            </a:r>
          </a:p>
          <a:p>
            <a:pPr marL="742950" lvl="2" indent="-342900">
              <a:spcBef>
                <a:spcPts val="1200"/>
              </a:spcBef>
              <a:buFont typeface="Arial" charset="0"/>
              <a:buChar char="•"/>
            </a:pPr>
            <a:r>
              <a:rPr lang="en-US" sz="2600" dirty="0"/>
              <a:t>How much money do you waste every month not upgrading to our system?</a:t>
            </a:r>
          </a:p>
          <a:p>
            <a:pPr marL="342900" lvl="1" indent="-342900">
              <a:spcBef>
                <a:spcPts val="1200"/>
              </a:spcBef>
              <a:buFont typeface="Arial" charset="0"/>
              <a:buChar char="•"/>
            </a:pPr>
            <a:r>
              <a:rPr lang="en-US" sz="2800" dirty="0"/>
              <a:t>Question order and question context</a:t>
            </a:r>
          </a:p>
          <a:p>
            <a:pPr marL="742950" lvl="2" indent="-342900">
              <a:spcBef>
                <a:spcPts val="1200"/>
              </a:spcBef>
              <a:buFont typeface="Arial" charset="0"/>
              <a:buChar char="•"/>
            </a:pPr>
            <a:r>
              <a:rPr lang="en-US" sz="2600" dirty="0"/>
              <a:t>How concerned are you about the increase in violent crime in our community?</a:t>
            </a:r>
          </a:p>
          <a:p>
            <a:pPr marL="1200150" lvl="3" indent="-342900">
              <a:spcBef>
                <a:spcPts val="1200"/>
              </a:spcBef>
              <a:buFont typeface="Arial" charset="0"/>
              <a:buChar char="•"/>
            </a:pPr>
            <a:r>
              <a:rPr lang="en-US" sz="2400" dirty="0"/>
              <a:t>Not concerned at all 1  2 3 4  5 Extremely concerned</a:t>
            </a:r>
          </a:p>
          <a:p>
            <a:pPr marL="742950" lvl="2" indent="-342900">
              <a:spcBef>
                <a:spcPts val="1200"/>
              </a:spcBef>
              <a:buFont typeface="Arial" charset="0"/>
              <a:buChar char="•"/>
            </a:pPr>
            <a:r>
              <a:rPr lang="en-US" sz="2600" dirty="0"/>
              <a:t>How safe you feel walking alone in your community at night?</a:t>
            </a:r>
          </a:p>
          <a:p>
            <a:pPr marL="1200150" lvl="3" indent="-342900">
              <a:spcBef>
                <a:spcPts val="1200"/>
              </a:spcBef>
              <a:buFont typeface="Arial" charset="0"/>
              <a:buChar char="•"/>
            </a:pPr>
            <a:r>
              <a:rPr lang="en-US" sz="2400" dirty="0"/>
              <a:t>Very unsafe 1  2 3 4  5 Very safe</a:t>
            </a:r>
          </a:p>
        </p:txBody>
      </p:sp>
      <p:sp>
        <p:nvSpPr>
          <p:cNvPr id="2" name="Title 1">
            <a:extLst>
              <a:ext uri="{FF2B5EF4-FFF2-40B4-BE49-F238E27FC236}">
                <a16:creationId xmlns:a16="http://schemas.microsoft.com/office/drawing/2014/main" id="{5F0CE977-C22E-26E8-5A2B-1C33E4D07287}"/>
              </a:ext>
            </a:extLst>
          </p:cNvPr>
          <p:cNvSpPr>
            <a:spLocks noGrp="1"/>
          </p:cNvSpPr>
          <p:nvPr>
            <p:ph type="title"/>
          </p:nvPr>
        </p:nvSpPr>
        <p:spPr/>
        <p:txBody>
          <a:bodyPr anchor="t">
            <a:normAutofit/>
          </a:bodyPr>
          <a:lstStyle/>
          <a:p>
            <a:r>
              <a:rPr lang="en-US"/>
              <a:t>Writing Well-Worded Questions</a:t>
            </a:r>
          </a:p>
        </p:txBody>
      </p:sp>
    </p:spTree>
    <p:extLst>
      <p:ext uri="{BB962C8B-B14F-4D97-AF65-F5344CB8AC3E}">
        <p14:creationId xmlns:p14="http://schemas.microsoft.com/office/powerpoint/2010/main" val="120563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887EC4-0D92-883E-5848-4491DCCEE4ED}"/>
              </a:ext>
            </a:extLst>
          </p:cNvPr>
          <p:cNvSpPr>
            <a:spLocks noGrp="1"/>
          </p:cNvSpPr>
          <p:nvPr>
            <p:ph type="body" sz="quarter" idx="108"/>
          </p:nvPr>
        </p:nvSpPr>
        <p:spPr/>
        <p:txBody>
          <a:bodyPr/>
          <a:lstStyle/>
          <a:p>
            <a:r>
              <a:rPr lang="en-US" dirty="0"/>
              <a:t>Response options (and how you compare them) matter</a:t>
            </a:r>
          </a:p>
          <a:p>
            <a:r>
              <a:rPr lang="en-US" dirty="0"/>
              <a:t>Response options should be balanced</a:t>
            </a:r>
          </a:p>
          <a:p>
            <a:pPr lvl="1"/>
            <a:r>
              <a:rPr lang="en-US" dirty="0"/>
              <a:t>Do you agree that Dr. Scheuler’s cats are adorable?</a:t>
            </a:r>
          </a:p>
          <a:p>
            <a:pPr lvl="2"/>
            <a:r>
              <a:rPr lang="en-US" dirty="0"/>
              <a:t>1- THE MOST ADORABLE EVER, 2- Absolutely!, 3- Yes, 4- They’re okay, 5- I don’t like cats</a:t>
            </a:r>
          </a:p>
          <a:p>
            <a:endParaRPr lang="en-US" dirty="0"/>
          </a:p>
          <a:p>
            <a:r>
              <a:rPr lang="en-US" dirty="0"/>
              <a:t>Forced choice versus ranking:</a:t>
            </a:r>
          </a:p>
          <a:p>
            <a:pPr lvl="1"/>
            <a:r>
              <a:rPr lang="en-US" dirty="0"/>
              <a:t>Vote for your preferred political candidate</a:t>
            </a:r>
          </a:p>
          <a:p>
            <a:pPr lvl="1"/>
            <a:r>
              <a:rPr lang="en-US" dirty="0"/>
              <a:t>Rank your preference in political candidates</a:t>
            </a:r>
          </a:p>
        </p:txBody>
      </p:sp>
      <p:sp>
        <p:nvSpPr>
          <p:cNvPr id="3" name="Title 2">
            <a:extLst>
              <a:ext uri="{FF2B5EF4-FFF2-40B4-BE49-F238E27FC236}">
                <a16:creationId xmlns:a16="http://schemas.microsoft.com/office/drawing/2014/main" id="{368D7976-E68D-BA28-47CE-9B53FACF529D}"/>
              </a:ext>
            </a:extLst>
          </p:cNvPr>
          <p:cNvSpPr>
            <a:spLocks noGrp="1"/>
          </p:cNvSpPr>
          <p:nvPr>
            <p:ph type="title"/>
          </p:nvPr>
        </p:nvSpPr>
        <p:spPr/>
        <p:txBody>
          <a:bodyPr/>
          <a:lstStyle/>
          <a:p>
            <a:r>
              <a:rPr lang="en-US" dirty="0"/>
              <a:t>Writing Well-Worded Questions</a:t>
            </a:r>
          </a:p>
        </p:txBody>
      </p:sp>
    </p:spTree>
    <p:extLst>
      <p:ext uri="{BB962C8B-B14F-4D97-AF65-F5344CB8AC3E}">
        <p14:creationId xmlns:p14="http://schemas.microsoft.com/office/powerpoint/2010/main" val="2441902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214502-DB3D-3944-A435-D86EB02849CE}"/>
              </a:ext>
            </a:extLst>
          </p:cNvPr>
          <p:cNvSpPr>
            <a:spLocks noGrp="1"/>
          </p:cNvSpPr>
          <p:nvPr>
            <p:ph type="body" sz="quarter" idx="108"/>
          </p:nvPr>
        </p:nvSpPr>
        <p:spPr/>
        <p:txBody>
          <a:bodyPr>
            <a:normAutofit/>
          </a:bodyPr>
          <a:lstStyle/>
          <a:p>
            <a:pPr marL="342900" indent="-342900">
              <a:spcBef>
                <a:spcPts val="1200"/>
              </a:spcBef>
              <a:buFont typeface="Arial" charset="0"/>
              <a:buChar char="•"/>
            </a:pPr>
            <a:r>
              <a:rPr lang="en-US" dirty="0"/>
              <a:t>People can give meaningful responses</a:t>
            </a:r>
            <a:endParaRPr lang="en-US"/>
          </a:p>
          <a:p>
            <a:pPr marL="342900" indent="-342900">
              <a:spcBef>
                <a:spcPts val="1200"/>
              </a:spcBef>
              <a:buFont typeface="Arial" charset="0"/>
              <a:buChar char="•"/>
            </a:pPr>
            <a:r>
              <a:rPr lang="en-US" dirty="0"/>
              <a:t>Sometimes people use shortcuts</a:t>
            </a:r>
            <a:endParaRPr lang="en-US"/>
          </a:p>
          <a:p>
            <a:pPr marL="1028700" lvl="1" indent="-457200">
              <a:spcBef>
                <a:spcPts val="1200"/>
              </a:spcBef>
              <a:buFont typeface="Courier New" panose="02070309020205020404" pitchFamily="49" charset="0"/>
              <a:buChar char="o"/>
            </a:pPr>
            <a:r>
              <a:rPr lang="en-US" sz="2000" dirty="0"/>
              <a:t>Response sets</a:t>
            </a:r>
            <a:endParaRPr lang="en-US" sz="2000"/>
          </a:p>
          <a:p>
            <a:pPr marL="1028700" lvl="1" indent="-457200">
              <a:spcBef>
                <a:spcPts val="1200"/>
              </a:spcBef>
              <a:buFont typeface="Courier New" panose="02070309020205020404" pitchFamily="49" charset="0"/>
              <a:buChar char="o"/>
            </a:pPr>
            <a:r>
              <a:rPr lang="en-US" sz="2000" dirty="0"/>
              <a:t>Acquiescence (yea-saying)</a:t>
            </a:r>
            <a:endParaRPr lang="en-US" sz="2000"/>
          </a:p>
          <a:p>
            <a:pPr marL="1028700" lvl="1" indent="-457200">
              <a:spcBef>
                <a:spcPts val="1200"/>
              </a:spcBef>
              <a:buFont typeface="Courier New" panose="02070309020205020404" pitchFamily="49" charset="0"/>
              <a:buChar char="o"/>
            </a:pPr>
            <a:r>
              <a:rPr lang="en-US" sz="2000" dirty="0"/>
              <a:t>Fence sitting</a:t>
            </a:r>
            <a:endParaRPr lang="en-US" sz="2000"/>
          </a:p>
        </p:txBody>
      </p:sp>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p:txBody>
          <a:bodyPr anchor="t">
            <a:normAutofit/>
          </a:bodyPr>
          <a:lstStyle/>
          <a:p>
            <a:r>
              <a:rPr lang="en-US"/>
              <a:t>Encouraging</a:t>
            </a:r>
            <a:r>
              <a:rPr lang="en-US" dirty="0"/>
              <a:t> </a:t>
            </a:r>
            <a:r>
              <a:rPr lang="en-US"/>
              <a:t>Accurate Responses</a:t>
            </a:r>
            <a:endParaRPr lang="en-US" dirty="0"/>
          </a:p>
        </p:txBody>
      </p:sp>
      <p:pic>
        <p:nvPicPr>
          <p:cNvPr id="4" name="Picture 2" descr="A photo shows someone filling out a likert scale survey and circling &quot;strongly agree&quot; for nearly every question.">
            <a:extLst>
              <a:ext uri="{FF2B5EF4-FFF2-40B4-BE49-F238E27FC236}">
                <a16:creationId xmlns:a16="http://schemas.microsoft.com/office/drawing/2014/main" id="{5CDA1ADD-310B-EFA2-F289-03830C2E346B}"/>
              </a:ext>
            </a:extLst>
          </p:cNvPr>
          <p:cNvPicPr>
            <a:picLocks noChangeAspect="1"/>
          </p:cNvPicPr>
          <p:nvPr/>
        </p:nvPicPr>
        <p:blipFill>
          <a:blip r:embed="rId3"/>
          <a:stretch/>
        </p:blipFill>
        <p:spPr>
          <a:xfrm>
            <a:off x="7767698" y="1507550"/>
            <a:ext cx="3662302" cy="5176399"/>
          </a:xfrm>
          <a:prstGeom prst="rect">
            <a:avLst/>
          </a:prstGeom>
          <a:noFill/>
        </p:spPr>
      </p:pic>
    </p:spTree>
    <p:extLst>
      <p:ext uri="{BB962C8B-B14F-4D97-AF65-F5344CB8AC3E}">
        <p14:creationId xmlns:p14="http://schemas.microsoft.com/office/powerpoint/2010/main" val="3977948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475430-6EA7-567B-4170-06C9CCB71835}"/>
              </a:ext>
            </a:extLst>
          </p:cNvPr>
          <p:cNvSpPr>
            <a:spLocks noGrp="1"/>
          </p:cNvSpPr>
          <p:nvPr>
            <p:ph type="body" sz="quarter" idx="108"/>
          </p:nvPr>
        </p:nvSpPr>
        <p:spPr/>
        <p:txBody>
          <a:bodyPr>
            <a:normAutofit/>
          </a:bodyPr>
          <a:lstStyle/>
          <a:p>
            <a:pPr marL="342900" indent="-342900">
              <a:spcBef>
                <a:spcPts val="1200"/>
              </a:spcBef>
              <a:buFont typeface="Arial" charset="0"/>
              <a:buChar char="•"/>
            </a:pPr>
            <a:r>
              <a:rPr lang="en-US" dirty="0"/>
              <a:t>Trying to look good</a:t>
            </a:r>
            <a:endParaRPr lang="en-US"/>
          </a:p>
          <a:p>
            <a:pPr marL="1028700" lvl="1" indent="-457200">
              <a:spcBef>
                <a:spcPts val="1200"/>
              </a:spcBef>
              <a:buFont typeface="Courier New" panose="02070309020205020404" pitchFamily="49" charset="0"/>
              <a:buChar char="o"/>
            </a:pPr>
            <a:r>
              <a:rPr lang="en-US" sz="2000" dirty="0"/>
              <a:t>Socially desirable responding/faking good</a:t>
            </a:r>
            <a:endParaRPr lang="en-US" sz="2000"/>
          </a:p>
          <a:p>
            <a:pPr marL="1028700" lvl="1" indent="-457200">
              <a:spcBef>
                <a:spcPts val="1200"/>
              </a:spcBef>
              <a:buFont typeface="Courier New" panose="02070309020205020404" pitchFamily="49" charset="0"/>
              <a:buChar char="o"/>
            </a:pPr>
            <a:r>
              <a:rPr lang="en-US" sz="2000" dirty="0"/>
              <a:t>Faking bad</a:t>
            </a:r>
            <a:endParaRPr lang="en-US" sz="2000"/>
          </a:p>
          <a:p>
            <a:pPr marL="342900" indent="-342900">
              <a:spcBef>
                <a:spcPts val="1200"/>
              </a:spcBef>
              <a:buFont typeface="Arial" charset="0"/>
              <a:buChar char="•"/>
            </a:pPr>
            <a:r>
              <a:rPr lang="en-US" dirty="0"/>
              <a:t>Self-reporting “more than they can know”</a:t>
            </a:r>
            <a:endParaRPr lang="en-US"/>
          </a:p>
          <a:p>
            <a:pPr marL="342900" indent="-342900">
              <a:spcBef>
                <a:spcPts val="1200"/>
              </a:spcBef>
              <a:buFont typeface="Arial" charset="0"/>
              <a:buChar char="•"/>
            </a:pPr>
            <a:r>
              <a:rPr lang="en-US" dirty="0"/>
              <a:t>Self-reporting memories of events</a:t>
            </a:r>
            <a:endParaRPr lang="en-US"/>
          </a:p>
          <a:p>
            <a:pPr marL="342900" indent="-342900">
              <a:spcBef>
                <a:spcPts val="1200"/>
              </a:spcBef>
              <a:buFont typeface="Arial" charset="0"/>
              <a:buChar char="•"/>
            </a:pPr>
            <a:r>
              <a:rPr lang="en-US" dirty="0"/>
              <a:t>Rating consumer products</a:t>
            </a:r>
            <a:endParaRPr lang="en-US"/>
          </a:p>
        </p:txBody>
      </p:sp>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p:txBody>
          <a:bodyPr anchor="t">
            <a:normAutofit/>
          </a:bodyPr>
          <a:lstStyle/>
          <a:p>
            <a:r>
              <a:rPr lang="en-US" dirty="0"/>
              <a:t>Encouraging Accurate Responses</a:t>
            </a:r>
          </a:p>
        </p:txBody>
      </p:sp>
      <p:pic>
        <p:nvPicPr>
          <p:cNvPr id="4" name="Picture 2" descr="A man shopping in the refrigerated aisle of a supermarket, reaching for something off the shelf.">
            <a:extLst>
              <a:ext uri="{FF2B5EF4-FFF2-40B4-BE49-F238E27FC236}">
                <a16:creationId xmlns:a16="http://schemas.microsoft.com/office/drawing/2014/main" id="{5FAB4CF7-B4D6-E1C9-E1CC-BE7F5120BFC8}"/>
              </a:ext>
            </a:extLst>
          </p:cNvPr>
          <p:cNvPicPr>
            <a:picLocks noChangeAspect="1"/>
          </p:cNvPicPr>
          <p:nvPr/>
        </p:nvPicPr>
        <p:blipFill>
          <a:blip r:embed="rId3"/>
          <a:srcRect r="4" b="1446"/>
          <a:stretch>
            <a:fillRect/>
          </a:stretch>
        </p:blipFill>
        <p:spPr>
          <a:xfrm>
            <a:off x="6647796" y="2286000"/>
            <a:ext cx="4800600" cy="3619500"/>
          </a:xfrm>
          <a:prstGeom prst="rect">
            <a:avLst/>
          </a:prstGeom>
          <a:noFill/>
        </p:spPr>
      </p:pic>
    </p:spTree>
    <p:extLst>
      <p:ext uri="{BB962C8B-B14F-4D97-AF65-F5344CB8AC3E}">
        <p14:creationId xmlns:p14="http://schemas.microsoft.com/office/powerpoint/2010/main" val="2293047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92B2E-3288-2300-5CF4-0B7181143D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6B1DC0-145D-E177-250D-28686C1176D2}"/>
              </a:ext>
            </a:extLst>
          </p:cNvPr>
          <p:cNvSpPr>
            <a:spLocks noGrp="1"/>
          </p:cNvSpPr>
          <p:nvPr>
            <p:ph type="body" sz="quarter" idx="108"/>
          </p:nvPr>
        </p:nvSpPr>
        <p:spPr>
          <a:xfrm>
            <a:off x="3703233" y="6558792"/>
            <a:ext cx="8488767" cy="280547"/>
          </a:xfrm>
        </p:spPr>
        <p:txBody>
          <a:bodyPr>
            <a:normAutofit/>
          </a:bodyPr>
          <a:lstStyle/>
          <a:p>
            <a:pPr marL="0" indent="0">
              <a:buNone/>
            </a:pPr>
            <a:r>
              <a:rPr lang="en-US" sz="1200" dirty="0">
                <a:hlinkClick r:id="rId4"/>
              </a:rPr>
              <a:t>https://www.youtube.com/watch?v=eFzGdQrr2K8&amp;amp;list=PLZ9z-Af5ISavJpPlvdMU4T-etIDOUmldk&amp;amp;index=6&amp;amp;t=0s</a:t>
            </a:r>
            <a:endParaRPr lang="en-US" sz="1200" dirty="0"/>
          </a:p>
        </p:txBody>
      </p:sp>
      <p:sp>
        <p:nvSpPr>
          <p:cNvPr id="2" name="Title 1">
            <a:extLst>
              <a:ext uri="{FF2B5EF4-FFF2-40B4-BE49-F238E27FC236}">
                <a16:creationId xmlns:a16="http://schemas.microsoft.com/office/drawing/2014/main" id="{030CBB22-0926-64B6-2247-5D7E6E84554D}"/>
              </a:ext>
            </a:extLst>
          </p:cNvPr>
          <p:cNvSpPr>
            <a:spLocks noGrp="1"/>
          </p:cNvSpPr>
          <p:nvPr>
            <p:ph type="title"/>
          </p:nvPr>
        </p:nvSpPr>
        <p:spPr/>
        <p:txBody>
          <a:bodyPr>
            <a:normAutofit fontScale="90000"/>
          </a:bodyPr>
          <a:lstStyle/>
          <a:p>
            <a:r>
              <a:rPr lang="en-US" dirty="0"/>
              <a:t>Pew Research Center Methods 101: Question Wording</a:t>
            </a:r>
          </a:p>
        </p:txBody>
      </p:sp>
      <p:pic>
        <p:nvPicPr>
          <p:cNvPr id="4" name="Online Media 4" descr="Methods 101: Question Wording">
            <a:hlinkClick r:id="" action="ppaction://media"/>
            <a:extLst>
              <a:ext uri="{FF2B5EF4-FFF2-40B4-BE49-F238E27FC236}">
                <a16:creationId xmlns:a16="http://schemas.microsoft.com/office/drawing/2014/main" id="{1220D06F-48AF-E37A-1AF0-BA1E531A1A63}"/>
              </a:ext>
            </a:extLst>
          </p:cNvPr>
          <p:cNvPicPr>
            <a:picLocks noRot="1" noChangeAspect="1"/>
          </p:cNvPicPr>
          <p:nvPr>
            <a:videoFile r:link="rId1"/>
          </p:nvPr>
        </p:nvPicPr>
        <p:blipFill>
          <a:blip r:embed="rId5"/>
          <a:stretch>
            <a:fillRect/>
          </a:stretch>
        </p:blipFill>
        <p:spPr>
          <a:xfrm>
            <a:off x="1451371" y="1166950"/>
            <a:ext cx="8765649" cy="4952592"/>
          </a:xfrm>
          <a:prstGeom prst="rect">
            <a:avLst/>
          </a:prstGeom>
        </p:spPr>
      </p:pic>
    </p:spTree>
    <p:extLst>
      <p:ext uri="{BB962C8B-B14F-4D97-AF65-F5344CB8AC3E}">
        <p14:creationId xmlns:p14="http://schemas.microsoft.com/office/powerpoint/2010/main" val="186659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026DE-810B-9FBC-B637-5DC5A8B681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D27B4-BD28-C962-4B24-1D1CC73A44C2}"/>
              </a:ext>
            </a:extLst>
          </p:cNvPr>
          <p:cNvSpPr>
            <a:spLocks noGrp="1"/>
          </p:cNvSpPr>
          <p:nvPr>
            <p:ph type="title"/>
          </p:nvPr>
        </p:nvSpPr>
        <p:spPr/>
        <p:txBody>
          <a:bodyPr/>
          <a:lstStyle/>
          <a:p>
            <a:r>
              <a:rPr lang="en-US" dirty="0"/>
              <a:t>Observational Research</a:t>
            </a:r>
          </a:p>
        </p:txBody>
      </p:sp>
    </p:spTree>
    <p:extLst>
      <p:ext uri="{BB962C8B-B14F-4D97-AF65-F5344CB8AC3E}">
        <p14:creationId xmlns:p14="http://schemas.microsoft.com/office/powerpoint/2010/main" val="1165314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622905E-11F6-A860-C867-C64D23EEAFCC}"/>
              </a:ext>
            </a:extLst>
          </p:cNvPr>
          <p:cNvSpPr>
            <a:spLocks noGrp="1"/>
          </p:cNvSpPr>
          <p:nvPr>
            <p:ph type="body" sz="quarter" idx="108"/>
          </p:nvPr>
        </p:nvSpPr>
        <p:spPr/>
        <p:txBody>
          <a:bodyPr>
            <a:noAutofit/>
          </a:bodyPr>
          <a:lstStyle/>
          <a:p>
            <a:pPr marL="342900" lvl="1" indent="-342900">
              <a:lnSpc>
                <a:spcPct val="120000"/>
              </a:lnSpc>
              <a:spcBef>
                <a:spcPts val="1200"/>
              </a:spcBef>
              <a:buFont typeface="Arial" charset="0"/>
              <a:buChar char="•"/>
            </a:pPr>
            <a:r>
              <a:rPr lang="en-US" sz="3200" dirty="0"/>
              <a:t>Observational research</a:t>
            </a:r>
          </a:p>
          <a:p>
            <a:pPr marL="342900" lvl="1" indent="-342900">
              <a:lnSpc>
                <a:spcPct val="120000"/>
              </a:lnSpc>
              <a:spcBef>
                <a:spcPts val="1200"/>
              </a:spcBef>
              <a:buFont typeface="Arial" charset="0"/>
              <a:buChar char="•"/>
            </a:pPr>
            <a:r>
              <a:rPr lang="en-US" sz="3200" dirty="0"/>
              <a:t>Some claims based on observational data</a:t>
            </a:r>
          </a:p>
          <a:p>
            <a:pPr marL="1028700" lvl="1" indent="-457200">
              <a:lnSpc>
                <a:spcPct val="120000"/>
              </a:lnSpc>
              <a:spcBef>
                <a:spcPts val="1200"/>
              </a:spcBef>
              <a:buFont typeface="Courier New" panose="02070309020205020404" pitchFamily="49" charset="0"/>
              <a:buChar char="o"/>
            </a:pPr>
            <a:r>
              <a:rPr lang="en-US" sz="2800" dirty="0"/>
              <a:t>Observing how much people talk</a:t>
            </a:r>
          </a:p>
        </p:txBody>
      </p:sp>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p:txBody>
          <a:bodyPr/>
          <a:lstStyle/>
          <a:p>
            <a:r>
              <a:rPr lang="en-US" dirty="0"/>
              <a:t>Construct Validity of Behavioral Observations</a:t>
            </a:r>
          </a:p>
        </p:txBody>
      </p:sp>
      <p:pic>
        <p:nvPicPr>
          <p:cNvPr id="6" name="Picture 5" descr="A woman smiles directly at the camera. She is wearing a white shirt with an open pink button down over it. There is a small black microphone clipped to her shirt.">
            <a:extLst>
              <a:ext uri="{FF2B5EF4-FFF2-40B4-BE49-F238E27FC236}">
                <a16:creationId xmlns:a16="http://schemas.microsoft.com/office/drawing/2014/main" id="{04E0E9B9-E217-C4E8-1F0C-9DAD2E2752CF}"/>
              </a:ext>
            </a:extLst>
          </p:cNvPr>
          <p:cNvPicPr>
            <a:picLocks noChangeAspect="1"/>
          </p:cNvPicPr>
          <p:nvPr/>
        </p:nvPicPr>
        <p:blipFill>
          <a:blip r:embed="rId3"/>
          <a:stretch>
            <a:fillRect/>
          </a:stretch>
        </p:blipFill>
        <p:spPr>
          <a:xfrm>
            <a:off x="10215039" y="1128451"/>
            <a:ext cx="1644661" cy="3164123"/>
          </a:xfrm>
          <a:prstGeom prst="rect">
            <a:avLst/>
          </a:prstGeom>
        </p:spPr>
      </p:pic>
      <p:pic>
        <p:nvPicPr>
          <p:cNvPr id="7" name="Picture 6" descr="A table shows the results of a study done to calculate how many words participants were speaking per day. The caption reads: Table 1. Estimated number of words spoken per day for female and male study participants across six samples. N = 396. Year refers to the year when the data collection started: duration refers to the approximate number of pays participants wore the EAR; the weighted average weighs the respective sample group mean by the sample size of the group.">
            <a:extLst>
              <a:ext uri="{FF2B5EF4-FFF2-40B4-BE49-F238E27FC236}">
                <a16:creationId xmlns:a16="http://schemas.microsoft.com/office/drawing/2014/main" id="{6C911354-84D2-1F90-9A1F-CFEF05C739FD}"/>
              </a:ext>
            </a:extLst>
          </p:cNvPr>
          <p:cNvPicPr>
            <a:picLocks noChangeAspect="1"/>
          </p:cNvPicPr>
          <p:nvPr/>
        </p:nvPicPr>
        <p:blipFill>
          <a:blip r:embed="rId4"/>
          <a:stretch>
            <a:fillRect/>
          </a:stretch>
        </p:blipFill>
        <p:spPr>
          <a:xfrm>
            <a:off x="6269631" y="3323771"/>
            <a:ext cx="5590069" cy="3835409"/>
          </a:xfrm>
          <a:prstGeom prst="rect">
            <a:avLst/>
          </a:prstGeom>
        </p:spPr>
      </p:pic>
    </p:spTree>
    <p:extLst>
      <p:ext uri="{BB962C8B-B14F-4D97-AF65-F5344CB8AC3E}">
        <p14:creationId xmlns:p14="http://schemas.microsoft.com/office/powerpoint/2010/main" val="428182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C6EAB-EB74-0BFF-CACC-97E5147283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70786B-B7CA-C342-89DC-8DE0A510D904}"/>
              </a:ext>
            </a:extLst>
          </p:cNvPr>
          <p:cNvSpPr>
            <a:spLocks noGrp="1"/>
          </p:cNvSpPr>
          <p:nvPr>
            <p:ph type="body" sz="quarter" idx="108"/>
          </p:nvPr>
        </p:nvSpPr>
        <p:spPr>
          <a:xfrm>
            <a:off x="307611" y="1858103"/>
            <a:ext cx="5844451" cy="3376370"/>
          </a:xfrm>
        </p:spPr>
        <p:txBody>
          <a:bodyPr vert="horz" lIns="91440" tIns="45720" rIns="91440" bIns="45720" rtlCol="0" anchor="t">
            <a:noAutofit/>
          </a:bodyPr>
          <a:lstStyle/>
          <a:p>
            <a:pPr marL="342900" indent="-342900">
              <a:lnSpc>
                <a:spcPct val="120000"/>
              </a:lnSpc>
              <a:spcBef>
                <a:spcPts val="1200"/>
              </a:spcBef>
              <a:buFont typeface="Arial" panose="020B0604020202020204" pitchFamily="34" charset="0"/>
              <a:buChar char="•"/>
            </a:pPr>
            <a:r>
              <a:rPr lang="en-US" sz="2800" dirty="0"/>
              <a:t>Observing where babies and caregivers look</a:t>
            </a:r>
          </a:p>
          <a:p>
            <a:pPr marL="342900" indent="-342900">
              <a:lnSpc>
                <a:spcPct val="120000"/>
              </a:lnSpc>
              <a:spcBef>
                <a:spcPts val="1200"/>
              </a:spcBef>
              <a:buFont typeface="Arial" charset="0"/>
              <a:buChar char="•"/>
            </a:pPr>
            <a:r>
              <a:rPr lang="en-US" sz="2800" dirty="0">
                <a:ea typeface="Cambria"/>
              </a:rPr>
              <a:t>Observing sibling interactions</a:t>
            </a:r>
          </a:p>
          <a:p>
            <a:pPr marL="342900" indent="-342900">
              <a:lnSpc>
                <a:spcPct val="120000"/>
              </a:lnSpc>
              <a:spcBef>
                <a:spcPts val="1200"/>
              </a:spcBef>
              <a:buFont typeface="Arial" charset="0"/>
              <a:buChar char="•"/>
            </a:pPr>
            <a:r>
              <a:rPr lang="en-US" sz="2800" dirty="0"/>
              <a:t>Observations can be better than self-reports</a:t>
            </a:r>
          </a:p>
        </p:txBody>
      </p:sp>
      <p:sp>
        <p:nvSpPr>
          <p:cNvPr id="2" name="Title 1">
            <a:extLst>
              <a:ext uri="{FF2B5EF4-FFF2-40B4-BE49-F238E27FC236}">
                <a16:creationId xmlns:a16="http://schemas.microsoft.com/office/drawing/2014/main" id="{03EF37E9-2974-13BF-5DCC-DFF944AEE5AA}"/>
              </a:ext>
            </a:extLst>
          </p:cNvPr>
          <p:cNvSpPr>
            <a:spLocks noGrp="1"/>
          </p:cNvSpPr>
          <p:nvPr>
            <p:ph type="title"/>
          </p:nvPr>
        </p:nvSpPr>
        <p:spPr>
          <a:xfrm>
            <a:off x="262075" y="394049"/>
            <a:ext cx="8828314" cy="801824"/>
          </a:xfrm>
        </p:spPr>
        <p:txBody>
          <a:bodyPr>
            <a:normAutofit/>
          </a:bodyPr>
          <a:lstStyle/>
          <a:p>
            <a:r>
              <a:rPr lang="en-US" dirty="0"/>
              <a:t>Some Claims Based on Observational Data</a:t>
            </a:r>
          </a:p>
        </p:txBody>
      </p:sp>
      <p:pic>
        <p:nvPicPr>
          <p:cNvPr id="6" name="Picture 5" descr="Two boys work on planning an efficient route through a model of a grocery store. They do so using a tabletop model of the store layout.">
            <a:extLst>
              <a:ext uri="{FF2B5EF4-FFF2-40B4-BE49-F238E27FC236}">
                <a16:creationId xmlns:a16="http://schemas.microsoft.com/office/drawing/2014/main" id="{D5EE2685-0B66-5B56-35CF-3828FE8EF99D}"/>
              </a:ext>
            </a:extLst>
          </p:cNvPr>
          <p:cNvPicPr>
            <a:picLocks noChangeAspect="1"/>
          </p:cNvPicPr>
          <p:nvPr/>
        </p:nvPicPr>
        <p:blipFill>
          <a:blip r:embed="rId3"/>
          <a:srcRect b="10689"/>
          <a:stretch/>
        </p:blipFill>
        <p:spPr>
          <a:xfrm>
            <a:off x="9090389" y="76199"/>
            <a:ext cx="2794000" cy="2552078"/>
          </a:xfrm>
          <a:prstGeom prst="rect">
            <a:avLst/>
          </a:prstGeom>
        </p:spPr>
      </p:pic>
      <p:pic>
        <p:nvPicPr>
          <p:cNvPr id="7" name="Picture 6" descr="Observational data summarized by two sets of color-banded columns. In the left set, 14 columns represent observations of 14 pairs of siblings of U S Mexican Indigenous-heritage. In the right set, 16 columns represent observations of 16 pairs of siblings of Middle-class European American descent. A legend specifies that blue banding means fluid collaboration, violet banding means negotiation, pinkish gray banding means collaboration where one leads, and white banding means dividing of decisions. A comment on one of the columns in the left group reads, Most of this column is shaded blue. That means that this pair of siblings was using fluid collaboration in almost every coded segment. A comment on one of the columns in the right group reads, Most of this column is shaded gray and white. That means that this pair of siblings was dividing decisions during almost every coded segment.">
            <a:extLst>
              <a:ext uri="{FF2B5EF4-FFF2-40B4-BE49-F238E27FC236}">
                <a16:creationId xmlns:a16="http://schemas.microsoft.com/office/drawing/2014/main" id="{86A1547A-E22F-8662-AA53-DB1BF4D37072}"/>
              </a:ext>
            </a:extLst>
          </p:cNvPr>
          <p:cNvPicPr>
            <a:picLocks noChangeAspect="1"/>
          </p:cNvPicPr>
          <p:nvPr/>
        </p:nvPicPr>
        <p:blipFill>
          <a:blip r:embed="rId4"/>
          <a:stretch>
            <a:fillRect/>
          </a:stretch>
        </p:blipFill>
        <p:spPr>
          <a:xfrm>
            <a:off x="6340839" y="2286001"/>
            <a:ext cx="5499100" cy="4495800"/>
          </a:xfrm>
          <a:prstGeom prst="rect">
            <a:avLst/>
          </a:prstGeom>
        </p:spPr>
      </p:pic>
    </p:spTree>
    <p:extLst>
      <p:ext uri="{BB962C8B-B14F-4D97-AF65-F5344CB8AC3E}">
        <p14:creationId xmlns:p14="http://schemas.microsoft.com/office/powerpoint/2010/main" val="1893765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AE19EC-65CF-246C-F4C8-EF31113DF741}"/>
              </a:ext>
            </a:extLst>
          </p:cNvPr>
          <p:cNvSpPr>
            <a:spLocks noGrp="1"/>
          </p:cNvSpPr>
          <p:nvPr>
            <p:ph type="body" sz="quarter" idx="108"/>
          </p:nvPr>
        </p:nvSpPr>
        <p:spPr/>
        <p:txBody>
          <a:bodyPr/>
          <a:lstStyle/>
          <a:p>
            <a:r>
              <a:rPr lang="en-US" b="1" dirty="0"/>
              <a:t>Observer bias</a:t>
            </a:r>
            <a:r>
              <a:rPr lang="en-US" dirty="0"/>
              <a:t> – when observers see what they expect to see</a:t>
            </a:r>
          </a:p>
          <a:p>
            <a:endParaRPr lang="en-US" dirty="0"/>
          </a:p>
          <a:p>
            <a:r>
              <a:rPr lang="en-US" dirty="0"/>
              <a:t>What are some examples that you can think?</a:t>
            </a:r>
          </a:p>
          <a:p>
            <a:endParaRPr lang="en-US" dirty="0"/>
          </a:p>
        </p:txBody>
      </p:sp>
      <p:sp>
        <p:nvSpPr>
          <p:cNvPr id="6" name="Title 1">
            <a:extLst>
              <a:ext uri="{FF2B5EF4-FFF2-40B4-BE49-F238E27FC236}">
                <a16:creationId xmlns:a16="http://schemas.microsoft.com/office/drawing/2014/main" id="{51FEB041-200A-B03C-22F0-DFDB95D279D7}"/>
              </a:ext>
            </a:extLst>
          </p:cNvPr>
          <p:cNvSpPr>
            <a:spLocks noGrp="1"/>
          </p:cNvSpPr>
          <p:nvPr>
            <p:ph type="title"/>
          </p:nvPr>
        </p:nvSpPr>
        <p:spPr/>
        <p:txBody>
          <a:bodyPr anchor="t">
            <a:normAutofit/>
          </a:bodyPr>
          <a:lstStyle/>
          <a:p>
            <a:r>
              <a:rPr lang="en-US"/>
              <a:t>Making Reliable and Valid Observations</a:t>
            </a:r>
          </a:p>
        </p:txBody>
      </p:sp>
    </p:spTree>
    <p:extLst>
      <p:ext uri="{BB962C8B-B14F-4D97-AF65-F5344CB8AC3E}">
        <p14:creationId xmlns:p14="http://schemas.microsoft.com/office/powerpoint/2010/main" val="2729264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2F6F-40E6-C4DF-81DB-8CF95CB0BD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0AF2B4-10CE-DC9A-95B0-96CA45750937}"/>
              </a:ext>
            </a:extLst>
          </p:cNvPr>
          <p:cNvSpPr>
            <a:spLocks noGrp="1"/>
          </p:cNvSpPr>
          <p:nvPr>
            <p:ph type="body" sz="quarter" idx="108"/>
          </p:nvPr>
        </p:nvSpPr>
        <p:spPr/>
        <p:txBody>
          <a:bodyPr>
            <a:normAutofit/>
          </a:bodyPr>
          <a:lstStyle/>
          <a:p>
            <a:pPr marL="342900" indent="-342900">
              <a:spcBef>
                <a:spcPts val="1200"/>
              </a:spcBef>
              <a:buFont typeface="Arial" charset="0"/>
              <a:buChar char="•"/>
            </a:pPr>
            <a:r>
              <a:rPr lang="en-US" sz="2800" dirty="0"/>
              <a:t>Observer effects: when participants confirm observer expectations</a:t>
            </a:r>
          </a:p>
          <a:p>
            <a:pPr marL="1028700" lvl="1" indent="-457200">
              <a:spcBef>
                <a:spcPts val="1200"/>
              </a:spcBef>
              <a:buFont typeface="Courier New" panose="02070309020205020404" pitchFamily="49" charset="0"/>
              <a:buChar char="o"/>
            </a:pPr>
            <a:r>
              <a:rPr lang="en-US" sz="2800" dirty="0"/>
              <a:t>Bright and dull rats</a:t>
            </a:r>
          </a:p>
          <a:p>
            <a:pPr marL="1028700" lvl="1" indent="-457200">
              <a:spcBef>
                <a:spcPts val="1200"/>
              </a:spcBef>
              <a:buFont typeface="Courier New" panose="02070309020205020404" pitchFamily="49" charset="0"/>
              <a:buChar char="o"/>
            </a:pPr>
            <a:r>
              <a:rPr lang="en-US" sz="2800" dirty="0"/>
              <a:t>Clever Hans</a:t>
            </a:r>
          </a:p>
        </p:txBody>
      </p:sp>
      <p:sp>
        <p:nvSpPr>
          <p:cNvPr id="2" name="Title 1">
            <a:extLst>
              <a:ext uri="{FF2B5EF4-FFF2-40B4-BE49-F238E27FC236}">
                <a16:creationId xmlns:a16="http://schemas.microsoft.com/office/drawing/2014/main" id="{E5649820-9C17-4F91-FCE9-E85108F6FC54}"/>
              </a:ext>
            </a:extLst>
          </p:cNvPr>
          <p:cNvSpPr>
            <a:spLocks noGrp="1"/>
          </p:cNvSpPr>
          <p:nvPr>
            <p:ph type="title"/>
          </p:nvPr>
        </p:nvSpPr>
        <p:spPr/>
        <p:txBody>
          <a:bodyPr anchor="b">
            <a:noAutofit/>
          </a:bodyPr>
          <a:lstStyle/>
          <a:p>
            <a:pPr>
              <a:lnSpc>
                <a:spcPct val="90000"/>
              </a:lnSpc>
            </a:pPr>
            <a:r>
              <a:rPr lang="en-US" dirty="0"/>
              <a:t>Making Reliable and Valid Observations</a:t>
            </a:r>
          </a:p>
        </p:txBody>
      </p:sp>
      <p:pic>
        <p:nvPicPr>
          <p:cNvPr id="4" name="Picture 2" descr="William von Osten and his horse, Clever Hans. In an aged photograph, a man with long hair wearing a big trench coat stands next to a horse who is being held by a shorter man dressed in uniform. A board with numbers carved into it and a smaller chalkboard with math is shown on the ground. A caption across the bottom reads, in German, The horse that can read and calculate, with its teacher, Mister Van Osten. Berlin.">
            <a:extLst>
              <a:ext uri="{FF2B5EF4-FFF2-40B4-BE49-F238E27FC236}">
                <a16:creationId xmlns:a16="http://schemas.microsoft.com/office/drawing/2014/main" id="{C51F4A3B-F04E-DD1E-0538-5AAE533B554C}"/>
              </a:ext>
            </a:extLst>
          </p:cNvPr>
          <p:cNvPicPr>
            <a:picLocks noChangeAspect="1"/>
          </p:cNvPicPr>
          <p:nvPr/>
        </p:nvPicPr>
        <p:blipFill>
          <a:blip r:embed="rId3"/>
          <a:srcRect b="4203"/>
          <a:stretch>
            <a:fillRect/>
          </a:stretch>
        </p:blipFill>
        <p:spPr>
          <a:xfrm>
            <a:off x="5449019" y="1722810"/>
            <a:ext cx="6158418" cy="4985124"/>
          </a:xfrm>
          <a:prstGeom prst="rect">
            <a:avLst/>
          </a:prstGeom>
          <a:noFill/>
        </p:spPr>
      </p:pic>
    </p:spTree>
    <p:extLst>
      <p:ext uri="{BB962C8B-B14F-4D97-AF65-F5344CB8AC3E}">
        <p14:creationId xmlns:p14="http://schemas.microsoft.com/office/powerpoint/2010/main" val="3652586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D9F585A-7B12-0210-40B8-6AF328FE52EA}"/>
              </a:ext>
            </a:extLst>
          </p:cNvPr>
          <p:cNvSpPr>
            <a:spLocks noGrp="1"/>
          </p:cNvSpPr>
          <p:nvPr>
            <p:ph type="body" sz="quarter" idx="108"/>
          </p:nvPr>
        </p:nvSpPr>
        <p:spPr>
          <a:xfrm>
            <a:off x="7447696" y="6456784"/>
            <a:ext cx="4598126" cy="373226"/>
          </a:xfrm>
        </p:spPr>
        <p:txBody>
          <a:bodyPr/>
          <a:lstStyle/>
          <a:p>
            <a:pPr marL="0" indent="0">
              <a:buNone/>
            </a:pPr>
            <a:r>
              <a:rPr lang="en-US" sz="1600" dirty="0"/>
              <a:t>https://www.youtube.com/watch?v=hAJlAuEo7Ac</a:t>
            </a:r>
          </a:p>
        </p:txBody>
      </p:sp>
      <p:sp>
        <p:nvSpPr>
          <p:cNvPr id="3" name="Title 2">
            <a:extLst>
              <a:ext uri="{FF2B5EF4-FFF2-40B4-BE49-F238E27FC236}">
                <a16:creationId xmlns:a16="http://schemas.microsoft.com/office/drawing/2014/main" id="{5CD9FEC4-BD73-6524-CDF4-62618C4D96ED}"/>
              </a:ext>
            </a:extLst>
          </p:cNvPr>
          <p:cNvSpPr>
            <a:spLocks noGrp="1"/>
          </p:cNvSpPr>
          <p:nvPr>
            <p:ph type="title"/>
          </p:nvPr>
        </p:nvSpPr>
        <p:spPr/>
        <p:txBody>
          <a:bodyPr/>
          <a:lstStyle/>
          <a:p>
            <a:r>
              <a:rPr lang="en-US" dirty="0"/>
              <a:t>Clever Hans</a:t>
            </a:r>
          </a:p>
        </p:txBody>
      </p:sp>
      <p:pic>
        <p:nvPicPr>
          <p:cNvPr id="6" name="Online Media 5" title="(CLEVER HANS) 🐴➕ The HORSE That Learned MATHEMATICS">
            <a:hlinkClick r:id="" action="ppaction://media"/>
            <a:extLst>
              <a:ext uri="{FF2B5EF4-FFF2-40B4-BE49-F238E27FC236}">
                <a16:creationId xmlns:a16="http://schemas.microsoft.com/office/drawing/2014/main" id="{F901322B-8B12-12AE-D4FC-F37944B41AF7}"/>
              </a:ext>
            </a:extLst>
          </p:cNvPr>
          <p:cNvPicPr>
            <a:picLocks noGrp="1" noRot="1" noChangeAspect="1"/>
          </p:cNvPicPr>
          <p:nvPr>
            <p:ph idx="4294967295"/>
            <a:videoFile r:link="rId1"/>
          </p:nvPr>
        </p:nvPicPr>
        <p:blipFill>
          <a:blip r:embed="rId4"/>
          <a:stretch>
            <a:fillRect/>
          </a:stretch>
        </p:blipFill>
        <p:spPr>
          <a:xfrm>
            <a:off x="1654628" y="1302607"/>
            <a:ext cx="8882743" cy="5018519"/>
          </a:xfrm>
          <a:prstGeom prst="rect">
            <a:avLst/>
          </a:prstGeom>
        </p:spPr>
      </p:pic>
    </p:spTree>
    <p:extLst>
      <p:ext uri="{BB962C8B-B14F-4D97-AF65-F5344CB8AC3E}">
        <p14:creationId xmlns:p14="http://schemas.microsoft.com/office/powerpoint/2010/main" val="162391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6D5CA-B83F-95EF-4EF2-07F9389AEB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7260DE-584E-71A1-A8B6-CF66A650BF13}"/>
              </a:ext>
            </a:extLst>
          </p:cNvPr>
          <p:cNvSpPr>
            <a:spLocks noGrp="1"/>
          </p:cNvSpPr>
          <p:nvPr>
            <p:ph type="body" sz="quarter" idx="108"/>
          </p:nvPr>
        </p:nvSpPr>
        <p:spPr>
          <a:xfrm>
            <a:off x="496388" y="1390261"/>
            <a:ext cx="11418243" cy="4836800"/>
          </a:xfrm>
        </p:spPr>
        <p:txBody>
          <a:bodyPr>
            <a:noAutofit/>
          </a:bodyPr>
          <a:lstStyle/>
          <a:p>
            <a:pPr marL="342900" indent="-342900">
              <a:lnSpc>
                <a:spcPct val="120000"/>
              </a:lnSpc>
              <a:spcBef>
                <a:spcPts val="1200"/>
              </a:spcBef>
              <a:buFont typeface="Arial" charset="0"/>
              <a:buChar char="•"/>
            </a:pPr>
            <a:r>
              <a:rPr lang="en-US" sz="2800" dirty="0"/>
              <a:t>Training</a:t>
            </a:r>
          </a:p>
          <a:p>
            <a:pPr marL="342900" indent="-342900">
              <a:lnSpc>
                <a:spcPct val="120000"/>
              </a:lnSpc>
              <a:spcBef>
                <a:spcPts val="1200"/>
              </a:spcBef>
              <a:buFont typeface="Arial" charset="0"/>
              <a:buChar char="•"/>
            </a:pPr>
            <a:r>
              <a:rPr lang="en-US" sz="2800" dirty="0"/>
              <a:t>Masked design</a:t>
            </a:r>
          </a:p>
          <a:p>
            <a:pPr lvl="1" indent="-342900">
              <a:lnSpc>
                <a:spcPct val="120000"/>
              </a:lnSpc>
              <a:spcBef>
                <a:spcPts val="1200"/>
              </a:spcBef>
              <a:buFont typeface="Arial" charset="0"/>
              <a:buChar char="•"/>
            </a:pPr>
            <a:r>
              <a:rPr lang="en-US" sz="2400" dirty="0"/>
              <a:t>Single blind – when the participant does not know which condition they are in</a:t>
            </a:r>
          </a:p>
          <a:p>
            <a:pPr lvl="1" indent="-342900">
              <a:lnSpc>
                <a:spcPct val="120000"/>
              </a:lnSpc>
              <a:spcBef>
                <a:spcPts val="1200"/>
              </a:spcBef>
              <a:buFont typeface="Arial" charset="0"/>
              <a:buChar char="•"/>
            </a:pPr>
            <a:r>
              <a:rPr lang="en-US" sz="2400" dirty="0"/>
              <a:t>Double blind – when the researcher/ observer does not know which condition a participant is in</a:t>
            </a:r>
          </a:p>
          <a:p>
            <a:pPr lvl="2" indent="-342900">
              <a:lnSpc>
                <a:spcPct val="120000"/>
              </a:lnSpc>
              <a:spcBef>
                <a:spcPts val="1200"/>
              </a:spcBef>
              <a:buFont typeface="Arial" charset="0"/>
              <a:buChar char="•"/>
            </a:pPr>
            <a:r>
              <a:rPr lang="en-US" sz="2200" dirty="0"/>
              <a:t>Preferred for observational research</a:t>
            </a:r>
          </a:p>
        </p:txBody>
      </p:sp>
      <p:sp>
        <p:nvSpPr>
          <p:cNvPr id="2" name="Title 1">
            <a:extLst>
              <a:ext uri="{FF2B5EF4-FFF2-40B4-BE49-F238E27FC236}">
                <a16:creationId xmlns:a16="http://schemas.microsoft.com/office/drawing/2014/main" id="{2305BD3B-6030-8C8A-4895-4A6FDAAE9BBC}"/>
              </a:ext>
            </a:extLst>
          </p:cNvPr>
          <p:cNvSpPr>
            <a:spLocks noGrp="1"/>
          </p:cNvSpPr>
          <p:nvPr>
            <p:ph type="title"/>
          </p:nvPr>
        </p:nvSpPr>
        <p:spPr/>
        <p:txBody>
          <a:bodyPr>
            <a:normAutofit/>
          </a:bodyPr>
          <a:lstStyle/>
          <a:p>
            <a:r>
              <a:rPr lang="en-US" dirty="0"/>
              <a:t>Preventing Observer Bias and Observer Effects</a:t>
            </a:r>
          </a:p>
        </p:txBody>
      </p:sp>
    </p:spTree>
    <p:extLst>
      <p:ext uri="{BB962C8B-B14F-4D97-AF65-F5344CB8AC3E}">
        <p14:creationId xmlns:p14="http://schemas.microsoft.com/office/powerpoint/2010/main" val="3539698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98B0A-9E3E-DA0C-370B-C8F595E098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61F0E6-6A5A-00F5-24C6-109CD0BDB98E}"/>
              </a:ext>
            </a:extLst>
          </p:cNvPr>
          <p:cNvSpPr>
            <a:spLocks noGrp="1"/>
          </p:cNvSpPr>
          <p:nvPr>
            <p:ph type="body" sz="quarter" idx="108"/>
          </p:nvPr>
        </p:nvSpPr>
        <p:spPr/>
        <p:txBody>
          <a:bodyPr>
            <a:normAutofit/>
          </a:bodyPr>
          <a:lstStyle/>
          <a:p>
            <a:pPr marL="342900" indent="-342900">
              <a:spcBef>
                <a:spcPts val="1200"/>
              </a:spcBef>
              <a:buFont typeface="Arial" charset="0"/>
              <a:buChar char="•"/>
            </a:pPr>
            <a:r>
              <a:rPr lang="en-US" sz="2800" b="1" dirty="0"/>
              <a:t>Reactivity</a:t>
            </a:r>
            <a:r>
              <a:rPr lang="en-US" sz="2800" dirty="0"/>
              <a:t> – when people change their behavior in some way when they know that someone else is watching them</a:t>
            </a:r>
          </a:p>
          <a:p>
            <a:pPr marL="342900" indent="-342900">
              <a:spcBef>
                <a:spcPts val="1200"/>
              </a:spcBef>
              <a:buFont typeface="Arial" charset="0"/>
              <a:buChar char="•"/>
            </a:pPr>
            <a:r>
              <a:rPr lang="en-US" sz="2800" dirty="0"/>
              <a:t>Solution 1: Blend in</a:t>
            </a:r>
          </a:p>
          <a:p>
            <a:pPr marL="1028700" lvl="1" indent="-457200">
              <a:spcBef>
                <a:spcPts val="1200"/>
              </a:spcBef>
              <a:buFont typeface="Courier New" panose="02070309020205020404" pitchFamily="49" charset="0"/>
              <a:buChar char="o"/>
            </a:pPr>
            <a:r>
              <a:rPr lang="en-US" sz="2800" dirty="0"/>
              <a:t>Unobtrusive observations</a:t>
            </a:r>
          </a:p>
          <a:p>
            <a:pPr marL="342900" indent="-342900">
              <a:spcBef>
                <a:spcPts val="1200"/>
              </a:spcBef>
              <a:buFont typeface="Arial" charset="0"/>
              <a:buChar char="•"/>
            </a:pPr>
            <a:r>
              <a:rPr lang="en-US" sz="2800" dirty="0"/>
              <a:t>Solution 2: Wait it out</a:t>
            </a:r>
          </a:p>
          <a:p>
            <a:pPr marL="342900" indent="-342900">
              <a:spcBef>
                <a:spcPts val="1200"/>
              </a:spcBef>
              <a:buFont typeface="Arial" charset="0"/>
              <a:buChar char="•"/>
            </a:pPr>
            <a:r>
              <a:rPr lang="en-US" sz="2800" dirty="0"/>
              <a:t>Solution 3: Measure the behavior’s results</a:t>
            </a:r>
          </a:p>
        </p:txBody>
      </p:sp>
      <p:sp>
        <p:nvSpPr>
          <p:cNvPr id="2" name="Title 1">
            <a:extLst>
              <a:ext uri="{FF2B5EF4-FFF2-40B4-BE49-F238E27FC236}">
                <a16:creationId xmlns:a16="http://schemas.microsoft.com/office/drawing/2014/main" id="{C5950A76-2D59-4B32-5971-E3530BBE416D}"/>
              </a:ext>
            </a:extLst>
          </p:cNvPr>
          <p:cNvSpPr>
            <a:spLocks noGrp="1"/>
          </p:cNvSpPr>
          <p:nvPr>
            <p:ph type="title"/>
          </p:nvPr>
        </p:nvSpPr>
        <p:spPr/>
        <p:txBody>
          <a:bodyPr anchor="t">
            <a:normAutofit fontScale="90000"/>
          </a:bodyPr>
          <a:lstStyle/>
          <a:p>
            <a:r>
              <a:rPr lang="en-US"/>
              <a:t>Reactivity: When Participants React to Being Watched</a:t>
            </a:r>
            <a:endParaRPr lang="en-US" dirty="0"/>
          </a:p>
        </p:txBody>
      </p:sp>
      <p:pic>
        <p:nvPicPr>
          <p:cNvPr id="4" name="Picture 2" descr="A photo shows a researcher observing a small group of children playing in a classroom on the other side of a one way mirror.">
            <a:extLst>
              <a:ext uri="{FF2B5EF4-FFF2-40B4-BE49-F238E27FC236}">
                <a16:creationId xmlns:a16="http://schemas.microsoft.com/office/drawing/2014/main" id="{E394517F-93EC-52F9-D3DC-60A435FDE751}"/>
              </a:ext>
            </a:extLst>
          </p:cNvPr>
          <p:cNvPicPr>
            <a:picLocks noChangeAspect="1"/>
          </p:cNvPicPr>
          <p:nvPr/>
        </p:nvPicPr>
        <p:blipFill>
          <a:blip r:embed="rId3"/>
          <a:srcRect b="14235"/>
          <a:stretch/>
        </p:blipFill>
        <p:spPr>
          <a:xfrm>
            <a:off x="7473525" y="3531444"/>
            <a:ext cx="4441106" cy="2961430"/>
          </a:xfrm>
          <a:prstGeom prst="rect">
            <a:avLst/>
          </a:prstGeom>
          <a:noFill/>
        </p:spPr>
      </p:pic>
    </p:spTree>
    <p:extLst>
      <p:ext uri="{BB962C8B-B14F-4D97-AF65-F5344CB8AC3E}">
        <p14:creationId xmlns:p14="http://schemas.microsoft.com/office/powerpoint/2010/main" val="3340221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A961E-D39C-FE0A-0FFA-5A8025D811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D1FCDF-FD9F-3350-B0ED-CA3309D20630}"/>
              </a:ext>
            </a:extLst>
          </p:cNvPr>
          <p:cNvSpPr>
            <a:spLocks noGrp="1"/>
          </p:cNvSpPr>
          <p:nvPr>
            <p:ph type="body" sz="quarter" idx="108"/>
          </p:nvPr>
        </p:nvSpPr>
        <p:spPr/>
        <p:txBody>
          <a:bodyPr>
            <a:normAutofit/>
          </a:bodyPr>
          <a:lstStyle/>
          <a:p>
            <a:pPr marL="342900" indent="-342900">
              <a:spcBef>
                <a:spcPts val="1200"/>
              </a:spcBef>
              <a:buFont typeface="Arial" charset="0"/>
              <a:buChar char="•"/>
            </a:pPr>
            <a:r>
              <a:rPr lang="en-US" sz="2800" dirty="0"/>
              <a:t>Is it ethical for researchers to observe the behaviors of others?</a:t>
            </a:r>
          </a:p>
          <a:p>
            <a:pPr marL="1028700" lvl="1" indent="-457200">
              <a:spcBef>
                <a:spcPts val="1200"/>
              </a:spcBef>
              <a:buFont typeface="Courier New" panose="02070309020205020404" pitchFamily="49" charset="0"/>
              <a:buChar char="o"/>
            </a:pPr>
            <a:r>
              <a:rPr lang="en-US" sz="2800" dirty="0"/>
              <a:t>Short answer: It depends.</a:t>
            </a:r>
          </a:p>
          <a:p>
            <a:pPr marL="1028700" lvl="1" indent="-457200">
              <a:spcBef>
                <a:spcPts val="1200"/>
              </a:spcBef>
              <a:buFont typeface="Courier New" panose="02070309020205020404" pitchFamily="49" charset="0"/>
              <a:buChar char="o"/>
            </a:pPr>
            <a:r>
              <a:rPr lang="en-US" sz="2800" dirty="0"/>
              <a:t>Public place/ setting?</a:t>
            </a:r>
          </a:p>
          <a:p>
            <a:pPr marL="1428750" lvl="2" indent="-457200">
              <a:spcBef>
                <a:spcPts val="1200"/>
              </a:spcBef>
              <a:buFont typeface="Courier New" panose="02070309020205020404" pitchFamily="49" charset="0"/>
              <a:buChar char="o"/>
            </a:pPr>
            <a:r>
              <a:rPr lang="en-US" sz="2600" dirty="0"/>
              <a:t>Ex: Online</a:t>
            </a:r>
          </a:p>
          <a:p>
            <a:pPr marL="1028700" lvl="1" indent="-457200">
              <a:spcBef>
                <a:spcPts val="1200"/>
              </a:spcBef>
              <a:buFont typeface="Courier New" panose="02070309020205020404" pitchFamily="49" charset="0"/>
              <a:buChar char="o"/>
            </a:pPr>
            <a:r>
              <a:rPr lang="en-US" sz="2800" dirty="0"/>
              <a:t>Types of behaviors?</a:t>
            </a:r>
          </a:p>
        </p:txBody>
      </p:sp>
      <p:sp>
        <p:nvSpPr>
          <p:cNvPr id="2" name="Title 1">
            <a:extLst>
              <a:ext uri="{FF2B5EF4-FFF2-40B4-BE49-F238E27FC236}">
                <a16:creationId xmlns:a16="http://schemas.microsoft.com/office/drawing/2014/main" id="{81D5530F-C34B-13E0-6FAF-DD2DEFCAFD74}"/>
              </a:ext>
            </a:extLst>
          </p:cNvPr>
          <p:cNvSpPr>
            <a:spLocks noGrp="1"/>
          </p:cNvSpPr>
          <p:nvPr>
            <p:ph type="title"/>
          </p:nvPr>
        </p:nvSpPr>
        <p:spPr/>
        <p:txBody>
          <a:bodyPr anchor="t">
            <a:normAutofit/>
          </a:bodyPr>
          <a:lstStyle/>
          <a:p>
            <a:r>
              <a:rPr lang="en-US"/>
              <a:t>Observing People Ethically</a:t>
            </a:r>
            <a:endParaRPr lang="en-US" dirty="0"/>
          </a:p>
        </p:txBody>
      </p:sp>
    </p:spTree>
    <p:extLst>
      <p:ext uri="{BB962C8B-B14F-4D97-AF65-F5344CB8AC3E}">
        <p14:creationId xmlns:p14="http://schemas.microsoft.com/office/powerpoint/2010/main" val="426243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3F3855-91B7-A7FF-26BE-C736F2D8153B}"/>
              </a:ext>
            </a:extLst>
          </p:cNvPr>
          <p:cNvSpPr>
            <a:spLocks noGrp="1"/>
          </p:cNvSpPr>
          <p:nvPr>
            <p:ph type="body" sz="quarter" idx="108"/>
          </p:nvPr>
        </p:nvSpPr>
        <p:spPr/>
        <p:txBody>
          <a:bodyPr/>
          <a:lstStyle/>
          <a:p>
            <a:r>
              <a:rPr lang="en-US" b="1" dirty="0"/>
              <a:t>Interviews</a:t>
            </a:r>
            <a:r>
              <a:rPr lang="en-US" dirty="0"/>
              <a:t> – qualitative method for learning information about a person on a deeper level</a:t>
            </a:r>
          </a:p>
          <a:p>
            <a:pPr lvl="1"/>
            <a:r>
              <a:rPr lang="en-US" dirty="0"/>
              <a:t>Lots of information, but takes a lot of time</a:t>
            </a:r>
          </a:p>
          <a:p>
            <a:r>
              <a:rPr lang="en-US" b="1" dirty="0"/>
              <a:t>Informants</a:t>
            </a:r>
            <a:r>
              <a:rPr lang="en-US" dirty="0"/>
              <a:t> – people who are experts on a topic</a:t>
            </a:r>
          </a:p>
          <a:p>
            <a:pPr lvl="1"/>
            <a:r>
              <a:rPr lang="en-US" b="1" dirty="0"/>
              <a:t>Focus group</a:t>
            </a:r>
            <a:r>
              <a:rPr lang="en-US" dirty="0"/>
              <a:t> – a group of informants</a:t>
            </a:r>
          </a:p>
          <a:p>
            <a:r>
              <a:rPr lang="en-US" dirty="0"/>
              <a:t>Techniques for getting in-depth information:</a:t>
            </a:r>
          </a:p>
          <a:p>
            <a:pPr lvl="1"/>
            <a:r>
              <a:rPr lang="en-US" dirty="0"/>
              <a:t>Build rapport; Ask how, not why; Ask for informants opinions as experts/ emphasize your lack of knowledge; pretest your questions on others; normalize all answers; use participants own words; allow some silence; keep recording as you pack up</a:t>
            </a:r>
          </a:p>
        </p:txBody>
      </p:sp>
      <p:sp>
        <p:nvSpPr>
          <p:cNvPr id="3" name="Title 2">
            <a:extLst>
              <a:ext uri="{FF2B5EF4-FFF2-40B4-BE49-F238E27FC236}">
                <a16:creationId xmlns:a16="http://schemas.microsoft.com/office/drawing/2014/main" id="{475CB2EA-7FAA-277B-28A9-4A5826A873B1}"/>
              </a:ext>
            </a:extLst>
          </p:cNvPr>
          <p:cNvSpPr>
            <a:spLocks noGrp="1"/>
          </p:cNvSpPr>
          <p:nvPr>
            <p:ph type="title"/>
          </p:nvPr>
        </p:nvSpPr>
        <p:spPr/>
        <p:txBody>
          <a:bodyPr/>
          <a:lstStyle/>
          <a:p>
            <a:r>
              <a:rPr lang="en-US" dirty="0"/>
              <a:t>Interviews</a:t>
            </a:r>
          </a:p>
        </p:txBody>
      </p:sp>
    </p:spTree>
    <p:extLst>
      <p:ext uri="{BB962C8B-B14F-4D97-AF65-F5344CB8AC3E}">
        <p14:creationId xmlns:p14="http://schemas.microsoft.com/office/powerpoint/2010/main" val="2096812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44DF5F1-7A8B-8D25-BB4A-8EE9DCD2C1F5}"/>
              </a:ext>
            </a:extLst>
          </p:cNvPr>
          <p:cNvSpPr>
            <a:spLocks noGrp="1"/>
          </p:cNvSpPr>
          <p:nvPr>
            <p:ph type="body" sz="quarter" idx="106"/>
          </p:nvPr>
        </p:nvSpPr>
        <p:spPr/>
        <p:txBody>
          <a:bodyPr/>
          <a:lstStyle/>
          <a:p>
            <a:pPr marL="0" indent="0">
              <a:buNone/>
            </a:pPr>
            <a:r>
              <a:rPr lang="en-US" b="1" dirty="0"/>
              <a:t>Before Next Class(es):</a:t>
            </a:r>
            <a:endParaRPr lang="en-US" dirty="0"/>
          </a:p>
          <a:p>
            <a:pPr lvl="0"/>
            <a:r>
              <a:rPr lang="en-US" dirty="0"/>
              <a:t>Read Chapter 6 and complete </a:t>
            </a:r>
            <a:r>
              <a:rPr lang="en-US" dirty="0" err="1"/>
              <a:t>Ebook</a:t>
            </a:r>
            <a:r>
              <a:rPr lang="en-US" dirty="0"/>
              <a:t>: Chapter 6 assignment</a:t>
            </a:r>
          </a:p>
          <a:p>
            <a:pPr lvl="1"/>
            <a:r>
              <a:rPr lang="en-US" dirty="0"/>
              <a:t>Due 10/7 at 11:59 pm</a:t>
            </a:r>
          </a:p>
          <a:p>
            <a:pPr lvl="0"/>
            <a:r>
              <a:rPr lang="en-US" dirty="0"/>
              <a:t>Complete InQuizitive: Chapter 6</a:t>
            </a:r>
          </a:p>
          <a:p>
            <a:pPr lvl="1"/>
            <a:r>
              <a:rPr lang="en-US" dirty="0"/>
              <a:t>Due 10/7 at 11:59 pm</a:t>
            </a:r>
          </a:p>
          <a:p>
            <a:endParaRPr lang="en-US" dirty="0"/>
          </a:p>
        </p:txBody>
      </p:sp>
      <p:sp>
        <p:nvSpPr>
          <p:cNvPr id="2" name="Text Placeholder 1">
            <a:extLst>
              <a:ext uri="{FF2B5EF4-FFF2-40B4-BE49-F238E27FC236}">
                <a16:creationId xmlns:a16="http://schemas.microsoft.com/office/drawing/2014/main" id="{67515C91-71C4-54B6-24D6-BA9D0AF77DB8}"/>
              </a:ext>
            </a:extLst>
          </p:cNvPr>
          <p:cNvSpPr>
            <a:spLocks noGrp="1"/>
          </p:cNvSpPr>
          <p:nvPr>
            <p:ph type="body" sz="quarter" idx="107"/>
          </p:nvPr>
        </p:nvSpPr>
        <p:spPr/>
        <p:txBody>
          <a:bodyPr/>
          <a:lstStyle/>
          <a:p>
            <a:pPr marL="0" indent="0">
              <a:buNone/>
            </a:pPr>
            <a:r>
              <a:rPr lang="en-US" b="1" dirty="0"/>
              <a:t>Next Class:</a:t>
            </a:r>
            <a:endParaRPr lang="en-US" dirty="0"/>
          </a:p>
          <a:p>
            <a:r>
              <a:rPr lang="en-US" dirty="0"/>
              <a:t>Chapter 7: Sampling</a:t>
            </a:r>
          </a:p>
        </p:txBody>
      </p:sp>
      <p:sp>
        <p:nvSpPr>
          <p:cNvPr id="5" name="Title 4">
            <a:extLst>
              <a:ext uri="{FF2B5EF4-FFF2-40B4-BE49-F238E27FC236}">
                <a16:creationId xmlns:a16="http://schemas.microsoft.com/office/drawing/2014/main" id="{7102B905-D5A8-B4AA-6358-45B56454E729}"/>
              </a:ext>
            </a:extLst>
          </p:cNvPr>
          <p:cNvSpPr>
            <a:spLocks noGrp="1"/>
          </p:cNvSpPr>
          <p:nvPr>
            <p:ph type="title"/>
          </p:nvPr>
        </p:nvSpPr>
        <p:spPr/>
        <p:txBody>
          <a:bodyPr/>
          <a:lstStyle/>
          <a:p>
            <a:r>
              <a:rPr lang="en-US" dirty="0"/>
              <a:t>Next Time on PSY 270…</a:t>
            </a:r>
          </a:p>
        </p:txBody>
      </p:sp>
    </p:spTree>
    <p:extLst>
      <p:ext uri="{BB962C8B-B14F-4D97-AF65-F5344CB8AC3E}">
        <p14:creationId xmlns:p14="http://schemas.microsoft.com/office/powerpoint/2010/main" val="1900947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3.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1869</TotalTime>
  <Words>772</Words>
  <Application>Microsoft Office PowerPoint</Application>
  <PresentationFormat>Widescreen</PresentationFormat>
  <Paragraphs>123</Paragraphs>
  <Slides>25</Slides>
  <Notes>25</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Britannic Bold</vt:lpstr>
      <vt:lpstr>Cambria</vt:lpstr>
      <vt:lpstr>Courier New</vt:lpstr>
      <vt:lpstr>Garamond</vt:lpstr>
      <vt:lpstr>Office Theme</vt:lpstr>
      <vt:lpstr>Chapter 6</vt:lpstr>
      <vt:lpstr>Reminders</vt:lpstr>
      <vt:lpstr>Agenda</vt:lpstr>
      <vt:lpstr>Construct Validity of Surveys and Polls</vt:lpstr>
      <vt:lpstr>Surveys and Polls</vt:lpstr>
      <vt:lpstr>Choosing Question Formats</vt:lpstr>
      <vt:lpstr>Writing Well-Worded Questions </vt:lpstr>
      <vt:lpstr>Writing Well-Worded Questions </vt:lpstr>
      <vt:lpstr>Writing Well-Worded Questions</vt:lpstr>
      <vt:lpstr>Writing Well-Worded Questions</vt:lpstr>
      <vt:lpstr>Writing Well-Worded Questions</vt:lpstr>
      <vt:lpstr>Encouraging Accurate Responses</vt:lpstr>
      <vt:lpstr>Encouraging Accurate Responses</vt:lpstr>
      <vt:lpstr>Pew Research Center Methods 101: Question Wording</vt:lpstr>
      <vt:lpstr>Observational Research</vt:lpstr>
      <vt:lpstr>Construct Validity of Behavioral Observations</vt:lpstr>
      <vt:lpstr>Some Claims Based on Observational Data</vt:lpstr>
      <vt:lpstr>Making Reliable and Valid Observations</vt:lpstr>
      <vt:lpstr>Making Reliable and Valid Observations</vt:lpstr>
      <vt:lpstr>Clever Hans</vt:lpstr>
      <vt:lpstr>Preventing Observer Bias and Observer Effects</vt:lpstr>
      <vt:lpstr>Reactivity: When Participants React to Being Watched</vt:lpstr>
      <vt:lpstr>Observing People Ethically</vt:lpstr>
      <vt:lpstr>Interviews</vt:lpstr>
      <vt:lpstr>Next Time on PSY 270…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23</cp:revision>
  <dcterms:created xsi:type="dcterms:W3CDTF">2026-08-20T19:50:46Z</dcterms:created>
  <dcterms:modified xsi:type="dcterms:W3CDTF">2026-10-02T10:44:38Z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