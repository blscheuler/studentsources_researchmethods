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9"/>
  </p:notesMasterIdLst>
  <p:sldIdLst>
    <p:sldId id="256" r:id="rId5"/>
    <p:sldId id="259" r:id="rId6"/>
    <p:sldId id="284" r:id="rId7"/>
    <p:sldId id="286" r:id="rId8"/>
    <p:sldId id="306" r:id="rId9"/>
    <p:sldId id="285" r:id="rId10"/>
    <p:sldId id="287" r:id="rId11"/>
    <p:sldId id="297" r:id="rId12"/>
    <p:sldId id="288" r:id="rId13"/>
    <p:sldId id="296" r:id="rId14"/>
    <p:sldId id="298" r:id="rId15"/>
    <p:sldId id="299" r:id="rId16"/>
    <p:sldId id="300" r:id="rId17"/>
    <p:sldId id="289" r:id="rId18"/>
    <p:sldId id="301" r:id="rId19"/>
    <p:sldId id="290" r:id="rId20"/>
    <p:sldId id="291" r:id="rId21"/>
    <p:sldId id="292" r:id="rId22"/>
    <p:sldId id="294" r:id="rId23"/>
    <p:sldId id="293" r:id="rId24"/>
    <p:sldId id="295" r:id="rId25"/>
    <p:sldId id="302" r:id="rId26"/>
    <p:sldId id="305" r:id="rId27"/>
    <p:sldId id="261" r:id="rId2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B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8" autoAdjust="0"/>
    <p:restoredTop sz="77703" autoAdjust="0"/>
  </p:normalViewPr>
  <p:slideViewPr>
    <p:cSldViewPr snapToGrid="0" snapToObjects="1">
      <p:cViewPr varScale="1">
        <p:scale>
          <a:sx n="87" d="100"/>
          <a:sy n="87" d="100"/>
        </p:scale>
        <p:origin x="99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44804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9905758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8852330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5904795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38807698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35655831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10466215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20207723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3542992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21592217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37347888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1638781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37307606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11056084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8269545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39817990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15155585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34646708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13003645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33487808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40431727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23182477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40393633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24855493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36012012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RM_Title">
    <p:bg>
      <p:bgPr>
        <a:solidFill>
          <a:srgbClr val="F8FBFE"/>
        </a:solidFill>
        <a:effectLst/>
      </p:bgPr>
    </p:bg>
    <p:spTree>
      <p:nvGrpSpPr>
        <p:cNvPr id="1" name=""/>
        <p:cNvGrpSpPr/>
        <p:nvPr/>
      </p:nvGrpSpPr>
      <p:grpSpPr>
        <a:xfrm>
          <a:off x="0" y="0"/>
          <a:ext cx="0" cy="0"/>
          <a:chOff x="0" y="0"/>
          <a:chExt cx="0" cy="0"/>
        </a:xfrm>
      </p:grpSpPr>
      <p:pic>
        <p:nvPicPr>
          <p:cNvPr id="9" name="Picture 8" descr="Canvas Banner.png (1983×793)">
            <a:extLst>
              <a:ext uri="{FF2B5EF4-FFF2-40B4-BE49-F238E27FC236}">
                <a16:creationId xmlns:a16="http://schemas.microsoft.com/office/drawing/2014/main" id="{CF1D1F45-544E-1E4A-0F49-6BDEB9C7CCFF}"/>
              </a:ext>
            </a:extLst>
          </p:cNvPr>
          <p:cNvPicPr>
            <a:picLocks noChangeAspect="1"/>
          </p:cNvPicPr>
          <p:nvPr userDrawn="1"/>
        </p:nvPicPr>
        <p:blipFill>
          <a:blip r:embed="rId2">
            <a:alphaModFix amt="51000"/>
          </a:blip>
          <a:srcRect l="29448"/>
          <a:stretch>
            <a:fillRect/>
          </a:stretch>
        </p:blipFill>
        <p:spPr>
          <a:xfrm>
            <a:off x="0" y="-26329"/>
            <a:ext cx="12192000" cy="6910657"/>
          </a:xfrm>
          <a:prstGeom prst="rect">
            <a:avLst/>
          </a:prstGeom>
        </p:spPr>
      </p:pic>
      <p:sp>
        <p:nvSpPr>
          <p:cNvPr id="3" name="Shape 1"/>
          <p:cNvSpPr/>
          <p:nvPr/>
        </p:nvSpPr>
        <p:spPr>
          <a:xfrm>
            <a:off x="320040" y="320040"/>
            <a:ext cx="2834640" cy="914400"/>
          </a:xfrm>
          <a:prstGeom prst="rect">
            <a:avLst/>
          </a:prstGeom>
          <a:solidFill>
            <a:srgbClr val="D9E6F2">
              <a:alpha val="82000"/>
            </a:srgbClr>
          </a:solidFill>
          <a:ln w="12700">
            <a:solidFill>
              <a:srgbClr val="D9E6F2">
                <a:alpha val="0"/>
              </a:srgbClr>
            </a:solidFill>
            <a:prstDash val="solid"/>
          </a:ln>
        </p:spPr>
        <p:txBody>
          <a:bodyPr/>
          <a:lstStyle/>
          <a:p>
            <a:endParaRPr lang="en-US"/>
          </a:p>
        </p:txBody>
      </p:sp>
      <p:sp>
        <p:nvSpPr>
          <p:cNvPr id="4" name="Shape 2"/>
          <p:cNvSpPr/>
          <p:nvPr/>
        </p:nvSpPr>
        <p:spPr>
          <a:xfrm>
            <a:off x="9098280" y="5440680"/>
            <a:ext cx="2651760" cy="960120"/>
          </a:xfrm>
          <a:prstGeom prst="rect">
            <a:avLst/>
          </a:prstGeom>
          <a:solidFill>
            <a:srgbClr val="C9DAEA">
              <a:alpha val="72000"/>
            </a:srgbClr>
          </a:solidFill>
          <a:ln w="12700">
            <a:solidFill>
              <a:srgbClr val="C9DAEA">
                <a:alpha val="0"/>
              </a:srgbClr>
            </a:solidFill>
            <a:prstDash val="solid"/>
          </a:ln>
        </p:spPr>
        <p:txBody>
          <a:bodyPr/>
          <a:lstStyle/>
          <a:p>
            <a:endParaRPr lang="en-US"/>
          </a:p>
        </p:txBody>
      </p:sp>
      <p:sp>
        <p:nvSpPr>
          <p:cNvPr id="5" name="Shape 3"/>
          <p:cNvSpPr/>
          <p:nvPr/>
        </p:nvSpPr>
        <p:spPr>
          <a:xfrm>
            <a:off x="594360" y="5989320"/>
            <a:ext cx="3840480" cy="0"/>
          </a:xfrm>
          <a:prstGeom prst="line">
            <a:avLst/>
          </a:prstGeom>
          <a:noFill/>
          <a:ln w="15240">
            <a:solidFill>
              <a:srgbClr val="B79A67">
                <a:alpha val="80000"/>
              </a:srgbClr>
            </a:solidFill>
            <a:prstDash val="solid"/>
          </a:ln>
        </p:spPr>
        <p:txBody>
          <a:bodyPr/>
          <a:lstStyle/>
          <a:p>
            <a:endParaRPr lang="en-US"/>
          </a:p>
        </p:txBody>
      </p:sp>
      <p:sp>
        <p:nvSpPr>
          <p:cNvPr id="8" name="Text 4"/>
          <p:cNvSpPr/>
          <p:nvPr/>
        </p:nvSpPr>
        <p:spPr>
          <a:xfrm>
            <a:off x="822960" y="6172200"/>
            <a:ext cx="2926080" cy="228600"/>
          </a:xfrm>
          <a:prstGeom prst="rect">
            <a:avLst/>
          </a:prstGeom>
          <a:noFill/>
          <a:ln/>
        </p:spPr>
        <p:txBody>
          <a:bodyPr wrap="square" lIns="0" tIns="0" rIns="0" bIns="0" rtlCol="0" anchor="ctr"/>
          <a:lstStyle/>
          <a:p>
            <a:pPr marL="0" indent="0">
              <a:buNone/>
            </a:pPr>
            <a:r>
              <a:rPr lang="en-US" sz="900" b="1" dirty="0">
                <a:solidFill>
                  <a:srgbClr val="526F92"/>
                </a:solidFill>
                <a:latin typeface="Aptos" pitchFamily="34" charset="0"/>
                <a:ea typeface="Aptos" pitchFamily="34" charset="-122"/>
                <a:cs typeface="Aptos" pitchFamily="34" charset="-120"/>
              </a:rPr>
              <a:t>RESEARCH METHODS</a:t>
            </a:r>
            <a:endParaRPr lang="en-US" sz="900" dirty="0"/>
          </a:p>
        </p:txBody>
      </p:sp>
      <p:sp>
        <p:nvSpPr>
          <p:cNvPr id="2" name="Title 1">
            <a:extLst>
              <a:ext uri="{FF2B5EF4-FFF2-40B4-BE49-F238E27FC236}">
                <a16:creationId xmlns:a16="http://schemas.microsoft.com/office/drawing/2014/main" id="{F86770DB-7284-A1F7-43CD-35A95A644A30}"/>
              </a:ext>
            </a:extLst>
          </p:cNvPr>
          <p:cNvSpPr>
            <a:spLocks noGrp="1"/>
          </p:cNvSpPr>
          <p:nvPr>
            <p:ph type="title"/>
          </p:nvPr>
        </p:nvSpPr>
        <p:spPr>
          <a:xfrm>
            <a:off x="2046191" y="863353"/>
            <a:ext cx="5869901" cy="1799292"/>
          </a:xfrm>
          <a:prstGeom prst="rect">
            <a:avLst/>
          </a:prstGeom>
          <a:solidFill>
            <a:srgbClr val="F8FBFE"/>
          </a:solidFill>
        </p:spPr>
        <p:txBody>
          <a:bodyPr anchor="ctr"/>
          <a:lstStyle>
            <a:lvl1pPr>
              <a:defRPr>
                <a:latin typeface="Britannic Bold" panose="020B0903060703020204" pitchFamily="34" charset="0"/>
              </a:defRPr>
            </a:lvl1pPr>
          </a:lstStyle>
          <a:p>
            <a:r>
              <a:rPr lang="en-US"/>
              <a:t>Click to edit Master title style</a:t>
            </a:r>
            <a:endParaRPr lang="en-US" dirty="0"/>
          </a:p>
        </p:txBody>
      </p:sp>
      <p:sp>
        <p:nvSpPr>
          <p:cNvPr id="11" name="Content Placeholder 10">
            <a:extLst>
              <a:ext uri="{FF2B5EF4-FFF2-40B4-BE49-F238E27FC236}">
                <a16:creationId xmlns:a16="http://schemas.microsoft.com/office/drawing/2014/main" id="{C4C6ACB4-35EC-85AB-E81B-5923C3447E22}"/>
              </a:ext>
            </a:extLst>
          </p:cNvPr>
          <p:cNvSpPr>
            <a:spLocks noGrp="1"/>
          </p:cNvSpPr>
          <p:nvPr>
            <p:ph sz="quarter" idx="10" hasCustomPrompt="1"/>
          </p:nvPr>
        </p:nvSpPr>
        <p:spPr>
          <a:xfrm>
            <a:off x="2286000" y="3178175"/>
            <a:ext cx="6378575" cy="1516063"/>
          </a:xfrm>
          <a:prstGeom prst="rect">
            <a:avLst/>
          </a:prstGeom>
          <a:solidFill>
            <a:srgbClr val="F8FBFE"/>
          </a:solidFill>
        </p:spPr>
        <p:txBody>
          <a:bodyPr anchor="ctr"/>
          <a:lstStyle>
            <a:lvl1pPr algn="ctr">
              <a:buNone/>
              <a:defRPr sz="2800">
                <a:latin typeface="Aptos Display" panose="020B0004020202020204" pitchFamily="34" charset="0"/>
              </a:defRPr>
            </a:lvl1pPr>
          </a:lstStyle>
          <a:p>
            <a:pPr lvl="0"/>
            <a:r>
              <a:rPr lang="en-US" dirty="0"/>
              <a:t>Click to edit subtitle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RM_Content">
    <p:bg>
      <p:bgPr>
        <a:solidFill>
          <a:srgbClr val="EAF2F8"/>
        </a:solidFill>
        <a:effectLst/>
      </p:bgPr>
    </p:bg>
    <p:spTree>
      <p:nvGrpSpPr>
        <p:cNvPr id="1" name=""/>
        <p:cNvGrpSpPr/>
        <p:nvPr/>
      </p:nvGrpSpPr>
      <p:grpSpPr>
        <a:xfrm>
          <a:off x="0" y="0"/>
          <a:ext cx="0" cy="0"/>
          <a:chOff x="0" y="0"/>
          <a:chExt cx="0" cy="0"/>
        </a:xfrm>
      </p:grpSpPr>
      <p:sp>
        <p:nvSpPr>
          <p:cNvPr id="2" name="Shape 0"/>
          <p:cNvSpPr/>
          <p:nvPr/>
        </p:nvSpPr>
        <p:spPr>
          <a:xfrm>
            <a:off x="-2743" y="0"/>
            <a:ext cx="12191695" cy="6858000"/>
          </a:xfrm>
          <a:prstGeom prst="rect">
            <a:avLst/>
          </a:prstGeom>
          <a:solidFill>
            <a:srgbClr val="EAF2F8"/>
          </a:solidFill>
          <a:ln w="12700">
            <a:solidFill>
              <a:srgbClr val="EAF2F8"/>
            </a:solidFill>
            <a:prstDash val="solid"/>
          </a:ln>
        </p:spPr>
        <p:txBody>
          <a:bodyPr/>
          <a:lstStyle/>
          <a:p>
            <a:endParaRPr lang="en-US"/>
          </a:p>
        </p:txBody>
      </p:sp>
      <p:sp>
        <p:nvSpPr>
          <p:cNvPr id="3" name="Shape 1"/>
          <p:cNvSpPr/>
          <p:nvPr/>
        </p:nvSpPr>
        <p:spPr>
          <a:xfrm>
            <a:off x="10771632" y="0"/>
            <a:ext cx="1417320" cy="658368"/>
          </a:xfrm>
          <a:prstGeom prst="rect">
            <a:avLst/>
          </a:prstGeom>
          <a:solidFill>
            <a:srgbClr val="C7DAEB">
              <a:alpha val="95000"/>
            </a:srgbClr>
          </a:solidFill>
          <a:ln w="12700">
            <a:solidFill>
              <a:srgbClr val="C7DAEB">
                <a:alpha val="0"/>
              </a:srgbClr>
            </a:solidFill>
            <a:prstDash val="solid"/>
          </a:ln>
        </p:spPr>
        <p:txBody>
          <a:bodyPr/>
          <a:lstStyle/>
          <a:p>
            <a:endParaRPr lang="en-US"/>
          </a:p>
        </p:txBody>
      </p:sp>
      <p:sp>
        <p:nvSpPr>
          <p:cNvPr id="4" name="Shape 2"/>
          <p:cNvSpPr/>
          <p:nvPr/>
        </p:nvSpPr>
        <p:spPr>
          <a:xfrm>
            <a:off x="11247120" y="530352"/>
            <a:ext cx="941832" cy="530352"/>
          </a:xfrm>
          <a:prstGeom prst="rect">
            <a:avLst/>
          </a:prstGeom>
          <a:solidFill>
            <a:srgbClr val="AFC8E0">
              <a:alpha val="82000"/>
            </a:srgbClr>
          </a:solidFill>
          <a:ln w="12700">
            <a:solidFill>
              <a:srgbClr val="AFC8E0">
                <a:alpha val="0"/>
              </a:srgbClr>
            </a:solidFill>
            <a:prstDash val="solid"/>
          </a:ln>
        </p:spPr>
        <p:txBody>
          <a:bodyPr/>
          <a:lstStyle/>
          <a:p>
            <a:endParaRPr lang="en-US"/>
          </a:p>
        </p:txBody>
      </p:sp>
      <p:sp>
        <p:nvSpPr>
          <p:cNvPr id="5" name="Shape 3"/>
          <p:cNvSpPr/>
          <p:nvPr/>
        </p:nvSpPr>
        <p:spPr>
          <a:xfrm>
            <a:off x="10652760" y="850392"/>
            <a:ext cx="1261872" cy="0"/>
          </a:xfrm>
          <a:prstGeom prst="line">
            <a:avLst/>
          </a:prstGeom>
          <a:noFill/>
          <a:ln w="13970">
            <a:solidFill>
              <a:srgbClr val="B79A67">
                <a:alpha val="75000"/>
              </a:srgbClr>
            </a:solidFill>
            <a:prstDash val="solid"/>
          </a:ln>
        </p:spPr>
        <p:txBody>
          <a:bodyPr/>
          <a:lstStyle/>
          <a:p>
            <a:endParaRPr lang="en-US"/>
          </a:p>
        </p:txBody>
      </p:sp>
      <p:sp>
        <p:nvSpPr>
          <p:cNvPr id="6" name="Shape 4"/>
          <p:cNvSpPr/>
          <p:nvPr/>
        </p:nvSpPr>
        <p:spPr>
          <a:xfrm>
            <a:off x="10835640" y="960120"/>
            <a:ext cx="1143000" cy="0"/>
          </a:xfrm>
          <a:prstGeom prst="line">
            <a:avLst/>
          </a:prstGeom>
          <a:noFill/>
          <a:ln w="12700">
            <a:solidFill>
              <a:srgbClr val="6E94BC">
                <a:alpha val="60000"/>
              </a:srgbClr>
            </a:solidFill>
            <a:prstDash val="solid"/>
          </a:ln>
        </p:spPr>
        <p:txBody>
          <a:bodyPr/>
          <a:lstStyle/>
          <a:p>
            <a:endParaRPr lang="en-US"/>
          </a:p>
        </p:txBody>
      </p:sp>
      <p:sp>
        <p:nvSpPr>
          <p:cNvPr id="8" name="Shape 5"/>
          <p:cNvSpPr/>
          <p:nvPr/>
        </p:nvSpPr>
        <p:spPr>
          <a:xfrm>
            <a:off x="658368" y="1097280"/>
            <a:ext cx="1143000" cy="0"/>
          </a:xfrm>
          <a:prstGeom prst="line">
            <a:avLst/>
          </a:prstGeom>
          <a:noFill/>
          <a:ln w="17780">
            <a:solidFill>
              <a:srgbClr val="B79A67"/>
            </a:solidFill>
            <a:prstDash val="solid"/>
          </a:ln>
        </p:spPr>
        <p:txBody>
          <a:bodyPr/>
          <a:lstStyle/>
          <a:p>
            <a:endParaRPr lang="en-US"/>
          </a:p>
        </p:txBody>
      </p:sp>
      <p:sp>
        <p:nvSpPr>
          <p:cNvPr id="10" name="Text 6"/>
          <p:cNvSpPr/>
          <p:nvPr/>
        </p:nvSpPr>
        <p:spPr>
          <a:xfrm>
            <a:off x="658368" y="6473952"/>
            <a:ext cx="2560320" cy="164592"/>
          </a:xfrm>
          <a:prstGeom prst="rect">
            <a:avLst/>
          </a:prstGeom>
          <a:noFill/>
          <a:ln/>
        </p:spPr>
        <p:txBody>
          <a:bodyPr wrap="square" lIns="0" tIns="0" rIns="0" bIns="0" rtlCol="0" anchor="ctr"/>
          <a:lstStyle/>
          <a:p>
            <a:pPr marL="0" indent="0">
              <a:buNone/>
            </a:pPr>
            <a:r>
              <a:rPr lang="en-US" sz="850" b="1" dirty="0">
                <a:solidFill>
                  <a:srgbClr val="6E89A7"/>
                </a:solidFill>
                <a:latin typeface="Aptos" pitchFamily="34" charset="0"/>
                <a:ea typeface="Aptos" pitchFamily="34" charset="-122"/>
                <a:cs typeface="Aptos" pitchFamily="34" charset="-120"/>
              </a:rPr>
              <a:t>RESEARCH METHODS</a:t>
            </a:r>
            <a:endParaRPr lang="en-US" sz="850" dirty="0"/>
          </a:p>
        </p:txBody>
      </p:sp>
      <p:sp>
        <p:nvSpPr>
          <p:cNvPr id="12" name="Text Placeholder 11">
            <a:extLst>
              <a:ext uri="{FF2B5EF4-FFF2-40B4-BE49-F238E27FC236}">
                <a16:creationId xmlns:a16="http://schemas.microsoft.com/office/drawing/2014/main" id="{DAD61541-17FC-087B-60E7-BDBB1FA62185}"/>
              </a:ext>
            </a:extLst>
          </p:cNvPr>
          <p:cNvSpPr>
            <a:spLocks noGrp="1"/>
          </p:cNvSpPr>
          <p:nvPr>
            <p:ph type="body" sz="quarter" idx="108"/>
          </p:nvPr>
        </p:nvSpPr>
        <p:spPr>
          <a:xfrm>
            <a:off x="496388" y="1252729"/>
            <a:ext cx="11418243" cy="4974332"/>
          </a:xfrm>
          <a:prstGeom prst="rect">
            <a:avLst/>
          </a:prstGeom>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itle 14">
            <a:extLst>
              <a:ext uri="{FF2B5EF4-FFF2-40B4-BE49-F238E27FC236}">
                <a16:creationId xmlns:a16="http://schemas.microsoft.com/office/drawing/2014/main" id="{711B608B-7FB0-CE35-BE98-D665E1D5F79A}"/>
              </a:ext>
            </a:extLst>
          </p:cNvPr>
          <p:cNvSpPr>
            <a:spLocks noGrp="1"/>
          </p:cNvSpPr>
          <p:nvPr>
            <p:ph type="title"/>
          </p:nvPr>
        </p:nvSpPr>
        <p:spPr>
          <a:xfrm>
            <a:off x="838200" y="365126"/>
            <a:ext cx="10515600" cy="801824"/>
          </a:xfrm>
          <a:prstGeom prst="rect">
            <a:avLst/>
          </a:prstGeom>
        </p:spPr>
        <p:txBody>
          <a:bodyPr/>
          <a:lstStyle>
            <a:lvl1pPr>
              <a:defRPr sz="3600">
                <a:latin typeface="Britannic Bold" panose="020B0903060703020204" pitchFamily="34" charset="0"/>
              </a:defRPr>
            </a:lvl1pPr>
          </a:lstStyle>
          <a:p>
            <a:r>
              <a:rPr lang="en-US"/>
              <a:t>Click to edit Master title style</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RM_Section">
    <p:bg>
      <p:bgPr>
        <a:solidFill>
          <a:srgbClr val="F8FBFE"/>
        </a:solidFill>
        <a:effectLst/>
      </p:bgPr>
    </p:bg>
    <p:spTree>
      <p:nvGrpSpPr>
        <p:cNvPr id="1" name=""/>
        <p:cNvGrpSpPr/>
        <p:nvPr/>
      </p:nvGrpSpPr>
      <p:grpSpPr>
        <a:xfrm>
          <a:off x="0" y="0"/>
          <a:ext cx="0" cy="0"/>
          <a:chOff x="0" y="0"/>
          <a:chExt cx="0" cy="0"/>
        </a:xfrm>
      </p:grpSpPr>
      <p:pic>
        <p:nvPicPr>
          <p:cNvPr id="11" name="Picture 10" descr="Canvas Banner.png (1983×793)">
            <a:extLst>
              <a:ext uri="{FF2B5EF4-FFF2-40B4-BE49-F238E27FC236}">
                <a16:creationId xmlns:a16="http://schemas.microsoft.com/office/drawing/2014/main" id="{3412E6C6-0632-85B7-5BFE-F876EAE3A5F6}"/>
              </a:ext>
            </a:extLst>
          </p:cNvPr>
          <p:cNvPicPr>
            <a:picLocks noChangeAspect="1"/>
          </p:cNvPicPr>
          <p:nvPr userDrawn="1"/>
        </p:nvPicPr>
        <p:blipFill>
          <a:blip r:embed="rId2">
            <a:alphaModFix amt="62000"/>
          </a:blip>
          <a:srcRect t="14218" r="39015"/>
          <a:stretch>
            <a:fillRect/>
          </a:stretch>
        </p:blipFill>
        <p:spPr>
          <a:xfrm>
            <a:off x="305" y="-4467"/>
            <a:ext cx="12191695" cy="6858000"/>
          </a:xfrm>
          <a:prstGeom prst="rect">
            <a:avLst/>
          </a:prstGeom>
        </p:spPr>
      </p:pic>
      <p:sp>
        <p:nvSpPr>
          <p:cNvPr id="3" name="Shape 1"/>
          <p:cNvSpPr/>
          <p:nvPr/>
        </p:nvSpPr>
        <p:spPr>
          <a:xfrm>
            <a:off x="2407920" y="338329"/>
            <a:ext cx="3688080" cy="2464202"/>
          </a:xfrm>
          <a:prstGeom prst="rect">
            <a:avLst/>
          </a:prstGeom>
          <a:solidFill>
            <a:srgbClr val="DCE9F4">
              <a:alpha val="92000"/>
            </a:srgbClr>
          </a:solidFill>
          <a:ln w="12700">
            <a:solidFill>
              <a:srgbClr val="DCE9F4">
                <a:alpha val="0"/>
              </a:srgbClr>
            </a:solidFill>
            <a:prstDash val="solid"/>
          </a:ln>
        </p:spPr>
        <p:txBody>
          <a:bodyPr/>
          <a:lstStyle/>
          <a:p>
            <a:endParaRPr lang="en-US"/>
          </a:p>
        </p:txBody>
      </p:sp>
      <p:sp>
        <p:nvSpPr>
          <p:cNvPr id="5" name="Shape 3"/>
          <p:cNvSpPr/>
          <p:nvPr/>
        </p:nvSpPr>
        <p:spPr>
          <a:xfrm>
            <a:off x="8092440" y="566928"/>
            <a:ext cx="3429000" cy="1051560"/>
          </a:xfrm>
          <a:prstGeom prst="rect">
            <a:avLst/>
          </a:prstGeom>
          <a:solidFill>
            <a:srgbClr val="AFC8E0">
              <a:alpha val="65000"/>
            </a:srgbClr>
          </a:solidFill>
          <a:ln w="12700">
            <a:solidFill>
              <a:srgbClr val="AFC8E0">
                <a:alpha val="0"/>
              </a:srgbClr>
            </a:solidFill>
            <a:prstDash val="solid"/>
          </a:ln>
        </p:spPr>
        <p:txBody>
          <a:bodyPr/>
          <a:lstStyle/>
          <a:p>
            <a:endParaRPr lang="en-US"/>
          </a:p>
        </p:txBody>
      </p:sp>
      <p:sp>
        <p:nvSpPr>
          <p:cNvPr id="6" name="Shape 4"/>
          <p:cNvSpPr/>
          <p:nvPr/>
        </p:nvSpPr>
        <p:spPr>
          <a:xfrm>
            <a:off x="8823960" y="4526280"/>
            <a:ext cx="2423160" cy="1353312"/>
          </a:xfrm>
          <a:prstGeom prst="rect">
            <a:avLst/>
          </a:prstGeom>
          <a:solidFill>
            <a:srgbClr val="8EADD0">
              <a:alpha val="52000"/>
            </a:srgbClr>
          </a:solidFill>
          <a:ln w="12700">
            <a:solidFill>
              <a:srgbClr val="8EADD0">
                <a:alpha val="0"/>
              </a:srgbClr>
            </a:solidFill>
            <a:prstDash val="solid"/>
          </a:ln>
        </p:spPr>
        <p:txBody>
          <a:bodyPr/>
          <a:lstStyle/>
          <a:p>
            <a:endParaRPr lang="en-US"/>
          </a:p>
        </p:txBody>
      </p:sp>
      <p:sp>
        <p:nvSpPr>
          <p:cNvPr id="7" name="Shape 5"/>
          <p:cNvSpPr/>
          <p:nvPr/>
        </p:nvSpPr>
        <p:spPr>
          <a:xfrm>
            <a:off x="777240" y="5102352"/>
            <a:ext cx="9784080" cy="0"/>
          </a:xfrm>
          <a:prstGeom prst="line">
            <a:avLst/>
          </a:prstGeom>
          <a:noFill/>
          <a:ln w="15240">
            <a:solidFill>
              <a:srgbClr val="B79A67">
                <a:alpha val="70000"/>
              </a:srgbClr>
            </a:solidFill>
            <a:prstDash val="solid"/>
          </a:ln>
        </p:spPr>
        <p:txBody>
          <a:bodyPr/>
          <a:lstStyle/>
          <a:p>
            <a:endParaRPr lang="en-US"/>
          </a:p>
        </p:txBody>
      </p:sp>
      <p:sp>
        <p:nvSpPr>
          <p:cNvPr id="10" name="Text 6"/>
          <p:cNvSpPr/>
          <p:nvPr/>
        </p:nvSpPr>
        <p:spPr>
          <a:xfrm>
            <a:off x="822960" y="6327648"/>
            <a:ext cx="2743200" cy="201168"/>
          </a:xfrm>
          <a:prstGeom prst="rect">
            <a:avLst/>
          </a:prstGeom>
          <a:noFill/>
          <a:ln/>
        </p:spPr>
        <p:txBody>
          <a:bodyPr wrap="square" lIns="0" tIns="0" rIns="0" bIns="0" rtlCol="0" anchor="ctr"/>
          <a:lstStyle/>
          <a:p>
            <a:pPr marL="0" indent="0">
              <a:buNone/>
            </a:pPr>
            <a:r>
              <a:rPr lang="en-US" sz="900" b="1" dirty="0">
                <a:solidFill>
                  <a:srgbClr val="526F92"/>
                </a:solidFill>
                <a:latin typeface="Aptos" pitchFamily="34" charset="0"/>
                <a:ea typeface="Aptos" pitchFamily="34" charset="-122"/>
                <a:cs typeface="Aptos" pitchFamily="34" charset="-120"/>
              </a:rPr>
              <a:t>RESEARCH METHODS</a:t>
            </a:r>
            <a:endParaRPr lang="en-US" sz="900" dirty="0"/>
          </a:p>
        </p:txBody>
      </p:sp>
      <p:sp>
        <p:nvSpPr>
          <p:cNvPr id="2" name="Title 1">
            <a:extLst>
              <a:ext uri="{FF2B5EF4-FFF2-40B4-BE49-F238E27FC236}">
                <a16:creationId xmlns:a16="http://schemas.microsoft.com/office/drawing/2014/main" id="{7789266B-3939-095B-B9C7-1439EBFB47E8}"/>
              </a:ext>
            </a:extLst>
          </p:cNvPr>
          <p:cNvSpPr>
            <a:spLocks noGrp="1"/>
          </p:cNvSpPr>
          <p:nvPr>
            <p:ph type="title" hasCustomPrompt="1"/>
          </p:nvPr>
        </p:nvSpPr>
        <p:spPr>
          <a:xfrm>
            <a:off x="914077" y="759150"/>
            <a:ext cx="5869901" cy="1799292"/>
          </a:xfrm>
          <a:prstGeom prst="rect">
            <a:avLst/>
          </a:prstGeom>
          <a:solidFill>
            <a:srgbClr val="F8FBFE"/>
          </a:solidFill>
        </p:spPr>
        <p:txBody>
          <a:bodyPr anchor="ctr"/>
          <a:lstStyle>
            <a:lvl1pPr>
              <a:defRPr>
                <a:latin typeface="Britannic Bold" panose="020B0903060703020204" pitchFamily="34" charset="0"/>
              </a:defRPr>
            </a:lvl1pPr>
          </a:lstStyle>
          <a:p>
            <a:r>
              <a:rPr lang="en-US" dirty="0"/>
              <a:t>Click to edit Section title</a:t>
            </a:r>
          </a:p>
        </p:txBody>
      </p:sp>
      <p:sp>
        <p:nvSpPr>
          <p:cNvPr id="4" name="Content Placeholder 10">
            <a:extLst>
              <a:ext uri="{FF2B5EF4-FFF2-40B4-BE49-F238E27FC236}">
                <a16:creationId xmlns:a16="http://schemas.microsoft.com/office/drawing/2014/main" id="{9F245541-793E-CEF5-B4ED-364FBC3BCECE}"/>
              </a:ext>
            </a:extLst>
          </p:cNvPr>
          <p:cNvSpPr>
            <a:spLocks noGrp="1"/>
          </p:cNvSpPr>
          <p:nvPr>
            <p:ph sz="quarter" idx="10" hasCustomPrompt="1"/>
          </p:nvPr>
        </p:nvSpPr>
        <p:spPr>
          <a:xfrm>
            <a:off x="4689792" y="3498395"/>
            <a:ext cx="6378575" cy="1516063"/>
          </a:xfrm>
          <a:prstGeom prst="rect">
            <a:avLst/>
          </a:prstGeom>
          <a:solidFill>
            <a:srgbClr val="F8FBFE"/>
          </a:solidFill>
        </p:spPr>
        <p:txBody>
          <a:bodyPr anchor="ctr"/>
          <a:lstStyle>
            <a:lvl1pPr algn="ctr">
              <a:buNone/>
              <a:defRPr sz="2800">
                <a:latin typeface="Aptos Display" panose="020B0004020202020204" pitchFamily="34" charset="0"/>
              </a:defRPr>
            </a:lvl1pPr>
          </a:lstStyle>
          <a:p>
            <a:pPr lvl="0"/>
            <a:r>
              <a:rPr lang="en-US" dirty="0"/>
              <a:t>Click to edit subtitle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RM_TwoColumn">
    <p:bg>
      <p:bgPr>
        <a:solidFill>
          <a:srgbClr val="EAF2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AF2F8"/>
          </a:solidFill>
          <a:ln w="12700">
            <a:solidFill>
              <a:srgbClr val="EAF2F8"/>
            </a:solidFill>
            <a:prstDash val="solid"/>
          </a:ln>
        </p:spPr>
        <p:txBody>
          <a:bodyPr/>
          <a:lstStyle/>
          <a:p>
            <a:endParaRPr lang="en-US"/>
          </a:p>
        </p:txBody>
      </p:sp>
      <p:sp>
        <p:nvSpPr>
          <p:cNvPr id="3" name="Shape 1"/>
          <p:cNvSpPr/>
          <p:nvPr/>
        </p:nvSpPr>
        <p:spPr>
          <a:xfrm>
            <a:off x="10771632" y="0"/>
            <a:ext cx="1417320" cy="658368"/>
          </a:xfrm>
          <a:prstGeom prst="rect">
            <a:avLst/>
          </a:prstGeom>
          <a:solidFill>
            <a:srgbClr val="C7DAEB">
              <a:alpha val="95000"/>
            </a:srgbClr>
          </a:solidFill>
          <a:ln w="12700">
            <a:solidFill>
              <a:srgbClr val="C7DAEB">
                <a:alpha val="0"/>
              </a:srgbClr>
            </a:solidFill>
            <a:prstDash val="solid"/>
          </a:ln>
        </p:spPr>
        <p:txBody>
          <a:bodyPr/>
          <a:lstStyle/>
          <a:p>
            <a:endParaRPr lang="en-US"/>
          </a:p>
        </p:txBody>
      </p:sp>
      <p:sp>
        <p:nvSpPr>
          <p:cNvPr id="4" name="Shape 2"/>
          <p:cNvSpPr/>
          <p:nvPr/>
        </p:nvSpPr>
        <p:spPr>
          <a:xfrm>
            <a:off x="11247120" y="530352"/>
            <a:ext cx="941832" cy="530352"/>
          </a:xfrm>
          <a:prstGeom prst="rect">
            <a:avLst/>
          </a:prstGeom>
          <a:solidFill>
            <a:srgbClr val="AFC8E0">
              <a:alpha val="82000"/>
            </a:srgbClr>
          </a:solidFill>
          <a:ln w="12700">
            <a:solidFill>
              <a:srgbClr val="AFC8E0">
                <a:alpha val="0"/>
              </a:srgbClr>
            </a:solidFill>
            <a:prstDash val="solid"/>
          </a:ln>
        </p:spPr>
        <p:txBody>
          <a:bodyPr/>
          <a:lstStyle/>
          <a:p>
            <a:endParaRPr lang="en-US"/>
          </a:p>
        </p:txBody>
      </p:sp>
      <p:sp>
        <p:nvSpPr>
          <p:cNvPr id="5" name="Shape 3"/>
          <p:cNvSpPr/>
          <p:nvPr/>
        </p:nvSpPr>
        <p:spPr>
          <a:xfrm>
            <a:off x="10652760" y="850392"/>
            <a:ext cx="1261872" cy="0"/>
          </a:xfrm>
          <a:prstGeom prst="line">
            <a:avLst/>
          </a:prstGeom>
          <a:noFill/>
          <a:ln w="13970">
            <a:solidFill>
              <a:srgbClr val="B79A67">
                <a:alpha val="75000"/>
              </a:srgbClr>
            </a:solidFill>
            <a:prstDash val="solid"/>
          </a:ln>
        </p:spPr>
        <p:txBody>
          <a:bodyPr/>
          <a:lstStyle/>
          <a:p>
            <a:endParaRPr lang="en-US"/>
          </a:p>
        </p:txBody>
      </p:sp>
      <p:sp>
        <p:nvSpPr>
          <p:cNvPr id="6" name="Shape 4"/>
          <p:cNvSpPr/>
          <p:nvPr/>
        </p:nvSpPr>
        <p:spPr>
          <a:xfrm>
            <a:off x="10835640" y="960120"/>
            <a:ext cx="1143000" cy="0"/>
          </a:xfrm>
          <a:prstGeom prst="line">
            <a:avLst/>
          </a:prstGeom>
          <a:noFill/>
          <a:ln w="12700">
            <a:solidFill>
              <a:srgbClr val="6E94BC">
                <a:alpha val="60000"/>
              </a:srgbClr>
            </a:solidFill>
            <a:prstDash val="solid"/>
          </a:ln>
        </p:spPr>
        <p:txBody>
          <a:bodyPr/>
          <a:lstStyle/>
          <a:p>
            <a:endParaRPr lang="en-US"/>
          </a:p>
        </p:txBody>
      </p:sp>
      <p:sp>
        <p:nvSpPr>
          <p:cNvPr id="8" name="Shape 5"/>
          <p:cNvSpPr/>
          <p:nvPr/>
        </p:nvSpPr>
        <p:spPr>
          <a:xfrm>
            <a:off x="658368" y="1097280"/>
            <a:ext cx="1143000" cy="0"/>
          </a:xfrm>
          <a:prstGeom prst="line">
            <a:avLst/>
          </a:prstGeom>
          <a:noFill/>
          <a:ln w="17780">
            <a:solidFill>
              <a:srgbClr val="B79A67"/>
            </a:solidFill>
            <a:prstDash val="solid"/>
          </a:ln>
        </p:spPr>
        <p:txBody>
          <a:bodyPr/>
          <a:lstStyle/>
          <a:p>
            <a:endParaRPr lang="en-US"/>
          </a:p>
        </p:txBody>
      </p:sp>
      <p:sp>
        <p:nvSpPr>
          <p:cNvPr id="10" name="Shape 6"/>
          <p:cNvSpPr/>
          <p:nvPr/>
        </p:nvSpPr>
        <p:spPr>
          <a:xfrm>
            <a:off x="6080760" y="1600200"/>
            <a:ext cx="0" cy="4160520"/>
          </a:xfrm>
          <a:prstGeom prst="line">
            <a:avLst/>
          </a:prstGeom>
          <a:noFill/>
          <a:ln w="12700">
            <a:solidFill>
              <a:srgbClr val="C1D4E6"/>
            </a:solidFill>
            <a:prstDash val="solid"/>
          </a:ln>
        </p:spPr>
        <p:txBody>
          <a:bodyPr/>
          <a:lstStyle/>
          <a:p>
            <a:endParaRPr lang="en-US"/>
          </a:p>
        </p:txBody>
      </p:sp>
      <p:sp>
        <p:nvSpPr>
          <p:cNvPr id="12" name="Text 7"/>
          <p:cNvSpPr/>
          <p:nvPr/>
        </p:nvSpPr>
        <p:spPr>
          <a:xfrm>
            <a:off x="658368" y="6473952"/>
            <a:ext cx="2560320" cy="164592"/>
          </a:xfrm>
          <a:prstGeom prst="rect">
            <a:avLst/>
          </a:prstGeom>
          <a:noFill/>
          <a:ln/>
        </p:spPr>
        <p:txBody>
          <a:bodyPr wrap="square" lIns="0" tIns="0" rIns="0" bIns="0" rtlCol="0" anchor="ctr"/>
          <a:lstStyle/>
          <a:p>
            <a:pPr marL="0" indent="0">
              <a:buNone/>
            </a:pPr>
            <a:r>
              <a:rPr lang="en-US" sz="850" b="1" dirty="0">
                <a:solidFill>
                  <a:srgbClr val="6E89A7"/>
                </a:solidFill>
                <a:latin typeface="Aptos" pitchFamily="34" charset="0"/>
                <a:ea typeface="Aptos" pitchFamily="34" charset="-122"/>
                <a:cs typeface="Aptos" pitchFamily="34" charset="-120"/>
              </a:rPr>
              <a:t>RESEARCH METHODS</a:t>
            </a:r>
            <a:endParaRPr lang="en-US" sz="850" dirty="0"/>
          </a:p>
        </p:txBody>
      </p:sp>
      <p:sp>
        <p:nvSpPr>
          <p:cNvPr id="14" name="Text Placeholder 13">
            <a:extLst>
              <a:ext uri="{FF2B5EF4-FFF2-40B4-BE49-F238E27FC236}">
                <a16:creationId xmlns:a16="http://schemas.microsoft.com/office/drawing/2014/main" id="{35572D28-5674-68F1-D0DD-039C6D2A219C}"/>
              </a:ext>
            </a:extLst>
          </p:cNvPr>
          <p:cNvSpPr>
            <a:spLocks noGrp="1"/>
          </p:cNvSpPr>
          <p:nvPr>
            <p:ph type="body" sz="quarter" idx="106"/>
          </p:nvPr>
        </p:nvSpPr>
        <p:spPr>
          <a:xfrm>
            <a:off x="658369" y="1600200"/>
            <a:ext cx="5342382" cy="4654550"/>
          </a:xfrm>
          <a:prstGeom prst="rect">
            <a:avLst/>
          </a:prstGeom>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3">
            <a:extLst>
              <a:ext uri="{FF2B5EF4-FFF2-40B4-BE49-F238E27FC236}">
                <a16:creationId xmlns:a16="http://schemas.microsoft.com/office/drawing/2014/main" id="{410FB711-34F9-3DC6-8A30-BF6163D2415B}"/>
              </a:ext>
            </a:extLst>
          </p:cNvPr>
          <p:cNvSpPr>
            <a:spLocks noGrp="1"/>
          </p:cNvSpPr>
          <p:nvPr>
            <p:ph type="body" sz="quarter" idx="107"/>
          </p:nvPr>
        </p:nvSpPr>
        <p:spPr>
          <a:xfrm>
            <a:off x="6191251" y="1601379"/>
            <a:ext cx="5342382" cy="4654550"/>
          </a:xfrm>
          <a:prstGeom prst="rect">
            <a:avLst/>
          </a:prstGeom>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itle 15">
            <a:extLst>
              <a:ext uri="{FF2B5EF4-FFF2-40B4-BE49-F238E27FC236}">
                <a16:creationId xmlns:a16="http://schemas.microsoft.com/office/drawing/2014/main" id="{0F5CC367-37BB-9924-6D35-6E9961E654F2}"/>
              </a:ext>
            </a:extLst>
          </p:cNvPr>
          <p:cNvSpPr>
            <a:spLocks noGrp="1"/>
          </p:cNvSpPr>
          <p:nvPr>
            <p:ph type="title"/>
          </p:nvPr>
        </p:nvSpPr>
        <p:spPr>
          <a:xfrm>
            <a:off x="658369" y="329184"/>
            <a:ext cx="10515600" cy="732155"/>
          </a:xfrm>
          <a:prstGeom prst="rect">
            <a:avLst/>
          </a:prstGeom>
        </p:spPr>
        <p:txBody>
          <a:bodyPr/>
          <a:lstStyle>
            <a:lvl1pPr>
              <a:defRPr sz="3600">
                <a:latin typeface="Britannic Bold" panose="020B0903060703020204" pitchFamily="34" charset="0"/>
              </a:defRPr>
            </a:lvl1pPr>
          </a:lstStyle>
          <a:p>
            <a:r>
              <a:rPr lang="en-US"/>
              <a:t>Click to edit Master title style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RM_ImageText">
    <p:bg>
      <p:bgPr>
        <a:solidFill>
          <a:srgbClr val="EAF2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AF2F8"/>
          </a:solidFill>
          <a:ln w="12700">
            <a:solidFill>
              <a:srgbClr val="EAF2F8"/>
            </a:solidFill>
            <a:prstDash val="solid"/>
          </a:ln>
        </p:spPr>
        <p:txBody>
          <a:bodyPr/>
          <a:lstStyle/>
          <a:p>
            <a:endParaRPr lang="en-US"/>
          </a:p>
        </p:txBody>
      </p:sp>
      <p:sp>
        <p:nvSpPr>
          <p:cNvPr id="3" name="Shape 1"/>
          <p:cNvSpPr/>
          <p:nvPr/>
        </p:nvSpPr>
        <p:spPr>
          <a:xfrm>
            <a:off x="10771632" y="0"/>
            <a:ext cx="1417320" cy="658368"/>
          </a:xfrm>
          <a:prstGeom prst="rect">
            <a:avLst/>
          </a:prstGeom>
          <a:solidFill>
            <a:srgbClr val="C7DAEB">
              <a:alpha val="95000"/>
            </a:srgbClr>
          </a:solidFill>
          <a:ln w="12700">
            <a:solidFill>
              <a:srgbClr val="C7DAEB">
                <a:alpha val="0"/>
              </a:srgbClr>
            </a:solidFill>
            <a:prstDash val="solid"/>
          </a:ln>
        </p:spPr>
        <p:txBody>
          <a:bodyPr/>
          <a:lstStyle/>
          <a:p>
            <a:endParaRPr lang="en-US"/>
          </a:p>
        </p:txBody>
      </p:sp>
      <p:sp>
        <p:nvSpPr>
          <p:cNvPr id="4" name="Shape 2"/>
          <p:cNvSpPr/>
          <p:nvPr/>
        </p:nvSpPr>
        <p:spPr>
          <a:xfrm>
            <a:off x="11247120" y="530352"/>
            <a:ext cx="941832" cy="530352"/>
          </a:xfrm>
          <a:prstGeom prst="rect">
            <a:avLst/>
          </a:prstGeom>
          <a:solidFill>
            <a:srgbClr val="AFC8E0">
              <a:alpha val="82000"/>
            </a:srgbClr>
          </a:solidFill>
          <a:ln w="12700">
            <a:solidFill>
              <a:srgbClr val="AFC8E0">
                <a:alpha val="0"/>
              </a:srgbClr>
            </a:solidFill>
            <a:prstDash val="solid"/>
          </a:ln>
        </p:spPr>
        <p:txBody>
          <a:bodyPr/>
          <a:lstStyle/>
          <a:p>
            <a:endParaRPr lang="en-US"/>
          </a:p>
        </p:txBody>
      </p:sp>
      <p:sp>
        <p:nvSpPr>
          <p:cNvPr id="5" name="Shape 3"/>
          <p:cNvSpPr/>
          <p:nvPr/>
        </p:nvSpPr>
        <p:spPr>
          <a:xfrm>
            <a:off x="10652760" y="850392"/>
            <a:ext cx="1261872" cy="0"/>
          </a:xfrm>
          <a:prstGeom prst="line">
            <a:avLst/>
          </a:prstGeom>
          <a:noFill/>
          <a:ln w="13970">
            <a:solidFill>
              <a:srgbClr val="B79A67">
                <a:alpha val="75000"/>
              </a:srgbClr>
            </a:solidFill>
            <a:prstDash val="solid"/>
          </a:ln>
        </p:spPr>
        <p:txBody>
          <a:bodyPr/>
          <a:lstStyle/>
          <a:p>
            <a:endParaRPr lang="en-US"/>
          </a:p>
        </p:txBody>
      </p:sp>
      <p:sp>
        <p:nvSpPr>
          <p:cNvPr id="6" name="Shape 4"/>
          <p:cNvSpPr/>
          <p:nvPr/>
        </p:nvSpPr>
        <p:spPr>
          <a:xfrm>
            <a:off x="10835640" y="960120"/>
            <a:ext cx="1143000" cy="0"/>
          </a:xfrm>
          <a:prstGeom prst="line">
            <a:avLst/>
          </a:prstGeom>
          <a:noFill/>
          <a:ln w="12700">
            <a:solidFill>
              <a:srgbClr val="6E94BC">
                <a:alpha val="60000"/>
              </a:srgbClr>
            </a:solidFill>
            <a:prstDash val="solid"/>
          </a:ln>
        </p:spPr>
        <p:txBody>
          <a:bodyPr/>
          <a:lstStyle/>
          <a:p>
            <a:endParaRPr lang="en-US"/>
          </a:p>
        </p:txBody>
      </p:sp>
      <p:sp>
        <p:nvSpPr>
          <p:cNvPr id="8" name="Shape 5"/>
          <p:cNvSpPr/>
          <p:nvPr/>
        </p:nvSpPr>
        <p:spPr>
          <a:xfrm>
            <a:off x="658368" y="1097280"/>
            <a:ext cx="1143000" cy="0"/>
          </a:xfrm>
          <a:prstGeom prst="line">
            <a:avLst/>
          </a:prstGeom>
          <a:noFill/>
          <a:ln w="17780">
            <a:solidFill>
              <a:srgbClr val="B79A67"/>
            </a:solidFill>
            <a:prstDash val="solid"/>
          </a:ln>
        </p:spPr>
        <p:txBody>
          <a:bodyPr/>
          <a:lstStyle/>
          <a:p>
            <a:endParaRPr lang="en-US"/>
          </a:p>
        </p:txBody>
      </p:sp>
      <p:sp>
        <p:nvSpPr>
          <p:cNvPr id="11" name="Text 6"/>
          <p:cNvSpPr/>
          <p:nvPr/>
        </p:nvSpPr>
        <p:spPr>
          <a:xfrm>
            <a:off x="658368" y="6473952"/>
            <a:ext cx="2560320" cy="164592"/>
          </a:xfrm>
          <a:prstGeom prst="rect">
            <a:avLst/>
          </a:prstGeom>
          <a:noFill/>
          <a:ln/>
        </p:spPr>
        <p:txBody>
          <a:bodyPr wrap="square" lIns="0" tIns="0" rIns="0" bIns="0" rtlCol="0" anchor="ctr"/>
          <a:lstStyle/>
          <a:p>
            <a:pPr marL="0" indent="0">
              <a:buNone/>
            </a:pPr>
            <a:r>
              <a:rPr lang="en-US" sz="850" b="1" dirty="0">
                <a:solidFill>
                  <a:srgbClr val="6E89A7"/>
                </a:solidFill>
                <a:latin typeface="Aptos" pitchFamily="34" charset="0"/>
                <a:ea typeface="Aptos" pitchFamily="34" charset="-122"/>
                <a:cs typeface="Aptos" pitchFamily="34" charset="-120"/>
              </a:rPr>
              <a:t>RESEARCH METHODS</a:t>
            </a:r>
            <a:endParaRPr lang="en-US" sz="850" dirty="0"/>
          </a:p>
        </p:txBody>
      </p:sp>
      <p:sp>
        <p:nvSpPr>
          <p:cNvPr id="12" name="Title 15">
            <a:extLst>
              <a:ext uri="{FF2B5EF4-FFF2-40B4-BE49-F238E27FC236}">
                <a16:creationId xmlns:a16="http://schemas.microsoft.com/office/drawing/2014/main" id="{C11B853E-E4F2-75CB-89D7-214A00F03365}"/>
              </a:ext>
            </a:extLst>
          </p:cNvPr>
          <p:cNvSpPr>
            <a:spLocks noGrp="1"/>
          </p:cNvSpPr>
          <p:nvPr>
            <p:ph type="title"/>
          </p:nvPr>
        </p:nvSpPr>
        <p:spPr>
          <a:xfrm>
            <a:off x="658368" y="364018"/>
            <a:ext cx="10515600" cy="732155"/>
          </a:xfrm>
          <a:prstGeom prst="rect">
            <a:avLst/>
          </a:prstGeom>
        </p:spPr>
        <p:txBody>
          <a:bodyPr/>
          <a:lstStyle>
            <a:lvl1pPr>
              <a:defRPr sz="3600">
                <a:latin typeface="Britannic Bold" panose="020B0903060703020204" pitchFamily="34" charset="0"/>
              </a:defRPr>
            </a:lvl1pPr>
          </a:lstStyle>
          <a:p>
            <a:r>
              <a:rPr lang="en-US"/>
              <a:t>Click to edit Master title style</a:t>
            </a:r>
            <a:endParaRPr lang="en-US" dirty="0"/>
          </a:p>
        </p:txBody>
      </p:sp>
      <p:sp>
        <p:nvSpPr>
          <p:cNvPr id="13" name="Text Placeholder 13">
            <a:extLst>
              <a:ext uri="{FF2B5EF4-FFF2-40B4-BE49-F238E27FC236}">
                <a16:creationId xmlns:a16="http://schemas.microsoft.com/office/drawing/2014/main" id="{C2B9465C-288F-C4AE-8A48-56102A506263}"/>
              </a:ext>
            </a:extLst>
          </p:cNvPr>
          <p:cNvSpPr>
            <a:spLocks noGrp="1"/>
          </p:cNvSpPr>
          <p:nvPr>
            <p:ph type="body" sz="quarter" idx="106"/>
          </p:nvPr>
        </p:nvSpPr>
        <p:spPr>
          <a:xfrm>
            <a:off x="658368" y="1437639"/>
            <a:ext cx="5342382" cy="4654550"/>
          </a:xfrm>
          <a:prstGeom prst="rect">
            <a:avLst/>
          </a:prstGeom>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Online Image Placeholder 14">
            <a:extLst>
              <a:ext uri="{FF2B5EF4-FFF2-40B4-BE49-F238E27FC236}">
                <a16:creationId xmlns:a16="http://schemas.microsoft.com/office/drawing/2014/main" id="{3D7082FD-BAF6-29B8-3332-2A2E51DF4F49}"/>
              </a:ext>
            </a:extLst>
          </p:cNvPr>
          <p:cNvSpPr>
            <a:spLocks noGrp="1"/>
          </p:cNvSpPr>
          <p:nvPr>
            <p:ph type="clipArt" sz="quarter" idx="107"/>
          </p:nvPr>
        </p:nvSpPr>
        <p:spPr>
          <a:xfrm>
            <a:off x="6191252" y="1437639"/>
            <a:ext cx="5342382" cy="4655186"/>
          </a:xfrm>
          <a:prstGeom prst="rect">
            <a:avLst/>
          </a:prstGeom>
        </p:spPr>
        <p:txBody>
          <a:bodyPr/>
          <a:lstStyle/>
          <a:p>
            <a:r>
              <a:rPr lang="en-US"/>
              <a:t>Click icon to add online image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p:bg>
      <p:bgPr>
        <a:solidFill>
          <a:srgbClr val="EAF2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AF2F8"/>
          </a:solidFill>
          <a:ln w="12700">
            <a:solidFill>
              <a:srgbClr val="EAF2F8"/>
            </a:solidFill>
            <a:prstDash val="solid"/>
          </a:ln>
        </p:spPr>
        <p:txBody>
          <a:bodyPr/>
          <a:lstStyle/>
          <a:p>
            <a:endParaRPr lang="en-US"/>
          </a:p>
        </p:txBody>
      </p:sp>
      <p:sp>
        <p:nvSpPr>
          <p:cNvPr id="3" name="Shape 1"/>
          <p:cNvSpPr/>
          <p:nvPr/>
        </p:nvSpPr>
        <p:spPr>
          <a:xfrm>
            <a:off x="10771632" y="0"/>
            <a:ext cx="1417320" cy="658368"/>
          </a:xfrm>
          <a:prstGeom prst="rect">
            <a:avLst/>
          </a:prstGeom>
          <a:solidFill>
            <a:srgbClr val="C7DAEB">
              <a:alpha val="95000"/>
            </a:srgbClr>
          </a:solidFill>
          <a:ln w="12700">
            <a:solidFill>
              <a:srgbClr val="C7DAEB">
                <a:alpha val="0"/>
              </a:srgbClr>
            </a:solidFill>
            <a:prstDash val="solid"/>
          </a:ln>
        </p:spPr>
        <p:txBody>
          <a:bodyPr/>
          <a:lstStyle/>
          <a:p>
            <a:endParaRPr lang="en-US"/>
          </a:p>
        </p:txBody>
      </p:sp>
      <p:sp>
        <p:nvSpPr>
          <p:cNvPr id="4" name="Shape 2"/>
          <p:cNvSpPr/>
          <p:nvPr/>
        </p:nvSpPr>
        <p:spPr>
          <a:xfrm>
            <a:off x="11247120" y="530352"/>
            <a:ext cx="941832" cy="530352"/>
          </a:xfrm>
          <a:prstGeom prst="rect">
            <a:avLst/>
          </a:prstGeom>
          <a:solidFill>
            <a:srgbClr val="AFC8E0">
              <a:alpha val="82000"/>
            </a:srgbClr>
          </a:solidFill>
          <a:ln w="12700">
            <a:solidFill>
              <a:srgbClr val="AFC8E0">
                <a:alpha val="0"/>
              </a:srgbClr>
            </a:solidFill>
            <a:prstDash val="solid"/>
          </a:ln>
        </p:spPr>
        <p:txBody>
          <a:bodyPr/>
          <a:lstStyle/>
          <a:p>
            <a:endParaRPr lang="en-US"/>
          </a:p>
        </p:txBody>
      </p:sp>
      <p:sp>
        <p:nvSpPr>
          <p:cNvPr id="5" name="Shape 3"/>
          <p:cNvSpPr/>
          <p:nvPr/>
        </p:nvSpPr>
        <p:spPr>
          <a:xfrm>
            <a:off x="10652760" y="850392"/>
            <a:ext cx="1261872" cy="0"/>
          </a:xfrm>
          <a:prstGeom prst="line">
            <a:avLst/>
          </a:prstGeom>
          <a:noFill/>
          <a:ln w="13970">
            <a:solidFill>
              <a:srgbClr val="B79A67">
                <a:alpha val="75000"/>
              </a:srgbClr>
            </a:solidFill>
            <a:prstDash val="solid"/>
          </a:ln>
        </p:spPr>
        <p:txBody>
          <a:bodyPr/>
          <a:lstStyle/>
          <a:p>
            <a:endParaRPr lang="en-US"/>
          </a:p>
        </p:txBody>
      </p:sp>
      <p:sp>
        <p:nvSpPr>
          <p:cNvPr id="6" name="Shape 4"/>
          <p:cNvSpPr/>
          <p:nvPr/>
        </p:nvSpPr>
        <p:spPr>
          <a:xfrm>
            <a:off x="10835640" y="960120"/>
            <a:ext cx="1143000" cy="0"/>
          </a:xfrm>
          <a:prstGeom prst="line">
            <a:avLst/>
          </a:prstGeom>
          <a:noFill/>
          <a:ln w="12700">
            <a:solidFill>
              <a:srgbClr val="6E94BC">
                <a:alpha val="60000"/>
              </a:srgbClr>
            </a:solidFill>
            <a:prstDash val="solid"/>
          </a:ln>
        </p:spPr>
        <p:txBody>
          <a:bodyPr/>
          <a:lstStyle/>
          <a:p>
            <a:endParaRPr lang="en-US"/>
          </a:p>
        </p:txBody>
      </p:sp>
      <p:sp>
        <p:nvSpPr>
          <p:cNvPr id="8" name="Shape 5"/>
          <p:cNvSpPr/>
          <p:nvPr/>
        </p:nvSpPr>
        <p:spPr>
          <a:xfrm>
            <a:off x="658368" y="1097280"/>
            <a:ext cx="1143000" cy="0"/>
          </a:xfrm>
          <a:prstGeom prst="line">
            <a:avLst/>
          </a:prstGeom>
          <a:noFill/>
          <a:ln w="17780">
            <a:solidFill>
              <a:srgbClr val="B79A67"/>
            </a:solidFill>
            <a:prstDash val="solid"/>
          </a:ln>
        </p:spPr>
        <p:txBody>
          <a:bodyPr/>
          <a:lstStyle/>
          <a:p>
            <a:endParaRPr lang="en-US"/>
          </a:p>
        </p:txBody>
      </p:sp>
      <p:sp>
        <p:nvSpPr>
          <p:cNvPr id="12" name="Title 15">
            <a:extLst>
              <a:ext uri="{FF2B5EF4-FFF2-40B4-BE49-F238E27FC236}">
                <a16:creationId xmlns:a16="http://schemas.microsoft.com/office/drawing/2014/main" id="{C11B853E-E4F2-75CB-89D7-214A00F03365}"/>
              </a:ext>
            </a:extLst>
          </p:cNvPr>
          <p:cNvSpPr>
            <a:spLocks noGrp="1"/>
          </p:cNvSpPr>
          <p:nvPr>
            <p:ph type="title" hasCustomPrompt="1"/>
          </p:nvPr>
        </p:nvSpPr>
        <p:spPr>
          <a:xfrm>
            <a:off x="2132245" y="721303"/>
            <a:ext cx="3393232" cy="732155"/>
          </a:xfrm>
          <a:prstGeom prst="rect">
            <a:avLst/>
          </a:prstGeom>
        </p:spPr>
        <p:txBody>
          <a:bodyPr/>
          <a:lstStyle>
            <a:lvl1pPr>
              <a:defRPr sz="3600">
                <a:latin typeface="Britannic Bold" panose="020B0903060703020204" pitchFamily="34" charset="0"/>
              </a:defRPr>
            </a:lvl1pPr>
          </a:lstStyle>
          <a:p>
            <a:r>
              <a:rPr lang="en-US" dirty="0"/>
              <a:t>Agenda</a:t>
            </a:r>
          </a:p>
        </p:txBody>
      </p:sp>
      <p:sp>
        <p:nvSpPr>
          <p:cNvPr id="13" name="Text Placeholder 13">
            <a:extLst>
              <a:ext uri="{FF2B5EF4-FFF2-40B4-BE49-F238E27FC236}">
                <a16:creationId xmlns:a16="http://schemas.microsoft.com/office/drawing/2014/main" id="{C2B9465C-288F-C4AE-8A48-56102A506263}"/>
              </a:ext>
            </a:extLst>
          </p:cNvPr>
          <p:cNvSpPr>
            <a:spLocks noGrp="1"/>
          </p:cNvSpPr>
          <p:nvPr>
            <p:ph type="body" sz="quarter" idx="106"/>
          </p:nvPr>
        </p:nvSpPr>
        <p:spPr>
          <a:xfrm>
            <a:off x="5904738" y="1542779"/>
            <a:ext cx="5342382" cy="4654550"/>
          </a:xfrm>
          <a:prstGeom prst="rect">
            <a:avLst/>
          </a:prstGeom>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Picture 8">
            <a:extLst>
              <a:ext uri="{FF2B5EF4-FFF2-40B4-BE49-F238E27FC236}">
                <a16:creationId xmlns:a16="http://schemas.microsoft.com/office/drawing/2014/main" id="{46F1788F-9A5A-4012-A54A-A045B7E887CF}"/>
              </a:ext>
            </a:extLst>
          </p:cNvPr>
          <p:cNvPicPr>
            <a:picLocks noChangeAspect="1"/>
          </p:cNvPicPr>
          <p:nvPr userDrawn="1"/>
        </p:nvPicPr>
        <p:blipFill>
          <a:blip r:embed="rId2">
            <a:alphaModFix amt="66000"/>
          </a:blip>
          <a:stretch>
            <a:fillRect/>
          </a:stretch>
        </p:blipFill>
        <p:spPr>
          <a:xfrm>
            <a:off x="-35168" y="1087381"/>
            <a:ext cx="8850923" cy="5900615"/>
          </a:xfrm>
          <a:prstGeom prst="rect">
            <a:avLst/>
          </a:prstGeom>
        </p:spPr>
      </p:pic>
    </p:spTree>
    <p:extLst>
      <p:ext uri="{BB962C8B-B14F-4D97-AF65-F5344CB8AC3E}">
        <p14:creationId xmlns:p14="http://schemas.microsoft.com/office/powerpoint/2010/main" val="42737779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RM_Activity">
    <p:bg>
      <p:bgPr>
        <a:solidFill>
          <a:srgbClr val="F8FBFE"/>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BFE"/>
          </a:solidFill>
          <a:ln w="12700">
            <a:solidFill>
              <a:srgbClr val="F8FBFE"/>
            </a:solidFill>
            <a:prstDash val="solid"/>
          </a:ln>
        </p:spPr>
        <p:txBody>
          <a:bodyPr/>
          <a:lstStyle/>
          <a:p>
            <a:endParaRPr lang="en-US"/>
          </a:p>
        </p:txBody>
      </p:sp>
      <p:sp>
        <p:nvSpPr>
          <p:cNvPr id="3" name="Shape 1"/>
          <p:cNvSpPr/>
          <p:nvPr/>
        </p:nvSpPr>
        <p:spPr>
          <a:xfrm>
            <a:off x="0" y="0"/>
            <a:ext cx="12191695" cy="1234440"/>
          </a:xfrm>
          <a:prstGeom prst="rect">
            <a:avLst/>
          </a:prstGeom>
          <a:solidFill>
            <a:srgbClr val="D7E6F2"/>
          </a:solidFill>
          <a:ln w="12700">
            <a:solidFill>
              <a:srgbClr val="D7E6F2"/>
            </a:solidFill>
            <a:prstDash val="solid"/>
          </a:ln>
        </p:spPr>
        <p:txBody>
          <a:bodyPr/>
          <a:lstStyle/>
          <a:p>
            <a:endParaRPr lang="en-US" dirty="0"/>
          </a:p>
        </p:txBody>
      </p:sp>
      <p:sp>
        <p:nvSpPr>
          <p:cNvPr id="4" name="Shape 2"/>
          <p:cNvSpPr/>
          <p:nvPr/>
        </p:nvSpPr>
        <p:spPr>
          <a:xfrm>
            <a:off x="9966960" y="164592"/>
            <a:ext cx="1691640" cy="713232"/>
          </a:xfrm>
          <a:prstGeom prst="rect">
            <a:avLst/>
          </a:prstGeom>
          <a:solidFill>
            <a:srgbClr val="B8D0E5">
              <a:alpha val="82000"/>
            </a:srgbClr>
          </a:solidFill>
          <a:ln w="12700">
            <a:solidFill>
              <a:srgbClr val="B8D0E5">
                <a:alpha val="0"/>
              </a:srgbClr>
            </a:solidFill>
            <a:prstDash val="solid"/>
          </a:ln>
        </p:spPr>
        <p:txBody>
          <a:bodyPr/>
          <a:lstStyle/>
          <a:p>
            <a:endParaRPr lang="en-US"/>
          </a:p>
        </p:txBody>
      </p:sp>
      <p:sp>
        <p:nvSpPr>
          <p:cNvPr id="5" name="Shape 3"/>
          <p:cNvSpPr/>
          <p:nvPr/>
        </p:nvSpPr>
        <p:spPr>
          <a:xfrm>
            <a:off x="9646920" y="1005840"/>
            <a:ext cx="1828800" cy="0"/>
          </a:xfrm>
          <a:prstGeom prst="line">
            <a:avLst/>
          </a:prstGeom>
          <a:noFill/>
          <a:ln w="13970">
            <a:solidFill>
              <a:srgbClr val="B79A67">
                <a:alpha val="75000"/>
              </a:srgbClr>
            </a:solidFill>
            <a:prstDash val="solid"/>
          </a:ln>
        </p:spPr>
        <p:txBody>
          <a:bodyPr/>
          <a:lstStyle/>
          <a:p>
            <a:endParaRPr lang="en-US"/>
          </a:p>
        </p:txBody>
      </p:sp>
      <p:sp>
        <p:nvSpPr>
          <p:cNvPr id="8" name="Text 4"/>
          <p:cNvSpPr/>
          <p:nvPr/>
        </p:nvSpPr>
        <p:spPr>
          <a:xfrm>
            <a:off x="713232" y="6473952"/>
            <a:ext cx="2560320" cy="164592"/>
          </a:xfrm>
          <a:prstGeom prst="rect">
            <a:avLst/>
          </a:prstGeom>
          <a:noFill/>
          <a:ln/>
        </p:spPr>
        <p:txBody>
          <a:bodyPr wrap="square" lIns="0" tIns="0" rIns="0" bIns="0" rtlCol="0" anchor="ctr"/>
          <a:lstStyle/>
          <a:p>
            <a:pPr marL="0" indent="0">
              <a:buNone/>
            </a:pPr>
            <a:r>
              <a:rPr lang="en-US" sz="850" b="1" dirty="0">
                <a:solidFill>
                  <a:srgbClr val="6E89A7"/>
                </a:solidFill>
                <a:latin typeface="Aptos" pitchFamily="34" charset="0"/>
                <a:ea typeface="Aptos" pitchFamily="34" charset="-122"/>
                <a:cs typeface="Aptos" pitchFamily="34" charset="-120"/>
              </a:rPr>
              <a:t>RESEARCH METHODS</a:t>
            </a:r>
            <a:endParaRPr lang="en-US" sz="850" dirty="0"/>
          </a:p>
        </p:txBody>
      </p:sp>
      <p:sp>
        <p:nvSpPr>
          <p:cNvPr id="9" name="Title 15">
            <a:extLst>
              <a:ext uri="{FF2B5EF4-FFF2-40B4-BE49-F238E27FC236}">
                <a16:creationId xmlns:a16="http://schemas.microsoft.com/office/drawing/2014/main" id="{466CA2B8-6B15-974C-DB19-EBBA9B4635BE}"/>
              </a:ext>
            </a:extLst>
          </p:cNvPr>
          <p:cNvSpPr>
            <a:spLocks noGrp="1"/>
          </p:cNvSpPr>
          <p:nvPr>
            <p:ph type="title"/>
          </p:nvPr>
        </p:nvSpPr>
        <p:spPr>
          <a:xfrm>
            <a:off x="533400" y="281287"/>
            <a:ext cx="10515600" cy="732155"/>
          </a:xfrm>
          <a:prstGeom prst="rect">
            <a:avLst/>
          </a:prstGeom>
        </p:spPr>
        <p:txBody>
          <a:bodyPr/>
          <a:lstStyle>
            <a:lvl1pPr>
              <a:defRPr sz="3600">
                <a:latin typeface="Britannic Bold" panose="020B0903060703020204" pitchFamily="34" charset="0"/>
              </a:defRPr>
            </a:lvl1pPr>
          </a:lstStyle>
          <a:p>
            <a:r>
              <a:rPr lang="en-US"/>
              <a:t>Click to edit Master title style</a:t>
            </a:r>
            <a:endParaRPr lang="en-US" dirty="0"/>
          </a:p>
        </p:txBody>
      </p:sp>
      <p:sp>
        <p:nvSpPr>
          <p:cNvPr id="10" name="Text Placeholder 11">
            <a:extLst>
              <a:ext uri="{FF2B5EF4-FFF2-40B4-BE49-F238E27FC236}">
                <a16:creationId xmlns:a16="http://schemas.microsoft.com/office/drawing/2014/main" id="{346F889F-5D26-430A-A54D-726297CBF349}"/>
              </a:ext>
            </a:extLst>
          </p:cNvPr>
          <p:cNvSpPr>
            <a:spLocks noGrp="1"/>
          </p:cNvSpPr>
          <p:nvPr>
            <p:ph type="body" sz="quarter" idx="108"/>
          </p:nvPr>
        </p:nvSpPr>
        <p:spPr>
          <a:xfrm>
            <a:off x="386725" y="1396855"/>
            <a:ext cx="11418243" cy="4974332"/>
          </a:xfrm>
          <a:prstGeom prst="rect">
            <a:avLst/>
          </a:prstGeom>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RM_Blank">
    <p:bg>
      <p:bgPr>
        <a:solidFill>
          <a:srgbClr val="EAF2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AF2F8"/>
          </a:solidFill>
          <a:ln w="12700">
            <a:solidFill>
              <a:srgbClr val="EAF2F8"/>
            </a:solidFill>
            <a:prstDash val="solid"/>
          </a:ln>
        </p:spPr>
        <p:txBody>
          <a:bodyPr/>
          <a:lstStyle/>
          <a:p>
            <a:endParaRPr lang="en-US"/>
          </a:p>
        </p:txBody>
      </p:sp>
      <p:sp>
        <p:nvSpPr>
          <p:cNvPr id="3" name="Shape 1"/>
          <p:cNvSpPr/>
          <p:nvPr/>
        </p:nvSpPr>
        <p:spPr>
          <a:xfrm>
            <a:off x="10771632" y="0"/>
            <a:ext cx="1417320" cy="658368"/>
          </a:xfrm>
          <a:prstGeom prst="rect">
            <a:avLst/>
          </a:prstGeom>
          <a:solidFill>
            <a:srgbClr val="C7DAEB">
              <a:alpha val="95000"/>
            </a:srgbClr>
          </a:solidFill>
          <a:ln w="12700">
            <a:solidFill>
              <a:srgbClr val="C7DAEB">
                <a:alpha val="0"/>
              </a:srgbClr>
            </a:solidFill>
            <a:prstDash val="solid"/>
          </a:ln>
        </p:spPr>
        <p:txBody>
          <a:bodyPr/>
          <a:lstStyle/>
          <a:p>
            <a:endParaRPr lang="en-US"/>
          </a:p>
        </p:txBody>
      </p:sp>
      <p:sp>
        <p:nvSpPr>
          <p:cNvPr id="4" name="Shape 2"/>
          <p:cNvSpPr/>
          <p:nvPr/>
        </p:nvSpPr>
        <p:spPr>
          <a:xfrm>
            <a:off x="11247120" y="530352"/>
            <a:ext cx="941832" cy="530352"/>
          </a:xfrm>
          <a:prstGeom prst="rect">
            <a:avLst/>
          </a:prstGeom>
          <a:solidFill>
            <a:srgbClr val="AFC8E0">
              <a:alpha val="82000"/>
            </a:srgbClr>
          </a:solidFill>
          <a:ln w="12700">
            <a:solidFill>
              <a:srgbClr val="AFC8E0">
                <a:alpha val="0"/>
              </a:srgbClr>
            </a:solidFill>
            <a:prstDash val="solid"/>
          </a:ln>
        </p:spPr>
        <p:txBody>
          <a:bodyPr/>
          <a:lstStyle/>
          <a:p>
            <a:endParaRPr lang="en-US"/>
          </a:p>
        </p:txBody>
      </p:sp>
      <p:sp>
        <p:nvSpPr>
          <p:cNvPr id="5" name="Shape 3"/>
          <p:cNvSpPr/>
          <p:nvPr/>
        </p:nvSpPr>
        <p:spPr>
          <a:xfrm>
            <a:off x="10652760" y="850392"/>
            <a:ext cx="1261872" cy="0"/>
          </a:xfrm>
          <a:prstGeom prst="line">
            <a:avLst/>
          </a:prstGeom>
          <a:noFill/>
          <a:ln w="13970">
            <a:solidFill>
              <a:srgbClr val="B79A67">
                <a:alpha val="75000"/>
              </a:srgbClr>
            </a:solidFill>
            <a:prstDash val="solid"/>
          </a:ln>
        </p:spPr>
        <p:txBody>
          <a:bodyPr/>
          <a:lstStyle/>
          <a:p>
            <a:endParaRPr lang="en-US"/>
          </a:p>
        </p:txBody>
      </p:sp>
      <p:sp>
        <p:nvSpPr>
          <p:cNvPr id="6" name="Shape 4"/>
          <p:cNvSpPr/>
          <p:nvPr/>
        </p:nvSpPr>
        <p:spPr>
          <a:xfrm>
            <a:off x="10835640" y="960120"/>
            <a:ext cx="1143000" cy="0"/>
          </a:xfrm>
          <a:prstGeom prst="line">
            <a:avLst/>
          </a:prstGeom>
          <a:noFill/>
          <a:ln w="12700">
            <a:solidFill>
              <a:srgbClr val="6E94BC">
                <a:alpha val="60000"/>
              </a:srgbClr>
            </a:solidFill>
            <a:prstDash val="solid"/>
          </a:ln>
        </p:spPr>
        <p:txBody>
          <a:bodyPr/>
          <a:lstStyle/>
          <a:p>
            <a:endParaRPr lang="en-US"/>
          </a:p>
        </p:txBody>
      </p:sp>
      <p:sp>
        <p:nvSpPr>
          <p:cNvPr id="7" name="Text 5"/>
          <p:cNvSpPr/>
          <p:nvPr/>
        </p:nvSpPr>
        <p:spPr>
          <a:xfrm>
            <a:off x="658368" y="6473952"/>
            <a:ext cx="2560320" cy="164592"/>
          </a:xfrm>
          <a:prstGeom prst="rect">
            <a:avLst/>
          </a:prstGeom>
          <a:noFill/>
          <a:ln/>
        </p:spPr>
        <p:txBody>
          <a:bodyPr wrap="square" lIns="0" tIns="0" rIns="0" bIns="0" rtlCol="0" anchor="ctr"/>
          <a:lstStyle/>
          <a:p>
            <a:pPr marL="0" indent="0">
              <a:buNone/>
            </a:pPr>
            <a:r>
              <a:rPr lang="en-US" sz="850" b="1" dirty="0">
                <a:solidFill>
                  <a:srgbClr val="6E89A7"/>
                </a:solidFill>
                <a:latin typeface="Aptos" pitchFamily="34" charset="0"/>
                <a:ea typeface="Aptos" pitchFamily="34" charset="-122"/>
                <a:cs typeface="Aptos" pitchFamily="34" charset="-120"/>
              </a:rPr>
              <a:t>RESEARCH METHODS</a:t>
            </a:r>
            <a:endParaRPr lang="en-US" sz="850"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7" r:id="rId7"/>
    <p:sldLayoutId id="2147483655" r:id="rId8"/>
    <p:sldLayoutId id="2147483656"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3.xml"/><Relationship Id="rId1" Type="http://schemas.openxmlformats.org/officeDocument/2006/relationships/video" Target="https://www.youtube.com/embed/OrNBEhzjg8I?feature=oembed" TargetMode="External"/><Relationship Id="rId4" Type="http://schemas.openxmlformats.org/officeDocument/2006/relationships/image" Target="../media/image5.jpe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3.xml"/><Relationship Id="rId1" Type="http://schemas.openxmlformats.org/officeDocument/2006/relationships/video" Target="https://www.youtube.com/embed/0Rnq1NpHdmw?feature=oembed" TargetMode="External"/><Relationship Id="rId5" Type="http://schemas.openxmlformats.org/officeDocument/2006/relationships/image" Target="../media/image10.jpeg"/><Relationship Id="rId4" Type="http://schemas.openxmlformats.org/officeDocument/2006/relationships/hyperlink" Target="https://www.youtube.com/watch?v=0Rnq1NpHdmw" TargetMode="Externa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09D10E-15BC-6992-8E4E-5EFA55454732}"/>
              </a:ext>
            </a:extLst>
          </p:cNvPr>
          <p:cNvSpPr>
            <a:spLocks noGrp="1"/>
          </p:cNvSpPr>
          <p:nvPr>
            <p:ph type="title"/>
          </p:nvPr>
        </p:nvSpPr>
        <p:spPr/>
        <p:txBody>
          <a:bodyPr/>
          <a:lstStyle/>
          <a:p>
            <a:r>
              <a:rPr lang="en-US" dirty="0"/>
              <a:t>Chapter 1</a:t>
            </a:r>
          </a:p>
        </p:txBody>
      </p:sp>
      <p:sp>
        <p:nvSpPr>
          <p:cNvPr id="3" name="Content Placeholder 2">
            <a:extLst>
              <a:ext uri="{FF2B5EF4-FFF2-40B4-BE49-F238E27FC236}">
                <a16:creationId xmlns:a16="http://schemas.microsoft.com/office/drawing/2014/main" id="{34EC1EDE-B354-C748-0304-543114C1ED73}"/>
              </a:ext>
            </a:extLst>
          </p:cNvPr>
          <p:cNvSpPr>
            <a:spLocks noGrp="1"/>
          </p:cNvSpPr>
          <p:nvPr>
            <p:ph sz="quarter" idx="10"/>
          </p:nvPr>
        </p:nvSpPr>
        <p:spPr/>
        <p:txBody>
          <a:bodyPr/>
          <a:lstStyle/>
          <a:p>
            <a:r>
              <a:rPr lang="en-US" dirty="0"/>
              <a:t>Psychology is a Way of Thinking</a:t>
            </a:r>
          </a:p>
        </p:txBody>
      </p:sp>
    </p:spTree>
    <p:extLst>
      <p:ext uri="{BB962C8B-B14F-4D97-AF65-F5344CB8AC3E}">
        <p14:creationId xmlns:p14="http://schemas.microsoft.com/office/powerpoint/2010/main" val="28858488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984739C-B3B3-D952-B689-AE00151FCBB0}"/>
              </a:ext>
            </a:extLst>
          </p:cNvPr>
          <p:cNvSpPr>
            <a:spLocks noGrp="1"/>
          </p:cNvSpPr>
          <p:nvPr>
            <p:ph type="title"/>
          </p:nvPr>
        </p:nvSpPr>
        <p:spPr/>
        <p:txBody>
          <a:bodyPr/>
          <a:lstStyle/>
          <a:p>
            <a:r>
              <a:rPr lang="en-US" dirty="0"/>
              <a:t>Agenda</a:t>
            </a:r>
          </a:p>
        </p:txBody>
      </p:sp>
      <p:sp>
        <p:nvSpPr>
          <p:cNvPr id="5" name="Text Placeholder 4">
            <a:extLst>
              <a:ext uri="{FF2B5EF4-FFF2-40B4-BE49-F238E27FC236}">
                <a16:creationId xmlns:a16="http://schemas.microsoft.com/office/drawing/2014/main" id="{C0F6BAC2-1345-E959-24F0-DA7E6920FE27}"/>
              </a:ext>
            </a:extLst>
          </p:cNvPr>
          <p:cNvSpPr>
            <a:spLocks noGrp="1"/>
          </p:cNvSpPr>
          <p:nvPr>
            <p:ph type="body" sz="quarter" idx="106"/>
          </p:nvPr>
        </p:nvSpPr>
        <p:spPr>
          <a:xfrm>
            <a:off x="5904737" y="1542779"/>
            <a:ext cx="5547033" cy="4654550"/>
          </a:xfrm>
        </p:spPr>
        <p:txBody>
          <a:bodyPr/>
          <a:lstStyle/>
          <a:p>
            <a:r>
              <a:rPr lang="en-US" dirty="0"/>
              <a:t>Producers and Consumers of Science</a:t>
            </a:r>
          </a:p>
          <a:p>
            <a:r>
              <a:rPr lang="en-US" dirty="0"/>
              <a:t>How Scientists Work</a:t>
            </a:r>
          </a:p>
          <a:p>
            <a:r>
              <a:rPr lang="en-US" dirty="0"/>
              <a:t>Being a Good Producer of Science</a:t>
            </a:r>
          </a:p>
          <a:p>
            <a:r>
              <a:rPr lang="en-US" dirty="0"/>
              <a:t>Being a Good Consumer of Science</a:t>
            </a:r>
          </a:p>
          <a:p>
            <a:r>
              <a:rPr lang="en-US" dirty="0"/>
              <a:t>Research Activity 1</a:t>
            </a:r>
          </a:p>
          <a:p>
            <a:r>
              <a:rPr lang="en-US" dirty="0"/>
              <a:t>Next time on PSY 270… </a:t>
            </a:r>
          </a:p>
          <a:p>
            <a:endParaRPr lang="en-US" dirty="0"/>
          </a:p>
          <a:p>
            <a:endParaRPr lang="en-US" dirty="0"/>
          </a:p>
        </p:txBody>
      </p:sp>
    </p:spTree>
    <p:extLst>
      <p:ext uri="{BB962C8B-B14F-4D97-AF65-F5344CB8AC3E}">
        <p14:creationId xmlns:p14="http://schemas.microsoft.com/office/powerpoint/2010/main" val="1908429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95F01DE0-B4D5-D01A-5273-04A1413927DB}"/>
              </a:ext>
            </a:extLst>
          </p:cNvPr>
          <p:cNvSpPr>
            <a:spLocks noGrp="1"/>
          </p:cNvSpPr>
          <p:nvPr>
            <p:ph type="body" sz="quarter" idx="108"/>
          </p:nvPr>
        </p:nvSpPr>
        <p:spPr/>
        <p:txBody>
          <a:bodyPr/>
          <a:lstStyle/>
          <a:p>
            <a:r>
              <a:rPr lang="en-US" dirty="0"/>
              <a:t>Everyone interacts with science, be it as a producer, consumer, or both</a:t>
            </a:r>
          </a:p>
          <a:p>
            <a:r>
              <a:rPr lang="en-US" dirty="0"/>
              <a:t>As a producer…</a:t>
            </a:r>
          </a:p>
          <a:p>
            <a:pPr lvl="1"/>
            <a:r>
              <a:rPr lang="en-US" dirty="0"/>
              <a:t>Psychology coursework</a:t>
            </a:r>
          </a:p>
          <a:p>
            <a:pPr lvl="1"/>
            <a:r>
              <a:rPr lang="en-US" dirty="0"/>
              <a:t>In graduate school</a:t>
            </a:r>
          </a:p>
          <a:p>
            <a:pPr lvl="1"/>
            <a:r>
              <a:rPr lang="en-US" dirty="0"/>
              <a:t>In a research lab</a:t>
            </a:r>
          </a:p>
          <a:p>
            <a:r>
              <a:rPr lang="en-US" dirty="0"/>
              <a:t>As a consumer…</a:t>
            </a:r>
          </a:p>
          <a:p>
            <a:pPr lvl="1"/>
            <a:r>
              <a:rPr lang="en-US" dirty="0"/>
              <a:t>Taking medication</a:t>
            </a:r>
          </a:p>
          <a:p>
            <a:pPr lvl="1"/>
            <a:r>
              <a:rPr lang="en-US" dirty="0"/>
              <a:t>Trying a new workout</a:t>
            </a:r>
          </a:p>
          <a:p>
            <a:pPr lvl="1"/>
            <a:r>
              <a:rPr lang="en-US" dirty="0"/>
              <a:t>Driving a car</a:t>
            </a:r>
          </a:p>
          <a:p>
            <a:pPr lvl="1"/>
            <a:r>
              <a:rPr lang="en-US" dirty="0"/>
              <a:t>Many, MANY more…</a:t>
            </a:r>
          </a:p>
          <a:p>
            <a:pPr lvl="1"/>
            <a:endParaRPr lang="en-US" dirty="0"/>
          </a:p>
          <a:p>
            <a:endParaRPr lang="en-US" dirty="0"/>
          </a:p>
        </p:txBody>
      </p:sp>
      <p:sp>
        <p:nvSpPr>
          <p:cNvPr id="4" name="Title 3">
            <a:extLst>
              <a:ext uri="{FF2B5EF4-FFF2-40B4-BE49-F238E27FC236}">
                <a16:creationId xmlns:a16="http://schemas.microsoft.com/office/drawing/2014/main" id="{DB7BC78C-A142-C18B-7469-A0F7172F5737}"/>
              </a:ext>
            </a:extLst>
          </p:cNvPr>
          <p:cNvSpPr>
            <a:spLocks noGrp="1"/>
          </p:cNvSpPr>
          <p:nvPr>
            <p:ph type="title"/>
          </p:nvPr>
        </p:nvSpPr>
        <p:spPr/>
        <p:txBody>
          <a:bodyPr/>
          <a:lstStyle/>
          <a:p>
            <a:r>
              <a:rPr lang="en-US" dirty="0"/>
              <a:t>Producers and Consumers of Science</a:t>
            </a:r>
          </a:p>
        </p:txBody>
      </p:sp>
    </p:spTree>
    <p:extLst>
      <p:ext uri="{BB962C8B-B14F-4D97-AF65-F5344CB8AC3E}">
        <p14:creationId xmlns:p14="http://schemas.microsoft.com/office/powerpoint/2010/main" val="755784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C498914-EE8E-E88A-33DA-B5F0C0C46438}"/>
              </a:ext>
            </a:extLst>
          </p:cNvPr>
          <p:cNvSpPr>
            <a:spLocks noGrp="1"/>
          </p:cNvSpPr>
          <p:nvPr>
            <p:ph type="title"/>
          </p:nvPr>
        </p:nvSpPr>
        <p:spPr/>
        <p:txBody>
          <a:bodyPr/>
          <a:lstStyle/>
          <a:p>
            <a:r>
              <a:rPr lang="en-US" dirty="0"/>
              <a:t>Talk It Out</a:t>
            </a:r>
          </a:p>
        </p:txBody>
      </p:sp>
      <p:sp>
        <p:nvSpPr>
          <p:cNvPr id="6" name="Content Placeholder 5">
            <a:extLst>
              <a:ext uri="{FF2B5EF4-FFF2-40B4-BE49-F238E27FC236}">
                <a16:creationId xmlns:a16="http://schemas.microsoft.com/office/drawing/2014/main" id="{4E158887-7942-13AE-AC44-07427A46A129}"/>
              </a:ext>
            </a:extLst>
          </p:cNvPr>
          <p:cNvSpPr>
            <a:spLocks noGrp="1"/>
          </p:cNvSpPr>
          <p:nvPr>
            <p:ph sz="quarter" idx="10"/>
          </p:nvPr>
        </p:nvSpPr>
        <p:spPr>
          <a:xfrm>
            <a:off x="4689792" y="2926080"/>
            <a:ext cx="6378575" cy="2586445"/>
          </a:xfrm>
        </p:spPr>
        <p:txBody>
          <a:bodyPr/>
          <a:lstStyle/>
          <a:p>
            <a:pPr algn="l"/>
            <a:br>
              <a:rPr lang="en-US" dirty="0"/>
            </a:br>
            <a:r>
              <a:rPr lang="en-US" dirty="0"/>
              <a:t>What kinds of jobs would require producer-of-research skills?</a:t>
            </a:r>
          </a:p>
          <a:p>
            <a:pPr algn="l"/>
            <a:br>
              <a:rPr lang="en-US" dirty="0"/>
            </a:br>
            <a:r>
              <a:rPr lang="en-US" dirty="0"/>
              <a:t>What kinds of jobs would require consumer skills?</a:t>
            </a:r>
          </a:p>
          <a:p>
            <a:pPr algn="l"/>
            <a:endParaRPr lang="en-US" dirty="0"/>
          </a:p>
        </p:txBody>
      </p:sp>
    </p:spTree>
    <p:extLst>
      <p:ext uri="{BB962C8B-B14F-4D97-AF65-F5344CB8AC3E}">
        <p14:creationId xmlns:p14="http://schemas.microsoft.com/office/powerpoint/2010/main" val="36440151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14F56-1CE4-F1FD-6A40-98439472360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9EB95A5-2393-8D95-5A23-A58E35127CB0}"/>
              </a:ext>
            </a:extLst>
          </p:cNvPr>
          <p:cNvSpPr>
            <a:spLocks noGrp="1"/>
          </p:cNvSpPr>
          <p:nvPr>
            <p:ph type="title"/>
          </p:nvPr>
        </p:nvSpPr>
        <p:spPr>
          <a:xfrm>
            <a:off x="3161049" y="1305612"/>
            <a:ext cx="5869901" cy="2123388"/>
          </a:xfrm>
        </p:spPr>
        <p:txBody>
          <a:bodyPr/>
          <a:lstStyle/>
          <a:p>
            <a:r>
              <a:rPr lang="en-US" dirty="0"/>
              <a:t>How Scientists Work</a:t>
            </a:r>
          </a:p>
        </p:txBody>
      </p:sp>
    </p:spTree>
    <p:extLst>
      <p:ext uri="{BB962C8B-B14F-4D97-AF65-F5344CB8AC3E}">
        <p14:creationId xmlns:p14="http://schemas.microsoft.com/office/powerpoint/2010/main" val="40198459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823A6DE-3781-796B-2E2B-BCE42FF1603A}"/>
              </a:ext>
            </a:extLst>
          </p:cNvPr>
          <p:cNvSpPr>
            <a:spLocks noGrp="1"/>
          </p:cNvSpPr>
          <p:nvPr>
            <p:ph type="body" sz="quarter" idx="108"/>
          </p:nvPr>
        </p:nvSpPr>
        <p:spPr/>
        <p:txBody>
          <a:bodyPr/>
          <a:lstStyle/>
          <a:p>
            <a:r>
              <a:rPr lang="en-US" dirty="0"/>
              <a:t>Scientists are empiricists</a:t>
            </a:r>
          </a:p>
          <a:p>
            <a:r>
              <a:rPr lang="en-US" dirty="0"/>
              <a:t>Scientists test theories: the theory-data cycle</a:t>
            </a:r>
          </a:p>
          <a:p>
            <a:r>
              <a:rPr lang="en-US" dirty="0"/>
              <a:t>Scientists work in a community</a:t>
            </a:r>
          </a:p>
          <a:p>
            <a:r>
              <a:rPr lang="en-US" dirty="0"/>
              <a:t>Scientists tackle applied and basic problems</a:t>
            </a:r>
          </a:p>
          <a:p>
            <a:r>
              <a:rPr lang="en-US" dirty="0"/>
              <a:t>Scientists make their work public</a:t>
            </a:r>
          </a:p>
          <a:p>
            <a:r>
              <a:rPr lang="en-US" dirty="0"/>
              <a:t>Scientists talk to the world: from journal to journalism</a:t>
            </a:r>
          </a:p>
        </p:txBody>
      </p:sp>
      <p:sp>
        <p:nvSpPr>
          <p:cNvPr id="3" name="Title 2">
            <a:extLst>
              <a:ext uri="{FF2B5EF4-FFF2-40B4-BE49-F238E27FC236}">
                <a16:creationId xmlns:a16="http://schemas.microsoft.com/office/drawing/2014/main" id="{3AEA3309-9A81-30E3-1A1A-57DE61E3CB9F}"/>
              </a:ext>
            </a:extLst>
          </p:cNvPr>
          <p:cNvSpPr>
            <a:spLocks noGrp="1"/>
          </p:cNvSpPr>
          <p:nvPr>
            <p:ph type="title"/>
          </p:nvPr>
        </p:nvSpPr>
        <p:spPr/>
        <p:txBody>
          <a:bodyPr/>
          <a:lstStyle/>
          <a:p>
            <a:r>
              <a:rPr lang="en-US" dirty="0"/>
              <a:t>How Scientists Work</a:t>
            </a:r>
          </a:p>
        </p:txBody>
      </p:sp>
    </p:spTree>
    <p:extLst>
      <p:ext uri="{BB962C8B-B14F-4D97-AF65-F5344CB8AC3E}">
        <p14:creationId xmlns:p14="http://schemas.microsoft.com/office/powerpoint/2010/main" val="13039174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011593D-D9DB-9908-9CAC-7B82C96ED8D3}"/>
              </a:ext>
            </a:extLst>
          </p:cNvPr>
          <p:cNvSpPr>
            <a:spLocks noGrp="1"/>
          </p:cNvSpPr>
          <p:nvPr>
            <p:ph type="body" sz="quarter" idx="108"/>
          </p:nvPr>
        </p:nvSpPr>
        <p:spPr/>
        <p:txBody>
          <a:bodyPr/>
          <a:lstStyle/>
          <a:p>
            <a:pPr>
              <a:spcBef>
                <a:spcPts val="1200"/>
              </a:spcBef>
              <a:buFont typeface="Arial" charset="0"/>
              <a:buChar char="•"/>
            </a:pPr>
            <a:r>
              <a:rPr lang="en-US" b="1" dirty="0"/>
              <a:t>Empiricism</a:t>
            </a:r>
            <a:r>
              <a:rPr lang="en-US" dirty="0"/>
              <a:t> – using evidence as the basis for conclusions </a:t>
            </a:r>
          </a:p>
          <a:p>
            <a:pPr lvl="1">
              <a:spcBef>
                <a:spcPts val="1200"/>
              </a:spcBef>
              <a:buFont typeface="Arial" charset="0"/>
              <a:buChar char="•"/>
            </a:pPr>
            <a:r>
              <a:rPr lang="en-US" sz="2200" b="1" dirty="0"/>
              <a:t>Evidence-based treatments </a:t>
            </a:r>
            <a:r>
              <a:rPr lang="en-US" sz="2200" dirty="0"/>
              <a:t>– treatments that have been based on research</a:t>
            </a:r>
            <a:endParaRPr lang="en-US" sz="2200" b="1" dirty="0"/>
          </a:p>
          <a:p>
            <a:pPr marL="342900" marR="0" lvl="1" indent="-342900" fontAlgn="auto">
              <a:spcBef>
                <a:spcPts val="1200"/>
              </a:spcBef>
              <a:spcAft>
                <a:spcPts val="0"/>
              </a:spcAft>
              <a:buClrTx/>
              <a:buSzTx/>
              <a:buFont typeface="Arial" charset="0"/>
              <a:buChar char="•"/>
              <a:tabLst/>
              <a:defRPr/>
            </a:pPr>
            <a:r>
              <a:rPr lang="en-US" sz="2400" b="1" dirty="0"/>
              <a:t>Quantitative methods </a:t>
            </a:r>
            <a:r>
              <a:rPr lang="en-US" sz="2400" dirty="0"/>
              <a:t>– turn empirical observations into numbers</a:t>
            </a:r>
          </a:p>
          <a:p>
            <a:pPr marL="342900" lvl="1" indent="-342900">
              <a:spcBef>
                <a:spcPts val="1200"/>
              </a:spcBef>
              <a:buFont typeface="Arial" charset="0"/>
              <a:buChar char="•"/>
              <a:defRPr/>
            </a:pPr>
            <a:r>
              <a:rPr lang="en-US" sz="2400" b="1" dirty="0"/>
              <a:t>Qualitative methods </a:t>
            </a:r>
            <a:r>
              <a:rPr lang="en-US" sz="2400" dirty="0"/>
              <a:t>– create rich descriptions not simplified into numbers</a:t>
            </a:r>
          </a:p>
          <a:p>
            <a:pPr marL="742950" lvl="2" indent="-342900">
              <a:spcBef>
                <a:spcPts val="1200"/>
              </a:spcBef>
              <a:buFont typeface="Arial" charset="0"/>
              <a:buChar char="•"/>
              <a:defRPr/>
            </a:pPr>
            <a:r>
              <a:rPr lang="en-US" sz="2200" b="1" dirty="0"/>
              <a:t>Reflexivity</a:t>
            </a:r>
            <a:r>
              <a:rPr lang="en-US" sz="2200" dirty="0"/>
              <a:t> – Scientists self-consciously consider how their background or privilege shapes what questions they ask and what interpretations they make (acknowledging their own biases)</a:t>
            </a:r>
          </a:p>
          <a:p>
            <a:endParaRPr lang="en-US" dirty="0"/>
          </a:p>
        </p:txBody>
      </p:sp>
      <p:sp>
        <p:nvSpPr>
          <p:cNvPr id="3" name="Title 2">
            <a:extLst>
              <a:ext uri="{FF2B5EF4-FFF2-40B4-BE49-F238E27FC236}">
                <a16:creationId xmlns:a16="http://schemas.microsoft.com/office/drawing/2014/main" id="{30ECB083-4AE8-3D9D-7853-2A979B8ACBBF}"/>
              </a:ext>
            </a:extLst>
          </p:cNvPr>
          <p:cNvSpPr>
            <a:spLocks noGrp="1"/>
          </p:cNvSpPr>
          <p:nvPr>
            <p:ph type="title"/>
          </p:nvPr>
        </p:nvSpPr>
        <p:spPr/>
        <p:txBody>
          <a:bodyPr/>
          <a:lstStyle/>
          <a:p>
            <a:r>
              <a:rPr lang="en-US" dirty="0"/>
              <a:t>Scientists are Empiricists</a:t>
            </a:r>
          </a:p>
        </p:txBody>
      </p:sp>
    </p:spTree>
    <p:extLst>
      <p:ext uri="{BB962C8B-B14F-4D97-AF65-F5344CB8AC3E}">
        <p14:creationId xmlns:p14="http://schemas.microsoft.com/office/powerpoint/2010/main" val="2607707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DE21E2-4A3C-E456-C0B3-BE8D65E3AAC3}"/>
              </a:ext>
            </a:extLst>
          </p:cNvPr>
          <p:cNvSpPr>
            <a:spLocks noGrp="1"/>
          </p:cNvSpPr>
          <p:nvPr>
            <p:ph type="title"/>
          </p:nvPr>
        </p:nvSpPr>
        <p:spPr/>
        <p:txBody>
          <a:bodyPr/>
          <a:lstStyle/>
          <a:p>
            <a:r>
              <a:rPr lang="en-US" dirty="0"/>
              <a:t>Talk It Out</a:t>
            </a:r>
          </a:p>
        </p:txBody>
      </p:sp>
      <p:sp>
        <p:nvSpPr>
          <p:cNvPr id="5" name="Content Placeholder 4">
            <a:extLst>
              <a:ext uri="{FF2B5EF4-FFF2-40B4-BE49-F238E27FC236}">
                <a16:creationId xmlns:a16="http://schemas.microsoft.com/office/drawing/2014/main" id="{818A0830-65D6-D864-532D-0DC8F39FFBBD}"/>
              </a:ext>
            </a:extLst>
          </p:cNvPr>
          <p:cNvSpPr>
            <a:spLocks noGrp="1"/>
          </p:cNvSpPr>
          <p:nvPr>
            <p:ph sz="quarter" idx="10"/>
          </p:nvPr>
        </p:nvSpPr>
        <p:spPr/>
        <p:txBody>
          <a:bodyPr/>
          <a:lstStyle/>
          <a:p>
            <a:r>
              <a:rPr lang="en-US" dirty="0"/>
              <a:t>Canvas stops working. What do you do?</a:t>
            </a:r>
          </a:p>
        </p:txBody>
      </p:sp>
    </p:spTree>
    <p:extLst>
      <p:ext uri="{BB962C8B-B14F-4D97-AF65-F5344CB8AC3E}">
        <p14:creationId xmlns:p14="http://schemas.microsoft.com/office/powerpoint/2010/main" val="2566913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19CFD75-ECD1-33FD-724C-5DEE005480D3}"/>
              </a:ext>
            </a:extLst>
          </p:cNvPr>
          <p:cNvSpPr>
            <a:spLocks noGrp="1"/>
          </p:cNvSpPr>
          <p:nvPr>
            <p:ph type="title"/>
          </p:nvPr>
        </p:nvSpPr>
        <p:spPr>
          <a:xfrm>
            <a:off x="658369" y="364018"/>
            <a:ext cx="4655232" cy="732155"/>
          </a:xfrm>
        </p:spPr>
        <p:txBody>
          <a:bodyPr/>
          <a:lstStyle/>
          <a:p>
            <a:r>
              <a:rPr lang="en-US" dirty="0"/>
              <a:t>The Theory-Data Cycle</a:t>
            </a:r>
          </a:p>
        </p:txBody>
      </p:sp>
      <p:sp>
        <p:nvSpPr>
          <p:cNvPr id="6" name="Text Placeholder 5">
            <a:extLst>
              <a:ext uri="{FF2B5EF4-FFF2-40B4-BE49-F238E27FC236}">
                <a16:creationId xmlns:a16="http://schemas.microsoft.com/office/drawing/2014/main" id="{2E163B44-B1E3-AFBB-1A3B-56527E6C3806}"/>
              </a:ext>
            </a:extLst>
          </p:cNvPr>
          <p:cNvSpPr>
            <a:spLocks noGrp="1"/>
          </p:cNvSpPr>
          <p:nvPr>
            <p:ph type="body" sz="quarter" idx="106"/>
          </p:nvPr>
        </p:nvSpPr>
        <p:spPr>
          <a:xfrm>
            <a:off x="658368" y="1437639"/>
            <a:ext cx="4096512" cy="4654550"/>
          </a:xfrm>
        </p:spPr>
        <p:txBody>
          <a:bodyPr/>
          <a:lstStyle/>
          <a:p>
            <a:r>
              <a:rPr lang="en-US" b="1" dirty="0"/>
              <a:t>Theory</a:t>
            </a:r>
            <a:r>
              <a:rPr lang="en-US" dirty="0"/>
              <a:t> – A set of statements that describes general principles about how variables relate to one another</a:t>
            </a:r>
          </a:p>
          <a:p>
            <a:r>
              <a:rPr lang="en-US" b="1" dirty="0"/>
              <a:t>Hypothesis </a:t>
            </a:r>
            <a:r>
              <a:rPr lang="en-US" dirty="0"/>
              <a:t>– Predictions about the outcomes of your research based on theory</a:t>
            </a:r>
          </a:p>
          <a:p>
            <a:r>
              <a:rPr lang="en-US" b="1" dirty="0"/>
              <a:t>Data </a:t>
            </a:r>
            <a:r>
              <a:rPr lang="en-US" dirty="0"/>
              <a:t>– Set of observations</a:t>
            </a:r>
          </a:p>
          <a:p>
            <a:pPr marL="0" indent="0">
              <a:buNone/>
            </a:pPr>
            <a:endParaRPr lang="en-US" dirty="0"/>
          </a:p>
        </p:txBody>
      </p:sp>
      <p:sp>
        <p:nvSpPr>
          <p:cNvPr id="7" name="Online Image Placeholder 6">
            <a:extLst>
              <a:ext uri="{FF2B5EF4-FFF2-40B4-BE49-F238E27FC236}">
                <a16:creationId xmlns:a16="http://schemas.microsoft.com/office/drawing/2014/main" id="{24070227-64BE-E81D-15A9-D10DA53CF442}"/>
              </a:ext>
            </a:extLst>
          </p:cNvPr>
          <p:cNvSpPr>
            <a:spLocks noGrp="1"/>
          </p:cNvSpPr>
          <p:nvPr>
            <p:ph type="clipArt" sz="quarter" idx="107"/>
          </p:nvPr>
        </p:nvSpPr>
        <p:spPr/>
        <p:txBody>
          <a:bodyPr/>
          <a:lstStyle/>
          <a:p>
            <a:endParaRPr lang="en-US"/>
          </a:p>
        </p:txBody>
      </p:sp>
      <p:pic>
        <p:nvPicPr>
          <p:cNvPr id="5" name="Image 0" descr="A diagram of the theory data cycle. Theory leads researchers to pose particular research questions, which lead to an appropriate research design to test a hypothesis. Then, the hypothesis is ideally preregistered before they collect and analyze data, which feed back into the cycle. On the left, leading back to theory, is supporting data strengthen the theory. On the right, leading back to theory but also research design, is, nonsupporting data lead to revised theories or improved research design.">
            <a:extLst>
              <a:ext uri="{FF2B5EF4-FFF2-40B4-BE49-F238E27FC236}">
                <a16:creationId xmlns:a16="http://schemas.microsoft.com/office/drawing/2014/main" id="{D6E335C8-4FC7-0C96-CF16-E7B3AD69B38E}"/>
              </a:ext>
            </a:extLst>
          </p:cNvPr>
          <p:cNvPicPr>
            <a:picLocks noChangeAspect="1"/>
          </p:cNvPicPr>
          <p:nvPr/>
        </p:nvPicPr>
        <p:blipFill>
          <a:blip r:embed="rId3"/>
          <a:stretch/>
        </p:blipFill>
        <p:spPr>
          <a:xfrm>
            <a:off x="5313600" y="807404"/>
            <a:ext cx="6382012" cy="5504486"/>
          </a:xfrm>
          <a:prstGeom prst="rect">
            <a:avLst/>
          </a:prstGeom>
          <a:noFill/>
        </p:spPr>
      </p:pic>
    </p:spTree>
    <p:extLst>
      <p:ext uri="{BB962C8B-B14F-4D97-AF65-F5344CB8AC3E}">
        <p14:creationId xmlns:p14="http://schemas.microsoft.com/office/powerpoint/2010/main" val="12508748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1F3700F-0A47-F472-1901-2D7E34B109ED}"/>
              </a:ext>
            </a:extLst>
          </p:cNvPr>
          <p:cNvSpPr>
            <a:spLocks noGrp="1"/>
          </p:cNvSpPr>
          <p:nvPr>
            <p:ph type="body" sz="quarter" idx="108"/>
          </p:nvPr>
        </p:nvSpPr>
        <p:spPr/>
        <p:txBody>
          <a:bodyPr/>
          <a:lstStyle/>
          <a:p>
            <a:r>
              <a:rPr lang="en-US" dirty="0"/>
              <a:t>Why do young animals form attachments to their mothers?</a:t>
            </a:r>
          </a:p>
          <a:p>
            <a:r>
              <a:rPr lang="en-US" dirty="0"/>
              <a:t>Cupboard theory- the mother provides food</a:t>
            </a:r>
          </a:p>
          <a:p>
            <a:r>
              <a:rPr lang="en-US" dirty="0"/>
              <a:t>Contact comfort theory- the mother provides comfort through physical contact</a:t>
            </a:r>
          </a:p>
          <a:p>
            <a:r>
              <a:rPr lang="en-US" dirty="0"/>
              <a:t>We have theories &gt; now we can create hypotheses and research designs to test them</a:t>
            </a:r>
          </a:p>
          <a:p>
            <a:pPr lvl="1"/>
            <a:r>
              <a:rPr lang="en-US" sz="2200" b="1" dirty="0"/>
              <a:t>Falsifiable</a:t>
            </a:r>
            <a:r>
              <a:rPr lang="en-US" sz="2200" dirty="0"/>
              <a:t> – able to be proven wrong</a:t>
            </a:r>
          </a:p>
        </p:txBody>
      </p:sp>
      <p:sp>
        <p:nvSpPr>
          <p:cNvPr id="3" name="Title 2">
            <a:extLst>
              <a:ext uri="{FF2B5EF4-FFF2-40B4-BE49-F238E27FC236}">
                <a16:creationId xmlns:a16="http://schemas.microsoft.com/office/drawing/2014/main" id="{D25971ED-EA34-D540-3A54-F26D40E437C7}"/>
              </a:ext>
            </a:extLst>
          </p:cNvPr>
          <p:cNvSpPr>
            <a:spLocks noGrp="1"/>
          </p:cNvSpPr>
          <p:nvPr>
            <p:ph type="title"/>
          </p:nvPr>
        </p:nvSpPr>
        <p:spPr/>
        <p:txBody>
          <a:bodyPr/>
          <a:lstStyle/>
          <a:p>
            <a:r>
              <a:rPr lang="en-US" dirty="0"/>
              <a:t>The Theory-Data Cycle Example</a:t>
            </a:r>
          </a:p>
        </p:txBody>
      </p:sp>
    </p:spTree>
    <p:extLst>
      <p:ext uri="{BB962C8B-B14F-4D97-AF65-F5344CB8AC3E}">
        <p14:creationId xmlns:p14="http://schemas.microsoft.com/office/powerpoint/2010/main" val="4388253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6B1DDAA-89E6-F768-6A1A-68EBF41408C7}"/>
              </a:ext>
            </a:extLst>
          </p:cNvPr>
          <p:cNvSpPr>
            <a:spLocks noGrp="1"/>
          </p:cNvSpPr>
          <p:nvPr>
            <p:ph type="body" sz="quarter" idx="108"/>
          </p:nvPr>
        </p:nvSpPr>
        <p:spPr>
          <a:xfrm>
            <a:off x="8046719" y="6492874"/>
            <a:ext cx="3944983" cy="288688"/>
          </a:xfrm>
        </p:spPr>
        <p:txBody>
          <a:bodyPr/>
          <a:lstStyle/>
          <a:p>
            <a:pPr marL="0" indent="0">
              <a:buNone/>
            </a:pPr>
            <a:r>
              <a:rPr lang="en-US" sz="1400" dirty="0"/>
              <a:t>https://www.youtube.com/watch?v=OrNBEhzjg8I  </a:t>
            </a:r>
          </a:p>
          <a:p>
            <a:pPr marL="0" indent="0">
              <a:buNone/>
            </a:pPr>
            <a:endParaRPr lang="en-US" sz="1400" dirty="0"/>
          </a:p>
        </p:txBody>
      </p:sp>
      <p:sp>
        <p:nvSpPr>
          <p:cNvPr id="3" name="Title 2">
            <a:extLst>
              <a:ext uri="{FF2B5EF4-FFF2-40B4-BE49-F238E27FC236}">
                <a16:creationId xmlns:a16="http://schemas.microsoft.com/office/drawing/2014/main" id="{373C5C55-1962-3CF7-6BFD-2650204E7E3B}"/>
              </a:ext>
            </a:extLst>
          </p:cNvPr>
          <p:cNvSpPr>
            <a:spLocks noGrp="1"/>
          </p:cNvSpPr>
          <p:nvPr>
            <p:ph type="title"/>
          </p:nvPr>
        </p:nvSpPr>
        <p:spPr>
          <a:xfrm>
            <a:off x="9204958" y="2449105"/>
            <a:ext cx="3307081" cy="801824"/>
          </a:xfrm>
        </p:spPr>
        <p:txBody>
          <a:bodyPr/>
          <a:lstStyle/>
          <a:p>
            <a:r>
              <a:rPr lang="en-US" dirty="0"/>
              <a:t>Harlow’s Monkeys</a:t>
            </a:r>
          </a:p>
        </p:txBody>
      </p:sp>
      <p:pic>
        <p:nvPicPr>
          <p:cNvPr id="4" name="Online Media 3" title="Harlow's Studies on Dependency in Monkeys">
            <a:hlinkClick r:id="" action="ppaction://media"/>
            <a:extLst>
              <a:ext uri="{FF2B5EF4-FFF2-40B4-BE49-F238E27FC236}">
                <a16:creationId xmlns:a16="http://schemas.microsoft.com/office/drawing/2014/main" id="{0F44A001-9377-52BD-8CAD-D98D7466B0DE}"/>
              </a:ext>
            </a:extLst>
          </p:cNvPr>
          <p:cNvPicPr>
            <a:picLocks noRot="1" noChangeAspect="1"/>
          </p:cNvPicPr>
          <p:nvPr>
            <a:videoFile r:link="rId1"/>
          </p:nvPr>
        </p:nvPicPr>
        <p:blipFill>
          <a:blip r:embed="rId4"/>
          <a:stretch>
            <a:fillRect/>
          </a:stretch>
        </p:blipFill>
        <p:spPr>
          <a:xfrm>
            <a:off x="1436915" y="380366"/>
            <a:ext cx="7654834" cy="5741126"/>
          </a:xfrm>
          <a:prstGeom prst="rect">
            <a:avLst/>
          </a:prstGeom>
        </p:spPr>
      </p:pic>
    </p:spTree>
    <p:extLst>
      <p:ext uri="{BB962C8B-B14F-4D97-AF65-F5344CB8AC3E}">
        <p14:creationId xmlns:p14="http://schemas.microsoft.com/office/powerpoint/2010/main" val="3951353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6793E8-20B8-68D3-B820-CC6F04507C6A}"/>
              </a:ext>
            </a:extLst>
          </p:cNvPr>
          <p:cNvSpPr>
            <a:spLocks noGrp="1"/>
          </p:cNvSpPr>
          <p:nvPr>
            <p:ph type="title"/>
          </p:nvPr>
        </p:nvSpPr>
        <p:spPr>
          <a:xfrm>
            <a:off x="550818" y="2794816"/>
            <a:ext cx="3254829" cy="1576885"/>
          </a:xfrm>
        </p:spPr>
        <p:txBody>
          <a:bodyPr/>
          <a:lstStyle/>
          <a:p>
            <a:r>
              <a:rPr lang="en-US" dirty="0"/>
              <a:t>Harlow’s Monkeys Example</a:t>
            </a:r>
          </a:p>
        </p:txBody>
      </p:sp>
      <p:pic>
        <p:nvPicPr>
          <p:cNvPr id="5" name="Picture 4" descr="A diagram of the theory data cycle applied to two examples. On the left, the Theory is that Contact comfort forms the basis of attachment. The Research question is Will baby monkeys prefer warmth over nutrition? Research design and hypothesis are that Given two “mothers,” one providing food and the other providing cozy warmth, baby monkeys will spend more time on the cozy “mother.” Preregistered hypothesis: Harlow did not preregister his hypothesis, but many modern research psychologists publicly post their research designs and hypotheses on the internet before collecting the data. Harlow’s data showed that baby monkeys spent the vast majority of time on the cozy “mother.” The data support and strengthen the contact comfort theory. On the right, the Theory is that Threat of punishment is a powerful motivator for adolescents (compared to belonging or immediate reward). The Research question is Can at-risk teens be scared into better behavior if they hear from current prison inmates? Research design and hypothesis are that Teens who are assigned to hear from inmates will have lower future incarceration rates compared to teens who do not. Preregistered hypothesis: Before collecting data, publicly post the prediction that teens in the inmate presentation group will be incarcerated less often. Data indicated that teens who talked to prison inmates had incarceration rates that were 7% higher than those who did not. The data did not support the theory. The theory should be modified or rejected.">
            <a:extLst>
              <a:ext uri="{FF2B5EF4-FFF2-40B4-BE49-F238E27FC236}">
                <a16:creationId xmlns:a16="http://schemas.microsoft.com/office/drawing/2014/main" id="{2A6DC8AC-DB7F-7341-DF85-C17162238AA3}"/>
              </a:ext>
            </a:extLst>
          </p:cNvPr>
          <p:cNvPicPr>
            <a:picLocks noChangeAspect="1"/>
          </p:cNvPicPr>
          <p:nvPr/>
        </p:nvPicPr>
        <p:blipFill>
          <a:blip r:embed="rId3"/>
          <a:srcRect r="51453"/>
          <a:stretch>
            <a:fillRect/>
          </a:stretch>
        </p:blipFill>
        <p:spPr>
          <a:xfrm>
            <a:off x="5947954" y="207271"/>
            <a:ext cx="4549917" cy="6443457"/>
          </a:xfrm>
          <a:prstGeom prst="rect">
            <a:avLst/>
          </a:prstGeom>
          <a:noFill/>
        </p:spPr>
      </p:pic>
    </p:spTree>
    <p:extLst>
      <p:ext uri="{BB962C8B-B14F-4D97-AF65-F5344CB8AC3E}">
        <p14:creationId xmlns:p14="http://schemas.microsoft.com/office/powerpoint/2010/main" val="781279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BF097BF-2488-9635-B2F8-697B46CF8423}"/>
              </a:ext>
            </a:extLst>
          </p:cNvPr>
          <p:cNvSpPr>
            <a:spLocks noGrp="1"/>
          </p:cNvSpPr>
          <p:nvPr>
            <p:ph type="title"/>
          </p:nvPr>
        </p:nvSpPr>
        <p:spPr>
          <a:xfrm>
            <a:off x="658368" y="364018"/>
            <a:ext cx="4592901" cy="732155"/>
          </a:xfrm>
        </p:spPr>
        <p:txBody>
          <a:bodyPr/>
          <a:lstStyle/>
          <a:p>
            <a:r>
              <a:rPr lang="en-US" dirty="0"/>
              <a:t>Scared Straight Example</a:t>
            </a:r>
          </a:p>
        </p:txBody>
      </p:sp>
      <p:sp>
        <p:nvSpPr>
          <p:cNvPr id="6" name="Text Placeholder 5">
            <a:extLst>
              <a:ext uri="{FF2B5EF4-FFF2-40B4-BE49-F238E27FC236}">
                <a16:creationId xmlns:a16="http://schemas.microsoft.com/office/drawing/2014/main" id="{AA8B6FB3-0C5C-2A4B-6079-10A9790A62AB}"/>
              </a:ext>
            </a:extLst>
          </p:cNvPr>
          <p:cNvSpPr>
            <a:spLocks noGrp="1"/>
          </p:cNvSpPr>
          <p:nvPr>
            <p:ph type="body" sz="quarter" idx="106"/>
          </p:nvPr>
        </p:nvSpPr>
        <p:spPr>
          <a:xfrm>
            <a:off x="658368" y="1846217"/>
            <a:ext cx="3826546" cy="4245972"/>
          </a:xfrm>
        </p:spPr>
        <p:txBody>
          <a:bodyPr/>
          <a:lstStyle/>
          <a:p>
            <a:r>
              <a:rPr lang="en-US" dirty="0"/>
              <a:t>Scared Straight: A program where at-risk teens were brought to prisons to see if exposure to the consequences could “scare them straight”</a:t>
            </a:r>
          </a:p>
        </p:txBody>
      </p:sp>
      <p:pic>
        <p:nvPicPr>
          <p:cNvPr id="5" name="Picture 4" descr="A diagram of the theory data cycle applied to two examples. On the left, the Theory is that Contact comfort forms the basis of attachment. The Research question is Will baby monkeys prefer warmth over nutrition? Research design and hypothesis are that Given two “mothers,” one providing food and the other providing cozy warmth, baby monkeys will spend more time on the cozy “mother.” Preregistered hypothesis: Harlow did not preregister his hypothesis, but many modern research psychologists publicly post their research designs and hypotheses on the internet before collecting the data. Harlow’s data showed that baby monkeys spent the vast majority of time on the cozy “mother.” The data support and strengthen the contact comfort theory. On the right, the Theory is that Threat of punishment is a powerful motivator for adolescents (compared to belonging or immediate reward). The Research question is Can at-risk teens be scared into better behavior if they hear from current prison inmates? Research design and hypothesis are that Teens who are assigned to hear from inmates will have lower future incarceration rates compared to teens who do not. Preregistered hypothesis: Before collecting data, publicly post the prediction that teens in the inmate presentation group will be incarcerated less often. Data indicated that teens who talked to prison inmates had incarceration rates that were 7% higher than those who did not. The data did not support the theory. The theory should be modified or rejected.">
            <a:extLst>
              <a:ext uri="{FF2B5EF4-FFF2-40B4-BE49-F238E27FC236}">
                <a16:creationId xmlns:a16="http://schemas.microsoft.com/office/drawing/2014/main" id="{23CCF8BD-0041-A32E-DDF8-F6969C6E4042}"/>
              </a:ext>
            </a:extLst>
          </p:cNvPr>
          <p:cNvPicPr>
            <a:picLocks noChangeAspect="1"/>
          </p:cNvPicPr>
          <p:nvPr/>
        </p:nvPicPr>
        <p:blipFill>
          <a:blip r:embed="rId3"/>
          <a:srcRect l="50401"/>
          <a:stretch>
            <a:fillRect/>
          </a:stretch>
        </p:blipFill>
        <p:spPr>
          <a:xfrm>
            <a:off x="6026331" y="0"/>
            <a:ext cx="4892727" cy="6781937"/>
          </a:xfrm>
          <a:prstGeom prst="rect">
            <a:avLst/>
          </a:prstGeom>
          <a:noFill/>
        </p:spPr>
      </p:pic>
    </p:spTree>
    <p:extLst>
      <p:ext uri="{BB962C8B-B14F-4D97-AF65-F5344CB8AC3E}">
        <p14:creationId xmlns:p14="http://schemas.microsoft.com/office/powerpoint/2010/main" val="8565654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524D666-5DD0-5659-AD89-C378C053A0D3}"/>
              </a:ext>
            </a:extLst>
          </p:cNvPr>
          <p:cNvSpPr>
            <a:spLocks noGrp="1"/>
          </p:cNvSpPr>
          <p:nvPr>
            <p:ph type="body" sz="quarter" idx="108"/>
          </p:nvPr>
        </p:nvSpPr>
        <p:spPr/>
        <p:txBody>
          <a:bodyPr/>
          <a:lstStyle/>
          <a:p>
            <a:r>
              <a:rPr lang="en-US" dirty="0"/>
              <a:t>Science can be self-correcting: A process in which scientists make their research available for peer review, replication, and critique, with the goal of identifying and correcting errors in the research.</a:t>
            </a:r>
          </a:p>
          <a:p>
            <a:r>
              <a:rPr lang="en-US" dirty="0"/>
              <a:t>Representation matters</a:t>
            </a:r>
          </a:p>
          <a:p>
            <a:pPr lvl="1"/>
            <a:r>
              <a:rPr lang="en-US" sz="2400" dirty="0"/>
              <a:t>Representation of different scientists &gt; different problems are addressed</a:t>
            </a:r>
          </a:p>
          <a:p>
            <a:pPr lvl="1"/>
            <a:r>
              <a:rPr lang="en-US" sz="2400" dirty="0"/>
              <a:t>Representation of different participants &gt; finds can be applied to multiple populations</a:t>
            </a:r>
          </a:p>
          <a:p>
            <a:endParaRPr lang="en-US" dirty="0"/>
          </a:p>
        </p:txBody>
      </p:sp>
      <p:sp>
        <p:nvSpPr>
          <p:cNvPr id="3" name="Title 2">
            <a:extLst>
              <a:ext uri="{FF2B5EF4-FFF2-40B4-BE49-F238E27FC236}">
                <a16:creationId xmlns:a16="http://schemas.microsoft.com/office/drawing/2014/main" id="{477747B0-3553-EFED-06C8-8EFBFE8ADD92}"/>
              </a:ext>
            </a:extLst>
          </p:cNvPr>
          <p:cNvSpPr>
            <a:spLocks noGrp="1"/>
          </p:cNvSpPr>
          <p:nvPr>
            <p:ph type="title"/>
          </p:nvPr>
        </p:nvSpPr>
        <p:spPr/>
        <p:txBody>
          <a:bodyPr/>
          <a:lstStyle/>
          <a:p>
            <a:r>
              <a:rPr lang="en-US" dirty="0"/>
              <a:t>Scientists Work in a Community</a:t>
            </a:r>
          </a:p>
        </p:txBody>
      </p:sp>
    </p:spTree>
    <p:extLst>
      <p:ext uri="{BB962C8B-B14F-4D97-AF65-F5344CB8AC3E}">
        <p14:creationId xmlns:p14="http://schemas.microsoft.com/office/powerpoint/2010/main" val="38379014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BCB61AA-120B-A002-21F0-F5D72AD6A3D4}"/>
              </a:ext>
            </a:extLst>
          </p:cNvPr>
          <p:cNvSpPr>
            <a:spLocks noGrp="1"/>
          </p:cNvSpPr>
          <p:nvPr>
            <p:ph type="title"/>
          </p:nvPr>
        </p:nvSpPr>
        <p:spPr/>
        <p:txBody>
          <a:bodyPr/>
          <a:lstStyle/>
          <a:p>
            <a:r>
              <a:rPr lang="en-US" dirty="0"/>
              <a:t>Merton’s Scientific Norms</a:t>
            </a:r>
          </a:p>
        </p:txBody>
      </p:sp>
      <p:pic>
        <p:nvPicPr>
          <p:cNvPr id="5" name="Picture 4" descr="A table titled, Merton’s Scientific Norms. Detailed table information is available in the accessible content.">
            <a:extLst>
              <a:ext uri="{FF2B5EF4-FFF2-40B4-BE49-F238E27FC236}">
                <a16:creationId xmlns:a16="http://schemas.microsoft.com/office/drawing/2014/main" id="{336FDB64-0F3D-8652-0B2F-E67286B53D41}"/>
              </a:ext>
            </a:extLst>
          </p:cNvPr>
          <p:cNvPicPr>
            <a:picLocks noChangeAspect="1"/>
          </p:cNvPicPr>
          <p:nvPr/>
        </p:nvPicPr>
        <p:blipFill>
          <a:blip r:embed="rId3"/>
          <a:stretch>
            <a:fillRect/>
          </a:stretch>
        </p:blipFill>
        <p:spPr>
          <a:xfrm>
            <a:off x="1620310" y="1166950"/>
            <a:ext cx="8951379" cy="5090283"/>
          </a:xfrm>
          <a:prstGeom prst="rect">
            <a:avLst/>
          </a:prstGeom>
        </p:spPr>
      </p:pic>
    </p:spTree>
    <p:extLst>
      <p:ext uri="{BB962C8B-B14F-4D97-AF65-F5344CB8AC3E}">
        <p14:creationId xmlns:p14="http://schemas.microsoft.com/office/powerpoint/2010/main" val="39075181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6E0E3A9-4E77-03E2-4EF8-AF727108D59E}"/>
              </a:ext>
            </a:extLst>
          </p:cNvPr>
          <p:cNvSpPr>
            <a:spLocks noGrp="1"/>
          </p:cNvSpPr>
          <p:nvPr>
            <p:ph type="body" sz="quarter" idx="108"/>
          </p:nvPr>
        </p:nvSpPr>
        <p:spPr/>
        <p:txBody>
          <a:bodyPr/>
          <a:lstStyle/>
          <a:p>
            <a:r>
              <a:rPr lang="en-US" b="1" dirty="0"/>
              <a:t>Applied research</a:t>
            </a:r>
            <a:r>
              <a:rPr lang="en-US" dirty="0"/>
              <a:t> – The goal is to solve practical problems; the findings will be directly applied to finding a solution to a real-world problem.</a:t>
            </a:r>
          </a:p>
          <a:p>
            <a:pPr lvl="1"/>
            <a:r>
              <a:rPr lang="en-US" sz="2400" dirty="0"/>
              <a:t>Example: Conducting a study to determine if a new method of treating posttraumatic stress disorder is better than the current standard of care</a:t>
            </a:r>
          </a:p>
          <a:p>
            <a:r>
              <a:rPr lang="en-US" b="1" dirty="0"/>
              <a:t>Basic research</a:t>
            </a:r>
            <a:r>
              <a:rPr lang="en-US" dirty="0"/>
              <a:t> – The goal is to enhance the general body of knowledge about a particular topic. </a:t>
            </a:r>
          </a:p>
          <a:p>
            <a:pPr lvl="1"/>
            <a:r>
              <a:rPr lang="en-US" sz="2400" dirty="0"/>
              <a:t>Example: Conducting a study to investigate the changes in the production of cortisol (the stress hormone) throughout the day</a:t>
            </a:r>
          </a:p>
          <a:p>
            <a:endParaRPr lang="en-US" dirty="0"/>
          </a:p>
        </p:txBody>
      </p:sp>
      <p:sp>
        <p:nvSpPr>
          <p:cNvPr id="3" name="Title 2">
            <a:extLst>
              <a:ext uri="{FF2B5EF4-FFF2-40B4-BE49-F238E27FC236}">
                <a16:creationId xmlns:a16="http://schemas.microsoft.com/office/drawing/2014/main" id="{350BAF63-52EC-AD60-D2B0-2AC9F4ECE7CB}"/>
              </a:ext>
            </a:extLst>
          </p:cNvPr>
          <p:cNvSpPr>
            <a:spLocks noGrp="1"/>
          </p:cNvSpPr>
          <p:nvPr>
            <p:ph type="title"/>
          </p:nvPr>
        </p:nvSpPr>
        <p:spPr/>
        <p:txBody>
          <a:bodyPr/>
          <a:lstStyle/>
          <a:p>
            <a:r>
              <a:rPr lang="en-US" dirty="0"/>
              <a:t>Scientists Tackle Applied and Basic Problems</a:t>
            </a:r>
          </a:p>
        </p:txBody>
      </p:sp>
    </p:spTree>
    <p:extLst>
      <p:ext uri="{BB962C8B-B14F-4D97-AF65-F5344CB8AC3E}">
        <p14:creationId xmlns:p14="http://schemas.microsoft.com/office/powerpoint/2010/main" val="29169871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1C2C8EF-29AA-1ABA-00B6-8F4380D0A2B9}"/>
              </a:ext>
            </a:extLst>
          </p:cNvPr>
          <p:cNvSpPr>
            <a:spLocks noGrp="1"/>
          </p:cNvSpPr>
          <p:nvPr>
            <p:ph type="body" sz="quarter" idx="108"/>
          </p:nvPr>
        </p:nvSpPr>
        <p:spPr>
          <a:xfrm>
            <a:off x="496390" y="3054127"/>
            <a:ext cx="2174892" cy="3195981"/>
          </a:xfrm>
        </p:spPr>
        <p:txBody>
          <a:bodyPr/>
          <a:lstStyle/>
          <a:p>
            <a:pPr marL="0" indent="0">
              <a:buNone/>
            </a:pPr>
            <a:r>
              <a:rPr lang="en-US" dirty="0"/>
              <a:t>Scientists share their work by publishing it in a journal (if they can)</a:t>
            </a:r>
          </a:p>
        </p:txBody>
      </p:sp>
      <p:sp>
        <p:nvSpPr>
          <p:cNvPr id="3" name="Title 2">
            <a:extLst>
              <a:ext uri="{FF2B5EF4-FFF2-40B4-BE49-F238E27FC236}">
                <a16:creationId xmlns:a16="http://schemas.microsoft.com/office/drawing/2014/main" id="{AA1A6FD6-B3A7-2341-07A0-DE6B69BE150D}"/>
              </a:ext>
            </a:extLst>
          </p:cNvPr>
          <p:cNvSpPr>
            <a:spLocks noGrp="1"/>
          </p:cNvSpPr>
          <p:nvPr>
            <p:ph type="title"/>
          </p:nvPr>
        </p:nvSpPr>
        <p:spPr>
          <a:xfrm>
            <a:off x="0" y="1115910"/>
            <a:ext cx="3041151" cy="1236872"/>
          </a:xfrm>
        </p:spPr>
        <p:txBody>
          <a:bodyPr/>
          <a:lstStyle/>
          <a:p>
            <a:r>
              <a:rPr lang="en-US" dirty="0"/>
              <a:t>Scientists Make Their Work Public</a:t>
            </a:r>
          </a:p>
        </p:txBody>
      </p:sp>
      <p:pic>
        <p:nvPicPr>
          <p:cNvPr id="5" name="Picture 4">
            <a:extLst>
              <a:ext uri="{FF2B5EF4-FFF2-40B4-BE49-F238E27FC236}">
                <a16:creationId xmlns:a16="http://schemas.microsoft.com/office/drawing/2014/main" id="{561A1027-171F-B99A-562F-38F4A4555C28}"/>
              </a:ext>
            </a:extLst>
          </p:cNvPr>
          <p:cNvPicPr>
            <a:picLocks noChangeAspect="1"/>
          </p:cNvPicPr>
          <p:nvPr/>
        </p:nvPicPr>
        <p:blipFill>
          <a:blip r:embed="rId3"/>
          <a:stretch>
            <a:fillRect/>
          </a:stretch>
        </p:blipFill>
        <p:spPr>
          <a:xfrm>
            <a:off x="2804845" y="453061"/>
            <a:ext cx="9380306" cy="6253537"/>
          </a:xfrm>
          <a:prstGeom prst="rect">
            <a:avLst/>
          </a:prstGeom>
        </p:spPr>
      </p:pic>
    </p:spTree>
    <p:extLst>
      <p:ext uri="{BB962C8B-B14F-4D97-AF65-F5344CB8AC3E}">
        <p14:creationId xmlns:p14="http://schemas.microsoft.com/office/powerpoint/2010/main" val="36350660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87E3E6D-BC12-9C5D-E01D-327EDCB4C7D7}"/>
              </a:ext>
            </a:extLst>
          </p:cNvPr>
          <p:cNvSpPr>
            <a:spLocks noGrp="1"/>
          </p:cNvSpPr>
          <p:nvPr>
            <p:ph type="body" sz="quarter" idx="108"/>
          </p:nvPr>
        </p:nvSpPr>
        <p:spPr>
          <a:xfrm>
            <a:off x="496388" y="1252729"/>
            <a:ext cx="4055064" cy="4974332"/>
          </a:xfrm>
        </p:spPr>
        <p:txBody>
          <a:bodyPr/>
          <a:lstStyle/>
          <a:p>
            <a:r>
              <a:rPr lang="en-US" dirty="0"/>
              <a:t>Once research is published in a scientific journal, it may be shared with the world through journalism (the media/ press) </a:t>
            </a:r>
          </a:p>
          <a:p>
            <a:pPr marL="0" indent="0">
              <a:buNone/>
            </a:pPr>
            <a:endParaRPr lang="en-US" dirty="0"/>
          </a:p>
        </p:txBody>
      </p:sp>
      <p:sp>
        <p:nvSpPr>
          <p:cNvPr id="3" name="Title 2">
            <a:extLst>
              <a:ext uri="{FF2B5EF4-FFF2-40B4-BE49-F238E27FC236}">
                <a16:creationId xmlns:a16="http://schemas.microsoft.com/office/drawing/2014/main" id="{7B938C4F-CD36-6BAE-423E-E3A9A584C43D}"/>
              </a:ext>
            </a:extLst>
          </p:cNvPr>
          <p:cNvSpPr>
            <a:spLocks noGrp="1"/>
          </p:cNvSpPr>
          <p:nvPr>
            <p:ph type="title"/>
          </p:nvPr>
        </p:nvSpPr>
        <p:spPr>
          <a:xfrm>
            <a:off x="496388" y="380931"/>
            <a:ext cx="5788631" cy="801824"/>
          </a:xfrm>
        </p:spPr>
        <p:txBody>
          <a:bodyPr/>
          <a:lstStyle/>
          <a:p>
            <a:r>
              <a:rPr lang="en-US" dirty="0"/>
              <a:t>Scientists Talk to the World</a:t>
            </a:r>
          </a:p>
        </p:txBody>
      </p:sp>
      <p:pic>
        <p:nvPicPr>
          <p:cNvPr id="5" name="Image 0" descr="A cartoon flowchart titled, The Science News Cycle. The top reads, start here, and a snippet of text reads, Your Research, conclusion, A is correlated with b, p equals 0.56, given C, assuming D and under E conditions. This is translated by a University PR Office, Yes, you have one, for Immediate release, Scientists find potential link between A and B under certain conditions. Which is then picked up by News Wire Organizations, A Causes B, Say Scientists who are read by The Internet's then noticed by Cable News, A causes B all the time, with a screenshot of a news headline that reads, What will this mean for Obama? Followed by, And Caught on by Local Eyewitness News, with an example thumbnail reading, what you don't know about A can kill you more at 11, a killer among us. Eventually making it to, your grandma, who is wearing a tin foil hat, and says I'm wearing this to ward off A at the end of the cycle.">
            <a:extLst>
              <a:ext uri="{FF2B5EF4-FFF2-40B4-BE49-F238E27FC236}">
                <a16:creationId xmlns:a16="http://schemas.microsoft.com/office/drawing/2014/main" id="{B7FC7505-2626-4A2E-7F01-5DAD2D92030E}"/>
              </a:ext>
            </a:extLst>
          </p:cNvPr>
          <p:cNvPicPr>
            <a:picLocks noChangeAspect="1"/>
          </p:cNvPicPr>
          <p:nvPr/>
        </p:nvPicPr>
        <p:blipFill>
          <a:blip r:embed="rId3"/>
          <a:srcRect t="9780" r="-1" b="22020"/>
          <a:stretch>
            <a:fillRect/>
          </a:stretch>
        </p:blipFill>
        <p:spPr>
          <a:xfrm>
            <a:off x="4945332" y="1012843"/>
            <a:ext cx="6750280" cy="5464225"/>
          </a:xfrm>
          <a:prstGeom prst="rect">
            <a:avLst/>
          </a:prstGeom>
          <a:noFill/>
        </p:spPr>
      </p:pic>
    </p:spTree>
    <p:extLst>
      <p:ext uri="{BB962C8B-B14F-4D97-AF65-F5344CB8AC3E}">
        <p14:creationId xmlns:p14="http://schemas.microsoft.com/office/powerpoint/2010/main" val="35141629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C59B1B4-A943-1D69-C4DC-340E0E37DE39}"/>
              </a:ext>
            </a:extLst>
          </p:cNvPr>
          <p:cNvSpPr>
            <a:spLocks noGrp="1"/>
          </p:cNvSpPr>
          <p:nvPr>
            <p:ph type="title"/>
          </p:nvPr>
        </p:nvSpPr>
        <p:spPr>
          <a:xfrm>
            <a:off x="3161049" y="1305612"/>
            <a:ext cx="5869901" cy="2123388"/>
          </a:xfrm>
        </p:spPr>
        <p:txBody>
          <a:bodyPr/>
          <a:lstStyle/>
          <a:p>
            <a:r>
              <a:rPr lang="en-US" dirty="0"/>
              <a:t>The Importance of Being a Good Producer of Science</a:t>
            </a:r>
          </a:p>
        </p:txBody>
      </p:sp>
    </p:spTree>
    <p:extLst>
      <p:ext uri="{BB962C8B-B14F-4D97-AF65-F5344CB8AC3E}">
        <p14:creationId xmlns:p14="http://schemas.microsoft.com/office/powerpoint/2010/main" val="12455661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D5ECC6E-7DAD-9137-B13A-B46E19A97DA8}"/>
              </a:ext>
            </a:extLst>
          </p:cNvPr>
          <p:cNvSpPr>
            <a:spLocks noGrp="1"/>
          </p:cNvSpPr>
          <p:nvPr>
            <p:ph type="body" sz="quarter" idx="108"/>
          </p:nvPr>
        </p:nvSpPr>
        <p:spPr/>
        <p:txBody>
          <a:bodyPr/>
          <a:lstStyle/>
          <a:p>
            <a:r>
              <a:rPr lang="en-US" dirty="0"/>
              <a:t>In the 2000’s/ 2010’s, attention was drawn to a substantial number of studies not being replicable</a:t>
            </a:r>
          </a:p>
          <a:p>
            <a:pPr lvl="1"/>
            <a:r>
              <a:rPr lang="en-US" sz="2200" b="1" dirty="0"/>
              <a:t>Replicable</a:t>
            </a:r>
            <a:r>
              <a:rPr lang="en-US" sz="2200" dirty="0"/>
              <a:t> – when the study is repeated and similar results are found</a:t>
            </a:r>
          </a:p>
          <a:p>
            <a:r>
              <a:rPr lang="en-US" dirty="0"/>
              <a:t>This drew attention to many issues in academia, including the publish-or-perish requirements, the inequity of resources, the file drawer effect/ publication bias, and unethical research practices</a:t>
            </a:r>
          </a:p>
          <a:p>
            <a:r>
              <a:rPr lang="en-US" dirty="0"/>
              <a:t>As a result, science shifted towards Open Science. This includes a push for open data, open sources, open methodology (including pre-registration), and open resources</a:t>
            </a:r>
          </a:p>
        </p:txBody>
      </p:sp>
      <p:sp>
        <p:nvSpPr>
          <p:cNvPr id="3" name="Title 2">
            <a:extLst>
              <a:ext uri="{FF2B5EF4-FFF2-40B4-BE49-F238E27FC236}">
                <a16:creationId xmlns:a16="http://schemas.microsoft.com/office/drawing/2014/main" id="{8A00DBE6-ED68-1F0C-4CFC-90888795AE50}"/>
              </a:ext>
            </a:extLst>
          </p:cNvPr>
          <p:cNvSpPr>
            <a:spLocks noGrp="1"/>
          </p:cNvSpPr>
          <p:nvPr>
            <p:ph type="title"/>
          </p:nvPr>
        </p:nvSpPr>
        <p:spPr/>
        <p:txBody>
          <a:bodyPr/>
          <a:lstStyle/>
          <a:p>
            <a:r>
              <a:rPr lang="en-US" dirty="0"/>
              <a:t>The Replication Crisis</a:t>
            </a:r>
          </a:p>
        </p:txBody>
      </p:sp>
    </p:spTree>
    <p:extLst>
      <p:ext uri="{BB962C8B-B14F-4D97-AF65-F5344CB8AC3E}">
        <p14:creationId xmlns:p14="http://schemas.microsoft.com/office/powerpoint/2010/main" val="6643534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E0A40A-6057-4404-8F78-392C772E918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0336891-C87F-C95D-E70A-61531388C92A}"/>
              </a:ext>
            </a:extLst>
          </p:cNvPr>
          <p:cNvSpPr>
            <a:spLocks noGrp="1"/>
          </p:cNvSpPr>
          <p:nvPr>
            <p:ph type="title"/>
          </p:nvPr>
        </p:nvSpPr>
        <p:spPr>
          <a:xfrm>
            <a:off x="3161049" y="1305612"/>
            <a:ext cx="5869901" cy="2123388"/>
          </a:xfrm>
        </p:spPr>
        <p:txBody>
          <a:bodyPr/>
          <a:lstStyle/>
          <a:p>
            <a:r>
              <a:rPr lang="en-US" dirty="0"/>
              <a:t>The Importance of Being a Good Consumer of Science</a:t>
            </a:r>
          </a:p>
        </p:txBody>
      </p:sp>
    </p:spTree>
    <p:extLst>
      <p:ext uri="{BB962C8B-B14F-4D97-AF65-F5344CB8AC3E}">
        <p14:creationId xmlns:p14="http://schemas.microsoft.com/office/powerpoint/2010/main" val="19570777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CEDECEC7-502C-265F-6063-240FBA255BE7}"/>
              </a:ext>
            </a:extLst>
          </p:cNvPr>
          <p:cNvSpPr>
            <a:spLocks noGrp="1"/>
          </p:cNvSpPr>
          <p:nvPr>
            <p:ph type="body" sz="quarter" idx="108"/>
          </p:nvPr>
        </p:nvSpPr>
        <p:spPr>
          <a:xfrm>
            <a:off x="8232830" y="6353848"/>
            <a:ext cx="3870129" cy="504152"/>
          </a:xfrm>
        </p:spPr>
        <p:txBody>
          <a:bodyPr/>
          <a:lstStyle/>
          <a:p>
            <a:pPr marL="0" indent="0">
              <a:buNone/>
            </a:pPr>
            <a:r>
              <a:rPr lang="en-US" sz="1200" dirty="0">
                <a:hlinkClick r:id="rId4"/>
              </a:rPr>
              <a:t>https://www.youtube.com/watch?v=0Rnq1NpHdmw</a:t>
            </a:r>
            <a:endParaRPr lang="en-US" sz="1200" dirty="0"/>
          </a:p>
        </p:txBody>
      </p:sp>
      <p:pic>
        <p:nvPicPr>
          <p:cNvPr id="6" name="Online Media 5" title="Scientific Studies: Last Week Tonight with John Oliver (HBO)">
            <a:hlinkClick r:id="" action="ppaction://media"/>
            <a:extLst>
              <a:ext uri="{FF2B5EF4-FFF2-40B4-BE49-F238E27FC236}">
                <a16:creationId xmlns:a16="http://schemas.microsoft.com/office/drawing/2014/main" id="{E6870828-24A7-5B84-FF33-D5B0CE1CD113}"/>
              </a:ext>
            </a:extLst>
          </p:cNvPr>
          <p:cNvPicPr>
            <a:picLocks noRot="1" noChangeAspect="1"/>
          </p:cNvPicPr>
          <p:nvPr>
            <a:videoFile r:link="rId1"/>
          </p:nvPr>
        </p:nvPicPr>
        <p:blipFill>
          <a:blip r:embed="rId5"/>
          <a:stretch>
            <a:fillRect/>
          </a:stretch>
        </p:blipFill>
        <p:spPr>
          <a:xfrm>
            <a:off x="616449" y="216026"/>
            <a:ext cx="10182101" cy="5752900"/>
          </a:xfrm>
          <a:prstGeom prst="rect">
            <a:avLst/>
          </a:prstGeom>
        </p:spPr>
      </p:pic>
    </p:spTree>
    <p:extLst>
      <p:ext uri="{BB962C8B-B14F-4D97-AF65-F5344CB8AC3E}">
        <p14:creationId xmlns:p14="http://schemas.microsoft.com/office/powerpoint/2010/main" val="2004958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D8EA48A-F93D-43B9-3FEF-4B763AECA65B}"/>
              </a:ext>
            </a:extLst>
          </p:cNvPr>
          <p:cNvSpPr>
            <a:spLocks noGrp="1"/>
          </p:cNvSpPr>
          <p:nvPr>
            <p:ph type="body" sz="quarter" idx="108"/>
          </p:nvPr>
        </p:nvSpPr>
        <p:spPr/>
        <p:txBody>
          <a:bodyPr/>
          <a:lstStyle/>
          <a:p>
            <a:r>
              <a:rPr lang="en-US" dirty="0"/>
              <a:t>What happens to a theory when the data do not support the theory’s hypotheses? What might a scientist say and do if the data fail to support the theory?</a:t>
            </a:r>
          </a:p>
          <a:p>
            <a:r>
              <a:rPr lang="en-US" dirty="0"/>
              <a:t>Why can’t theories be proved in science?</a:t>
            </a:r>
          </a:p>
          <a:p>
            <a:r>
              <a:rPr lang="en-US" dirty="0"/>
              <a:t>Merton proposed four norms that people in the scientific community strive to follow. How many can you name without looking back?</a:t>
            </a:r>
          </a:p>
          <a:p>
            <a:r>
              <a:rPr lang="en-US" dirty="0"/>
              <a:t>Describe at least two ways journalists might distort (intentionally or not) the science they attempt to publicize</a:t>
            </a:r>
          </a:p>
          <a:p>
            <a:endParaRPr lang="en-US" dirty="0"/>
          </a:p>
        </p:txBody>
      </p:sp>
      <p:sp>
        <p:nvSpPr>
          <p:cNvPr id="3" name="Title 2">
            <a:extLst>
              <a:ext uri="{FF2B5EF4-FFF2-40B4-BE49-F238E27FC236}">
                <a16:creationId xmlns:a16="http://schemas.microsoft.com/office/drawing/2014/main" id="{61EA0106-A47A-9851-E4B1-7480C17351B5}"/>
              </a:ext>
            </a:extLst>
          </p:cNvPr>
          <p:cNvSpPr>
            <a:spLocks noGrp="1"/>
          </p:cNvSpPr>
          <p:nvPr>
            <p:ph type="title"/>
          </p:nvPr>
        </p:nvSpPr>
        <p:spPr/>
        <p:txBody>
          <a:bodyPr/>
          <a:lstStyle/>
          <a:p>
            <a:r>
              <a:rPr lang="en-US" dirty="0"/>
              <a:t>Check and Reflect</a:t>
            </a:r>
          </a:p>
        </p:txBody>
      </p:sp>
    </p:spTree>
    <p:extLst>
      <p:ext uri="{BB962C8B-B14F-4D97-AF65-F5344CB8AC3E}">
        <p14:creationId xmlns:p14="http://schemas.microsoft.com/office/powerpoint/2010/main" val="38173745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A44DF5F1-7A8B-8D25-BB4A-8EE9DCD2C1F5}"/>
              </a:ext>
            </a:extLst>
          </p:cNvPr>
          <p:cNvSpPr>
            <a:spLocks noGrp="1"/>
          </p:cNvSpPr>
          <p:nvPr>
            <p:ph type="body" sz="quarter" idx="106"/>
          </p:nvPr>
        </p:nvSpPr>
        <p:spPr/>
        <p:txBody>
          <a:bodyPr/>
          <a:lstStyle/>
          <a:p>
            <a:pPr marL="0" indent="0">
              <a:buNone/>
            </a:pPr>
            <a:r>
              <a:rPr lang="en-US" b="1" dirty="0"/>
              <a:t>Before Next Class(es):</a:t>
            </a:r>
            <a:endParaRPr lang="en-US" dirty="0"/>
          </a:p>
          <a:p>
            <a:pPr lvl="0"/>
            <a:r>
              <a:rPr lang="en-US" dirty="0"/>
              <a:t>Complete “How to Use InQuizitive” assignment</a:t>
            </a:r>
          </a:p>
          <a:p>
            <a:pPr lvl="1"/>
            <a:r>
              <a:rPr lang="en-US" dirty="0"/>
              <a:t>Due 8/28 at 11:59 pm</a:t>
            </a:r>
          </a:p>
          <a:p>
            <a:pPr lvl="0"/>
            <a:r>
              <a:rPr lang="en-US" dirty="0"/>
              <a:t>Read Chapter 1 and complete </a:t>
            </a:r>
            <a:r>
              <a:rPr lang="en-US" dirty="0" err="1"/>
              <a:t>Ebook</a:t>
            </a:r>
            <a:r>
              <a:rPr lang="en-US" dirty="0"/>
              <a:t>: Chapter 1 assignment</a:t>
            </a:r>
          </a:p>
          <a:p>
            <a:pPr lvl="1"/>
            <a:r>
              <a:rPr lang="en-US" dirty="0"/>
              <a:t>Due 8/28 at 11:59 pm</a:t>
            </a:r>
          </a:p>
          <a:p>
            <a:pPr lvl="0"/>
            <a:r>
              <a:rPr lang="en-US" dirty="0"/>
              <a:t>Complete InQuizitive: Chapter 1</a:t>
            </a:r>
          </a:p>
          <a:p>
            <a:pPr lvl="1"/>
            <a:r>
              <a:rPr lang="en-US" dirty="0"/>
              <a:t>Due 8/28 at 11:59 pm</a:t>
            </a:r>
          </a:p>
          <a:p>
            <a:endParaRPr lang="en-US" dirty="0"/>
          </a:p>
        </p:txBody>
      </p:sp>
      <p:sp>
        <p:nvSpPr>
          <p:cNvPr id="2" name="Text Placeholder 1">
            <a:extLst>
              <a:ext uri="{FF2B5EF4-FFF2-40B4-BE49-F238E27FC236}">
                <a16:creationId xmlns:a16="http://schemas.microsoft.com/office/drawing/2014/main" id="{67515C91-71C4-54B6-24D6-BA9D0AF77DB8}"/>
              </a:ext>
            </a:extLst>
          </p:cNvPr>
          <p:cNvSpPr>
            <a:spLocks noGrp="1"/>
          </p:cNvSpPr>
          <p:nvPr>
            <p:ph type="body" sz="quarter" idx="107"/>
          </p:nvPr>
        </p:nvSpPr>
        <p:spPr/>
        <p:txBody>
          <a:bodyPr/>
          <a:lstStyle/>
          <a:p>
            <a:pPr marL="0" indent="0">
              <a:buNone/>
            </a:pPr>
            <a:r>
              <a:rPr lang="en-US" b="1" dirty="0"/>
              <a:t>Next Class:</a:t>
            </a:r>
            <a:endParaRPr lang="en-US" dirty="0"/>
          </a:p>
          <a:p>
            <a:r>
              <a:rPr lang="en-US" dirty="0"/>
              <a:t>Chapter 2: Sources of Information: Why Research is Best and How to Find It</a:t>
            </a:r>
          </a:p>
        </p:txBody>
      </p:sp>
      <p:sp>
        <p:nvSpPr>
          <p:cNvPr id="5" name="Title 4">
            <a:extLst>
              <a:ext uri="{FF2B5EF4-FFF2-40B4-BE49-F238E27FC236}">
                <a16:creationId xmlns:a16="http://schemas.microsoft.com/office/drawing/2014/main" id="{7102B905-D5A8-B4AA-6358-45B56454E729}"/>
              </a:ext>
            </a:extLst>
          </p:cNvPr>
          <p:cNvSpPr>
            <a:spLocks noGrp="1"/>
          </p:cNvSpPr>
          <p:nvPr>
            <p:ph type="title"/>
          </p:nvPr>
        </p:nvSpPr>
        <p:spPr/>
        <p:txBody>
          <a:bodyPr/>
          <a:lstStyle/>
          <a:p>
            <a:r>
              <a:rPr lang="en-US" dirty="0"/>
              <a:t>Next Time on PSY 270…</a:t>
            </a:r>
          </a:p>
        </p:txBody>
      </p:sp>
    </p:spTree>
    <p:extLst>
      <p:ext uri="{BB962C8B-B14F-4D97-AF65-F5344CB8AC3E}">
        <p14:creationId xmlns:p14="http://schemas.microsoft.com/office/powerpoint/2010/main" val="19009474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esearch Methods PowerPoint Template" id="{686830E0-B0B3-4EA3-80EF-56D80DF1C852}" vid="{A74170DD-4976-48CF-B0A5-4C379B0B47A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8245B5271EE2142B482725BAA8B1869" ma:contentTypeVersion="10" ma:contentTypeDescription="Create a new document." ma:contentTypeScope="" ma:versionID="f1cfe03f77ad3ae8d1e620901e874987">
  <xsd:schema xmlns:xsd="http://www.w3.org/2001/XMLSchema" xmlns:xs="http://www.w3.org/2001/XMLSchema" xmlns:p="http://schemas.microsoft.com/office/2006/metadata/properties" xmlns:ns3="aa7cd2ac-fcc1-473f-afe1-3dcd267d5ab1" targetNamespace="http://schemas.microsoft.com/office/2006/metadata/properties" ma:root="true" ma:fieldsID="e14f2987a2decab48755e31a12e153b6" ns3:_="">
    <xsd:import namespace="aa7cd2ac-fcc1-473f-afe1-3dcd267d5ab1"/>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element ref="ns3:MediaServiceSystemTags" minOccurs="0"/>
                <xsd:element ref="ns3:MediaServiceOCR"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a7cd2ac-fcc1-473f-afe1-3dcd267d5ab1"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aa7cd2ac-fcc1-473f-afe1-3dcd267d5ab1" xsi:nil="true"/>
  </documentManagement>
</p:properties>
</file>

<file path=customXml/itemProps1.xml><?xml version="1.0" encoding="utf-8"?>
<ds:datastoreItem xmlns:ds="http://schemas.openxmlformats.org/officeDocument/2006/customXml" ds:itemID="{DA1EECEA-41B6-4122-BFA0-92502389347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a7cd2ac-fcc1-473f-afe1-3dcd267d5ab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1606FE1-1CE5-4690-93E4-B98A3E3FB743}">
  <ds:schemaRefs>
    <ds:schemaRef ds:uri="http://schemas.microsoft.com/sharepoint/v3/contenttype/forms"/>
  </ds:schemaRefs>
</ds:datastoreItem>
</file>

<file path=customXml/itemProps3.xml><?xml version="1.0" encoding="utf-8"?>
<ds:datastoreItem xmlns:ds="http://schemas.openxmlformats.org/officeDocument/2006/customXml" ds:itemID="{F2B576E7-7FD4-410C-B7E5-05F5AABCB4D9}">
  <ds:schemaRefs>
    <ds:schemaRef ds:uri="http://purl.org/dc/elements/1.1/"/>
    <ds:schemaRef ds:uri="http://schemas.microsoft.com/office/infopath/2007/PartnerControls"/>
    <ds:schemaRef ds:uri="http://www.w3.org/XML/1998/namespace"/>
    <ds:schemaRef ds:uri="http://schemas.microsoft.com/office/2006/documentManagement/types"/>
    <ds:schemaRef ds:uri="http://schemas.openxmlformats.org/package/2006/metadata/core-properties"/>
    <ds:schemaRef ds:uri="http://purl.org/dc/terms/"/>
    <ds:schemaRef ds:uri="aa7cd2ac-fcc1-473f-afe1-3dcd267d5ab1"/>
    <ds:schemaRef ds:uri="http://schemas.microsoft.com/office/2006/metadata/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Research Methods PowerPoint Template</Template>
  <TotalTime>322</TotalTime>
  <Words>854</Words>
  <Application>Microsoft Office PowerPoint</Application>
  <PresentationFormat>Widescreen</PresentationFormat>
  <Paragraphs>92</Paragraphs>
  <Slides>24</Slides>
  <Notes>24</Notes>
  <HiddenSlides>0</HiddenSlides>
  <MMClips>2</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Aptos</vt:lpstr>
      <vt:lpstr>Aptos Display</vt:lpstr>
      <vt:lpstr>Arial</vt:lpstr>
      <vt:lpstr>Britannic Bold</vt:lpstr>
      <vt:lpstr>Office Theme</vt:lpstr>
      <vt:lpstr>Chapter 1</vt:lpstr>
      <vt:lpstr>Agenda</vt:lpstr>
      <vt:lpstr>Producers and Consumers of Science</vt:lpstr>
      <vt:lpstr>Talk It Out</vt:lpstr>
      <vt:lpstr>How Scientists Work</vt:lpstr>
      <vt:lpstr>How Scientists Work</vt:lpstr>
      <vt:lpstr>Scientists are Empiricists</vt:lpstr>
      <vt:lpstr>Talk It Out</vt:lpstr>
      <vt:lpstr>The Theory-Data Cycle</vt:lpstr>
      <vt:lpstr>The Theory-Data Cycle Example</vt:lpstr>
      <vt:lpstr>Harlow’s Monkeys</vt:lpstr>
      <vt:lpstr>Harlow’s Monkeys Example</vt:lpstr>
      <vt:lpstr>Scared Straight Example</vt:lpstr>
      <vt:lpstr>Scientists Work in a Community</vt:lpstr>
      <vt:lpstr>Merton’s Scientific Norms</vt:lpstr>
      <vt:lpstr>Scientists Tackle Applied and Basic Problems</vt:lpstr>
      <vt:lpstr>Scientists Make Their Work Public</vt:lpstr>
      <vt:lpstr>Scientists Talk to the World</vt:lpstr>
      <vt:lpstr>The Importance of Being a Good Producer of Science</vt:lpstr>
      <vt:lpstr>The Replication Crisis</vt:lpstr>
      <vt:lpstr>The Importance of Being a Good Consumer of Science</vt:lpstr>
      <vt:lpstr>PowerPoint Presentation</vt:lpstr>
      <vt:lpstr>Check and Reflect</vt:lpstr>
      <vt:lpstr>Next Time on PSY 270…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Research Methods teaching template</dc:subject>
  <dc:creator>Bryanna Scheuler</dc:creator>
  <cp:lastModifiedBy>Bryanna Scheuler</cp:lastModifiedBy>
  <cp:revision>6</cp:revision>
  <dcterms:created xsi:type="dcterms:W3CDTF">2026-08-20T19:50:46Z</dcterms:created>
  <dcterms:modified xsi:type="dcterms:W3CDTF">2026-08-24T07:50:55Z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0x01010058245B5271EE2142B482725BAA8B1869</vt:lpwstr>
  </property>
</Properties>
</file>